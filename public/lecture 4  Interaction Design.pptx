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286" r:id="rId1"/>
  </p:sldMasterIdLst>
  <p:notesMasterIdLst>
    <p:notesMasterId r:id="rId52"/>
  </p:notesMasterIdLst>
  <p:handoutMasterIdLst>
    <p:handoutMasterId r:id="rId53"/>
  </p:handoutMasterIdLst>
  <p:sldIdLst>
    <p:sldId id="374" r:id="rId2"/>
    <p:sldId id="444" r:id="rId3"/>
    <p:sldId id="445" r:id="rId4"/>
    <p:sldId id="430" r:id="rId5"/>
    <p:sldId id="431" r:id="rId6"/>
    <p:sldId id="434" r:id="rId7"/>
    <p:sldId id="332" r:id="rId8"/>
    <p:sldId id="336" r:id="rId9"/>
    <p:sldId id="337" r:id="rId10"/>
    <p:sldId id="461" r:id="rId11"/>
    <p:sldId id="338" r:id="rId12"/>
    <p:sldId id="406" r:id="rId13"/>
    <p:sldId id="407" r:id="rId14"/>
    <p:sldId id="408" r:id="rId15"/>
    <p:sldId id="436" r:id="rId16"/>
    <p:sldId id="409" r:id="rId17"/>
    <p:sldId id="410" r:id="rId18"/>
    <p:sldId id="446" r:id="rId19"/>
    <p:sldId id="437" r:id="rId20"/>
    <p:sldId id="411" r:id="rId21"/>
    <p:sldId id="412" r:id="rId22"/>
    <p:sldId id="448" r:id="rId23"/>
    <p:sldId id="449" r:id="rId24"/>
    <p:sldId id="451" r:id="rId25"/>
    <p:sldId id="450" r:id="rId26"/>
    <p:sldId id="452" r:id="rId27"/>
    <p:sldId id="453" r:id="rId28"/>
    <p:sldId id="454" r:id="rId29"/>
    <p:sldId id="413" r:id="rId30"/>
    <p:sldId id="414" r:id="rId31"/>
    <p:sldId id="447" r:id="rId32"/>
    <p:sldId id="415" r:id="rId33"/>
    <p:sldId id="416" r:id="rId34"/>
    <p:sldId id="417" r:id="rId35"/>
    <p:sldId id="418" r:id="rId36"/>
    <p:sldId id="419" r:id="rId37"/>
    <p:sldId id="420" r:id="rId38"/>
    <p:sldId id="460" r:id="rId39"/>
    <p:sldId id="438" r:id="rId40"/>
    <p:sldId id="439" r:id="rId41"/>
    <p:sldId id="455" r:id="rId42"/>
    <p:sldId id="456" r:id="rId43"/>
    <p:sldId id="457" r:id="rId44"/>
    <p:sldId id="458" r:id="rId45"/>
    <p:sldId id="459" r:id="rId46"/>
    <p:sldId id="440" r:id="rId47"/>
    <p:sldId id="441" r:id="rId48"/>
    <p:sldId id="442" r:id="rId49"/>
    <p:sldId id="443" r:id="rId50"/>
    <p:sldId id="315" r:id="rId51"/>
  </p:sldIdLst>
  <p:sldSz cx="12192000" cy="6858000"/>
  <p:notesSz cx="7010400" cy="9296400"/>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2" d="100"/>
          <a:sy n="92" d="100"/>
        </p:scale>
        <p:origin x="64" y="132"/>
      </p:cViewPr>
      <p:guideLst>
        <p:guide orient="horz" pos="2160"/>
        <p:guide pos="3840"/>
      </p:guideLst>
    </p:cSldViewPr>
  </p:slideViewPr>
  <p:notesTextViewPr>
    <p:cViewPr>
      <p:scale>
        <a:sx n="100" d="100"/>
        <a:sy n="100" d="100"/>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3177" tIns="46589" rIns="93177" bIns="46589"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p:cNvSpPr>
            <a:spLocks noGrp="1"/>
          </p:cNvSpPr>
          <p:nvPr>
            <p:ph type="dt" sz="quarter" idx="1"/>
          </p:nvPr>
        </p:nvSpPr>
        <p:spPr>
          <a:xfrm>
            <a:off x="3970338" y="0"/>
            <a:ext cx="3038475" cy="466725"/>
          </a:xfrm>
          <a:prstGeom prst="rect">
            <a:avLst/>
          </a:prstGeom>
        </p:spPr>
        <p:txBody>
          <a:bodyPr vert="horz" lIns="93177" tIns="46589" rIns="93177" bIns="46589" rtlCol="0"/>
          <a:lstStyle>
            <a:lvl1pPr algn="r" eaLnBrk="1" fontAlgn="auto" hangingPunct="1">
              <a:spcBef>
                <a:spcPts val="0"/>
              </a:spcBef>
              <a:spcAft>
                <a:spcPts val="0"/>
              </a:spcAft>
              <a:defRPr sz="1200">
                <a:latin typeface="+mn-lt"/>
              </a:defRPr>
            </a:lvl1pPr>
          </a:lstStyle>
          <a:p>
            <a:pPr>
              <a:defRPr/>
            </a:pPr>
            <a:fld id="{601F2302-DAC5-4D1E-987F-F52F25F00B81}" type="datetimeFigureOut">
              <a:rPr lang="en-US"/>
              <a:pPr>
                <a:defRPr/>
              </a:pPr>
              <a:t>1/6/2023</a:t>
            </a:fld>
            <a:endParaRPr lang="en-US"/>
          </a:p>
        </p:txBody>
      </p:sp>
      <p:sp>
        <p:nvSpPr>
          <p:cNvPr id="4" name="Footer Placeholder 3"/>
          <p:cNvSpPr>
            <a:spLocks noGrp="1"/>
          </p:cNvSpPr>
          <p:nvPr>
            <p:ph type="ftr" sz="quarter" idx="2"/>
          </p:nvPr>
        </p:nvSpPr>
        <p:spPr>
          <a:xfrm>
            <a:off x="0" y="8829675"/>
            <a:ext cx="3038475" cy="466725"/>
          </a:xfrm>
          <a:prstGeom prst="rect">
            <a:avLst/>
          </a:prstGeom>
        </p:spPr>
        <p:txBody>
          <a:bodyPr vert="horz" lIns="93177" tIns="46589" rIns="93177" bIns="46589" rtlCol="0" anchor="b"/>
          <a:lstStyle>
            <a:lvl1pPr algn="l" eaLnBrk="1" fontAlgn="auto" hangingPunct="1">
              <a:spcBef>
                <a:spcPts val="0"/>
              </a:spcBef>
              <a:spcAft>
                <a:spcPts val="0"/>
              </a:spcAft>
              <a:defRPr sz="1200">
                <a:latin typeface="+mn-lt"/>
              </a:defRPr>
            </a:lvl1pPr>
          </a:lstStyle>
          <a:p>
            <a:pPr>
              <a:defRPr/>
            </a:pPr>
            <a:endParaRPr lang="en-US"/>
          </a:p>
        </p:txBody>
      </p:sp>
      <p:sp>
        <p:nvSpPr>
          <p:cNvPr id="5" name="Slide Number Placeholder 4"/>
          <p:cNvSpPr>
            <a:spLocks noGrp="1"/>
          </p:cNvSpPr>
          <p:nvPr>
            <p:ph type="sldNum" sz="quarter" idx="3"/>
          </p:nvPr>
        </p:nvSpPr>
        <p:spPr>
          <a:xfrm>
            <a:off x="3970338" y="8829675"/>
            <a:ext cx="3038475" cy="466725"/>
          </a:xfrm>
          <a:prstGeom prst="rect">
            <a:avLst/>
          </a:prstGeom>
        </p:spPr>
        <p:txBody>
          <a:bodyPr vert="horz" wrap="square" lIns="93177" tIns="46589" rIns="93177" bIns="46589" numCol="1" anchor="b" anchorCtr="0" compatLnSpc="1">
            <a:prstTxWarp prst="textNoShape">
              <a:avLst/>
            </a:prstTxWarp>
          </a:bodyPr>
          <a:lstStyle>
            <a:lvl1pPr algn="r" eaLnBrk="1" hangingPunct="1">
              <a:defRPr sz="1200" smtClean="0"/>
            </a:lvl1pPr>
          </a:lstStyle>
          <a:p>
            <a:pPr>
              <a:defRPr/>
            </a:pPr>
            <a:fld id="{50C6068A-C0BC-4A0C-8932-784B7340DC13}"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3038475"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eaLnBrk="1" fontAlgn="auto" hangingPunct="1">
              <a:spcBef>
                <a:spcPts val="0"/>
              </a:spcBef>
              <a:spcAft>
                <a:spcPts val="0"/>
              </a:spcAft>
              <a:defRPr sz="1200">
                <a:latin typeface="Arial" charset="0"/>
                <a:cs typeface="+mn-cs"/>
              </a:defRPr>
            </a:lvl1pPr>
          </a:lstStyle>
          <a:p>
            <a:pPr>
              <a:defRPr/>
            </a:pPr>
            <a:endParaRPr lang="en-GB"/>
          </a:p>
        </p:txBody>
      </p:sp>
      <p:sp>
        <p:nvSpPr>
          <p:cNvPr id="5123" name="Rectangle 3"/>
          <p:cNvSpPr>
            <a:spLocks noGrp="1" noChangeArrowheads="1"/>
          </p:cNvSpPr>
          <p:nvPr>
            <p:ph type="dt" idx="1"/>
          </p:nvPr>
        </p:nvSpPr>
        <p:spPr bwMode="auto">
          <a:xfrm>
            <a:off x="3970338" y="0"/>
            <a:ext cx="3038475"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eaLnBrk="1" fontAlgn="auto" hangingPunct="1">
              <a:spcBef>
                <a:spcPts val="0"/>
              </a:spcBef>
              <a:spcAft>
                <a:spcPts val="0"/>
              </a:spcAft>
              <a:defRPr sz="1200">
                <a:latin typeface="Arial" charset="0"/>
                <a:cs typeface="+mn-cs"/>
              </a:defRPr>
            </a:lvl1pPr>
          </a:lstStyle>
          <a:p>
            <a:pPr>
              <a:defRPr/>
            </a:pPr>
            <a:endParaRPr lang="en-GB"/>
          </a:p>
        </p:txBody>
      </p:sp>
      <p:sp>
        <p:nvSpPr>
          <p:cNvPr id="8196" name="Rectangle 4"/>
          <p:cNvSpPr>
            <a:spLocks noGrp="1" noRot="1" noChangeAspect="1" noChangeArrowheads="1" noTextEdit="1"/>
          </p:cNvSpPr>
          <p:nvPr>
            <p:ph type="sldImg" idx="2"/>
          </p:nvPr>
        </p:nvSpPr>
        <p:spPr bwMode="auto">
          <a:xfrm>
            <a:off x="406400" y="696913"/>
            <a:ext cx="61976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701675" y="4416425"/>
            <a:ext cx="5607050" cy="4183063"/>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5126" name="Rectangle 6"/>
          <p:cNvSpPr>
            <a:spLocks noGrp="1" noChangeArrowheads="1"/>
          </p:cNvSpPr>
          <p:nvPr>
            <p:ph type="ftr" sz="quarter" idx="4"/>
          </p:nvPr>
        </p:nvSpPr>
        <p:spPr bwMode="auto">
          <a:xfrm>
            <a:off x="0" y="8829675"/>
            <a:ext cx="3038475" cy="4651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eaLnBrk="1" fontAlgn="auto" hangingPunct="1">
              <a:spcBef>
                <a:spcPts val="0"/>
              </a:spcBef>
              <a:spcAft>
                <a:spcPts val="0"/>
              </a:spcAft>
              <a:defRPr sz="1200">
                <a:latin typeface="Arial" charset="0"/>
                <a:cs typeface="+mn-cs"/>
              </a:defRPr>
            </a:lvl1pPr>
          </a:lstStyle>
          <a:p>
            <a:pPr>
              <a:defRPr/>
            </a:pPr>
            <a:endParaRPr lang="en-GB"/>
          </a:p>
        </p:txBody>
      </p:sp>
      <p:sp>
        <p:nvSpPr>
          <p:cNvPr id="5127" name="Rectangle 7"/>
          <p:cNvSpPr>
            <a:spLocks noGrp="1" noChangeArrowheads="1"/>
          </p:cNvSpPr>
          <p:nvPr>
            <p:ph type="sldNum" sz="quarter" idx="5"/>
          </p:nvPr>
        </p:nvSpPr>
        <p:spPr bwMode="auto">
          <a:xfrm>
            <a:off x="3970338" y="8829675"/>
            <a:ext cx="3038475" cy="4651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eaLnBrk="1" hangingPunct="1">
              <a:defRPr sz="1200" smtClean="0"/>
            </a:lvl1pPr>
          </a:lstStyle>
          <a:p>
            <a:pPr>
              <a:defRPr/>
            </a:pPr>
            <a:fld id="{F7853838-6B8E-41A0-BC26-3FAB29C3EB49}"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4"/>
          <p:cNvSpPr/>
          <p:nvPr/>
        </p:nvSpPr>
        <p:spPr>
          <a:xfrm>
            <a:off x="0" y="6334125"/>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6" name="Straight Connector 5"/>
          <p:cNvCxnSpPr/>
          <p:nvPr/>
        </p:nvCxnSpPr>
        <p:spPr>
          <a:xfrm>
            <a:off x="1208088" y="4343400"/>
            <a:ext cx="9875837"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1097280" y="758952"/>
            <a:ext cx="10058400" cy="3566160"/>
          </a:xfrm>
        </p:spPr>
        <p:txBody>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3"/>
          <p:cNvSpPr>
            <a:spLocks noGrp="1"/>
          </p:cNvSpPr>
          <p:nvPr>
            <p:ph type="dt" sz="half" idx="10"/>
          </p:nvPr>
        </p:nvSpPr>
        <p:spPr/>
        <p:txBody>
          <a:bodyPr/>
          <a:lstStyle>
            <a:lvl1pPr>
              <a:defRPr/>
            </a:lvl1pPr>
          </a:lstStyle>
          <a:p>
            <a:pPr>
              <a:defRPr/>
            </a:pPr>
            <a:fld id="{E09406B7-258B-4FDB-A88D-4EF50E6172FB}" type="datetime1">
              <a:rPr lang="en-GB" smtClean="0"/>
              <a:t>06/01/2023</a:t>
            </a:fld>
            <a:endParaRPr lang="en-GB"/>
          </a:p>
        </p:txBody>
      </p:sp>
      <p:sp>
        <p:nvSpPr>
          <p:cNvPr id="8" name="Footer Placeholder 4"/>
          <p:cNvSpPr>
            <a:spLocks noGrp="1"/>
          </p:cNvSpPr>
          <p:nvPr>
            <p:ph type="ftr" sz="quarter" idx="11"/>
          </p:nvPr>
        </p:nvSpPr>
        <p:spPr/>
        <p:txBody>
          <a:bodyPr/>
          <a:lstStyle>
            <a:lvl1pPr>
              <a:defRPr/>
            </a:lvl1pPr>
          </a:lstStyle>
          <a:p>
            <a:pPr>
              <a:defRPr/>
            </a:pPr>
            <a:r>
              <a:rPr lang="en-GB"/>
              <a:t>slides based on Dix, Alan, et al. "Human-computer interaction."  (2000).</a:t>
            </a:r>
          </a:p>
        </p:txBody>
      </p:sp>
      <p:sp>
        <p:nvSpPr>
          <p:cNvPr id="9" name="Slide Number Placeholder 5"/>
          <p:cNvSpPr>
            <a:spLocks noGrp="1"/>
          </p:cNvSpPr>
          <p:nvPr>
            <p:ph type="sldNum" sz="quarter" idx="12"/>
          </p:nvPr>
        </p:nvSpPr>
        <p:spPr/>
        <p:txBody>
          <a:bodyPr/>
          <a:lstStyle>
            <a:lvl1pPr>
              <a:defRPr smtClean="0"/>
            </a:lvl1pPr>
          </a:lstStyle>
          <a:p>
            <a:pPr>
              <a:defRPr/>
            </a:pPr>
            <a:fld id="{93BD8515-2BF7-4FBF-99D5-CE15862887EF}" type="slidenum">
              <a:rPr lang="en-US" altLang="en-US"/>
              <a:pPr>
                <a:defRPr/>
              </a:pPr>
              <a:t>‹#›</a:t>
            </a:fld>
            <a:endParaRPr lang="en-US" altLang="en-US"/>
          </a:p>
        </p:txBody>
      </p:sp>
    </p:spTree>
    <p:extLst>
      <p:ext uri="{BB962C8B-B14F-4D97-AF65-F5344CB8AC3E}">
        <p14:creationId xmlns:p14="http://schemas.microsoft.com/office/powerpoint/2010/main" val="5165574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37F3F635-23CC-47E4-8DDB-B67A2181D218}" type="datetime1">
              <a:rPr lang="en-GB" smtClean="0"/>
              <a:t>06/01/2023</a:t>
            </a:fld>
            <a:endParaRPr lang="en-GB"/>
          </a:p>
        </p:txBody>
      </p:sp>
      <p:sp>
        <p:nvSpPr>
          <p:cNvPr id="5" name="Footer Placeholder 4"/>
          <p:cNvSpPr>
            <a:spLocks noGrp="1"/>
          </p:cNvSpPr>
          <p:nvPr>
            <p:ph type="ftr" sz="quarter" idx="11"/>
          </p:nvPr>
        </p:nvSpPr>
        <p:spPr/>
        <p:txBody>
          <a:bodyPr/>
          <a:lstStyle>
            <a:lvl1pPr>
              <a:defRPr/>
            </a:lvl1pPr>
          </a:lstStyle>
          <a:p>
            <a:pPr>
              <a:defRPr/>
            </a:pPr>
            <a:r>
              <a:rPr lang="en-GB"/>
              <a:t>slides based on Dix, Alan, et al. "Human-computer interaction."  (2000).</a:t>
            </a:r>
          </a:p>
        </p:txBody>
      </p:sp>
      <p:sp>
        <p:nvSpPr>
          <p:cNvPr id="6" name="Slide Number Placeholder 5"/>
          <p:cNvSpPr>
            <a:spLocks noGrp="1"/>
          </p:cNvSpPr>
          <p:nvPr>
            <p:ph type="sldNum" sz="quarter" idx="12"/>
          </p:nvPr>
        </p:nvSpPr>
        <p:spPr/>
        <p:txBody>
          <a:bodyPr/>
          <a:lstStyle>
            <a:lvl1pPr>
              <a:defRPr/>
            </a:lvl1pPr>
          </a:lstStyle>
          <a:p>
            <a:pPr>
              <a:defRPr/>
            </a:pPr>
            <a:fld id="{784CB106-59EF-4E38-AE9E-B3544BD66F06}" type="slidenum">
              <a:rPr lang="en-GB" altLang="en-US"/>
              <a:pPr>
                <a:defRPr/>
              </a:pPr>
              <a:t>‹#›</a:t>
            </a:fld>
            <a:endParaRPr lang="en-GB" altLang="en-US"/>
          </a:p>
        </p:txBody>
      </p:sp>
    </p:spTree>
    <p:extLst>
      <p:ext uri="{BB962C8B-B14F-4D97-AF65-F5344CB8AC3E}">
        <p14:creationId xmlns:p14="http://schemas.microsoft.com/office/powerpoint/2010/main" val="1781132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4"/>
          <p:cNvSpPr/>
          <p:nvPr/>
        </p:nvSpPr>
        <p:spPr>
          <a:xfrm>
            <a:off x="0" y="6334125"/>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6" name="Straight Connector 5"/>
          <p:cNvCxnSpPr/>
          <p:nvPr/>
        </p:nvCxnSpPr>
        <p:spPr>
          <a:xfrm>
            <a:off x="1208088" y="4343400"/>
            <a:ext cx="9875837"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097280" y="758952"/>
            <a:ext cx="10058400" cy="3566160"/>
          </a:xfrm>
        </p:spPr>
        <p:txBody>
          <a:bodyPr anchorCtr="0"/>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3"/>
          <p:cNvSpPr>
            <a:spLocks noGrp="1"/>
          </p:cNvSpPr>
          <p:nvPr>
            <p:ph type="dt" sz="half" idx="10"/>
          </p:nvPr>
        </p:nvSpPr>
        <p:spPr/>
        <p:txBody>
          <a:bodyPr/>
          <a:lstStyle>
            <a:lvl1pPr>
              <a:defRPr/>
            </a:lvl1pPr>
          </a:lstStyle>
          <a:p>
            <a:pPr>
              <a:defRPr/>
            </a:pPr>
            <a:fld id="{D0731D7F-2EA6-4855-BD70-A5DA3978F606}" type="datetime1">
              <a:rPr lang="en-GB" smtClean="0"/>
              <a:t>06/01/2023</a:t>
            </a:fld>
            <a:endParaRPr lang="en-GB"/>
          </a:p>
        </p:txBody>
      </p:sp>
      <p:sp>
        <p:nvSpPr>
          <p:cNvPr id="8" name="Footer Placeholder 4"/>
          <p:cNvSpPr>
            <a:spLocks noGrp="1"/>
          </p:cNvSpPr>
          <p:nvPr>
            <p:ph type="ftr" sz="quarter" idx="11"/>
          </p:nvPr>
        </p:nvSpPr>
        <p:spPr/>
        <p:txBody>
          <a:bodyPr/>
          <a:lstStyle>
            <a:lvl1pPr>
              <a:defRPr/>
            </a:lvl1pPr>
          </a:lstStyle>
          <a:p>
            <a:pPr>
              <a:defRPr/>
            </a:pPr>
            <a:r>
              <a:rPr lang="en-GB"/>
              <a:t>slides based on Dix, Alan, et al. "Human-computer interaction."  (2000).</a:t>
            </a:r>
          </a:p>
        </p:txBody>
      </p:sp>
      <p:sp>
        <p:nvSpPr>
          <p:cNvPr id="9" name="Slide Number Placeholder 5"/>
          <p:cNvSpPr>
            <a:spLocks noGrp="1"/>
          </p:cNvSpPr>
          <p:nvPr>
            <p:ph type="sldNum" sz="quarter" idx="12"/>
          </p:nvPr>
        </p:nvSpPr>
        <p:spPr/>
        <p:txBody>
          <a:bodyPr/>
          <a:lstStyle>
            <a:lvl1pPr>
              <a:defRPr smtClean="0"/>
            </a:lvl1pPr>
          </a:lstStyle>
          <a:p>
            <a:pPr>
              <a:defRPr/>
            </a:pPr>
            <a:fld id="{9044F6E1-4889-4B8B-8CBA-E842A144C017}" type="slidenum">
              <a:rPr lang="en-GB" altLang="en-US"/>
              <a:pPr>
                <a:defRPr/>
              </a:pPr>
              <a:t>‹#›</a:t>
            </a:fld>
            <a:endParaRPr lang="en-GB" altLang="en-US"/>
          </a:p>
        </p:txBody>
      </p:sp>
    </p:spTree>
    <p:extLst>
      <p:ext uri="{BB962C8B-B14F-4D97-AF65-F5344CB8AC3E}">
        <p14:creationId xmlns:p14="http://schemas.microsoft.com/office/powerpoint/2010/main" val="10326727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2A4EC769-46F4-48BC-A19C-D2A58B1CDD3B}" type="datetime1">
              <a:rPr lang="en-GB" smtClean="0"/>
              <a:t>06/01/2023</a:t>
            </a:fld>
            <a:endParaRPr lang="en-GB"/>
          </a:p>
        </p:txBody>
      </p:sp>
      <p:sp>
        <p:nvSpPr>
          <p:cNvPr id="6" name="Footer Placeholder 4"/>
          <p:cNvSpPr>
            <a:spLocks noGrp="1"/>
          </p:cNvSpPr>
          <p:nvPr>
            <p:ph type="ftr" sz="quarter" idx="11"/>
          </p:nvPr>
        </p:nvSpPr>
        <p:spPr/>
        <p:txBody>
          <a:bodyPr/>
          <a:lstStyle>
            <a:lvl1pPr>
              <a:defRPr/>
            </a:lvl1pPr>
          </a:lstStyle>
          <a:p>
            <a:pPr>
              <a:defRPr/>
            </a:pPr>
            <a:r>
              <a:rPr lang="en-GB"/>
              <a:t>slides based on Dix, Alan, et al. "Human-computer interaction."  (2000).</a:t>
            </a:r>
          </a:p>
        </p:txBody>
      </p:sp>
      <p:sp>
        <p:nvSpPr>
          <p:cNvPr id="7" name="Slide Number Placeholder 5"/>
          <p:cNvSpPr>
            <a:spLocks noGrp="1"/>
          </p:cNvSpPr>
          <p:nvPr>
            <p:ph type="sldNum" sz="quarter" idx="12"/>
          </p:nvPr>
        </p:nvSpPr>
        <p:spPr/>
        <p:txBody>
          <a:bodyPr/>
          <a:lstStyle>
            <a:lvl1pPr>
              <a:defRPr/>
            </a:lvl1pPr>
          </a:lstStyle>
          <a:p>
            <a:pPr>
              <a:defRPr/>
            </a:pPr>
            <a:fld id="{83D530C7-866A-4E32-9D84-AC8AA2B72CFB}" type="slidenum">
              <a:rPr lang="en-GB" altLang="en-US"/>
              <a:pPr>
                <a:defRPr/>
              </a:pPr>
              <a:t>‹#›</a:t>
            </a:fld>
            <a:endParaRPr lang="en-GB" altLang="en-US"/>
          </a:p>
        </p:txBody>
      </p:sp>
    </p:spTree>
    <p:extLst>
      <p:ext uri="{BB962C8B-B14F-4D97-AF65-F5344CB8AC3E}">
        <p14:creationId xmlns:p14="http://schemas.microsoft.com/office/powerpoint/2010/main" val="13016650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C1D6EB3D-B3BC-4968-BDEF-EDE7162B07AB}" type="datetime1">
              <a:rPr lang="en-GB" smtClean="0"/>
              <a:t>06/01/2023</a:t>
            </a:fld>
            <a:endParaRPr lang="en-GB"/>
          </a:p>
        </p:txBody>
      </p:sp>
      <p:sp>
        <p:nvSpPr>
          <p:cNvPr id="8" name="Footer Placeholder 4"/>
          <p:cNvSpPr>
            <a:spLocks noGrp="1"/>
          </p:cNvSpPr>
          <p:nvPr>
            <p:ph type="ftr" sz="quarter" idx="11"/>
          </p:nvPr>
        </p:nvSpPr>
        <p:spPr/>
        <p:txBody>
          <a:bodyPr/>
          <a:lstStyle>
            <a:lvl1pPr>
              <a:defRPr/>
            </a:lvl1pPr>
          </a:lstStyle>
          <a:p>
            <a:pPr>
              <a:defRPr/>
            </a:pPr>
            <a:r>
              <a:rPr lang="en-GB"/>
              <a:t>slides based on Dix, Alan, et al. "Human-computer interaction."  (2000).</a:t>
            </a:r>
          </a:p>
        </p:txBody>
      </p:sp>
      <p:sp>
        <p:nvSpPr>
          <p:cNvPr id="9" name="Slide Number Placeholder 5"/>
          <p:cNvSpPr>
            <a:spLocks noGrp="1"/>
          </p:cNvSpPr>
          <p:nvPr>
            <p:ph type="sldNum" sz="quarter" idx="12"/>
          </p:nvPr>
        </p:nvSpPr>
        <p:spPr/>
        <p:txBody>
          <a:bodyPr/>
          <a:lstStyle>
            <a:lvl1pPr>
              <a:defRPr/>
            </a:lvl1pPr>
          </a:lstStyle>
          <a:p>
            <a:pPr>
              <a:defRPr/>
            </a:pPr>
            <a:fld id="{25D44D7B-0C50-411C-9F76-8A07733B21B9}" type="slidenum">
              <a:rPr lang="en-GB" altLang="en-US"/>
              <a:pPr>
                <a:defRPr/>
              </a:pPr>
              <a:t>‹#›</a:t>
            </a:fld>
            <a:endParaRPr lang="en-GB" altLang="en-US"/>
          </a:p>
        </p:txBody>
      </p:sp>
    </p:spTree>
    <p:extLst>
      <p:ext uri="{BB962C8B-B14F-4D97-AF65-F5344CB8AC3E}">
        <p14:creationId xmlns:p14="http://schemas.microsoft.com/office/powerpoint/2010/main" val="19050779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pPr>
              <a:defRPr/>
            </a:pPr>
            <a:fld id="{C4899D92-0895-4233-9903-71C85FD3141E}" type="datetime1">
              <a:rPr lang="en-GB" smtClean="0"/>
              <a:t>06/01/2023</a:t>
            </a:fld>
            <a:endParaRPr lang="en-GB"/>
          </a:p>
        </p:txBody>
      </p:sp>
      <p:sp>
        <p:nvSpPr>
          <p:cNvPr id="4" name="Footer Placeholder 4"/>
          <p:cNvSpPr>
            <a:spLocks noGrp="1"/>
          </p:cNvSpPr>
          <p:nvPr>
            <p:ph type="ftr" sz="quarter" idx="11"/>
          </p:nvPr>
        </p:nvSpPr>
        <p:spPr/>
        <p:txBody>
          <a:bodyPr/>
          <a:lstStyle>
            <a:lvl1pPr>
              <a:defRPr/>
            </a:lvl1pPr>
          </a:lstStyle>
          <a:p>
            <a:pPr>
              <a:defRPr/>
            </a:pPr>
            <a:r>
              <a:rPr lang="en-GB"/>
              <a:t>slides based on Dix, Alan, et al. "Human-computer interaction."  (2000).</a:t>
            </a:r>
          </a:p>
        </p:txBody>
      </p:sp>
      <p:sp>
        <p:nvSpPr>
          <p:cNvPr id="5" name="Slide Number Placeholder 5"/>
          <p:cNvSpPr>
            <a:spLocks noGrp="1"/>
          </p:cNvSpPr>
          <p:nvPr>
            <p:ph type="sldNum" sz="quarter" idx="12"/>
          </p:nvPr>
        </p:nvSpPr>
        <p:spPr/>
        <p:txBody>
          <a:bodyPr/>
          <a:lstStyle>
            <a:lvl1pPr>
              <a:defRPr/>
            </a:lvl1pPr>
          </a:lstStyle>
          <a:p>
            <a:pPr>
              <a:defRPr/>
            </a:pPr>
            <a:fld id="{53C7A0EF-8E95-4010-8A9C-1A9186EB16D1}" type="slidenum">
              <a:rPr lang="en-GB" altLang="en-US"/>
              <a:pPr>
                <a:defRPr/>
              </a:pPr>
              <a:t>‹#›</a:t>
            </a:fld>
            <a:endParaRPr lang="en-GB" altLang="en-US"/>
          </a:p>
        </p:txBody>
      </p:sp>
    </p:spTree>
    <p:extLst>
      <p:ext uri="{BB962C8B-B14F-4D97-AF65-F5344CB8AC3E}">
        <p14:creationId xmlns:p14="http://schemas.microsoft.com/office/powerpoint/2010/main" val="2497299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1"/>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Rectangle 2"/>
          <p:cNvSpPr/>
          <p:nvPr/>
        </p:nvSpPr>
        <p:spPr>
          <a:xfrm>
            <a:off x="0" y="6334125"/>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Date Placeholder 6"/>
          <p:cNvSpPr>
            <a:spLocks noGrp="1"/>
          </p:cNvSpPr>
          <p:nvPr>
            <p:ph type="dt" sz="half" idx="10"/>
          </p:nvPr>
        </p:nvSpPr>
        <p:spPr/>
        <p:txBody>
          <a:bodyPr/>
          <a:lstStyle>
            <a:lvl1pPr>
              <a:defRPr/>
            </a:lvl1pPr>
          </a:lstStyle>
          <a:p>
            <a:pPr>
              <a:defRPr/>
            </a:pPr>
            <a:fld id="{FE894C9C-A077-4F77-AF6B-44235ADB2254}" type="datetime1">
              <a:rPr lang="en-GB" smtClean="0"/>
              <a:t>06/01/2023</a:t>
            </a:fld>
            <a:endParaRPr lang="en-GB"/>
          </a:p>
        </p:txBody>
      </p:sp>
      <p:sp>
        <p:nvSpPr>
          <p:cNvPr id="5" name="Footer Placeholder 7"/>
          <p:cNvSpPr>
            <a:spLocks noGrp="1"/>
          </p:cNvSpPr>
          <p:nvPr>
            <p:ph type="ftr" sz="quarter" idx="11"/>
          </p:nvPr>
        </p:nvSpPr>
        <p:spPr/>
        <p:txBody>
          <a:bodyPr/>
          <a:lstStyle>
            <a:lvl1pPr>
              <a:defRPr>
                <a:solidFill>
                  <a:srgbClr val="FFFFFF"/>
                </a:solidFill>
              </a:defRPr>
            </a:lvl1pPr>
          </a:lstStyle>
          <a:p>
            <a:pPr>
              <a:defRPr/>
            </a:pPr>
            <a:r>
              <a:rPr lang="en-GB"/>
              <a:t>slides based on Dix, Alan, et al. "Human-computer interaction."  (2000).</a:t>
            </a:r>
          </a:p>
        </p:txBody>
      </p:sp>
      <p:sp>
        <p:nvSpPr>
          <p:cNvPr id="6" name="Slide Number Placeholder 8"/>
          <p:cNvSpPr>
            <a:spLocks noGrp="1"/>
          </p:cNvSpPr>
          <p:nvPr>
            <p:ph type="sldNum" sz="quarter" idx="12"/>
          </p:nvPr>
        </p:nvSpPr>
        <p:spPr/>
        <p:txBody>
          <a:bodyPr/>
          <a:lstStyle>
            <a:lvl1pPr>
              <a:defRPr smtClean="0"/>
            </a:lvl1pPr>
          </a:lstStyle>
          <a:p>
            <a:pPr>
              <a:defRPr/>
            </a:pPr>
            <a:fld id="{9AE41378-A778-4B4E-B11B-CF45CD563F72}" type="slidenum">
              <a:rPr lang="en-GB" altLang="en-US"/>
              <a:pPr>
                <a:defRPr/>
              </a:pPr>
              <a:t>‹#›</a:t>
            </a:fld>
            <a:endParaRPr lang="en-GB" altLang="en-US"/>
          </a:p>
        </p:txBody>
      </p:sp>
    </p:spTree>
    <p:extLst>
      <p:ext uri="{BB962C8B-B14F-4D97-AF65-F5344CB8AC3E}">
        <p14:creationId xmlns:p14="http://schemas.microsoft.com/office/powerpoint/2010/main" val="39922673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Rectangle 4"/>
          <p:cNvSpPr/>
          <p:nvPr/>
        </p:nvSpPr>
        <p:spPr>
          <a:xfrm>
            <a:off x="0" y="0"/>
            <a:ext cx="40513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4040188" y="0"/>
            <a:ext cx="635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a:xfrm>
            <a:off x="465138" y="6459538"/>
            <a:ext cx="2619375" cy="365125"/>
          </a:xfrm>
        </p:spPr>
        <p:txBody>
          <a:bodyPr/>
          <a:lstStyle>
            <a:lvl1pPr algn="l">
              <a:defRPr/>
            </a:lvl1pPr>
          </a:lstStyle>
          <a:p>
            <a:pPr>
              <a:defRPr/>
            </a:pPr>
            <a:fld id="{6188D8B6-7611-471C-B6DF-CE5F9DB2BBAD}" type="datetime1">
              <a:rPr lang="en-GB" smtClean="0"/>
              <a:t>06/01/2023</a:t>
            </a:fld>
            <a:endParaRPr lang="en-GB"/>
          </a:p>
        </p:txBody>
      </p:sp>
      <p:sp>
        <p:nvSpPr>
          <p:cNvPr id="8" name="Footer Placeholder 5"/>
          <p:cNvSpPr>
            <a:spLocks noGrp="1"/>
          </p:cNvSpPr>
          <p:nvPr>
            <p:ph type="ftr" sz="quarter" idx="11"/>
          </p:nvPr>
        </p:nvSpPr>
        <p:spPr>
          <a:xfrm>
            <a:off x="4800600" y="6459538"/>
            <a:ext cx="4648200" cy="365125"/>
          </a:xfrm>
        </p:spPr>
        <p:txBody>
          <a:bodyPr/>
          <a:lstStyle>
            <a:lvl1pPr algn="l">
              <a:defRPr>
                <a:solidFill>
                  <a:schemeClr val="tx2"/>
                </a:solidFill>
              </a:defRPr>
            </a:lvl1pPr>
          </a:lstStyle>
          <a:p>
            <a:pPr>
              <a:defRPr/>
            </a:pPr>
            <a:r>
              <a:rPr lang="en-GB"/>
              <a:t>slides based on Dix, Alan, et al. "Human-computer interaction."  (2000).</a:t>
            </a:r>
          </a:p>
        </p:txBody>
      </p:sp>
      <p:sp>
        <p:nvSpPr>
          <p:cNvPr id="9" name="Slide Number Placeholder 6"/>
          <p:cNvSpPr>
            <a:spLocks noGrp="1"/>
          </p:cNvSpPr>
          <p:nvPr>
            <p:ph type="sldNum" sz="quarter" idx="12"/>
          </p:nvPr>
        </p:nvSpPr>
        <p:spPr/>
        <p:txBody>
          <a:bodyPr/>
          <a:lstStyle>
            <a:lvl1pPr>
              <a:defRPr smtClean="0">
                <a:solidFill>
                  <a:schemeClr val="tx2"/>
                </a:solidFill>
              </a:defRPr>
            </a:lvl1pPr>
          </a:lstStyle>
          <a:p>
            <a:pPr>
              <a:defRPr/>
            </a:pPr>
            <a:fld id="{256E23E5-6B83-4202-8C29-DA9226463B9B}" type="slidenum">
              <a:rPr lang="en-GB" altLang="en-US"/>
              <a:pPr>
                <a:defRPr/>
              </a:pPr>
              <a:t>‹#›</a:t>
            </a:fld>
            <a:endParaRPr lang="en-GB" altLang="en-US"/>
          </a:p>
        </p:txBody>
      </p:sp>
    </p:spTree>
    <p:extLst>
      <p:ext uri="{BB962C8B-B14F-4D97-AF65-F5344CB8AC3E}">
        <p14:creationId xmlns:p14="http://schemas.microsoft.com/office/powerpoint/2010/main" val="433717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Rectangle 4"/>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0" y="4914900"/>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tIns="0" bIns="0">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rtlCol="0">
            <a:normAutofit/>
          </a:bodyPr>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lvl1pPr>
              <a:defRPr/>
            </a:lvl1pPr>
          </a:lstStyle>
          <a:p>
            <a:pPr>
              <a:defRPr/>
            </a:pPr>
            <a:fld id="{80D5648E-210A-4141-8860-CB0AFED8B8AA}" type="datetime1">
              <a:rPr lang="en-GB" smtClean="0"/>
              <a:t>06/01/2023</a:t>
            </a:fld>
            <a:endParaRPr lang="en-GB"/>
          </a:p>
        </p:txBody>
      </p:sp>
      <p:sp>
        <p:nvSpPr>
          <p:cNvPr id="8" name="Footer Placeholder 5"/>
          <p:cNvSpPr>
            <a:spLocks noGrp="1"/>
          </p:cNvSpPr>
          <p:nvPr>
            <p:ph type="ftr" sz="quarter" idx="11"/>
          </p:nvPr>
        </p:nvSpPr>
        <p:spPr/>
        <p:txBody>
          <a:bodyPr/>
          <a:lstStyle>
            <a:lvl1pPr>
              <a:defRPr/>
            </a:lvl1pPr>
          </a:lstStyle>
          <a:p>
            <a:pPr>
              <a:defRPr/>
            </a:pPr>
            <a:r>
              <a:rPr lang="en-GB"/>
              <a:t>slides based on Dix, Alan, et al. "Human-computer interaction."  (2000).</a:t>
            </a:r>
          </a:p>
        </p:txBody>
      </p:sp>
      <p:sp>
        <p:nvSpPr>
          <p:cNvPr id="9" name="Slide Number Placeholder 6"/>
          <p:cNvSpPr>
            <a:spLocks noGrp="1"/>
          </p:cNvSpPr>
          <p:nvPr>
            <p:ph type="sldNum" sz="quarter" idx="12"/>
          </p:nvPr>
        </p:nvSpPr>
        <p:spPr/>
        <p:txBody>
          <a:bodyPr/>
          <a:lstStyle>
            <a:lvl1pPr>
              <a:defRPr smtClean="0"/>
            </a:lvl1pPr>
          </a:lstStyle>
          <a:p>
            <a:pPr>
              <a:defRPr/>
            </a:pPr>
            <a:fld id="{B7E4AA0E-9A21-4C1E-A369-2E3B56CB159C}" type="slidenum">
              <a:rPr lang="en-GB" altLang="en-US"/>
              <a:pPr>
                <a:defRPr/>
              </a:pPr>
              <a:t>‹#›</a:t>
            </a:fld>
            <a:endParaRPr lang="en-GB" altLang="en-US"/>
          </a:p>
        </p:txBody>
      </p:sp>
    </p:spTree>
    <p:extLst>
      <p:ext uri="{BB962C8B-B14F-4D97-AF65-F5344CB8AC3E}">
        <p14:creationId xmlns:p14="http://schemas.microsoft.com/office/powerpoint/2010/main" val="16736414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566FC52E-4414-48FC-B48C-27A4408D6A17}" type="datetime1">
              <a:rPr lang="en-GB" smtClean="0"/>
              <a:t>06/01/2023</a:t>
            </a:fld>
            <a:endParaRPr lang="en-GB"/>
          </a:p>
        </p:txBody>
      </p:sp>
      <p:sp>
        <p:nvSpPr>
          <p:cNvPr id="5" name="Footer Placeholder 4"/>
          <p:cNvSpPr>
            <a:spLocks noGrp="1"/>
          </p:cNvSpPr>
          <p:nvPr>
            <p:ph type="ftr" sz="quarter" idx="11"/>
          </p:nvPr>
        </p:nvSpPr>
        <p:spPr/>
        <p:txBody>
          <a:bodyPr/>
          <a:lstStyle>
            <a:lvl1pPr>
              <a:defRPr/>
            </a:lvl1pPr>
          </a:lstStyle>
          <a:p>
            <a:pPr>
              <a:defRPr/>
            </a:pPr>
            <a:r>
              <a:rPr lang="en-GB"/>
              <a:t>slides based on Dix, Alan, et al. "Human-computer interaction."  (2000).</a:t>
            </a:r>
          </a:p>
        </p:txBody>
      </p:sp>
      <p:sp>
        <p:nvSpPr>
          <p:cNvPr id="6" name="Slide Number Placeholder 5"/>
          <p:cNvSpPr>
            <a:spLocks noGrp="1"/>
          </p:cNvSpPr>
          <p:nvPr>
            <p:ph type="sldNum" sz="quarter" idx="12"/>
          </p:nvPr>
        </p:nvSpPr>
        <p:spPr/>
        <p:txBody>
          <a:bodyPr/>
          <a:lstStyle>
            <a:lvl1pPr>
              <a:defRPr/>
            </a:lvl1pPr>
          </a:lstStyle>
          <a:p>
            <a:pPr>
              <a:defRPr/>
            </a:pPr>
            <a:fld id="{637334AF-872A-45DD-A6D9-07E710A9E53D}" type="slidenum">
              <a:rPr lang="en-GB" altLang="en-US"/>
              <a:pPr>
                <a:defRPr/>
              </a:pPr>
              <a:t>‹#›</a:t>
            </a:fld>
            <a:endParaRPr lang="en-GB" altLang="en-US"/>
          </a:p>
        </p:txBody>
      </p:sp>
    </p:spTree>
    <p:extLst>
      <p:ext uri="{BB962C8B-B14F-4D97-AF65-F5344CB8AC3E}">
        <p14:creationId xmlns:p14="http://schemas.microsoft.com/office/powerpoint/2010/main" val="32723246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Rectangle 3"/>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4"/>
          <p:cNvSpPr/>
          <p:nvPr/>
        </p:nvSpPr>
        <p:spPr>
          <a:xfrm>
            <a:off x="0" y="6334125"/>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Date Placeholder 3"/>
          <p:cNvSpPr>
            <a:spLocks noGrp="1"/>
          </p:cNvSpPr>
          <p:nvPr>
            <p:ph type="dt" sz="half" idx="10"/>
          </p:nvPr>
        </p:nvSpPr>
        <p:spPr/>
        <p:txBody>
          <a:bodyPr/>
          <a:lstStyle>
            <a:lvl1pPr>
              <a:defRPr/>
            </a:lvl1pPr>
          </a:lstStyle>
          <a:p>
            <a:pPr>
              <a:defRPr/>
            </a:pPr>
            <a:fld id="{2130E360-AE5C-4658-85CB-D15526AEB181}" type="datetime1">
              <a:rPr lang="en-GB" smtClean="0"/>
              <a:t>06/01/2023</a:t>
            </a:fld>
            <a:endParaRPr lang="en-GB"/>
          </a:p>
        </p:txBody>
      </p:sp>
      <p:sp>
        <p:nvSpPr>
          <p:cNvPr id="7" name="Footer Placeholder 4"/>
          <p:cNvSpPr>
            <a:spLocks noGrp="1"/>
          </p:cNvSpPr>
          <p:nvPr>
            <p:ph type="ftr" sz="quarter" idx="11"/>
          </p:nvPr>
        </p:nvSpPr>
        <p:spPr/>
        <p:txBody>
          <a:bodyPr/>
          <a:lstStyle>
            <a:lvl1pPr>
              <a:defRPr/>
            </a:lvl1pPr>
          </a:lstStyle>
          <a:p>
            <a:pPr>
              <a:defRPr/>
            </a:pPr>
            <a:r>
              <a:rPr lang="en-GB"/>
              <a:t>slides based on Dix, Alan, et al. "Human-computer interaction."  (2000).</a:t>
            </a:r>
          </a:p>
        </p:txBody>
      </p:sp>
      <p:sp>
        <p:nvSpPr>
          <p:cNvPr id="8" name="Slide Number Placeholder 5"/>
          <p:cNvSpPr>
            <a:spLocks noGrp="1"/>
          </p:cNvSpPr>
          <p:nvPr>
            <p:ph type="sldNum" sz="quarter" idx="12"/>
          </p:nvPr>
        </p:nvSpPr>
        <p:spPr/>
        <p:txBody>
          <a:bodyPr/>
          <a:lstStyle>
            <a:lvl1pPr>
              <a:defRPr smtClean="0"/>
            </a:lvl1pPr>
          </a:lstStyle>
          <a:p>
            <a:pPr>
              <a:defRPr/>
            </a:pPr>
            <a:fld id="{98686B9D-AD36-4074-9AA9-D74FA8069C51}" type="slidenum">
              <a:rPr lang="en-GB" altLang="en-US"/>
              <a:pPr>
                <a:defRPr/>
              </a:pPr>
              <a:t>‹#›</a:t>
            </a:fld>
            <a:endParaRPr lang="en-GB" altLang="en-US"/>
          </a:p>
        </p:txBody>
      </p:sp>
    </p:spTree>
    <p:extLst>
      <p:ext uri="{BB962C8B-B14F-4D97-AF65-F5344CB8AC3E}">
        <p14:creationId xmlns:p14="http://schemas.microsoft.com/office/powerpoint/2010/main" val="35025449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125"/>
            <a:ext cx="12192000" cy="666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6963" y="287338"/>
            <a:ext cx="10058400" cy="144938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1029" name="Text Placeholder 2"/>
          <p:cNvSpPr>
            <a:spLocks noGrp="1" noChangeArrowheads="1"/>
          </p:cNvSpPr>
          <p:nvPr>
            <p:ph type="body" idx="1"/>
          </p:nvPr>
        </p:nvSpPr>
        <p:spPr bwMode="auto">
          <a:xfrm>
            <a:off x="1096963" y="1846263"/>
            <a:ext cx="10058400" cy="402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1096963" y="6459538"/>
            <a:ext cx="2473325" cy="365125"/>
          </a:xfrm>
          <a:prstGeom prst="rect">
            <a:avLst/>
          </a:prstGeom>
        </p:spPr>
        <p:txBody>
          <a:bodyPr vert="horz" lIns="91440" tIns="45720" rIns="91440" bIns="45720" rtlCol="0" anchor="ctr"/>
          <a:lstStyle>
            <a:lvl1pPr algn="l" eaLnBrk="1" fontAlgn="auto" hangingPunct="1">
              <a:spcBef>
                <a:spcPts val="0"/>
              </a:spcBef>
              <a:spcAft>
                <a:spcPts val="0"/>
              </a:spcAft>
              <a:defRPr sz="900">
                <a:solidFill>
                  <a:srgbClr val="FFFFFF"/>
                </a:solidFill>
                <a:latin typeface="+mn-lt"/>
              </a:defRPr>
            </a:lvl1pPr>
          </a:lstStyle>
          <a:p>
            <a:pPr>
              <a:defRPr/>
            </a:pPr>
            <a:fld id="{032C09E9-2FA2-43AC-B3DB-7CF5978FAB56}" type="datetime1">
              <a:rPr lang="en-GB" smtClean="0"/>
              <a:t>06/01/2023</a:t>
            </a:fld>
            <a:endParaRPr lang="en-GB"/>
          </a:p>
        </p:txBody>
      </p:sp>
      <p:sp>
        <p:nvSpPr>
          <p:cNvPr id="5" name="Footer Placeholder 4"/>
          <p:cNvSpPr>
            <a:spLocks noGrp="1"/>
          </p:cNvSpPr>
          <p:nvPr>
            <p:ph type="ftr" sz="quarter" idx="3"/>
          </p:nvPr>
        </p:nvSpPr>
        <p:spPr>
          <a:xfrm>
            <a:off x="3686175" y="6459538"/>
            <a:ext cx="4822825" cy="365125"/>
          </a:xfrm>
          <a:prstGeom prst="rect">
            <a:avLst/>
          </a:prstGeom>
        </p:spPr>
        <p:txBody>
          <a:bodyPr vert="horz" lIns="91440" tIns="45720" rIns="91440" bIns="45720" rtlCol="0" anchor="ctr"/>
          <a:lstStyle>
            <a:lvl1pPr algn="ctr" eaLnBrk="1" fontAlgn="auto" hangingPunct="1">
              <a:spcBef>
                <a:spcPts val="0"/>
              </a:spcBef>
              <a:spcAft>
                <a:spcPts val="0"/>
              </a:spcAft>
              <a:defRPr sz="900" cap="all" baseline="0">
                <a:solidFill>
                  <a:srgbClr val="FFFFFF"/>
                </a:solidFill>
                <a:latin typeface="+mn-lt"/>
              </a:defRPr>
            </a:lvl1pPr>
          </a:lstStyle>
          <a:p>
            <a:pPr>
              <a:defRPr/>
            </a:pPr>
            <a:r>
              <a:rPr lang="en-GB"/>
              <a:t>slides based on Dix, Alan, et al. "Human-computer interaction."  (2000).</a:t>
            </a:r>
          </a:p>
        </p:txBody>
      </p:sp>
      <p:sp>
        <p:nvSpPr>
          <p:cNvPr id="6" name="Slide Number Placeholder 5"/>
          <p:cNvSpPr>
            <a:spLocks noGrp="1"/>
          </p:cNvSpPr>
          <p:nvPr>
            <p:ph type="sldNum" sz="quarter" idx="4"/>
          </p:nvPr>
        </p:nvSpPr>
        <p:spPr>
          <a:xfrm>
            <a:off x="9901238" y="6459538"/>
            <a:ext cx="1311275"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000" smtClean="0">
                <a:solidFill>
                  <a:srgbClr val="FFFFFF"/>
                </a:solidFill>
              </a:defRPr>
            </a:lvl1pPr>
          </a:lstStyle>
          <a:p>
            <a:pPr>
              <a:defRPr/>
            </a:pPr>
            <a:fld id="{14C802D5-7BFB-4C91-B5AD-E160672DD109}" type="slidenum">
              <a:rPr lang="en-GB" altLang="en-US"/>
              <a:pPr>
                <a:defRPr/>
              </a:pPr>
              <a:t>‹#›</a:t>
            </a:fld>
            <a:endParaRPr lang="en-GB" altLang="en-US"/>
          </a:p>
        </p:txBody>
      </p:sp>
      <p:cxnSp>
        <p:nvCxnSpPr>
          <p:cNvPr id="10" name="Straight Connector 9"/>
          <p:cNvCxnSpPr/>
          <p:nvPr/>
        </p:nvCxnSpPr>
        <p:spPr>
          <a:xfrm>
            <a:off x="1193800" y="1738313"/>
            <a:ext cx="9966325"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4326" r:id="rId1"/>
    <p:sldLayoutId id="2147484321" r:id="rId2"/>
    <p:sldLayoutId id="2147484327" r:id="rId3"/>
    <p:sldLayoutId id="2147484322" r:id="rId4"/>
    <p:sldLayoutId id="2147484323" r:id="rId5"/>
    <p:sldLayoutId id="2147484324" r:id="rId6"/>
    <p:sldLayoutId id="2147484328" r:id="rId7"/>
    <p:sldLayoutId id="2147484329" r:id="rId8"/>
    <p:sldLayoutId id="2147484330" r:id="rId9"/>
    <p:sldLayoutId id="2147484325" r:id="rId10"/>
    <p:sldLayoutId id="2147484331" r:id="rId11"/>
  </p:sldLayoutIdLst>
  <p:hf hdr="0" dt="0"/>
  <p:txStyles>
    <p:titleStyle>
      <a:lvl1pPr algn="l" rtl="0" eaLnBrk="0" fontAlgn="base" hangingPunct="0">
        <a:lnSpc>
          <a:spcPct val="85000"/>
        </a:lnSpc>
        <a:spcBef>
          <a:spcPct val="0"/>
        </a:spcBef>
        <a:spcAft>
          <a:spcPct val="0"/>
        </a:spcAft>
        <a:defRPr sz="4800" kern="1200" spc="-50">
          <a:solidFill>
            <a:srgbClr val="404040"/>
          </a:solidFill>
          <a:latin typeface="+mj-lt"/>
          <a:ea typeface="+mj-ea"/>
          <a:cs typeface="+mj-cs"/>
        </a:defRPr>
      </a:lvl1pPr>
      <a:lvl2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2pPr>
      <a:lvl3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3pPr>
      <a:lvl4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4pPr>
      <a:lvl5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5pPr>
      <a:lvl6pPr marL="457200" algn="l" rtl="0" fontAlgn="base">
        <a:lnSpc>
          <a:spcPct val="85000"/>
        </a:lnSpc>
        <a:spcBef>
          <a:spcPct val="0"/>
        </a:spcBef>
        <a:spcAft>
          <a:spcPct val="0"/>
        </a:spcAft>
        <a:defRPr sz="4800">
          <a:solidFill>
            <a:srgbClr val="404040"/>
          </a:solidFill>
          <a:latin typeface="Calibri Light" panose="020F0302020204030204" pitchFamily="34" charset="0"/>
        </a:defRPr>
      </a:lvl6pPr>
      <a:lvl7pPr marL="914400" algn="l" rtl="0" fontAlgn="base">
        <a:lnSpc>
          <a:spcPct val="85000"/>
        </a:lnSpc>
        <a:spcBef>
          <a:spcPct val="0"/>
        </a:spcBef>
        <a:spcAft>
          <a:spcPct val="0"/>
        </a:spcAft>
        <a:defRPr sz="4800">
          <a:solidFill>
            <a:srgbClr val="404040"/>
          </a:solidFill>
          <a:latin typeface="Calibri Light" panose="020F0302020204030204" pitchFamily="34" charset="0"/>
        </a:defRPr>
      </a:lvl7pPr>
      <a:lvl8pPr marL="1371600" algn="l" rtl="0" fontAlgn="base">
        <a:lnSpc>
          <a:spcPct val="85000"/>
        </a:lnSpc>
        <a:spcBef>
          <a:spcPct val="0"/>
        </a:spcBef>
        <a:spcAft>
          <a:spcPct val="0"/>
        </a:spcAft>
        <a:defRPr sz="4800">
          <a:solidFill>
            <a:srgbClr val="404040"/>
          </a:solidFill>
          <a:latin typeface="Calibri Light" panose="020F0302020204030204" pitchFamily="34" charset="0"/>
        </a:defRPr>
      </a:lvl8pPr>
      <a:lvl9pPr marL="1828800" algn="l" rtl="0" fontAlgn="base">
        <a:lnSpc>
          <a:spcPct val="85000"/>
        </a:lnSpc>
        <a:spcBef>
          <a:spcPct val="0"/>
        </a:spcBef>
        <a:spcAft>
          <a:spcPct val="0"/>
        </a:spcAft>
        <a:defRPr sz="4800">
          <a:solidFill>
            <a:srgbClr val="404040"/>
          </a:solidFill>
          <a:latin typeface="Calibri Light" panose="020F0302020204030204" pitchFamily="34" charset="0"/>
        </a:defRPr>
      </a:lvl9pPr>
    </p:titleStyle>
    <p:bodyStyle>
      <a:lvl1pPr marL="90488" indent="-90488" algn="l" rtl="0" eaLnBrk="0" fontAlgn="base" hangingPunct="0">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s://www.hcibook.com/e3/scenario/nuclear/"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www.hcibook.com/e3/scenario/nuclear/"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384175" y="1052513"/>
            <a:ext cx="10831513" cy="3168650"/>
          </a:xfrm>
        </p:spPr>
        <p:txBody>
          <a:bodyPr/>
          <a:lstStyle/>
          <a:p>
            <a:pPr algn="ctr" eaLnBrk="1" fontAlgn="auto" hangingPunct="1">
              <a:spcAft>
                <a:spcPts val="0"/>
              </a:spcAft>
              <a:defRPr/>
            </a:pPr>
            <a:r>
              <a:rPr lang="en-GB" altLang="en-US" dirty="0">
                <a:latin typeface="Futura Md BT"/>
              </a:rPr>
              <a:t> </a:t>
            </a:r>
            <a:r>
              <a:rPr lang="en-GB" altLang="en-US" sz="3300" dirty="0">
                <a:latin typeface="Futura Md BT"/>
              </a:rPr>
              <a:t>CSM 357</a:t>
            </a:r>
            <a:br>
              <a:rPr lang="en-GB" altLang="en-US" dirty="0">
                <a:latin typeface="Futura Md BT"/>
              </a:rPr>
            </a:br>
            <a:r>
              <a:rPr lang="en-GB" altLang="en-US" sz="6000" dirty="0">
                <a:solidFill>
                  <a:schemeClr val="tx1"/>
                </a:solidFill>
              </a:rPr>
              <a:t>Human-Computer Interaction</a:t>
            </a:r>
            <a:br>
              <a:rPr lang="en-GB" altLang="en-US" dirty="0">
                <a:solidFill>
                  <a:srgbClr val="FFC551"/>
                </a:solidFill>
              </a:rPr>
            </a:br>
            <a:r>
              <a:rPr lang="en-GB" altLang="en-US" sz="2400" dirty="0">
                <a:solidFill>
                  <a:schemeClr val="tx1"/>
                </a:solidFill>
              </a:rPr>
              <a:t>lecture 4: </a:t>
            </a:r>
            <a:r>
              <a:rPr lang="en-GB" altLang="en-US" sz="2400" dirty="0">
                <a:latin typeface="Times New Roman" panose="02020603050405020304" pitchFamily="18" charset="0"/>
                <a:cs typeface="Times New Roman" panose="02020603050405020304" pitchFamily="18" charset="0"/>
              </a:rPr>
              <a:t>Interaction Design</a:t>
            </a:r>
            <a:endParaRPr lang="en-GH" sz="2400" dirty="0"/>
          </a:p>
        </p:txBody>
      </p:sp>
      <p:sp>
        <p:nvSpPr>
          <p:cNvPr id="6" name="Subtitle 5"/>
          <p:cNvSpPr>
            <a:spLocks noGrp="1"/>
          </p:cNvSpPr>
          <p:nvPr>
            <p:ph type="subTitle" idx="1"/>
          </p:nvPr>
        </p:nvSpPr>
        <p:spPr>
          <a:xfrm>
            <a:off x="5375275" y="5949950"/>
            <a:ext cx="6646863" cy="441325"/>
          </a:xfrm>
        </p:spPr>
        <p:txBody>
          <a:bodyPr rtlCol="0"/>
          <a:lstStyle/>
          <a:p>
            <a:pPr eaLnBrk="1" fontAlgn="auto" hangingPunct="1">
              <a:defRPr/>
            </a:pPr>
            <a:r>
              <a:rPr lang="en-GB" sz="1800" dirty="0">
                <a:solidFill>
                  <a:prstClr val="black"/>
                </a:solidFill>
              </a:rPr>
              <a:t>Rose-Mary </a:t>
            </a:r>
            <a:r>
              <a:rPr lang="en-GB" sz="1800" dirty="0" err="1">
                <a:solidFill>
                  <a:prstClr val="black"/>
                </a:solidFill>
              </a:rPr>
              <a:t>Owusuaa</a:t>
            </a:r>
            <a:r>
              <a:rPr lang="en-GB" sz="1800" dirty="0">
                <a:solidFill>
                  <a:prstClr val="black"/>
                </a:solidFill>
              </a:rPr>
              <a:t> Mensah </a:t>
            </a:r>
            <a:r>
              <a:rPr lang="en-GB" sz="1800" dirty="0" err="1">
                <a:solidFill>
                  <a:prstClr val="black"/>
                </a:solidFill>
              </a:rPr>
              <a:t>Gyening</a:t>
            </a:r>
            <a:endParaRPr lang="en-GB" sz="1800" dirty="0">
              <a:solidFill>
                <a:prstClr val="black"/>
              </a:solidFill>
            </a:endParaRPr>
          </a:p>
          <a:p>
            <a:pPr eaLnBrk="1" fontAlgn="auto" hangingPunct="1">
              <a:defRPr/>
            </a:pPr>
            <a:endParaRPr lang="en-GH"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416" y="119241"/>
            <a:ext cx="10058400" cy="1221528"/>
          </a:xfrm>
        </p:spPr>
        <p:txBody>
          <a:bodyPr/>
          <a:lstStyle/>
          <a:p>
            <a:pPr algn="ctr"/>
            <a:r>
              <a:rPr lang="en-US" dirty="0">
                <a:latin typeface="Times New Roman" panose="02020603050405020304" pitchFamily="18" charset="0"/>
                <a:cs typeface="Times New Roman" panose="02020603050405020304" pitchFamily="18" charset="0"/>
              </a:rPr>
              <a:t>Overview</a:t>
            </a:r>
          </a:p>
        </p:txBody>
      </p:sp>
      <p:sp>
        <p:nvSpPr>
          <p:cNvPr id="3" name="Content Placeholder 2"/>
          <p:cNvSpPr>
            <a:spLocks noGrp="1"/>
          </p:cNvSpPr>
          <p:nvPr>
            <p:ph idx="1"/>
          </p:nvPr>
        </p:nvSpPr>
        <p:spPr>
          <a:xfrm>
            <a:off x="623392" y="1316686"/>
            <a:ext cx="11377263" cy="4571156"/>
          </a:xfrm>
        </p:spPr>
        <p:txBody>
          <a:bodyPr/>
          <a:lstStyle/>
          <a:p>
            <a:r>
              <a:rPr lang="en-US" sz="2600" dirty="0">
                <a:latin typeface="Times New Roman" panose="02020603050405020304" pitchFamily="18" charset="0"/>
                <a:cs typeface="Times New Roman" panose="02020603050405020304" pitchFamily="18" charset="0"/>
              </a:rPr>
              <a:t>In this chapter we will think about interaction design.</a:t>
            </a:r>
          </a:p>
          <a:p>
            <a:r>
              <a:rPr lang="en-US" sz="2600" dirty="0">
                <a:latin typeface="Times New Roman" panose="02020603050405020304" pitchFamily="18" charset="0"/>
                <a:cs typeface="Times New Roman" panose="02020603050405020304" pitchFamily="18" charset="0"/>
              </a:rPr>
              <a:t> </a:t>
            </a:r>
            <a:r>
              <a:rPr lang="en-US" sz="2600" b="1" dirty="0">
                <a:latin typeface="Times New Roman" panose="02020603050405020304" pitchFamily="18" charset="0"/>
                <a:cs typeface="Times New Roman" panose="02020603050405020304" pitchFamily="18" charset="0"/>
              </a:rPr>
              <a:t>Note that we are not just thinking about the design of interactive systems, but about the interaction itself.</a:t>
            </a:r>
            <a:endParaRPr lang="en-US" sz="2600" dirty="0">
              <a:latin typeface="Times New Roman" panose="02020603050405020304" pitchFamily="18" charset="0"/>
              <a:cs typeface="Times New Roman" panose="02020603050405020304" pitchFamily="18" charset="0"/>
            </a:endParaRPr>
          </a:p>
          <a:p>
            <a:r>
              <a:rPr lang="en-US" sz="2600" b="1" dirty="0">
                <a:latin typeface="Times New Roman" panose="02020603050405020304" pitchFamily="18" charset="0"/>
                <a:cs typeface="Times New Roman" panose="02020603050405020304" pitchFamily="18" charset="0"/>
              </a:rPr>
              <a:t>Scenario</a:t>
            </a:r>
          </a:p>
          <a:p>
            <a:r>
              <a:rPr lang="en-US" sz="2600" dirty="0">
                <a:latin typeface="Times New Roman" panose="02020603050405020304" pitchFamily="18" charset="0"/>
                <a:cs typeface="Times New Roman" panose="02020603050405020304" pitchFamily="18" charset="0"/>
              </a:rPr>
              <a:t>An office has just got a new electric stapler. It is connected to the mains electricity and is hard to move around, so when you want to staple papers together you go to the stapler. In the past when someone wanted to staple things they would take the stapler to their desk and keep it until someone else wanted it. You might write a letter, print it, staple it, write the next letter, staple it, and so on. Now you have to take the letters to be stapled across the office, so instead you write–print, write–print until you have a pile of things to staple and then take them across. The stapler influences the whole pattern of interaction</a:t>
            </a:r>
          </a:p>
        </p:txBody>
      </p:sp>
      <p:sp>
        <p:nvSpPr>
          <p:cNvPr id="4" name="Slide Number Placeholder 3"/>
          <p:cNvSpPr>
            <a:spLocks noGrp="1"/>
          </p:cNvSpPr>
          <p:nvPr>
            <p:ph type="sldNum" sz="quarter" idx="12"/>
          </p:nvPr>
        </p:nvSpPr>
        <p:spPr/>
        <p:txBody>
          <a:bodyPr/>
          <a:lstStyle/>
          <a:p>
            <a:pPr>
              <a:defRPr/>
            </a:pPr>
            <a:fld id="{784CB106-59EF-4E38-AE9E-B3544BD66F06}" type="slidenum">
              <a:rPr lang="en-GB" altLang="en-US" smtClean="0"/>
              <a:pPr>
                <a:defRPr/>
              </a:pPr>
              <a:t>2</a:t>
            </a:fld>
            <a:endParaRPr lang="en-GB" altLang="en-US"/>
          </a:p>
        </p:txBody>
      </p:sp>
      <p:sp>
        <p:nvSpPr>
          <p:cNvPr id="5" name="Footer Placeholder 4"/>
          <p:cNvSpPr>
            <a:spLocks noGrp="1"/>
          </p:cNvSpPr>
          <p:nvPr>
            <p:ph type="ftr" sz="quarter" idx="11"/>
          </p:nvPr>
        </p:nvSpPr>
        <p:spPr/>
        <p:txBody>
          <a:bodyPr/>
          <a:lstStyle/>
          <a:p>
            <a:pPr>
              <a:defRPr/>
            </a:pPr>
            <a:r>
              <a:rPr lang="en-GB"/>
              <a:t>slides based on Dix, Alan, et al. "Human-computer interaction."  (2000).</a:t>
            </a:r>
          </a:p>
        </p:txBody>
      </p:sp>
    </p:spTree>
    <p:extLst>
      <p:ext uri="{BB962C8B-B14F-4D97-AF65-F5344CB8AC3E}">
        <p14:creationId xmlns:p14="http://schemas.microsoft.com/office/powerpoint/2010/main" val="15805670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Interaction Design</a:t>
            </a:r>
          </a:p>
        </p:txBody>
      </p:sp>
      <p:sp>
        <p:nvSpPr>
          <p:cNvPr id="3" name="Content Placeholder 2"/>
          <p:cNvSpPr>
            <a:spLocks noGrp="1"/>
          </p:cNvSpPr>
          <p:nvPr>
            <p:ph idx="1"/>
          </p:nvPr>
        </p:nvSpPr>
        <p:spPr>
          <a:xfrm>
            <a:off x="407368" y="1846263"/>
            <a:ext cx="11784631" cy="4022725"/>
          </a:xfrm>
        </p:spPr>
        <p:txBody>
          <a:bodyPr/>
          <a:lstStyle/>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So, interaction design is not just about the artifact that is produced, whether a physical device or a computer program, but about understanding and choosing how that is going to affect the way people work.</a:t>
            </a:r>
          </a:p>
        </p:txBody>
      </p:sp>
      <p:sp>
        <p:nvSpPr>
          <p:cNvPr id="4" name="Slide Number Placeholder 3"/>
          <p:cNvSpPr>
            <a:spLocks noGrp="1"/>
          </p:cNvSpPr>
          <p:nvPr>
            <p:ph type="sldNum" sz="quarter" idx="12"/>
          </p:nvPr>
        </p:nvSpPr>
        <p:spPr/>
        <p:txBody>
          <a:bodyPr/>
          <a:lstStyle/>
          <a:p>
            <a:pPr>
              <a:defRPr/>
            </a:pPr>
            <a:fld id="{784CB106-59EF-4E38-AE9E-B3544BD66F06}" type="slidenum">
              <a:rPr lang="en-GB" altLang="en-US" smtClean="0"/>
              <a:pPr>
                <a:defRPr/>
              </a:pPr>
              <a:t>3</a:t>
            </a:fld>
            <a:endParaRPr lang="en-GB" altLang="en-US"/>
          </a:p>
        </p:txBody>
      </p:sp>
      <p:sp>
        <p:nvSpPr>
          <p:cNvPr id="5" name="Footer Placeholder 4"/>
          <p:cNvSpPr>
            <a:spLocks noGrp="1"/>
          </p:cNvSpPr>
          <p:nvPr>
            <p:ph type="ftr" sz="quarter" idx="11"/>
          </p:nvPr>
        </p:nvSpPr>
        <p:spPr/>
        <p:txBody>
          <a:bodyPr/>
          <a:lstStyle/>
          <a:p>
            <a:pPr>
              <a:defRPr/>
            </a:pPr>
            <a:r>
              <a:rPr lang="en-GB"/>
              <a:t>slides based on Dix, Alan, et al. "Human-computer interaction."  (2000).</a:t>
            </a:r>
          </a:p>
        </p:txBody>
      </p:sp>
    </p:spTree>
    <p:extLst>
      <p:ext uri="{BB962C8B-B14F-4D97-AF65-F5344CB8AC3E}">
        <p14:creationId xmlns:p14="http://schemas.microsoft.com/office/powerpoint/2010/main" val="32310879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pPr algn="ctr" eaLnBrk="1" fontAlgn="auto" hangingPunct="1">
              <a:spcAft>
                <a:spcPts val="0"/>
              </a:spcAft>
              <a:defRPr/>
            </a:pP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The golden rule of design</a:t>
            </a:r>
          </a:p>
        </p:txBody>
      </p:sp>
      <p:sp>
        <p:nvSpPr>
          <p:cNvPr id="3" name="Content Placeholder 2"/>
          <p:cNvSpPr>
            <a:spLocks noGrp="1"/>
          </p:cNvSpPr>
          <p:nvPr>
            <p:ph idx="1"/>
          </p:nvPr>
        </p:nvSpPr>
        <p:spPr>
          <a:xfrm>
            <a:off x="838200" y="1989138"/>
            <a:ext cx="11090275" cy="4475162"/>
          </a:xfrm>
        </p:spPr>
        <p:txBody>
          <a:bodyPr rtlCol="0">
            <a:noAutofit/>
          </a:bodyPr>
          <a:lstStyle/>
          <a:p>
            <a:pPr marL="91440" indent="-91440" eaLnBrk="1" fontAlgn="auto" hangingPunct="1">
              <a:defRPr/>
            </a:pP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For Human–Computer Interaction, the obvious materials are the human and the computer. </a:t>
            </a:r>
          </a:p>
          <a:p>
            <a:pPr marL="91440" indent="-91440" eaLnBrk="1" fontAlgn="auto" hangingPunct="1">
              <a:defRPr/>
            </a:pP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That is we must:</a:t>
            </a:r>
          </a:p>
          <a:p>
            <a:pPr marL="91440" indent="-91440" eaLnBrk="1" fontAlgn="auto" hangingPunct="1">
              <a:defRPr/>
            </a:pP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 </a:t>
            </a:r>
            <a:r>
              <a:rPr lang="en-US" sz="2600" b="1" dirty="0">
                <a:solidFill>
                  <a:schemeClr val="tx1">
                    <a:lumMod val="75000"/>
                    <a:lumOff val="25000"/>
                  </a:schemeClr>
                </a:solidFill>
                <a:latin typeface="Times New Roman" panose="02020603050405020304" pitchFamily="18" charset="0"/>
                <a:cs typeface="Times New Roman" panose="02020603050405020304" pitchFamily="18" charset="0"/>
              </a:rPr>
              <a:t>understand </a:t>
            </a:r>
            <a:r>
              <a:rPr lang="en-US" sz="2600" b="1" i="1" dirty="0">
                <a:solidFill>
                  <a:schemeClr val="tx1">
                    <a:lumMod val="75000"/>
                    <a:lumOff val="25000"/>
                  </a:schemeClr>
                </a:solidFill>
                <a:latin typeface="Times New Roman" panose="02020603050405020304" pitchFamily="18" charset="0"/>
                <a:cs typeface="Times New Roman" panose="02020603050405020304" pitchFamily="18" charset="0"/>
              </a:rPr>
              <a:t>computers</a:t>
            </a:r>
          </a:p>
          <a:p>
            <a:pPr marL="0" indent="0" eaLnBrk="1" fontAlgn="auto" hangingPunct="1">
              <a:buFont typeface="Arial" panose="020B0604020202020204" pitchFamily="34" charset="0"/>
              <a:buNone/>
              <a:defRPr/>
            </a:pP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	– limitations, capacities, tools, platforms</a:t>
            </a:r>
          </a:p>
          <a:p>
            <a:pPr marL="0" indent="0" eaLnBrk="1" fontAlgn="auto" hangingPunct="1">
              <a:buFont typeface="Arial" panose="020B0604020202020204" pitchFamily="34" charset="0"/>
              <a:buNone/>
              <a:defRPr/>
            </a:pPr>
            <a:endParaRPr 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eaLnBrk="1" fontAlgn="auto" hangingPunct="1">
              <a:defRPr/>
            </a:pP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 </a:t>
            </a:r>
            <a:r>
              <a:rPr lang="en-US" sz="2600" b="1" dirty="0">
                <a:solidFill>
                  <a:schemeClr val="tx1">
                    <a:lumMod val="75000"/>
                    <a:lumOff val="25000"/>
                  </a:schemeClr>
                </a:solidFill>
                <a:latin typeface="Times New Roman" panose="02020603050405020304" pitchFamily="18" charset="0"/>
                <a:cs typeface="Times New Roman" panose="02020603050405020304" pitchFamily="18" charset="0"/>
              </a:rPr>
              <a:t>understand </a:t>
            </a:r>
            <a:r>
              <a:rPr lang="en-US" sz="2600" b="1" i="1" dirty="0">
                <a:solidFill>
                  <a:schemeClr val="tx1">
                    <a:lumMod val="75000"/>
                    <a:lumOff val="25000"/>
                  </a:schemeClr>
                </a:solidFill>
                <a:latin typeface="Times New Roman" panose="02020603050405020304" pitchFamily="18" charset="0"/>
                <a:cs typeface="Times New Roman" panose="02020603050405020304" pitchFamily="18" charset="0"/>
              </a:rPr>
              <a:t>people</a:t>
            </a:r>
          </a:p>
          <a:p>
            <a:pPr marL="0" indent="0" eaLnBrk="1" fontAlgn="auto" hangingPunct="1">
              <a:buFont typeface="Arial" panose="020B0604020202020204" pitchFamily="34" charset="0"/>
              <a:buNone/>
              <a:defRPr/>
            </a:pP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	– psychological, social aspects, human error.</a:t>
            </a:r>
          </a:p>
        </p:txBody>
      </p:sp>
      <p:sp>
        <p:nvSpPr>
          <p:cNvPr id="1946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A6996B99-CFD9-4270-87D2-0576C70E34D9}" type="slidenum">
              <a:rPr lang="en-GB" altLang="en-US">
                <a:solidFill>
                  <a:srgbClr val="FFC551"/>
                </a:solidFill>
                <a:latin typeface="Century Gothic" panose="020B0502020202020204" pitchFamily="34" charset="0"/>
                <a:cs typeface="Arial" panose="020B0604020202020204" pitchFamily="34" charset="0"/>
              </a:rPr>
              <a:pPr/>
              <a:t>4</a:t>
            </a:fld>
            <a:endParaRPr lang="en-GB" altLang="en-US">
              <a:solidFill>
                <a:srgbClr val="FFC551"/>
              </a:solidFill>
              <a:latin typeface="Century Gothic" panose="020B0502020202020204" pitchFamily="34" charset="0"/>
              <a:cs typeface="Arial" panose="020B0604020202020204" pitchFamily="34" charset="0"/>
            </a:endParaRPr>
          </a:p>
        </p:txBody>
      </p:sp>
      <p:sp>
        <p:nvSpPr>
          <p:cNvPr id="2" name="Footer Placeholder 1"/>
          <p:cNvSpPr>
            <a:spLocks noGrp="1"/>
          </p:cNvSpPr>
          <p:nvPr>
            <p:ph type="ftr" sz="quarter" idx="11"/>
          </p:nvPr>
        </p:nvSpPr>
        <p:spPr/>
        <p:txBody>
          <a:bodyPr/>
          <a:lstStyle/>
          <a:p>
            <a:pPr>
              <a:defRPr/>
            </a:pPr>
            <a:r>
              <a:rPr lang="en-GB"/>
              <a:t>slides based on Dix, Alan, et al. "Human-computer interaction."  (2000).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pPr algn="ctr" eaLnBrk="1" fontAlgn="auto" hangingPunct="1">
              <a:spcAft>
                <a:spcPts val="0"/>
              </a:spcAft>
              <a:defRPr/>
            </a:pP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The process of design</a:t>
            </a:r>
          </a:p>
        </p:txBody>
      </p:sp>
      <p:sp>
        <p:nvSpPr>
          <p:cNvPr id="20483" name="Content Placeholder 2"/>
          <p:cNvSpPr>
            <a:spLocks noGrp="1" noChangeArrowheads="1"/>
          </p:cNvSpPr>
          <p:nvPr>
            <p:ph idx="1"/>
          </p:nvPr>
        </p:nvSpPr>
        <p:spPr>
          <a:xfrm>
            <a:off x="838200" y="1825625"/>
            <a:ext cx="10515600" cy="4772025"/>
          </a:xfrm>
        </p:spPr>
        <p:txBody>
          <a:bodyPr/>
          <a:lstStyle/>
          <a:p>
            <a:pPr eaLnBrk="1" hangingPunct="1"/>
            <a:r>
              <a:rPr lang="en-US" altLang="en-US" sz="2600" dirty="0">
                <a:solidFill>
                  <a:srgbClr val="FF0000"/>
                </a:solidFill>
                <a:latin typeface="Times New Roman" panose="02020603050405020304" pitchFamily="18" charset="0"/>
                <a:cs typeface="Times New Roman" panose="02020603050405020304" pitchFamily="18" charset="0"/>
              </a:rPr>
              <a:t>Often HCI professionals complain that they are called in too late. </a:t>
            </a:r>
          </a:p>
          <a:p>
            <a:pPr eaLnBrk="1" hangingPunct="1"/>
            <a:r>
              <a:rPr lang="en-US" altLang="en-US" sz="2600" dirty="0">
                <a:latin typeface="Times New Roman" panose="02020603050405020304" pitchFamily="18" charset="0"/>
                <a:cs typeface="Times New Roman" panose="02020603050405020304" pitchFamily="18" charset="0"/>
              </a:rPr>
              <a:t>A system has been designed and built, and only when it proves unusable do they think to ask how to do it right! </a:t>
            </a:r>
          </a:p>
          <a:p>
            <a:pPr eaLnBrk="1" hangingPunct="1"/>
            <a:endParaRPr lang="en-US" altLang="en-US" sz="2600" dirty="0">
              <a:latin typeface="Times New Roman" panose="02020603050405020304" pitchFamily="18" charset="0"/>
              <a:cs typeface="Times New Roman" panose="02020603050405020304" pitchFamily="18" charset="0"/>
            </a:endParaRPr>
          </a:p>
          <a:p>
            <a:pPr eaLnBrk="1" hangingPunct="1"/>
            <a:r>
              <a:rPr lang="en-US" altLang="en-US" sz="2600" dirty="0">
                <a:solidFill>
                  <a:srgbClr val="FF0000"/>
                </a:solidFill>
                <a:latin typeface="Times New Roman" panose="02020603050405020304" pitchFamily="18" charset="0"/>
                <a:cs typeface="Times New Roman" panose="02020603050405020304" pitchFamily="18" charset="0"/>
              </a:rPr>
              <a:t>In some companies, people “assume” usability  is equivalent to testing </a:t>
            </a:r>
            <a:r>
              <a:rPr lang="en-US" altLang="en-US" sz="2600" dirty="0">
                <a:latin typeface="Times New Roman" panose="02020603050405020304" pitchFamily="18" charset="0"/>
                <a:cs typeface="Times New Roman" panose="02020603050405020304" pitchFamily="18" charset="0"/>
              </a:rPr>
              <a:t>– checking whether people can use it and fixing problems, rather than making sure they can from the beginning.</a:t>
            </a:r>
          </a:p>
          <a:p>
            <a:pPr eaLnBrk="1" hangingPunct="1"/>
            <a:endParaRPr lang="en-US" altLang="en-US" sz="2600" dirty="0">
              <a:latin typeface="Times New Roman" panose="02020603050405020304" pitchFamily="18" charset="0"/>
              <a:cs typeface="Times New Roman" panose="02020603050405020304" pitchFamily="18" charset="0"/>
            </a:endParaRPr>
          </a:p>
          <a:p>
            <a:pPr eaLnBrk="1" hangingPunct="1"/>
            <a:r>
              <a:rPr lang="en-US" altLang="en-US" sz="2600" dirty="0">
                <a:latin typeface="Times New Roman" panose="02020603050405020304" pitchFamily="18" charset="0"/>
                <a:cs typeface="Times New Roman" panose="02020603050405020304" pitchFamily="18" charset="0"/>
              </a:rPr>
              <a:t> </a:t>
            </a:r>
            <a:r>
              <a:rPr lang="en-US" altLang="en-US" sz="2600" b="1" dirty="0">
                <a:latin typeface="Times New Roman" panose="02020603050405020304" pitchFamily="18" charset="0"/>
                <a:cs typeface="Times New Roman" panose="02020603050405020304" pitchFamily="18" charset="0"/>
              </a:rPr>
              <a:t>In the best companies, however, usability is designed in from the start.</a:t>
            </a:r>
          </a:p>
          <a:p>
            <a:pPr eaLnBrk="1" hangingPunct="1"/>
            <a:endParaRPr lang="en-US" altLang="en-US" sz="2600" dirty="0">
              <a:latin typeface="Times New Roman" panose="02020603050405020304" pitchFamily="18" charset="0"/>
              <a:cs typeface="Times New Roman" panose="02020603050405020304" pitchFamily="18" charset="0"/>
            </a:endParaRPr>
          </a:p>
        </p:txBody>
      </p:sp>
      <p:sp>
        <p:nvSpPr>
          <p:cNvPr id="20484"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CC0BE09C-DA30-48BC-8640-A2E89AE65B32}" type="slidenum">
              <a:rPr lang="en-GB" altLang="en-US">
                <a:solidFill>
                  <a:srgbClr val="FFC551"/>
                </a:solidFill>
                <a:latin typeface="Century Gothic" panose="020B0502020202020204" pitchFamily="34" charset="0"/>
                <a:cs typeface="Arial" panose="020B0604020202020204" pitchFamily="34" charset="0"/>
              </a:rPr>
              <a:pPr/>
              <a:t>5</a:t>
            </a:fld>
            <a:endParaRPr lang="en-GB" altLang="en-US">
              <a:solidFill>
                <a:srgbClr val="FFC551"/>
              </a:solidFill>
              <a:latin typeface="Century Gothic" panose="020B0502020202020204" pitchFamily="34" charset="0"/>
              <a:cs typeface="Arial" panose="020B0604020202020204" pitchFamily="34" charset="0"/>
            </a:endParaRPr>
          </a:p>
        </p:txBody>
      </p:sp>
      <p:sp>
        <p:nvSpPr>
          <p:cNvPr id="2" name="Footer Placeholder 1"/>
          <p:cNvSpPr>
            <a:spLocks noGrp="1"/>
          </p:cNvSpPr>
          <p:nvPr>
            <p:ph type="ftr" sz="quarter" idx="11"/>
          </p:nvPr>
        </p:nvSpPr>
        <p:spPr/>
        <p:txBody>
          <a:bodyPr/>
          <a:lstStyle/>
          <a:p>
            <a:pPr>
              <a:defRPr/>
            </a:pPr>
            <a:r>
              <a:rPr lang="en-GB"/>
              <a:t>slides based on Dix, Alan, et al. "Human-computer interaction."  (2000).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pPr algn="ctr" eaLnBrk="1" fontAlgn="auto" hangingPunct="1">
              <a:spcAft>
                <a:spcPts val="0"/>
              </a:spcAft>
              <a:defRPr/>
            </a:pP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Interaction Design Process</a:t>
            </a:r>
          </a:p>
        </p:txBody>
      </p:sp>
      <p:pic>
        <p:nvPicPr>
          <p:cNvPr id="28675" name="Content Placeholder 4"/>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26074" t="47167" r="20526" b="13693"/>
          <a:stretch/>
        </p:blipFill>
        <p:spPr>
          <a:xfrm>
            <a:off x="1104900" y="1690689"/>
            <a:ext cx="9982200" cy="4114576"/>
          </a:xfrm>
        </p:spPr>
      </p:pic>
      <p:sp>
        <p:nvSpPr>
          <p:cNvPr id="28676"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7A4B1E8F-2EED-46F7-8BD5-10D25077C373}" type="slidenum">
              <a:rPr lang="en-GB" altLang="en-US">
                <a:solidFill>
                  <a:srgbClr val="FFC551"/>
                </a:solidFill>
                <a:latin typeface="Century Gothic" panose="020B0502020202020204" pitchFamily="34" charset="0"/>
                <a:cs typeface="Arial" panose="020B0604020202020204" pitchFamily="34" charset="0"/>
              </a:rPr>
              <a:pPr/>
              <a:t>6</a:t>
            </a:fld>
            <a:endParaRPr lang="en-GB" altLang="en-US">
              <a:solidFill>
                <a:srgbClr val="FFC551"/>
              </a:solidFill>
              <a:latin typeface="Century Gothic" panose="020B0502020202020204" pitchFamily="34" charset="0"/>
              <a:cs typeface="Arial" panose="020B0604020202020204" pitchFamily="34" charset="0"/>
            </a:endParaRPr>
          </a:p>
        </p:txBody>
      </p:sp>
      <p:sp>
        <p:nvSpPr>
          <p:cNvPr id="2" name="TextBox 1"/>
          <p:cNvSpPr txBox="1"/>
          <p:nvPr/>
        </p:nvSpPr>
        <p:spPr>
          <a:xfrm>
            <a:off x="4799856" y="5805264"/>
            <a:ext cx="3744416" cy="369332"/>
          </a:xfrm>
          <a:prstGeom prst="rect">
            <a:avLst/>
          </a:prstGeom>
          <a:noFill/>
        </p:spPr>
        <p:txBody>
          <a:bodyPr wrap="square" rtlCol="0">
            <a:spAutoFit/>
          </a:bodyPr>
          <a:lstStyle/>
          <a:p>
            <a:r>
              <a:rPr lang="en-US" dirty="0"/>
              <a:t>Figure 1: Interaction Design process</a:t>
            </a:r>
          </a:p>
        </p:txBody>
      </p:sp>
      <p:sp>
        <p:nvSpPr>
          <p:cNvPr id="3" name="Footer Placeholder 2"/>
          <p:cNvSpPr>
            <a:spLocks noGrp="1"/>
          </p:cNvSpPr>
          <p:nvPr>
            <p:ph type="ftr" sz="quarter" idx="11"/>
          </p:nvPr>
        </p:nvSpPr>
        <p:spPr/>
        <p:txBody>
          <a:bodyPr/>
          <a:lstStyle/>
          <a:p>
            <a:pPr>
              <a:defRPr/>
            </a:pPr>
            <a:r>
              <a:rPr lang="en-GB"/>
              <a:t>slides based on Dix, Alan, et al. "Human-computer interaction."  (2000).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pPr algn="ctr" eaLnBrk="1" fontAlgn="auto" hangingPunct="1">
              <a:spcAft>
                <a:spcPts val="0"/>
              </a:spcAft>
              <a:defRPr/>
            </a:pPr>
            <a:r>
              <a:rPr lang="en-US" altLang="en-US" sz="1200" dirty="0">
                <a:solidFill>
                  <a:schemeClr val="tx1">
                    <a:lumMod val="75000"/>
                    <a:lumOff val="25000"/>
                  </a:schemeClr>
                </a:solidFill>
                <a:latin typeface="Times New Roman" panose="02020603050405020304" pitchFamily="18" charset="0"/>
                <a:cs typeface="Times New Roman" panose="02020603050405020304" pitchFamily="18" charset="0"/>
              </a:rPr>
              <a:t>Interaction Design Process</a:t>
            </a: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 Requirement Analysis and Specification (Stage 1)</a:t>
            </a:r>
          </a:p>
        </p:txBody>
      </p:sp>
      <p:sp>
        <p:nvSpPr>
          <p:cNvPr id="3" name="Content Placeholder 2"/>
          <p:cNvSpPr>
            <a:spLocks noGrp="1"/>
          </p:cNvSpPr>
          <p:nvPr>
            <p:ph idx="1"/>
          </p:nvPr>
        </p:nvSpPr>
        <p:spPr>
          <a:xfrm>
            <a:off x="551384" y="1916113"/>
            <a:ext cx="11233248" cy="4543425"/>
          </a:xfrm>
        </p:spPr>
        <p:txBody>
          <a:bodyPr rtlCol="0">
            <a:noAutofit/>
          </a:bodyPr>
          <a:lstStyle/>
          <a:p>
            <a:pPr marL="91440" indent="-91440" eaLnBrk="1" fontAlgn="auto" hangingPunct="1">
              <a:defRPr/>
            </a:pP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Generally, each iteration of the interaction design approach involves </a:t>
            </a:r>
            <a:r>
              <a:rPr lang="en-US" sz="2600" b="1" dirty="0">
                <a:solidFill>
                  <a:schemeClr val="tx1">
                    <a:lumMod val="75000"/>
                    <a:lumOff val="25000"/>
                  </a:schemeClr>
                </a:solidFill>
                <a:latin typeface="Times New Roman" panose="02020603050405020304" pitchFamily="18" charset="0"/>
                <a:cs typeface="Times New Roman" panose="02020603050405020304" pitchFamily="18" charset="0"/>
              </a:rPr>
              <a:t>four distinct phases</a:t>
            </a: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a:t>
            </a:r>
          </a:p>
          <a:p>
            <a:pPr marL="91440" indent="-91440" eaLnBrk="1" fontAlgn="auto" hangingPunct="1">
              <a:defRPr/>
            </a:pPr>
            <a:r>
              <a:rPr lang="en-US" sz="2600" b="1" dirty="0">
                <a:solidFill>
                  <a:schemeClr val="tx1">
                    <a:lumMod val="75000"/>
                    <a:lumOff val="25000"/>
                  </a:schemeClr>
                </a:solidFill>
                <a:latin typeface="Times New Roman" panose="02020603050405020304" pitchFamily="18" charset="0"/>
                <a:cs typeface="Times New Roman" panose="02020603050405020304" pitchFamily="18" charset="0"/>
              </a:rPr>
              <a:t>First</a:t>
            </a: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 designers working in teams try to understand the </a:t>
            </a:r>
            <a:r>
              <a:rPr lang="en-US" sz="2600" b="1" i="1" dirty="0">
                <a:solidFill>
                  <a:schemeClr val="tx1">
                    <a:lumMod val="75000"/>
                    <a:lumOff val="25000"/>
                  </a:schemeClr>
                </a:solidFill>
                <a:latin typeface="Times New Roman" panose="02020603050405020304" pitchFamily="18" charset="0"/>
                <a:cs typeface="Times New Roman" panose="02020603050405020304" pitchFamily="18" charset="0"/>
              </a:rPr>
              <a:t>context</a:t>
            </a: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 in which users may use a system. </a:t>
            </a:r>
          </a:p>
          <a:p>
            <a:pPr marL="91440" indent="-91440" eaLnBrk="1" fontAlgn="auto" hangingPunct="1">
              <a:defRPr/>
            </a:pP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Then, they identify and specify the users’ </a:t>
            </a:r>
            <a:r>
              <a:rPr lang="en-US" sz="2600" b="1" i="1" dirty="0">
                <a:solidFill>
                  <a:schemeClr val="tx1">
                    <a:lumMod val="75000"/>
                    <a:lumOff val="25000"/>
                  </a:schemeClr>
                </a:solidFill>
                <a:latin typeface="Times New Roman" panose="02020603050405020304" pitchFamily="18" charset="0"/>
                <a:cs typeface="Times New Roman" panose="02020603050405020304" pitchFamily="18" charset="0"/>
              </a:rPr>
              <a:t>requirements</a:t>
            </a:r>
          </a:p>
          <a:p>
            <a:pPr marL="91440" indent="-91440" eaLnBrk="1" fontAlgn="auto" hangingPunct="1">
              <a:defRPr/>
            </a:pPr>
            <a:r>
              <a:rPr lang="en-US" sz="2600" dirty="0">
                <a:solidFill>
                  <a:srgbClr val="FF0000"/>
                </a:solidFill>
                <a:latin typeface="Times New Roman" panose="02020603050405020304" pitchFamily="18" charset="0"/>
                <a:cs typeface="Times New Roman" panose="02020603050405020304" pitchFamily="18" charset="0"/>
              </a:rPr>
              <a:t>In most cases, the user requirements cannot all be fixed at the beginning of the project.</a:t>
            </a:r>
          </a:p>
          <a:p>
            <a:pPr marL="91440" indent="-91440" eaLnBrk="1" fontAlgn="auto" hangingPunct="1">
              <a:defRPr/>
            </a:pPr>
            <a:r>
              <a:rPr lang="en-US" sz="2600" b="1" dirty="0">
                <a:solidFill>
                  <a:srgbClr val="00B050"/>
                </a:solidFill>
                <a:latin typeface="Times New Roman" panose="02020603050405020304" pitchFamily="18" charset="0"/>
                <a:cs typeface="Times New Roman" panose="02020603050405020304" pitchFamily="18" charset="0"/>
              </a:rPr>
              <a:t>You have to be prepared to identify new requirements and to refine or reject the existing ones throughout the design process.</a:t>
            </a:r>
          </a:p>
        </p:txBody>
      </p:sp>
      <p:sp>
        <p:nvSpPr>
          <p:cNvPr id="30724"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D1FFCBDF-D274-480F-BD3D-FB555C578000}" type="slidenum">
              <a:rPr lang="en-GB" altLang="en-US">
                <a:solidFill>
                  <a:srgbClr val="FFC551"/>
                </a:solidFill>
                <a:latin typeface="Century Gothic" panose="020B0502020202020204" pitchFamily="34" charset="0"/>
                <a:cs typeface="Arial" panose="020B0604020202020204" pitchFamily="34" charset="0"/>
              </a:rPr>
              <a:pPr/>
              <a:t>7</a:t>
            </a:fld>
            <a:endParaRPr lang="en-GB" altLang="en-US">
              <a:solidFill>
                <a:srgbClr val="FFC551"/>
              </a:solidFill>
              <a:latin typeface="Century Gothic" panose="020B0502020202020204" pitchFamily="34" charset="0"/>
              <a:cs typeface="Arial" panose="020B0604020202020204" pitchFamily="34" charset="0"/>
            </a:endParaRPr>
          </a:p>
        </p:txBody>
      </p:sp>
      <p:sp>
        <p:nvSpPr>
          <p:cNvPr id="2" name="Footer Placeholder 1"/>
          <p:cNvSpPr>
            <a:spLocks noGrp="1"/>
          </p:cNvSpPr>
          <p:nvPr>
            <p:ph type="ftr" sz="quarter" idx="11"/>
          </p:nvPr>
        </p:nvSpPr>
        <p:spPr/>
        <p:txBody>
          <a:bodyPr/>
          <a:lstStyle/>
          <a:p>
            <a:pPr>
              <a:defRPr/>
            </a:pPr>
            <a:r>
              <a:rPr lang="en-GB"/>
              <a:t>slides based on Dix, Alan, et al. "Human-computer interaction."  (2000).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a:xfrm>
            <a:off x="263525" y="788988"/>
            <a:ext cx="11593513" cy="552450"/>
          </a:xfrm>
        </p:spPr>
        <p:txBody>
          <a:bodyPr>
            <a:normAutofit fontScale="90000"/>
          </a:bodyPr>
          <a:lstStyle/>
          <a:p>
            <a:pPr algn="ctr" eaLnBrk="1" fontAlgn="auto" hangingPunct="1">
              <a:spcAft>
                <a:spcPts val="0"/>
              </a:spcAft>
              <a:defRPr/>
            </a:pPr>
            <a:r>
              <a:rPr lang="en-US" altLang="en-US" sz="1800" dirty="0">
                <a:solidFill>
                  <a:schemeClr val="tx1">
                    <a:lumMod val="75000"/>
                    <a:lumOff val="25000"/>
                  </a:schemeClr>
                </a:solidFill>
                <a:latin typeface="Times New Roman" panose="02020603050405020304" pitchFamily="18" charset="0"/>
                <a:cs typeface="Times New Roman" panose="02020603050405020304" pitchFamily="18" charset="0"/>
              </a:rPr>
              <a:t>Interaction Design Process </a:t>
            </a: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 Requirement Analysis and Specification</a:t>
            </a:r>
          </a:p>
        </p:txBody>
      </p:sp>
      <p:sp>
        <p:nvSpPr>
          <p:cNvPr id="37891" name="Content Placeholder 2"/>
          <p:cNvSpPr>
            <a:spLocks noGrp="1"/>
          </p:cNvSpPr>
          <p:nvPr>
            <p:ph idx="1"/>
          </p:nvPr>
        </p:nvSpPr>
        <p:spPr>
          <a:xfrm>
            <a:off x="838200" y="1772816"/>
            <a:ext cx="11018838" cy="4686722"/>
          </a:xfrm>
        </p:spPr>
        <p:txBody>
          <a:bodyPr rtlCol="0">
            <a:noAutofit/>
          </a:bodyPr>
          <a:lstStyle/>
          <a:p>
            <a:pPr marL="91440" indent="-91440" eaLnBrk="1" fontAlgn="auto" hangingPunct="1">
              <a:lnSpc>
                <a:spcPct val="100000"/>
              </a:lnSpc>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In interaction design, the user and organizational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requirements should:</a:t>
            </a:r>
          </a:p>
          <a:p>
            <a:pPr marL="566928" lvl="2" indent="-182880" eaLnBrk="1" fontAlgn="auto" hangingPunct="1">
              <a:lnSpc>
                <a:spcPct val="100000"/>
              </a:lnSpc>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define the range of relevant users;</a:t>
            </a:r>
          </a:p>
          <a:p>
            <a:pPr marL="566928" lvl="2" indent="-182880" eaLnBrk="1" fontAlgn="auto" hangingPunct="1">
              <a:lnSpc>
                <a:spcPct val="100000"/>
              </a:lnSpc>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set user centered design goals;</a:t>
            </a:r>
          </a:p>
          <a:p>
            <a:pPr marL="566928" lvl="2" indent="-182880" eaLnBrk="1" fontAlgn="auto" hangingPunct="1">
              <a:lnSpc>
                <a:spcPct val="100000"/>
              </a:lnSpc>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define priorities of the different requirements;</a:t>
            </a:r>
          </a:p>
          <a:p>
            <a:pPr marL="566928" lvl="2" indent="-182880" eaLnBrk="1" fontAlgn="auto" hangingPunct="1">
              <a:lnSpc>
                <a:spcPct val="100000"/>
              </a:lnSpc>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provide measurable usability criteria;</a:t>
            </a:r>
          </a:p>
          <a:p>
            <a:pPr marL="566928" lvl="2" indent="-182880" eaLnBrk="1" fontAlgn="auto" hangingPunct="1">
              <a:lnSpc>
                <a:spcPct val="100000"/>
              </a:lnSpc>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be confirmed by the users or their representatives;</a:t>
            </a:r>
          </a:p>
          <a:p>
            <a:pPr marL="566928" lvl="2" indent="-182880" eaLnBrk="1" fontAlgn="auto" hangingPunct="1">
              <a:lnSpc>
                <a:spcPct val="100000"/>
              </a:lnSpc>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include statutory or legislative requirements;</a:t>
            </a:r>
          </a:p>
          <a:p>
            <a:pPr marL="566928" lvl="2" indent="-182880" eaLnBrk="1" fontAlgn="auto" hangingPunct="1">
              <a:lnSpc>
                <a:spcPct val="100000"/>
              </a:lnSpc>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be adequately documented;</a:t>
            </a:r>
          </a:p>
          <a:p>
            <a:pPr marL="566928" lvl="2" indent="-182880" eaLnBrk="1" fontAlgn="auto" hangingPunct="1">
              <a:lnSpc>
                <a:spcPct val="100000"/>
              </a:lnSpc>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be a working document, which will be updated throughout the design process (a design rationale).</a:t>
            </a:r>
            <a:endParaRPr lang="en-US" altLang="en-US" sz="2600" b="1" dirty="0">
              <a:solidFill>
                <a:srgbClr val="00B050"/>
              </a:solidFill>
              <a:latin typeface="Times New Roman" panose="02020603050405020304" pitchFamily="18" charset="0"/>
              <a:cs typeface="Times New Roman" panose="02020603050405020304" pitchFamily="18" charset="0"/>
            </a:endParaRPr>
          </a:p>
        </p:txBody>
      </p:sp>
      <p:sp>
        <p:nvSpPr>
          <p:cNvPr id="31748"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796ACCA4-10CC-4B1E-8F82-068B195E0D84}" type="slidenum">
              <a:rPr lang="en-GB" altLang="en-US">
                <a:solidFill>
                  <a:srgbClr val="FFC551"/>
                </a:solidFill>
                <a:latin typeface="Century Gothic" panose="020B0502020202020204" pitchFamily="34" charset="0"/>
                <a:cs typeface="Arial" panose="020B0604020202020204" pitchFamily="34" charset="0"/>
              </a:rPr>
              <a:pPr/>
              <a:t>8</a:t>
            </a:fld>
            <a:endParaRPr lang="en-GB" altLang="en-US">
              <a:solidFill>
                <a:srgbClr val="FFC551"/>
              </a:solidFill>
              <a:latin typeface="Century Gothic" panose="020B0502020202020204" pitchFamily="34" charset="0"/>
              <a:cs typeface="Arial" panose="020B0604020202020204" pitchFamily="34" charset="0"/>
            </a:endParaRPr>
          </a:p>
        </p:txBody>
      </p:sp>
      <p:sp>
        <p:nvSpPr>
          <p:cNvPr id="2" name="Footer Placeholder 1"/>
          <p:cNvSpPr>
            <a:spLocks noGrp="1"/>
          </p:cNvSpPr>
          <p:nvPr>
            <p:ph type="ftr" sz="quarter" idx="11"/>
          </p:nvPr>
        </p:nvSpPr>
        <p:spPr/>
        <p:txBody>
          <a:bodyPr/>
          <a:lstStyle/>
          <a:p>
            <a:pPr>
              <a:defRPr/>
            </a:pPr>
            <a:r>
              <a:rPr lang="en-GB"/>
              <a:t>slides based on Dix, Alan, et al. "Human-computer interaction."  (2000).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a:xfrm>
            <a:off x="263525" y="788988"/>
            <a:ext cx="11593513" cy="552450"/>
          </a:xfrm>
        </p:spPr>
        <p:txBody>
          <a:bodyPr>
            <a:normAutofit fontScale="90000"/>
          </a:bodyPr>
          <a:lstStyle/>
          <a:p>
            <a:pPr algn="ctr" eaLnBrk="1" fontAlgn="auto" hangingPunct="1">
              <a:spcAft>
                <a:spcPts val="0"/>
              </a:spcAft>
              <a:defRPr/>
            </a:pPr>
            <a:r>
              <a:rPr lang="en-US" altLang="en-US" sz="1800" dirty="0">
                <a:solidFill>
                  <a:schemeClr val="tx1">
                    <a:lumMod val="75000"/>
                    <a:lumOff val="25000"/>
                  </a:schemeClr>
                </a:solidFill>
                <a:latin typeface="Times New Roman" panose="02020603050405020304" pitchFamily="18" charset="0"/>
                <a:cs typeface="Times New Roman" panose="02020603050405020304" pitchFamily="18" charset="0"/>
              </a:rPr>
              <a:t>Requirement Analysis and Specification</a:t>
            </a: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 Commonly used methods and tools</a:t>
            </a:r>
          </a:p>
        </p:txBody>
      </p:sp>
      <p:sp>
        <p:nvSpPr>
          <p:cNvPr id="32771" name="Content Placeholder 2"/>
          <p:cNvSpPr>
            <a:spLocks noGrp="1" noChangeArrowheads="1"/>
          </p:cNvSpPr>
          <p:nvPr>
            <p:ph idx="1"/>
          </p:nvPr>
        </p:nvSpPr>
        <p:spPr>
          <a:xfrm>
            <a:off x="479376" y="1739354"/>
            <a:ext cx="11018838" cy="4902746"/>
          </a:xfrm>
        </p:spPr>
        <p:txBody>
          <a:bodyPr/>
          <a:lstStyle/>
          <a:p>
            <a:pPr eaLnBrk="1" hangingPunct="1"/>
            <a:r>
              <a:rPr lang="en-US" altLang="en-US" sz="2600" dirty="0">
                <a:latin typeface="Times New Roman" panose="02020603050405020304" pitchFamily="18" charset="0"/>
                <a:cs typeface="Times New Roman" panose="02020603050405020304" pitchFamily="18" charset="0"/>
              </a:rPr>
              <a:t>The following methods present </a:t>
            </a:r>
            <a:r>
              <a:rPr lang="en-US" altLang="en-US" sz="2600" b="1" dirty="0">
                <a:latin typeface="Times New Roman" panose="02020603050405020304" pitchFamily="18" charset="0"/>
                <a:cs typeface="Times New Roman" panose="02020603050405020304" pitchFamily="18" charset="0"/>
              </a:rPr>
              <a:t>different ways of collecting information on the users and the context of use which can be useful in defining initial user requirements.</a:t>
            </a:r>
            <a:endParaRPr lang="en-US" altLang="en-US" sz="2600" dirty="0">
              <a:latin typeface="Times New Roman" panose="02020603050405020304" pitchFamily="18" charset="0"/>
              <a:cs typeface="Times New Roman" panose="02020603050405020304" pitchFamily="18" charset="0"/>
            </a:endParaRPr>
          </a:p>
          <a:p>
            <a:pPr eaLnBrk="1" hangingPunct="1"/>
            <a:r>
              <a:rPr lang="en-US" altLang="en-US" sz="2600" b="1" dirty="0">
                <a:latin typeface="Times New Roman" panose="02020603050405020304" pitchFamily="18" charset="0"/>
                <a:cs typeface="Times New Roman" panose="02020603050405020304" pitchFamily="18" charset="0"/>
              </a:rPr>
              <a:t>Interviews</a:t>
            </a:r>
            <a:r>
              <a:rPr lang="en-US" altLang="en-US" sz="2600" dirty="0">
                <a:latin typeface="Times New Roman" panose="02020603050405020304" pitchFamily="18" charset="0"/>
                <a:cs typeface="Times New Roman" panose="02020603050405020304" pitchFamily="18" charset="0"/>
              </a:rPr>
              <a:t>: Interviewing is still the most widely used method of learning about the users and what they want. There are 3 types of interviews: unstructured interviews, semi structured interviews and structured interviews.</a:t>
            </a:r>
          </a:p>
          <a:p>
            <a:pPr eaLnBrk="1" hangingPunct="1"/>
            <a:endParaRPr lang="en-US" altLang="en-US" sz="2600" dirty="0">
              <a:latin typeface="Times New Roman" panose="02020603050405020304" pitchFamily="18" charset="0"/>
              <a:cs typeface="Times New Roman" panose="02020603050405020304" pitchFamily="18" charset="0"/>
            </a:endParaRPr>
          </a:p>
          <a:p>
            <a:pPr eaLnBrk="1" hangingPunct="1"/>
            <a:r>
              <a:rPr lang="en-US" altLang="en-US" sz="2600" b="1" dirty="0">
                <a:latin typeface="Times New Roman" panose="02020603050405020304" pitchFamily="18" charset="0"/>
                <a:cs typeface="Times New Roman" panose="02020603050405020304" pitchFamily="18" charset="0"/>
              </a:rPr>
              <a:t>Observation: </a:t>
            </a:r>
            <a:r>
              <a:rPr lang="en-US" altLang="en-US" sz="2600" dirty="0">
                <a:latin typeface="Times New Roman" panose="02020603050405020304" pitchFamily="18" charset="0"/>
                <a:cs typeface="Times New Roman" panose="02020603050405020304" pitchFamily="18" charset="0"/>
              </a:rPr>
              <a:t>Observation is a method where an investigator views users as they work and takes notes on the activities that take place. Observation may be either direct, where the investigator is actually present during the task, or indirect, where the task is viewed by some other means such as video.</a:t>
            </a:r>
          </a:p>
          <a:p>
            <a:pPr eaLnBrk="1" hangingPunct="1"/>
            <a:endParaRPr lang="en-US" altLang="en-US" sz="2600" b="1" dirty="0">
              <a:solidFill>
                <a:srgbClr val="00B050"/>
              </a:solidFill>
              <a:latin typeface="Times New Roman" panose="02020603050405020304" pitchFamily="18" charset="0"/>
              <a:cs typeface="Times New Roman" panose="02020603050405020304" pitchFamily="18" charset="0"/>
            </a:endParaRPr>
          </a:p>
        </p:txBody>
      </p:sp>
      <p:sp>
        <p:nvSpPr>
          <p:cNvPr id="32772"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7EF99DEF-EC8A-463F-9A02-5B1D1E29A9B2}" type="slidenum">
              <a:rPr lang="en-GB" altLang="en-US">
                <a:solidFill>
                  <a:srgbClr val="FFC551"/>
                </a:solidFill>
                <a:latin typeface="Century Gothic" panose="020B0502020202020204" pitchFamily="34" charset="0"/>
                <a:cs typeface="Arial" panose="020B0604020202020204" pitchFamily="34" charset="0"/>
              </a:rPr>
              <a:pPr/>
              <a:t>9</a:t>
            </a:fld>
            <a:endParaRPr lang="en-GB" altLang="en-US">
              <a:solidFill>
                <a:srgbClr val="FFC551"/>
              </a:solidFill>
              <a:latin typeface="Century Gothic" panose="020B0502020202020204" pitchFamily="34" charset="0"/>
              <a:cs typeface="Arial" panose="020B0604020202020204" pitchFamily="34" charset="0"/>
            </a:endParaRPr>
          </a:p>
        </p:txBody>
      </p:sp>
      <p:sp>
        <p:nvSpPr>
          <p:cNvPr id="2" name="Footer Placeholder 1"/>
          <p:cNvSpPr>
            <a:spLocks noGrp="1"/>
          </p:cNvSpPr>
          <p:nvPr>
            <p:ph type="ftr" sz="quarter" idx="11"/>
          </p:nvPr>
        </p:nvSpPr>
        <p:spPr/>
        <p:txBody>
          <a:bodyPr/>
          <a:lstStyle/>
          <a:p>
            <a:pPr>
              <a:defRPr/>
            </a:pPr>
            <a:r>
              <a:rPr lang="en-GB"/>
              <a:t>slides based on Dix, Alan, et al. "Human-computer interaction."  (2000).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79D47-5404-1C91-5282-A9FD4A21C973}"/>
              </a:ext>
            </a:extLst>
          </p:cNvPr>
          <p:cNvSpPr>
            <a:spLocks noGrp="1"/>
          </p:cNvSpPr>
          <p:nvPr>
            <p:ph type="title"/>
          </p:nvPr>
        </p:nvSpPr>
        <p:spPr/>
        <p:txBody>
          <a:bodyPr/>
          <a:lstStyle/>
          <a:p>
            <a:r>
              <a:rPr kumimoji="0" lang="en-US" altLang="en-US" sz="1600" b="0" i="0" u="none" strike="noStrike" kern="1200" cap="none" spc="-50" normalizeH="0" baseline="0" noProof="0" dirty="0">
                <a:ln>
                  <a:noFill/>
                </a:ln>
                <a:solidFill>
                  <a:srgbClr val="000000">
                    <a:lumMod val="75000"/>
                    <a:lumOff val="25000"/>
                  </a:srgbClr>
                </a:solidFill>
                <a:effectLst/>
                <a:uLnTx/>
                <a:uFillTx/>
                <a:latin typeface="Times New Roman" panose="02020603050405020304" pitchFamily="18" charset="0"/>
                <a:ea typeface="+mj-ea"/>
                <a:cs typeface="Times New Roman" panose="02020603050405020304" pitchFamily="18" charset="0"/>
              </a:rPr>
              <a:t>Requirement Analysis and Specification</a:t>
            </a:r>
            <a:r>
              <a:rPr kumimoji="0" lang="en-US" altLang="en-US" sz="4300" b="0" i="0" u="none" strike="noStrike" kern="1200" cap="none" spc="-50" normalizeH="0" baseline="0" noProof="0" dirty="0">
                <a:ln>
                  <a:noFill/>
                </a:ln>
                <a:solidFill>
                  <a:srgbClr val="000000">
                    <a:lumMod val="75000"/>
                    <a:lumOff val="25000"/>
                  </a:srgbClr>
                </a:solidFill>
                <a:effectLst/>
                <a:uLnTx/>
                <a:uFillTx/>
                <a:latin typeface="Times New Roman" panose="02020603050405020304" pitchFamily="18" charset="0"/>
                <a:ea typeface="+mj-ea"/>
                <a:cs typeface="Times New Roman" panose="02020603050405020304" pitchFamily="18" charset="0"/>
              </a:rPr>
              <a:t>: Commonly used methods and tools</a:t>
            </a:r>
            <a:endParaRPr lang="en-US" dirty="0"/>
          </a:p>
        </p:txBody>
      </p:sp>
      <p:sp>
        <p:nvSpPr>
          <p:cNvPr id="3" name="Content Placeholder 2">
            <a:extLst>
              <a:ext uri="{FF2B5EF4-FFF2-40B4-BE49-F238E27FC236}">
                <a16:creationId xmlns:a16="http://schemas.microsoft.com/office/drawing/2014/main" id="{7420CA32-1078-1263-1DBD-4EA43CB57CD5}"/>
              </a:ext>
            </a:extLst>
          </p:cNvPr>
          <p:cNvSpPr>
            <a:spLocks noGrp="1"/>
          </p:cNvSpPr>
          <p:nvPr>
            <p:ph idx="1"/>
          </p:nvPr>
        </p:nvSpPr>
        <p:spPr/>
        <p:txBody>
          <a:bodyPr/>
          <a:lstStyle/>
          <a:p>
            <a:r>
              <a:rPr lang="en-US" altLang="en-US" sz="2600" b="1" dirty="0">
                <a:latin typeface="Times New Roman" panose="02020603050405020304" pitchFamily="18" charset="0"/>
                <a:cs typeface="Times New Roman" panose="02020603050405020304" pitchFamily="18" charset="0"/>
              </a:rPr>
              <a:t>Contextual Inquiry: </a:t>
            </a:r>
            <a:r>
              <a:rPr lang="en-US" altLang="en-US" sz="2600" dirty="0">
                <a:latin typeface="Times New Roman" panose="02020603050405020304" pitchFamily="18" charset="0"/>
                <a:cs typeface="Times New Roman" panose="02020603050405020304" pitchFamily="18" charset="0"/>
              </a:rPr>
              <a:t>Contextual Inquiry is based on ethnography and the sociological research tradition where the researcher/observer visits the users’ own environment. The observer not only observes the user but also asks questions about events that are not obvious as such.</a:t>
            </a:r>
          </a:p>
          <a:p>
            <a:endParaRPr lang="en-US" sz="2600" dirty="0"/>
          </a:p>
        </p:txBody>
      </p:sp>
      <p:sp>
        <p:nvSpPr>
          <p:cNvPr id="4" name="Footer Placeholder 3">
            <a:extLst>
              <a:ext uri="{FF2B5EF4-FFF2-40B4-BE49-F238E27FC236}">
                <a16:creationId xmlns:a16="http://schemas.microsoft.com/office/drawing/2014/main" id="{B30C02D7-96B8-77A6-21DC-E44E4EB0A3CC}"/>
              </a:ext>
            </a:extLst>
          </p:cNvPr>
          <p:cNvSpPr>
            <a:spLocks noGrp="1"/>
          </p:cNvSpPr>
          <p:nvPr>
            <p:ph type="ftr" sz="quarter" idx="11"/>
          </p:nvPr>
        </p:nvSpPr>
        <p:spPr/>
        <p:txBody>
          <a:bodyPr/>
          <a:lstStyle/>
          <a:p>
            <a:pPr>
              <a:defRPr/>
            </a:pPr>
            <a:r>
              <a:rPr lang="en-GB"/>
              <a:t>slides based on Dix, Alan, et al. "Human-computer interaction."  (2000).</a:t>
            </a:r>
          </a:p>
        </p:txBody>
      </p:sp>
      <p:sp>
        <p:nvSpPr>
          <p:cNvPr id="5" name="Slide Number Placeholder 4">
            <a:extLst>
              <a:ext uri="{FF2B5EF4-FFF2-40B4-BE49-F238E27FC236}">
                <a16:creationId xmlns:a16="http://schemas.microsoft.com/office/drawing/2014/main" id="{244A6005-ECF2-E286-35B2-6316AAFD5184}"/>
              </a:ext>
            </a:extLst>
          </p:cNvPr>
          <p:cNvSpPr>
            <a:spLocks noGrp="1"/>
          </p:cNvSpPr>
          <p:nvPr>
            <p:ph type="sldNum" sz="quarter" idx="12"/>
          </p:nvPr>
        </p:nvSpPr>
        <p:spPr/>
        <p:txBody>
          <a:bodyPr/>
          <a:lstStyle/>
          <a:p>
            <a:pPr>
              <a:defRPr/>
            </a:pPr>
            <a:fld id="{784CB106-59EF-4E38-AE9E-B3544BD66F06}" type="slidenum">
              <a:rPr lang="en-GB" altLang="en-US" smtClean="0"/>
              <a:pPr>
                <a:defRPr/>
              </a:pPr>
              <a:t>10</a:t>
            </a:fld>
            <a:endParaRPr lang="en-GB" altLang="en-US"/>
          </a:p>
        </p:txBody>
      </p:sp>
    </p:spTree>
    <p:extLst>
      <p:ext uri="{BB962C8B-B14F-4D97-AF65-F5344CB8AC3E}">
        <p14:creationId xmlns:p14="http://schemas.microsoft.com/office/powerpoint/2010/main" val="19056814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a:xfrm>
            <a:off x="263525" y="788988"/>
            <a:ext cx="11593513" cy="552450"/>
          </a:xfrm>
        </p:spPr>
        <p:txBody>
          <a:bodyPr>
            <a:normAutofit fontScale="90000"/>
          </a:bodyPr>
          <a:lstStyle/>
          <a:p>
            <a:pPr algn="ctr" eaLnBrk="1" fontAlgn="auto" hangingPunct="1">
              <a:spcAft>
                <a:spcPts val="0"/>
              </a:spcAft>
              <a:defRPr/>
            </a:pPr>
            <a:r>
              <a:rPr lang="en-US" altLang="en-US" sz="1800" dirty="0">
                <a:solidFill>
                  <a:schemeClr val="tx1">
                    <a:lumMod val="75000"/>
                    <a:lumOff val="25000"/>
                  </a:schemeClr>
                </a:solidFill>
                <a:latin typeface="Times New Roman" panose="02020603050405020304" pitchFamily="18" charset="0"/>
                <a:cs typeface="Times New Roman" panose="02020603050405020304" pitchFamily="18" charset="0"/>
              </a:rPr>
              <a:t>Requirement Analysis and Specification</a:t>
            </a: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 Commonly used methods and tools</a:t>
            </a:r>
          </a:p>
        </p:txBody>
      </p:sp>
      <p:sp>
        <p:nvSpPr>
          <p:cNvPr id="33795" name="Content Placeholder 2"/>
          <p:cNvSpPr>
            <a:spLocks noGrp="1" noChangeArrowheads="1"/>
          </p:cNvSpPr>
          <p:nvPr>
            <p:ph idx="1"/>
          </p:nvPr>
        </p:nvSpPr>
        <p:spPr>
          <a:xfrm>
            <a:off x="695400" y="1844824"/>
            <a:ext cx="11018838" cy="5200650"/>
          </a:xfrm>
        </p:spPr>
        <p:txBody>
          <a:bodyPr/>
          <a:lstStyle/>
          <a:p>
            <a:pPr eaLnBrk="1" hangingPunct="1"/>
            <a:r>
              <a:rPr lang="en-US" altLang="en-US" sz="2600" b="1" dirty="0">
                <a:latin typeface="Times New Roman" panose="02020603050405020304" pitchFamily="18" charset="0"/>
                <a:cs typeface="Times New Roman" panose="02020603050405020304" pitchFamily="18" charset="0"/>
              </a:rPr>
              <a:t>Brainstorming</a:t>
            </a:r>
            <a:r>
              <a:rPr lang="en-US" altLang="en-US" sz="2600" b="1" dirty="0">
                <a:solidFill>
                  <a:srgbClr val="00B050"/>
                </a:solidFill>
                <a:latin typeface="Times New Roman" panose="02020603050405020304" pitchFamily="18" charset="0"/>
                <a:cs typeface="Times New Roman" panose="02020603050405020304" pitchFamily="18" charset="0"/>
              </a:rPr>
              <a:t>: </a:t>
            </a:r>
            <a:r>
              <a:rPr lang="en-US" altLang="en-US" sz="2600" dirty="0">
                <a:latin typeface="Times New Roman" panose="02020603050405020304" pitchFamily="18" charset="0"/>
                <a:cs typeface="Times New Roman" panose="02020603050405020304" pitchFamily="18" charset="0"/>
              </a:rPr>
              <a:t>The idea of brainstorming is to let people come together and inspire to generate new ideas by opening the mind to any idea that is suggested, allowing freedom for creativity. Brainstorming can be used for rapid generation of ideas or identification of problems in a specific domain.</a:t>
            </a:r>
          </a:p>
          <a:p>
            <a:pPr eaLnBrk="1" hangingPunct="1"/>
            <a:endParaRPr lang="en-US" altLang="en-US" sz="2600" b="1" dirty="0">
              <a:solidFill>
                <a:srgbClr val="00B050"/>
              </a:solidFill>
              <a:latin typeface="Times New Roman" panose="02020603050405020304" pitchFamily="18" charset="0"/>
              <a:cs typeface="Times New Roman" panose="02020603050405020304" pitchFamily="18" charset="0"/>
            </a:endParaRPr>
          </a:p>
          <a:p>
            <a:pPr eaLnBrk="1" hangingPunct="1"/>
            <a:r>
              <a:rPr lang="en-US" altLang="en-US" sz="2600" b="1" dirty="0">
                <a:latin typeface="Times New Roman" panose="02020603050405020304" pitchFamily="18" charset="0"/>
                <a:cs typeface="Times New Roman" panose="02020603050405020304" pitchFamily="18" charset="0"/>
              </a:rPr>
              <a:t>Evaluation of the usage of corresponding products</a:t>
            </a:r>
            <a:r>
              <a:rPr lang="en-US" altLang="en-US" sz="2600" dirty="0">
                <a:latin typeface="Times New Roman" panose="02020603050405020304" pitchFamily="18" charset="0"/>
                <a:cs typeface="Times New Roman" panose="02020603050405020304" pitchFamily="18" charset="0"/>
              </a:rPr>
              <a:t>: Sometimes a good source of information for user requirements is the evaluation of previous products. By studying how people deal with these products you can identify problems with current solutions, needs for new features and ideas for further development. The evaluation can be carried out, e.g., as usability testing in laboratory</a:t>
            </a:r>
          </a:p>
          <a:p>
            <a:pPr eaLnBrk="1" hangingPunct="1"/>
            <a:endParaRPr lang="en-US" altLang="en-US" sz="2600" b="1" dirty="0">
              <a:solidFill>
                <a:srgbClr val="00B050"/>
              </a:solidFill>
              <a:latin typeface="Times New Roman" panose="02020603050405020304" pitchFamily="18" charset="0"/>
              <a:cs typeface="Times New Roman" panose="02020603050405020304" pitchFamily="18" charset="0"/>
            </a:endParaRPr>
          </a:p>
          <a:p>
            <a:pPr eaLnBrk="1" hangingPunct="1"/>
            <a:endParaRPr lang="en-US" altLang="en-US" sz="2600" b="1" dirty="0">
              <a:solidFill>
                <a:srgbClr val="00B050"/>
              </a:solidFill>
              <a:latin typeface="Times New Roman" panose="02020603050405020304" pitchFamily="18" charset="0"/>
              <a:cs typeface="Times New Roman" panose="02020603050405020304" pitchFamily="18" charset="0"/>
            </a:endParaRPr>
          </a:p>
        </p:txBody>
      </p:sp>
      <p:sp>
        <p:nvSpPr>
          <p:cNvPr id="33796"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76961244-2677-41B7-BAE8-8BF75582EC7D}" type="slidenum">
              <a:rPr lang="en-GB" altLang="en-US">
                <a:solidFill>
                  <a:srgbClr val="FFC551"/>
                </a:solidFill>
                <a:latin typeface="Century Gothic" panose="020B0502020202020204" pitchFamily="34" charset="0"/>
                <a:cs typeface="Arial" panose="020B0604020202020204" pitchFamily="34" charset="0"/>
              </a:rPr>
              <a:pPr/>
              <a:t>11</a:t>
            </a:fld>
            <a:endParaRPr lang="en-GB" altLang="en-US">
              <a:solidFill>
                <a:srgbClr val="FFC551"/>
              </a:solidFill>
              <a:latin typeface="Century Gothic" panose="020B0502020202020204" pitchFamily="34" charset="0"/>
              <a:cs typeface="Arial" panose="020B0604020202020204" pitchFamily="34" charset="0"/>
            </a:endParaRPr>
          </a:p>
        </p:txBody>
      </p:sp>
      <p:sp>
        <p:nvSpPr>
          <p:cNvPr id="2" name="Footer Placeholder 1"/>
          <p:cNvSpPr>
            <a:spLocks noGrp="1"/>
          </p:cNvSpPr>
          <p:nvPr>
            <p:ph type="ftr" sz="quarter" idx="11"/>
          </p:nvPr>
        </p:nvSpPr>
        <p:spPr/>
        <p:txBody>
          <a:bodyPr/>
          <a:lstStyle/>
          <a:p>
            <a:pPr>
              <a:defRPr/>
            </a:pPr>
            <a:r>
              <a:rPr lang="en-GB"/>
              <a:t>slides based on Dix, Alan, et al. "Human-computer interaction."  (2000).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a:xfrm>
            <a:off x="838200" y="788988"/>
            <a:ext cx="10515600" cy="623887"/>
          </a:xfrm>
        </p:spPr>
        <p:txBody>
          <a:bodyPr>
            <a:normAutofit fontScale="90000"/>
          </a:bodyPr>
          <a:lstStyle/>
          <a:p>
            <a:pPr algn="ctr" eaLnBrk="1" fontAlgn="auto" hangingPunct="1">
              <a:spcAft>
                <a:spcPts val="0"/>
              </a:spcAft>
              <a:defRPr/>
            </a:pP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User Focus</a:t>
            </a:r>
          </a:p>
        </p:txBody>
      </p:sp>
      <p:sp>
        <p:nvSpPr>
          <p:cNvPr id="40963" name="Content Placeholder 2"/>
          <p:cNvSpPr>
            <a:spLocks noGrp="1"/>
          </p:cNvSpPr>
          <p:nvPr>
            <p:ph idx="1"/>
          </p:nvPr>
        </p:nvSpPr>
        <p:spPr>
          <a:xfrm>
            <a:off x="838200" y="1700808"/>
            <a:ext cx="11090275" cy="4608512"/>
          </a:xfrm>
        </p:spPr>
        <p:txBody>
          <a:bodyPr rtlCol="0">
            <a:noAutofit/>
          </a:bodyPr>
          <a:lstStyle/>
          <a:p>
            <a:pPr eaLnBrk="1" fontAlgn="auto" hangingPunct="1">
              <a:buFont typeface="Wingdings" panose="05000000000000000000" pitchFamily="2" charset="2"/>
              <a:buChar char="Ø"/>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Over time, many people are affected directly or indirectly by a system and these people are called </a:t>
            </a:r>
            <a:r>
              <a:rPr lang="en-US" altLang="en-US" sz="2600" b="1" i="1" dirty="0">
                <a:solidFill>
                  <a:schemeClr val="tx1">
                    <a:lumMod val="75000"/>
                    <a:lumOff val="25000"/>
                  </a:schemeClr>
                </a:solidFill>
                <a:latin typeface="Times New Roman" panose="02020603050405020304" pitchFamily="18" charset="0"/>
                <a:cs typeface="Times New Roman" panose="02020603050405020304" pitchFamily="18" charset="0"/>
              </a:rPr>
              <a:t>stakeholders. </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So,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how do you get to know your users? Who are they?</a:t>
            </a:r>
          </a:p>
          <a:p>
            <a:pPr eaLnBrk="1" fontAlgn="auto" hangingPunct="1">
              <a:buFont typeface="Wingdings" panose="05000000000000000000" pitchFamily="2" charset="2"/>
              <a:buChar char="Ø"/>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the first thing to find out is who your users are. </a:t>
            </a:r>
          </a:p>
          <a:p>
            <a:pPr eaLnBrk="1" fontAlgn="auto" hangingPunct="1">
              <a:buFont typeface="Wingdings" panose="05000000000000000000" pitchFamily="2" charset="2"/>
              <a:buChar char="Ø"/>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Are they young or old, experienced computer users or novices? Sometimes it may not be obvious who the users are</a:t>
            </a: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eaLnBrk="1" fontAlgn="auto" hangingPunct="1">
              <a:buFont typeface="Wingdings" panose="05000000000000000000" pitchFamily="2" charset="2"/>
              <a:buChar char="Ø"/>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This question becomes harder to answer if you are designing generic software, such as a word processor, as there are many different users with different purposes and characteristics. </a:t>
            </a:r>
          </a:p>
          <a:p>
            <a:pPr eaLnBrk="1" fontAlgn="auto" hangingPunct="1">
              <a:buFont typeface="Wingdings" panose="05000000000000000000" pitchFamily="2" charset="2"/>
              <a:buChar char="Ø"/>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A similar problem arises with many websites where the potential visitors are far from homogenous.</a:t>
            </a:r>
          </a:p>
          <a:p>
            <a:pPr marL="91440" indent="-91440" eaLnBrk="1" fontAlgn="auto" hangingPunct="1">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3482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FBCCB913-F515-4949-A459-585A39653C26}" type="slidenum">
              <a:rPr lang="en-GB" altLang="en-US">
                <a:solidFill>
                  <a:srgbClr val="FFC551"/>
                </a:solidFill>
                <a:latin typeface="Century Gothic" panose="020B0502020202020204" pitchFamily="34" charset="0"/>
                <a:cs typeface="Arial" panose="020B0604020202020204" pitchFamily="34" charset="0"/>
              </a:rPr>
              <a:pPr/>
              <a:t>12</a:t>
            </a:fld>
            <a:endParaRPr lang="en-GB" altLang="en-US">
              <a:solidFill>
                <a:srgbClr val="FFC551"/>
              </a:solidFill>
              <a:latin typeface="Century Gothic" panose="020B0502020202020204" pitchFamily="34" charset="0"/>
              <a:cs typeface="Arial" panose="020B0604020202020204" pitchFamily="34" charset="0"/>
            </a:endParaRPr>
          </a:p>
        </p:txBody>
      </p:sp>
      <p:sp>
        <p:nvSpPr>
          <p:cNvPr id="2" name="Footer Placeholder 1"/>
          <p:cNvSpPr>
            <a:spLocks noGrp="1"/>
          </p:cNvSpPr>
          <p:nvPr>
            <p:ph type="ftr" sz="quarter" idx="11"/>
          </p:nvPr>
        </p:nvSpPr>
        <p:spPr/>
        <p:txBody>
          <a:bodyPr/>
          <a:lstStyle/>
          <a:p>
            <a:pPr>
              <a:defRPr/>
            </a:pPr>
            <a:r>
              <a:rPr lang="en-GB"/>
              <a:t>slides based on Dix, Alan, et al. "Human-computer interaction."  (2000).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a:lstStyle/>
          <a:p>
            <a:pPr algn="ctr" eaLnBrk="1" fontAlgn="auto" hangingPunct="1">
              <a:spcAft>
                <a:spcPts val="0"/>
              </a:spcAft>
              <a:defRPr/>
            </a:pP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User Focus: Talk to Users</a:t>
            </a:r>
          </a:p>
        </p:txBody>
      </p:sp>
      <p:sp>
        <p:nvSpPr>
          <p:cNvPr id="35843" name="Content Placeholder 2"/>
          <p:cNvSpPr>
            <a:spLocks noGrp="1" noChangeArrowheads="1"/>
          </p:cNvSpPr>
          <p:nvPr>
            <p:ph idx="1"/>
          </p:nvPr>
        </p:nvSpPr>
        <p:spPr>
          <a:xfrm>
            <a:off x="407368" y="1846263"/>
            <a:ext cx="11449271" cy="4463057"/>
          </a:xfrm>
        </p:spPr>
        <p:txBody>
          <a:bodyPr/>
          <a:lstStyle/>
          <a:p>
            <a:pPr eaLnBrk="1" hangingPunct="1"/>
            <a:r>
              <a:rPr lang="en-US" altLang="en-US" sz="2600" b="1" dirty="0">
                <a:latin typeface="Times New Roman" panose="02020603050405020304" pitchFamily="18" charset="0"/>
                <a:cs typeface="Times New Roman" panose="02020603050405020304" pitchFamily="18" charset="0"/>
              </a:rPr>
              <a:t>It is hard to get yourself inside someone else’s head, so the best thing is usually to ask them. </a:t>
            </a:r>
            <a:r>
              <a:rPr lang="en-US" altLang="en-US" sz="2600" dirty="0">
                <a:latin typeface="Times New Roman" panose="02020603050405020304" pitchFamily="18" charset="0"/>
                <a:cs typeface="Times New Roman" panose="02020603050405020304" pitchFamily="18" charset="0"/>
              </a:rPr>
              <a:t>This can take many forms: structured interviews about their job or life, open-ended discussions, or bringing the potential users fully into the design process.</a:t>
            </a:r>
          </a:p>
          <a:p>
            <a:pPr eaLnBrk="1" hangingPunct="1"/>
            <a:endParaRPr lang="en-US" altLang="en-US" sz="2600" i="1" dirty="0">
              <a:latin typeface="Times New Roman" panose="02020603050405020304" pitchFamily="18" charset="0"/>
              <a:cs typeface="Times New Roman" panose="02020603050405020304" pitchFamily="18" charset="0"/>
            </a:endParaRPr>
          </a:p>
          <a:p>
            <a:pPr eaLnBrk="1" hangingPunct="1"/>
            <a:r>
              <a:rPr lang="en-US" altLang="en-US" sz="2600" dirty="0">
                <a:latin typeface="Times New Roman" panose="02020603050405020304" pitchFamily="18" charset="0"/>
                <a:cs typeface="Times New Roman" panose="02020603050405020304" pitchFamily="18" charset="0"/>
              </a:rPr>
              <a:t>By involving users throughout the design process, it is possible to get a deep knowledge of their work context and needs. </a:t>
            </a:r>
          </a:p>
          <a:p>
            <a:pPr eaLnBrk="1" hangingPunct="1"/>
            <a:endParaRPr lang="en-US" altLang="en-US" sz="2600" dirty="0">
              <a:latin typeface="Times New Roman" panose="02020603050405020304" pitchFamily="18" charset="0"/>
              <a:cs typeface="Times New Roman" panose="02020603050405020304" pitchFamily="18" charset="0"/>
            </a:endParaRPr>
          </a:p>
          <a:p>
            <a:pPr eaLnBrk="1" hangingPunct="1"/>
            <a:r>
              <a:rPr lang="en-US" altLang="en-US" sz="2600" dirty="0">
                <a:latin typeface="Times New Roman" panose="02020603050405020304" pitchFamily="18" charset="0"/>
                <a:cs typeface="Times New Roman" panose="02020603050405020304" pitchFamily="18" charset="0"/>
              </a:rPr>
              <a:t>The obvious effect of this is that it </a:t>
            </a:r>
            <a:r>
              <a:rPr lang="en-US" altLang="en-US" sz="2600" b="1" dirty="0">
                <a:latin typeface="Times New Roman" panose="02020603050405020304" pitchFamily="18" charset="0"/>
                <a:cs typeface="Times New Roman" panose="02020603050405020304" pitchFamily="18" charset="0"/>
              </a:rPr>
              <a:t>produces better designs.</a:t>
            </a:r>
          </a:p>
          <a:p>
            <a:pPr eaLnBrk="1" hangingPunct="1"/>
            <a:endParaRPr lang="en-US" altLang="en-US" sz="2600" dirty="0"/>
          </a:p>
        </p:txBody>
      </p:sp>
      <p:sp>
        <p:nvSpPr>
          <p:cNvPr id="35844"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67F6E608-750C-4E96-BF84-1E8688F01927}" type="slidenum">
              <a:rPr lang="en-GB" altLang="en-US">
                <a:solidFill>
                  <a:srgbClr val="FFC551"/>
                </a:solidFill>
                <a:latin typeface="Century Gothic" panose="020B0502020202020204" pitchFamily="34" charset="0"/>
                <a:cs typeface="Arial" panose="020B0604020202020204" pitchFamily="34" charset="0"/>
              </a:rPr>
              <a:pPr/>
              <a:t>13</a:t>
            </a:fld>
            <a:endParaRPr lang="en-GB" altLang="en-US">
              <a:solidFill>
                <a:srgbClr val="FFC551"/>
              </a:solidFill>
              <a:latin typeface="Century Gothic" panose="020B0502020202020204" pitchFamily="34" charset="0"/>
              <a:cs typeface="Arial" panose="020B0604020202020204" pitchFamily="34" charset="0"/>
            </a:endParaRPr>
          </a:p>
        </p:txBody>
      </p:sp>
      <p:sp>
        <p:nvSpPr>
          <p:cNvPr id="2" name="Footer Placeholder 1"/>
          <p:cNvSpPr>
            <a:spLocks noGrp="1"/>
          </p:cNvSpPr>
          <p:nvPr>
            <p:ph type="ftr" sz="quarter" idx="11"/>
          </p:nvPr>
        </p:nvSpPr>
        <p:spPr/>
        <p:txBody>
          <a:bodyPr/>
          <a:lstStyle/>
          <a:p>
            <a:pPr>
              <a:defRPr/>
            </a:pPr>
            <a:r>
              <a:rPr lang="en-GB"/>
              <a:t>slides based on Dix, Alan, et al. "Human-computer interaction."  (2000).</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p:txBody>
          <a:bodyPr/>
          <a:lstStyle/>
          <a:p>
            <a:pPr algn="ctr" eaLnBrk="1" fontAlgn="auto" hangingPunct="1">
              <a:spcAft>
                <a:spcPts val="0"/>
              </a:spcAft>
              <a:defRPr/>
            </a:pP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User Focus: Watch the Users</a:t>
            </a:r>
          </a:p>
        </p:txBody>
      </p:sp>
      <p:sp>
        <p:nvSpPr>
          <p:cNvPr id="36867" name="Content Placeholder 2"/>
          <p:cNvSpPr>
            <a:spLocks noGrp="1" noChangeArrowheads="1"/>
          </p:cNvSpPr>
          <p:nvPr>
            <p:ph idx="1"/>
          </p:nvPr>
        </p:nvSpPr>
        <p:spPr>
          <a:xfrm>
            <a:off x="838200" y="1989138"/>
            <a:ext cx="11090275" cy="4679950"/>
          </a:xfrm>
        </p:spPr>
        <p:txBody>
          <a:bodyPr/>
          <a:lstStyle/>
          <a:p>
            <a:pPr eaLnBrk="1" hangingPunct="1"/>
            <a:r>
              <a:rPr lang="en-US" altLang="en-US" sz="2600" b="1" dirty="0">
                <a:latin typeface="Times New Roman" panose="02020603050405020304" pitchFamily="18" charset="0"/>
                <a:cs typeface="Times New Roman" panose="02020603050405020304" pitchFamily="18" charset="0"/>
              </a:rPr>
              <a:t>Although what people tell you is of the utmost importance, it is not the whole story.</a:t>
            </a:r>
            <a:endParaRPr lang="en-US" altLang="en-US" sz="2600" dirty="0">
              <a:latin typeface="Times New Roman" panose="02020603050405020304" pitchFamily="18" charset="0"/>
              <a:cs typeface="Times New Roman" panose="02020603050405020304" pitchFamily="18" charset="0"/>
            </a:endParaRPr>
          </a:p>
          <a:p>
            <a:pPr eaLnBrk="1" hangingPunct="1"/>
            <a:r>
              <a:rPr lang="en-US" altLang="en-US" sz="2600" dirty="0">
                <a:latin typeface="Times New Roman" panose="02020603050405020304" pitchFamily="18" charset="0"/>
                <a:cs typeface="Times New Roman" panose="02020603050405020304" pitchFamily="18" charset="0"/>
              </a:rPr>
              <a:t>Because of this, it is important to watch what people do as well as hear what they say. </a:t>
            </a:r>
          </a:p>
          <a:p>
            <a:pPr eaLnBrk="1" hangingPunct="1"/>
            <a:r>
              <a:rPr lang="en-US" altLang="en-US" sz="2600" dirty="0">
                <a:latin typeface="Times New Roman" panose="02020603050405020304" pitchFamily="18" charset="0"/>
                <a:cs typeface="Times New Roman" panose="02020603050405020304" pitchFamily="18" charset="0"/>
              </a:rPr>
              <a:t>This may involve sitting and taking notes of how they spend a day, watching particular activities, using a video camera or tape recorder. </a:t>
            </a:r>
          </a:p>
          <a:p>
            <a:pPr eaLnBrk="1" hangingPunct="1"/>
            <a:endParaRPr lang="en-US" altLang="en-US" sz="2600" dirty="0">
              <a:latin typeface="Times New Roman" panose="02020603050405020304" pitchFamily="18" charset="0"/>
              <a:cs typeface="Times New Roman" panose="02020603050405020304" pitchFamily="18" charset="0"/>
            </a:endParaRPr>
          </a:p>
          <a:p>
            <a:pPr eaLnBrk="1" hangingPunct="1"/>
            <a:r>
              <a:rPr lang="en-US" altLang="en-US" sz="2600" b="1" dirty="0">
                <a:latin typeface="Times New Roman" panose="02020603050405020304" pitchFamily="18" charset="0"/>
                <a:cs typeface="Times New Roman" panose="02020603050405020304" pitchFamily="18" charset="0"/>
              </a:rPr>
              <a:t>It can be done in an informal manner or using developed methods such as ethnography or contextual inquiry</a:t>
            </a:r>
          </a:p>
          <a:p>
            <a:pPr eaLnBrk="1" hangingPunct="1"/>
            <a:endParaRPr lang="en-US" altLang="en-US" sz="2600" dirty="0">
              <a:latin typeface="Times New Roman" panose="02020603050405020304" pitchFamily="18" charset="0"/>
              <a:cs typeface="Times New Roman" panose="02020603050405020304" pitchFamily="18" charset="0"/>
            </a:endParaRPr>
          </a:p>
        </p:txBody>
      </p:sp>
      <p:sp>
        <p:nvSpPr>
          <p:cNvPr id="36868"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09008D0C-19DF-41A9-8A56-5EE725643F48}" type="slidenum">
              <a:rPr lang="en-GB" altLang="en-US">
                <a:solidFill>
                  <a:srgbClr val="FFC551"/>
                </a:solidFill>
                <a:latin typeface="Century Gothic" panose="020B0502020202020204" pitchFamily="34" charset="0"/>
                <a:cs typeface="Arial" panose="020B0604020202020204" pitchFamily="34" charset="0"/>
              </a:rPr>
              <a:pPr/>
              <a:t>14</a:t>
            </a:fld>
            <a:endParaRPr lang="en-GB" altLang="en-US">
              <a:solidFill>
                <a:srgbClr val="FFC551"/>
              </a:solidFill>
              <a:latin typeface="Century Gothic" panose="020B0502020202020204" pitchFamily="34" charset="0"/>
              <a:cs typeface="Arial" panose="020B0604020202020204" pitchFamily="34" charset="0"/>
            </a:endParaRPr>
          </a:p>
        </p:txBody>
      </p:sp>
      <p:sp>
        <p:nvSpPr>
          <p:cNvPr id="2" name="Footer Placeholder 1"/>
          <p:cNvSpPr>
            <a:spLocks noGrp="1"/>
          </p:cNvSpPr>
          <p:nvPr>
            <p:ph type="ftr" sz="quarter" idx="11"/>
          </p:nvPr>
        </p:nvSpPr>
        <p:spPr/>
        <p:txBody>
          <a:bodyPr/>
          <a:lstStyle/>
          <a:p>
            <a:pPr>
              <a:defRPr/>
            </a:pPr>
            <a:r>
              <a:rPr lang="en-GB"/>
              <a:t>slides based on Dix, Alan, et al. "Human-computer interaction."  (2000).</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p:txBody>
          <a:bodyPr/>
          <a:lstStyle/>
          <a:p>
            <a:pPr algn="ctr" eaLnBrk="1" fontAlgn="auto" hangingPunct="1">
              <a:spcAft>
                <a:spcPts val="0"/>
              </a:spcAft>
              <a:defRPr/>
            </a:pP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User Focus: Watch the Users</a:t>
            </a:r>
          </a:p>
        </p:txBody>
      </p:sp>
      <p:sp>
        <p:nvSpPr>
          <p:cNvPr id="37891" name="Content Placeholder 2"/>
          <p:cNvSpPr>
            <a:spLocks noGrp="1" noChangeArrowheads="1"/>
          </p:cNvSpPr>
          <p:nvPr>
            <p:ph idx="1"/>
          </p:nvPr>
        </p:nvSpPr>
        <p:spPr>
          <a:xfrm>
            <a:off x="838200" y="2133600"/>
            <a:ext cx="11090275" cy="4535488"/>
          </a:xfrm>
        </p:spPr>
        <p:txBody>
          <a:bodyPr/>
          <a:lstStyle/>
          <a:p>
            <a:pPr eaLnBrk="1" hangingPunct="1"/>
            <a:endParaRPr lang="en-US" altLang="en-US" sz="2600" dirty="0">
              <a:latin typeface="Times New Roman" panose="02020603050405020304" pitchFamily="18" charset="0"/>
              <a:cs typeface="Times New Roman" panose="02020603050405020304" pitchFamily="18" charset="0"/>
            </a:endParaRPr>
          </a:p>
          <a:p>
            <a:pPr eaLnBrk="1" hangingPunct="1"/>
            <a:r>
              <a:rPr lang="en-US" altLang="en-US" sz="2600" b="1" dirty="0">
                <a:latin typeface="Times New Roman" panose="02020603050405020304" pitchFamily="18" charset="0"/>
                <a:cs typeface="Times New Roman" panose="02020603050405020304" pitchFamily="18" charset="0"/>
              </a:rPr>
              <a:t>Assignment: In not less than 200 words, describe how ethnography and contextual inquiry can be used observe and collect data on interactions between people and their environment. </a:t>
            </a:r>
          </a:p>
          <a:p>
            <a:pPr eaLnBrk="1" hangingPunct="1"/>
            <a:endParaRPr lang="en-US" altLang="en-US" sz="2600" b="1" dirty="0">
              <a:latin typeface="Times New Roman" panose="02020603050405020304" pitchFamily="18" charset="0"/>
              <a:cs typeface="Times New Roman" panose="02020603050405020304" pitchFamily="18" charset="0"/>
            </a:endParaRPr>
          </a:p>
          <a:p>
            <a:pPr eaLnBrk="1" hangingPunct="1"/>
            <a:r>
              <a:rPr lang="en-US" altLang="en-US" sz="2600" b="1" dirty="0">
                <a:latin typeface="Times New Roman" panose="02020603050405020304" pitchFamily="18" charset="0"/>
                <a:cs typeface="Times New Roman" panose="02020603050405020304" pitchFamily="18" charset="0"/>
              </a:rPr>
              <a:t>look at the artifacts </a:t>
            </a:r>
            <a:r>
              <a:rPr lang="en-US" altLang="en-US" sz="2600" dirty="0">
                <a:latin typeface="Times New Roman" panose="02020603050405020304" pitchFamily="18" charset="0"/>
                <a:cs typeface="Times New Roman" panose="02020603050405020304" pitchFamily="18" charset="0"/>
              </a:rPr>
              <a:t>they are using and creating. Look at a typical desk in an office. There are papers, letters, files, a computer, sticky notes, </a:t>
            </a:r>
            <a:r>
              <a:rPr lang="en-US" altLang="en-US" sz="2600" dirty="0" err="1">
                <a:latin typeface="Times New Roman" panose="02020603050405020304" pitchFamily="18" charset="0"/>
                <a:cs typeface="Times New Roman" panose="02020603050405020304" pitchFamily="18" charset="0"/>
              </a:rPr>
              <a:t>etc</a:t>
            </a:r>
            <a:endParaRPr lang="en-US" altLang="en-US" sz="2600" b="1" dirty="0">
              <a:latin typeface="Times New Roman" panose="02020603050405020304" pitchFamily="18" charset="0"/>
              <a:cs typeface="Times New Roman" panose="02020603050405020304" pitchFamily="18" charset="0"/>
            </a:endParaRPr>
          </a:p>
        </p:txBody>
      </p:sp>
      <p:sp>
        <p:nvSpPr>
          <p:cNvPr id="37892"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389F569B-7BE9-42F0-8625-A017EA66D4D9}" type="slidenum">
              <a:rPr lang="en-GB" altLang="en-US">
                <a:solidFill>
                  <a:srgbClr val="FFC551"/>
                </a:solidFill>
                <a:latin typeface="Century Gothic" panose="020B0502020202020204" pitchFamily="34" charset="0"/>
                <a:cs typeface="Arial" panose="020B0604020202020204" pitchFamily="34" charset="0"/>
              </a:rPr>
              <a:pPr/>
              <a:t>15</a:t>
            </a:fld>
            <a:endParaRPr lang="en-GB" altLang="en-US">
              <a:solidFill>
                <a:srgbClr val="FFC551"/>
              </a:solidFill>
              <a:latin typeface="Century Gothic" panose="020B0502020202020204" pitchFamily="34" charset="0"/>
              <a:cs typeface="Arial" panose="020B0604020202020204" pitchFamily="34" charset="0"/>
            </a:endParaRPr>
          </a:p>
        </p:txBody>
      </p:sp>
      <p:sp>
        <p:nvSpPr>
          <p:cNvPr id="2" name="Footer Placeholder 1"/>
          <p:cNvSpPr>
            <a:spLocks noGrp="1"/>
          </p:cNvSpPr>
          <p:nvPr>
            <p:ph type="ftr" sz="quarter" idx="11"/>
          </p:nvPr>
        </p:nvSpPr>
        <p:spPr/>
        <p:txBody>
          <a:bodyPr/>
          <a:lstStyle/>
          <a:p>
            <a:pPr>
              <a:defRPr/>
            </a:pPr>
            <a:r>
              <a:rPr lang="en-GB"/>
              <a:t>slides based on Dix, Alan, et al. "Human-computer interaction."  (2000).</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p:txBody>
          <a:bodyPr/>
          <a:lstStyle/>
          <a:p>
            <a:pPr algn="ctr" eaLnBrk="1" fontAlgn="auto" hangingPunct="1">
              <a:spcAft>
                <a:spcPts val="0"/>
              </a:spcAft>
              <a:defRPr/>
            </a:pPr>
            <a:r>
              <a:rPr lang="en-US" altLang="en-US">
                <a:solidFill>
                  <a:schemeClr val="tx1">
                    <a:lumMod val="75000"/>
                    <a:lumOff val="25000"/>
                  </a:schemeClr>
                </a:solidFill>
                <a:latin typeface="Futura Md BT"/>
              </a:rPr>
              <a:t>User Focus: Use your imagination</a:t>
            </a:r>
          </a:p>
        </p:txBody>
      </p:sp>
      <p:sp>
        <p:nvSpPr>
          <p:cNvPr id="45059" name="Content Placeholder 2"/>
          <p:cNvSpPr>
            <a:spLocks noGrp="1"/>
          </p:cNvSpPr>
          <p:nvPr>
            <p:ph idx="1"/>
          </p:nvPr>
        </p:nvSpPr>
        <p:spPr>
          <a:xfrm>
            <a:off x="838200" y="1825625"/>
            <a:ext cx="10515600" cy="4638675"/>
          </a:xfrm>
        </p:spPr>
        <p:txBody>
          <a:bodyPr rtlCol="0">
            <a:noAutofit/>
          </a:bodyPr>
          <a:lstStyle/>
          <a:p>
            <a:pPr marL="91440"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Even if you would like to involve many users throughout your design exercise this will not always be possible. </a:t>
            </a:r>
          </a:p>
          <a:p>
            <a:pPr marL="91440"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It may be too costly, it may be hard to get time with them (e.g. hospital consultant), it may be that there are just too many (e.g. the web).</a:t>
            </a:r>
          </a:p>
          <a:p>
            <a:pPr marL="91440"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However, even if you cannot involve actual users you can at least try to imagine their experiences.</a:t>
            </a:r>
          </a:p>
          <a:p>
            <a:pPr marL="91440" indent="-91440" eaLnBrk="1" fontAlgn="auto" hangingPunct="1">
              <a:defRPr/>
            </a:pPr>
            <a:r>
              <a:rPr lang="en-US" altLang="en-US" sz="2600" dirty="0">
                <a:solidFill>
                  <a:srgbClr val="FF0000"/>
                </a:solidFill>
                <a:latin typeface="Times New Roman" panose="02020603050405020304" pitchFamily="18" charset="0"/>
                <a:cs typeface="Times New Roman" panose="02020603050405020304" pitchFamily="18" charset="0"/>
              </a:rPr>
              <a:t>this is very dangerous! It would be easy to think, ‘if I were a warehouse manager I would do this’. The issue is not what </a:t>
            </a:r>
            <a:r>
              <a:rPr lang="en-US" altLang="en-US" sz="2600" i="1" dirty="0">
                <a:solidFill>
                  <a:srgbClr val="FF0000"/>
                </a:solidFill>
                <a:latin typeface="Times New Roman" panose="02020603050405020304" pitchFamily="18" charset="0"/>
                <a:cs typeface="Times New Roman" panose="02020603050405020304" pitchFamily="18" charset="0"/>
              </a:rPr>
              <a:t>you </a:t>
            </a:r>
            <a:r>
              <a:rPr lang="en-US" altLang="en-US" sz="2600" dirty="0">
                <a:solidFill>
                  <a:srgbClr val="FF0000"/>
                </a:solidFill>
                <a:latin typeface="Times New Roman" panose="02020603050405020304" pitchFamily="18" charset="0"/>
                <a:cs typeface="Times New Roman" panose="02020603050405020304" pitchFamily="18" charset="0"/>
              </a:rPr>
              <a:t>would do in the user’s shoes but what </a:t>
            </a:r>
            <a:r>
              <a:rPr lang="en-US" altLang="en-US" sz="2600" i="1" dirty="0">
                <a:solidFill>
                  <a:srgbClr val="FF0000"/>
                </a:solidFill>
                <a:latin typeface="Times New Roman" panose="02020603050405020304" pitchFamily="18" charset="0"/>
                <a:cs typeface="Times New Roman" panose="02020603050405020304" pitchFamily="18" charset="0"/>
              </a:rPr>
              <a:t>they </a:t>
            </a:r>
            <a:r>
              <a:rPr lang="en-US" altLang="en-US" sz="2600" dirty="0">
                <a:solidFill>
                  <a:srgbClr val="FF0000"/>
                </a:solidFill>
                <a:latin typeface="Times New Roman" panose="02020603050405020304" pitchFamily="18" charset="0"/>
                <a:cs typeface="Times New Roman" panose="02020603050405020304" pitchFamily="18" charset="0"/>
              </a:rPr>
              <a:t>would do.</a:t>
            </a:r>
          </a:p>
          <a:p>
            <a:pPr marL="91440"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This requires almost a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kind of acting</a:t>
            </a:r>
          </a:p>
        </p:txBody>
      </p:sp>
      <p:sp>
        <p:nvSpPr>
          <p:cNvPr id="38916"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B6782995-2F95-4293-837A-CECDE10413FB}" type="slidenum">
              <a:rPr lang="en-GB" altLang="en-US">
                <a:solidFill>
                  <a:srgbClr val="FFC551"/>
                </a:solidFill>
                <a:latin typeface="Century Gothic" panose="020B0502020202020204" pitchFamily="34" charset="0"/>
                <a:cs typeface="Arial" panose="020B0604020202020204" pitchFamily="34" charset="0"/>
              </a:rPr>
              <a:pPr/>
              <a:t>16</a:t>
            </a:fld>
            <a:endParaRPr lang="en-GB" altLang="en-US">
              <a:solidFill>
                <a:srgbClr val="FFC551"/>
              </a:solidFill>
              <a:latin typeface="Century Gothic" panose="020B0502020202020204" pitchFamily="34" charset="0"/>
              <a:cs typeface="Arial" panose="020B0604020202020204" pitchFamily="34" charset="0"/>
            </a:endParaRPr>
          </a:p>
        </p:txBody>
      </p:sp>
      <p:sp>
        <p:nvSpPr>
          <p:cNvPr id="2" name="Footer Placeholder 1"/>
          <p:cNvSpPr>
            <a:spLocks noGrp="1"/>
          </p:cNvSpPr>
          <p:nvPr>
            <p:ph type="ftr" sz="quarter" idx="11"/>
          </p:nvPr>
        </p:nvSpPr>
        <p:spPr/>
        <p:txBody>
          <a:bodyPr/>
          <a:lstStyle/>
          <a:p>
            <a:pPr>
              <a:defRPr/>
            </a:pPr>
            <a:r>
              <a:rPr lang="en-GB"/>
              <a:t>slides based on Dix, Alan, et al. "Human-computer interaction."  (2000).</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p:txBody>
          <a:bodyPr/>
          <a:lstStyle/>
          <a:p>
            <a:pPr algn="ctr" eaLnBrk="1" fontAlgn="auto" hangingPunct="1">
              <a:spcAft>
                <a:spcPts val="0"/>
              </a:spcAft>
              <a:defRPr/>
            </a:pP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User Focus: Use your imagination (Personas)</a:t>
            </a:r>
          </a:p>
        </p:txBody>
      </p:sp>
      <p:sp>
        <p:nvSpPr>
          <p:cNvPr id="46083" name="Content Placeholder 2"/>
          <p:cNvSpPr>
            <a:spLocks noGrp="1"/>
          </p:cNvSpPr>
          <p:nvPr>
            <p:ph idx="1"/>
          </p:nvPr>
        </p:nvSpPr>
        <p:spPr>
          <a:xfrm>
            <a:off x="838200" y="1825625"/>
            <a:ext cx="10515600" cy="4638675"/>
          </a:xfrm>
        </p:spPr>
        <p:txBody>
          <a:bodyPr rtlCol="0">
            <a:noAutofit/>
          </a:bodyPr>
          <a:lstStyle/>
          <a:p>
            <a:pPr marL="91440"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Imagine being a warehouse manager. What does the word ‘undo’ in the menu mean to him?</a:t>
            </a:r>
          </a:p>
          <a:p>
            <a:pPr marL="91440" indent="-91440" eaLnBrk="1" fontAlgn="auto" hangingPunct="1">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One method that has been quite successful in helping design teams produce user-focused designs is the </a:t>
            </a:r>
            <a:r>
              <a:rPr lang="en-US" altLang="en-US" sz="2600" b="1" i="1" dirty="0">
                <a:solidFill>
                  <a:schemeClr val="tx1">
                    <a:lumMod val="75000"/>
                    <a:lumOff val="25000"/>
                  </a:schemeClr>
                </a:solidFill>
                <a:latin typeface="Times New Roman" panose="02020603050405020304" pitchFamily="18" charset="0"/>
                <a:cs typeface="Times New Roman" panose="02020603050405020304" pitchFamily="18" charset="0"/>
              </a:rPr>
              <a:t>persona</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a:t>
            </a:r>
          </a:p>
          <a:p>
            <a:pPr marL="91440"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A persona is a rich picture of an imaginary person who represents your core user group.</a:t>
            </a:r>
          </a:p>
          <a:p>
            <a:pPr marL="91440"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A design team will have several of these personae covering different types of intended users and different roles. </a:t>
            </a:r>
          </a:p>
          <a:p>
            <a:pPr marL="91440"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The personae will themselves be based on studies of actual users, observation, etc. </a:t>
            </a:r>
            <a:endPar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3994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F56B0C32-BD49-41D5-B620-23B9318F6D8B}" type="slidenum">
              <a:rPr lang="en-GB" altLang="en-US">
                <a:solidFill>
                  <a:srgbClr val="FFC551"/>
                </a:solidFill>
                <a:latin typeface="Century Gothic" panose="020B0502020202020204" pitchFamily="34" charset="0"/>
                <a:cs typeface="Arial" panose="020B0604020202020204" pitchFamily="34" charset="0"/>
              </a:rPr>
              <a:pPr/>
              <a:t>17</a:t>
            </a:fld>
            <a:endParaRPr lang="en-GB" altLang="en-US">
              <a:solidFill>
                <a:srgbClr val="FFC551"/>
              </a:solidFill>
              <a:latin typeface="Century Gothic" panose="020B0502020202020204" pitchFamily="34" charset="0"/>
              <a:cs typeface="Arial" panose="020B0604020202020204" pitchFamily="34" charset="0"/>
            </a:endParaRPr>
          </a:p>
        </p:txBody>
      </p:sp>
      <p:sp>
        <p:nvSpPr>
          <p:cNvPr id="2" name="Footer Placeholder 1"/>
          <p:cNvSpPr>
            <a:spLocks noGrp="1"/>
          </p:cNvSpPr>
          <p:nvPr>
            <p:ph type="ftr" sz="quarter" idx="11"/>
          </p:nvPr>
        </p:nvSpPr>
        <p:spPr/>
        <p:txBody>
          <a:bodyPr/>
          <a:lstStyle/>
          <a:p>
            <a:pPr>
              <a:defRPr/>
            </a:pPr>
            <a:r>
              <a:rPr lang="en-GB"/>
              <a:t>slides based on Dix, Alan, et al. "Human-computer interaction."  (2000).</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dirty="0">
                <a:latin typeface="Times New Roman" panose="02020603050405020304" pitchFamily="18" charset="0"/>
                <a:cs typeface="Times New Roman" panose="02020603050405020304" pitchFamily="18" charset="0"/>
              </a:rPr>
              <a:t>Stage 2 of Interaction Design Process</a:t>
            </a:r>
            <a:r>
              <a:rPr lang="en-US" dirty="0">
                <a:latin typeface="Times New Roman" panose="02020603050405020304" pitchFamily="18" charset="0"/>
                <a:cs typeface="Times New Roman" panose="02020603050405020304" pitchFamily="18" charset="0"/>
              </a:rPr>
              <a:t>: Analysis</a:t>
            </a:r>
          </a:p>
        </p:txBody>
      </p:sp>
      <p:sp>
        <p:nvSpPr>
          <p:cNvPr id="3" name="Content Placeholder 2"/>
          <p:cNvSpPr>
            <a:spLocks noGrp="1"/>
          </p:cNvSpPr>
          <p:nvPr>
            <p:ph idx="1"/>
          </p:nvPr>
        </p:nvSpPr>
        <p:spPr>
          <a:xfrm>
            <a:off x="479376" y="1846263"/>
            <a:ext cx="11449272" cy="4463057"/>
          </a:xfrm>
        </p:spPr>
        <p:txBody>
          <a:bodyPr/>
          <a:lstStyle/>
          <a:p>
            <a:pPr>
              <a:buFont typeface="Wingdings" panose="05000000000000000000" pitchFamily="2" charset="2"/>
              <a:buChar char="Ø"/>
            </a:pPr>
            <a:r>
              <a:rPr lang="en-US" sz="2600" b="1" dirty="0">
                <a:latin typeface="Times New Roman" panose="02020603050405020304" pitchFamily="18" charset="0"/>
                <a:cs typeface="Times New Roman" panose="02020603050405020304" pitchFamily="18" charset="0"/>
              </a:rPr>
              <a:t>The results of observation and interview need to be ordered in some way to bring out key issues and communicate with later stages of design. </a:t>
            </a:r>
          </a:p>
          <a:p>
            <a:pPr>
              <a:buFont typeface="Wingdings" panose="05000000000000000000" pitchFamily="2" charset="2"/>
              <a:buChar char="Ø"/>
            </a:pPr>
            <a:r>
              <a:rPr lang="en-US" sz="2600" b="1" dirty="0">
                <a:solidFill>
                  <a:srgbClr val="00B050"/>
                </a:solidFill>
                <a:latin typeface="Times New Roman" panose="02020603050405020304" pitchFamily="18" charset="0"/>
                <a:cs typeface="Times New Roman" panose="02020603050405020304" pitchFamily="18" charset="0"/>
              </a:rPr>
              <a:t>Task models </a:t>
            </a:r>
            <a:r>
              <a:rPr lang="en-US" sz="2600" dirty="0">
                <a:latin typeface="Times New Roman" panose="02020603050405020304" pitchFamily="18" charset="0"/>
                <a:cs typeface="Times New Roman" panose="02020603050405020304" pitchFamily="18" charset="0"/>
              </a:rPr>
              <a:t>can be used at this stage</a:t>
            </a:r>
          </a:p>
          <a:p>
            <a:pPr>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Task models are a means to capture how people carry out the various tasks that are part of their work and life. </a:t>
            </a:r>
          </a:p>
          <a:p>
            <a:pPr>
              <a:buFont typeface="Wingdings" panose="05000000000000000000" pitchFamily="2" charset="2"/>
              <a:buChar char="Ø"/>
            </a:pPr>
            <a:r>
              <a:rPr lang="en-US" sz="2600" b="1" dirty="0">
                <a:solidFill>
                  <a:srgbClr val="00B050"/>
                </a:solidFill>
                <a:latin typeface="Times New Roman" panose="02020603050405020304" pitchFamily="18" charset="0"/>
                <a:cs typeface="Times New Roman" panose="02020603050405020304" pitchFamily="18" charset="0"/>
              </a:rPr>
              <a:t>Scenarios</a:t>
            </a:r>
            <a:r>
              <a:rPr lang="en-US" sz="2600" dirty="0">
                <a:latin typeface="Times New Roman" panose="02020603050405020304" pitchFamily="18" charset="0"/>
                <a:cs typeface="Times New Roman" panose="02020603050405020304" pitchFamily="18" charset="0"/>
              </a:rPr>
              <a:t> can also be used at the analysis stage</a:t>
            </a:r>
          </a:p>
          <a:p>
            <a:pPr>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scenarios, rich stories of interaction, which can be used in conjunction with a method like task analysis or on their own to record and make vivid actual interaction. </a:t>
            </a:r>
          </a:p>
          <a:p>
            <a:pPr>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These techniques can be used both to represent the situation as it is and also the desired situation.</a:t>
            </a:r>
          </a:p>
        </p:txBody>
      </p:sp>
      <p:sp>
        <p:nvSpPr>
          <p:cNvPr id="4" name="Slide Number Placeholder 3"/>
          <p:cNvSpPr>
            <a:spLocks noGrp="1"/>
          </p:cNvSpPr>
          <p:nvPr>
            <p:ph type="sldNum" sz="quarter" idx="12"/>
          </p:nvPr>
        </p:nvSpPr>
        <p:spPr/>
        <p:txBody>
          <a:bodyPr/>
          <a:lstStyle/>
          <a:p>
            <a:pPr>
              <a:defRPr/>
            </a:pPr>
            <a:fld id="{784CB106-59EF-4E38-AE9E-B3544BD66F06}" type="slidenum">
              <a:rPr lang="en-GB" altLang="en-US" smtClean="0"/>
              <a:pPr>
                <a:defRPr/>
              </a:pPr>
              <a:t>18</a:t>
            </a:fld>
            <a:endParaRPr lang="en-GB" altLang="en-US"/>
          </a:p>
        </p:txBody>
      </p:sp>
      <p:sp>
        <p:nvSpPr>
          <p:cNvPr id="6" name="Footer Placeholder 5"/>
          <p:cNvSpPr>
            <a:spLocks noGrp="1"/>
          </p:cNvSpPr>
          <p:nvPr>
            <p:ph type="ftr" sz="quarter" idx="11"/>
          </p:nvPr>
        </p:nvSpPr>
        <p:spPr/>
        <p:txBody>
          <a:bodyPr/>
          <a:lstStyle/>
          <a:p>
            <a:pPr>
              <a:defRPr/>
            </a:pPr>
            <a:r>
              <a:rPr lang="en-GB"/>
              <a:t>slides based on Dix, Alan, et al. "Human-computer interaction."  (2000).</a:t>
            </a:r>
          </a:p>
        </p:txBody>
      </p:sp>
    </p:spTree>
    <p:extLst>
      <p:ext uri="{BB962C8B-B14F-4D97-AF65-F5344CB8AC3E}">
        <p14:creationId xmlns:p14="http://schemas.microsoft.com/office/powerpoint/2010/main" val="35550890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4"/>
          <p:cNvSpPr>
            <a:spLocks noGrp="1"/>
          </p:cNvSpPr>
          <p:nvPr>
            <p:ph type="ctrTitle"/>
          </p:nvPr>
        </p:nvSpPr>
        <p:spPr>
          <a:xfrm>
            <a:off x="1343025" y="2133600"/>
            <a:ext cx="9144000" cy="2387600"/>
          </a:xfrm>
        </p:spPr>
        <p:txBody>
          <a:bodyPr/>
          <a:lstStyle/>
          <a:p>
            <a:pPr eaLnBrk="1" fontAlgn="auto" hangingPunct="1">
              <a:spcAft>
                <a:spcPts val="0"/>
              </a:spcAft>
              <a:defRPr/>
            </a:pPr>
            <a:r>
              <a:rPr lang="en-US" altLang="en-US" sz="9600" dirty="0">
                <a:latin typeface="Times New Roman" panose="02020603050405020304" pitchFamily="18" charset="0"/>
                <a:cs typeface="Times New Roman" panose="02020603050405020304" pitchFamily="18" charset="0"/>
              </a:rPr>
              <a:t>Design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6"/>
          <p:cNvSpPr>
            <a:spLocks noGrp="1"/>
          </p:cNvSpPr>
          <p:nvPr>
            <p:ph type="title"/>
          </p:nvPr>
        </p:nvSpPr>
        <p:spPr>
          <a:xfrm>
            <a:off x="7489188" y="260648"/>
            <a:ext cx="4682952" cy="552450"/>
          </a:xfrm>
        </p:spPr>
        <p:txBody>
          <a:bodyPr>
            <a:normAutofit fontScale="90000"/>
          </a:bodyPr>
          <a:lstStyle/>
          <a:p>
            <a:pPr algn="ctr" eaLnBrk="1" fontAlgn="auto" hangingPunct="1">
              <a:spcAft>
                <a:spcPts val="0"/>
              </a:spcAft>
              <a:defRPr/>
            </a:pP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Design Issues</a:t>
            </a:r>
          </a:p>
        </p:txBody>
      </p:sp>
      <p:pic>
        <p:nvPicPr>
          <p:cNvPr id="41987" name="Content Placeholder 4"/>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l="19571" t="19003" r="32314" b="5789"/>
          <a:stretch>
            <a:fillRect/>
          </a:stretch>
        </p:blipFill>
        <p:spPr>
          <a:xfrm>
            <a:off x="191344" y="5194"/>
            <a:ext cx="7920880" cy="6304125"/>
          </a:xfrm>
        </p:spPr>
      </p:pic>
      <p:sp>
        <p:nvSpPr>
          <p:cNvPr id="41988" name="Content Placeholder 7"/>
          <p:cNvSpPr>
            <a:spLocks noGrp="1" noChangeArrowheads="1"/>
          </p:cNvSpPr>
          <p:nvPr>
            <p:ph sz="half" idx="2"/>
          </p:nvPr>
        </p:nvSpPr>
        <p:spPr>
          <a:xfrm>
            <a:off x="8904288" y="1825625"/>
            <a:ext cx="2879725" cy="4351338"/>
          </a:xfrm>
        </p:spPr>
        <p:txBody>
          <a:bodyPr/>
          <a:lstStyle/>
          <a:p>
            <a:pPr eaLnBrk="1" hangingPunct="1"/>
            <a:r>
              <a:rPr lang="en-US" altLang="en-US" sz="2600" dirty="0">
                <a:latin typeface="Times New Roman" panose="02020603050405020304" pitchFamily="18" charset="0"/>
                <a:cs typeface="Times New Roman" panose="02020603050405020304" pitchFamily="18" charset="0"/>
              </a:rPr>
              <a:t>Do you understand the scenario on this slide?</a:t>
            </a:r>
          </a:p>
          <a:p>
            <a:pPr eaLnBrk="1" hangingPunct="1"/>
            <a:endParaRPr lang="en-US" altLang="en-US" sz="2600" dirty="0">
              <a:latin typeface="Times New Roman" panose="02020603050405020304" pitchFamily="18" charset="0"/>
              <a:cs typeface="Times New Roman" panose="02020603050405020304" pitchFamily="18" charset="0"/>
            </a:endParaRPr>
          </a:p>
          <a:p>
            <a:pPr eaLnBrk="1" hangingPunct="1"/>
            <a:endParaRPr lang="en-US" altLang="en-US" sz="2600" dirty="0">
              <a:latin typeface="Times New Roman" panose="02020603050405020304" pitchFamily="18" charset="0"/>
              <a:cs typeface="Times New Roman" panose="02020603050405020304" pitchFamily="18" charset="0"/>
            </a:endParaRPr>
          </a:p>
          <a:p>
            <a:pPr eaLnBrk="1" hangingPunct="1"/>
            <a:r>
              <a:rPr lang="en-US" altLang="en-US" sz="2600" dirty="0">
                <a:latin typeface="Times New Roman" panose="02020603050405020304" pitchFamily="18" charset="0"/>
                <a:cs typeface="Times New Roman" panose="02020603050405020304" pitchFamily="18" charset="0"/>
              </a:rPr>
              <a:t>What do you think can be done to prevent accidental deletes?</a:t>
            </a:r>
          </a:p>
        </p:txBody>
      </p:sp>
      <p:sp>
        <p:nvSpPr>
          <p:cNvPr id="41989"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2C05AE2B-42E5-456E-8D8D-C51659BF779B}" type="slidenum">
              <a:rPr lang="en-GB" altLang="en-US">
                <a:solidFill>
                  <a:srgbClr val="FFC551"/>
                </a:solidFill>
                <a:latin typeface="Century Gothic" panose="020B0502020202020204" pitchFamily="34" charset="0"/>
                <a:cs typeface="Arial" panose="020B0604020202020204" pitchFamily="34" charset="0"/>
              </a:rPr>
              <a:pPr/>
              <a:t>20</a:t>
            </a:fld>
            <a:endParaRPr lang="en-GB" altLang="en-US">
              <a:solidFill>
                <a:srgbClr val="FFC551"/>
              </a:solidFill>
              <a:latin typeface="Century Gothic" panose="020B0502020202020204" pitchFamily="34" charset="0"/>
              <a:cs typeface="Arial" panose="020B0604020202020204" pitchFamily="34" charset="0"/>
            </a:endParaRPr>
          </a:p>
        </p:txBody>
      </p:sp>
      <p:sp>
        <p:nvSpPr>
          <p:cNvPr id="2" name="Footer Placeholder 1"/>
          <p:cNvSpPr>
            <a:spLocks noGrp="1"/>
          </p:cNvSpPr>
          <p:nvPr>
            <p:ph type="ftr" sz="quarter" idx="11"/>
          </p:nvPr>
        </p:nvSpPr>
        <p:spPr/>
        <p:txBody>
          <a:bodyPr/>
          <a:lstStyle/>
          <a:p>
            <a:pPr>
              <a:defRPr/>
            </a:pPr>
            <a:r>
              <a:rPr lang="en-GB"/>
              <a:t>slides based on Dix, Alan, et al. "Human-computer interaction."  (2000).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p:txBody>
          <a:bodyPr/>
          <a:lstStyle/>
          <a:p>
            <a:pPr algn="ctr" eaLnBrk="1" fontAlgn="auto" hangingPunct="1">
              <a:spcAft>
                <a:spcPts val="0"/>
              </a:spcAft>
              <a:defRPr/>
            </a:pP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Screen Design and Layout</a:t>
            </a:r>
          </a:p>
        </p:txBody>
      </p:sp>
      <p:sp>
        <p:nvSpPr>
          <p:cNvPr id="43011" name="Content Placeholder 2"/>
          <p:cNvSpPr>
            <a:spLocks noGrp="1" noChangeArrowheads="1"/>
          </p:cNvSpPr>
          <p:nvPr>
            <p:ph idx="1"/>
          </p:nvPr>
        </p:nvSpPr>
        <p:spPr>
          <a:xfrm>
            <a:off x="838200" y="1825625"/>
            <a:ext cx="10515600" cy="4843463"/>
          </a:xfrm>
        </p:spPr>
        <p:txBody>
          <a:bodyPr/>
          <a:lstStyle/>
          <a:p>
            <a:pPr eaLnBrk="1" hangingPunct="1"/>
            <a:r>
              <a:rPr lang="en-US" altLang="en-US" sz="2600" dirty="0">
                <a:latin typeface="Times New Roman" panose="02020603050405020304" pitchFamily="18" charset="0"/>
                <a:cs typeface="Times New Roman" panose="02020603050405020304" pitchFamily="18" charset="0"/>
              </a:rPr>
              <a:t>A single screen image often has to present information clearly and also act as the locus for interacting with the system. This is a complex area, involving some of the psychological understanding of users</a:t>
            </a:r>
          </a:p>
          <a:p>
            <a:pPr eaLnBrk="1" hangingPunct="1"/>
            <a:r>
              <a:rPr lang="en-US" altLang="en-US" sz="2600" dirty="0">
                <a:latin typeface="Times New Roman" panose="02020603050405020304" pitchFamily="18" charset="0"/>
                <a:cs typeface="Times New Roman" panose="02020603050405020304" pitchFamily="18" charset="0"/>
              </a:rPr>
              <a:t>The basic principles at the screen level design comprise the following:</a:t>
            </a:r>
          </a:p>
          <a:p>
            <a:pPr marL="342900" lvl="1" indent="0" eaLnBrk="1" hangingPunct="1">
              <a:lnSpc>
                <a:spcPct val="150000"/>
              </a:lnSpc>
              <a:buFont typeface="Arial" panose="020B0604020202020204" pitchFamily="34" charset="0"/>
              <a:buNone/>
            </a:pPr>
            <a:r>
              <a:rPr lang="en-US" altLang="en-US" sz="2600" b="1" dirty="0">
                <a:latin typeface="Times New Roman" panose="02020603050405020304" pitchFamily="18" charset="0"/>
                <a:cs typeface="Times New Roman" panose="02020603050405020304" pitchFamily="18" charset="0"/>
              </a:rPr>
              <a:t>Ask: </a:t>
            </a:r>
            <a:r>
              <a:rPr lang="en-US" altLang="en-US" sz="2600" dirty="0">
                <a:latin typeface="Times New Roman" panose="02020603050405020304" pitchFamily="18" charset="0"/>
                <a:cs typeface="Times New Roman" panose="02020603050405020304" pitchFamily="18" charset="0"/>
              </a:rPr>
              <a:t>What is the user doing?</a:t>
            </a:r>
          </a:p>
          <a:p>
            <a:pPr marL="342900" lvl="1" indent="0" eaLnBrk="1" hangingPunct="1">
              <a:lnSpc>
                <a:spcPct val="150000"/>
              </a:lnSpc>
              <a:buFont typeface="Arial" panose="020B0604020202020204" pitchFamily="34" charset="0"/>
              <a:buNone/>
            </a:pPr>
            <a:r>
              <a:rPr lang="en-US" altLang="en-US" sz="2600" b="1" dirty="0">
                <a:latin typeface="Times New Roman" panose="02020603050405020304" pitchFamily="18" charset="0"/>
                <a:cs typeface="Times New Roman" panose="02020603050405020304" pitchFamily="18" charset="0"/>
              </a:rPr>
              <a:t>Think: </a:t>
            </a:r>
            <a:r>
              <a:rPr lang="en-US" altLang="en-US" sz="2600" dirty="0">
                <a:latin typeface="Times New Roman" panose="02020603050405020304" pitchFamily="18" charset="0"/>
                <a:cs typeface="Times New Roman" panose="02020603050405020304" pitchFamily="18" charset="0"/>
              </a:rPr>
              <a:t>What information is required? What comparisons may the user need to make? In what order are things likely to be needed?</a:t>
            </a:r>
          </a:p>
          <a:p>
            <a:pPr marL="342900" lvl="1" indent="0" eaLnBrk="1" hangingPunct="1">
              <a:lnSpc>
                <a:spcPct val="150000"/>
              </a:lnSpc>
              <a:buFont typeface="Arial" panose="020B0604020202020204" pitchFamily="34" charset="0"/>
              <a:buNone/>
            </a:pPr>
            <a:r>
              <a:rPr lang="en-US" altLang="en-US" sz="2600" b="1" dirty="0">
                <a:latin typeface="Times New Roman" panose="02020603050405020304" pitchFamily="18" charset="0"/>
                <a:cs typeface="Times New Roman" panose="02020603050405020304" pitchFamily="18" charset="0"/>
              </a:rPr>
              <a:t>Design: </a:t>
            </a:r>
            <a:r>
              <a:rPr lang="en-US" altLang="en-US" sz="2600" dirty="0">
                <a:latin typeface="Times New Roman" panose="02020603050405020304" pitchFamily="18" charset="0"/>
                <a:cs typeface="Times New Roman" panose="02020603050405020304" pitchFamily="18" charset="0"/>
              </a:rPr>
              <a:t>Form follows function: let the required interactions drive the layout.</a:t>
            </a:r>
          </a:p>
        </p:txBody>
      </p:sp>
      <p:sp>
        <p:nvSpPr>
          <p:cNvPr id="43012"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626985F3-FAC1-46DA-949D-E8B06FB8D77F}" type="slidenum">
              <a:rPr lang="en-GB" altLang="en-US">
                <a:solidFill>
                  <a:srgbClr val="FFC551"/>
                </a:solidFill>
                <a:latin typeface="Century Gothic" panose="020B0502020202020204" pitchFamily="34" charset="0"/>
                <a:cs typeface="Arial" panose="020B0604020202020204" pitchFamily="34" charset="0"/>
              </a:rPr>
              <a:pPr/>
              <a:t>21</a:t>
            </a:fld>
            <a:endParaRPr lang="en-GB" altLang="en-US">
              <a:solidFill>
                <a:srgbClr val="FFC551"/>
              </a:solidFill>
              <a:latin typeface="Century Gothic" panose="020B0502020202020204" pitchFamily="34" charset="0"/>
              <a:cs typeface="Arial" panose="020B0604020202020204" pitchFamily="34" charset="0"/>
            </a:endParaRPr>
          </a:p>
        </p:txBody>
      </p:sp>
      <p:sp>
        <p:nvSpPr>
          <p:cNvPr id="2" name="Footer Placeholder 1"/>
          <p:cNvSpPr>
            <a:spLocks noGrp="1"/>
          </p:cNvSpPr>
          <p:nvPr>
            <p:ph type="ftr" sz="quarter" idx="11"/>
          </p:nvPr>
        </p:nvSpPr>
        <p:spPr/>
        <p:txBody>
          <a:bodyPr/>
          <a:lstStyle/>
          <a:p>
            <a:pPr>
              <a:defRPr/>
            </a:pPr>
            <a:r>
              <a:rPr lang="en-GB"/>
              <a:t>slides based on Dix, Alan, et al. "Human-computer interaction."  (2000).</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Navigation Design</a:t>
            </a:r>
          </a:p>
        </p:txBody>
      </p:sp>
      <p:sp>
        <p:nvSpPr>
          <p:cNvPr id="3" name="Content Placeholder 2"/>
          <p:cNvSpPr>
            <a:spLocks noGrp="1"/>
          </p:cNvSpPr>
          <p:nvPr>
            <p:ph idx="1"/>
          </p:nvPr>
        </p:nvSpPr>
        <p:spPr>
          <a:xfrm>
            <a:off x="1096962" y="1846263"/>
            <a:ext cx="10831685" cy="4978400"/>
          </a:xfrm>
        </p:spPr>
        <p:txBody>
          <a:bodyPr/>
          <a:lstStyle/>
          <a:p>
            <a:r>
              <a:rPr lang="en-US" b="1" dirty="0">
                <a:latin typeface="Times New Roman" panose="02020603050405020304" pitchFamily="18" charset="0"/>
                <a:cs typeface="Times New Roman" panose="02020603050405020304" pitchFamily="18" charset="0"/>
              </a:rPr>
              <a:t>The place to start when considering the structure of an application is to think about actual use</a:t>
            </a:r>
            <a:r>
              <a:rPr lang="en-US" dirty="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a:p>
            <a:pPr marL="749300" lvl="1" indent="-457200">
              <a:buFont typeface="+mj-lt"/>
              <a:buAutoNum type="arabicPeriod"/>
            </a:pPr>
            <a:r>
              <a:rPr lang="en-US" dirty="0">
                <a:latin typeface="Times New Roman" panose="02020603050405020304" pitchFamily="18" charset="0"/>
                <a:cs typeface="Times New Roman" panose="02020603050405020304" pitchFamily="18" charset="0"/>
              </a:rPr>
              <a:t>who is going to use the application?</a:t>
            </a:r>
          </a:p>
          <a:p>
            <a:pPr marL="749300" lvl="1" indent="-457200">
              <a:buFont typeface="+mj-lt"/>
              <a:buAutoNum type="arabicPeriod"/>
            </a:pPr>
            <a:r>
              <a:rPr lang="en-US" dirty="0">
                <a:latin typeface="Times New Roman" panose="02020603050405020304" pitchFamily="18" charset="0"/>
                <a:cs typeface="Times New Roman" panose="02020603050405020304" pitchFamily="18" charset="0"/>
              </a:rPr>
              <a:t>how do they think about it?</a:t>
            </a:r>
          </a:p>
          <a:p>
            <a:pPr marL="749300" lvl="1" indent="-457200">
              <a:buFont typeface="+mj-lt"/>
              <a:buAutoNum type="arabicPeriod"/>
            </a:pPr>
            <a:r>
              <a:rPr lang="en-US" dirty="0">
                <a:latin typeface="Times New Roman" panose="02020603050405020304" pitchFamily="18" charset="0"/>
                <a:cs typeface="Times New Roman" panose="02020603050405020304" pitchFamily="18" charset="0"/>
              </a:rPr>
              <a:t>what will they do with it?</a:t>
            </a:r>
          </a:p>
          <a:p>
            <a:pPr marL="749300" lvl="1" indent="-457200">
              <a:buFont typeface="+mj-lt"/>
              <a:buAutoNum type="arabicPeriod"/>
            </a:pP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This can then drive the second task – thinking about structure.</a:t>
            </a:r>
          </a:p>
          <a:p>
            <a:r>
              <a:rPr lang="en-US" dirty="0">
                <a:latin typeface="Times New Roman" panose="02020603050405020304" pitchFamily="18" charset="0"/>
                <a:cs typeface="Times New Roman" panose="02020603050405020304" pitchFamily="18" charset="0"/>
              </a:rPr>
              <a:t>Here we will consider two main kinds of issue:</a:t>
            </a:r>
          </a:p>
          <a:p>
            <a:endParaRPr lang="en-US" dirty="0">
              <a:latin typeface="Times New Roman" panose="02020603050405020304" pitchFamily="18" charset="0"/>
              <a:cs typeface="Times New Roman" panose="02020603050405020304" pitchFamily="18" charset="0"/>
            </a:endParaRPr>
          </a:p>
          <a:p>
            <a:pPr marL="806450" lvl="1" indent="-514350">
              <a:buFont typeface="+mj-lt"/>
              <a:buAutoNum type="romanLcPeriod"/>
            </a:pPr>
            <a:r>
              <a:rPr lang="en-US" dirty="0">
                <a:latin typeface="Times New Roman" panose="02020603050405020304" pitchFamily="18" charset="0"/>
                <a:cs typeface="Times New Roman" panose="02020603050405020304" pitchFamily="18" charset="0"/>
              </a:rPr>
              <a:t> local structure: looking from one screen or page</a:t>
            </a:r>
          </a:p>
          <a:p>
            <a:pPr marL="806450" lvl="1" indent="-514350">
              <a:buFont typeface="+mj-lt"/>
              <a:buAutoNum type="romanLcPeriod"/>
            </a:pPr>
            <a:r>
              <a:rPr lang="en-US" dirty="0">
                <a:latin typeface="Times New Roman" panose="02020603050405020304" pitchFamily="18" charset="0"/>
                <a:cs typeface="Times New Roman" panose="02020603050405020304" pitchFamily="18" charset="0"/>
              </a:rPr>
              <a:t>global structure: structure of site, movement between screens.</a:t>
            </a:r>
            <a:endParaRPr lang="en-US" b="1"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784CB106-59EF-4E38-AE9E-B3544BD66F06}" type="slidenum">
              <a:rPr lang="en-GB" altLang="en-US" smtClean="0"/>
              <a:pPr>
                <a:defRPr/>
              </a:pPr>
              <a:t>22</a:t>
            </a:fld>
            <a:endParaRPr lang="en-GB" altLang="en-US"/>
          </a:p>
        </p:txBody>
      </p:sp>
      <p:sp>
        <p:nvSpPr>
          <p:cNvPr id="5" name="Footer Placeholder 4"/>
          <p:cNvSpPr>
            <a:spLocks noGrp="1"/>
          </p:cNvSpPr>
          <p:nvPr>
            <p:ph type="ftr" sz="quarter" idx="11"/>
          </p:nvPr>
        </p:nvSpPr>
        <p:spPr/>
        <p:txBody>
          <a:bodyPr/>
          <a:lstStyle/>
          <a:p>
            <a:pPr>
              <a:defRPr/>
            </a:pPr>
            <a:r>
              <a:rPr lang="en-GB"/>
              <a:t>slides based on Dix, Alan, et al. "Human-computer interaction."  (2000).</a:t>
            </a:r>
          </a:p>
        </p:txBody>
      </p:sp>
    </p:spTree>
    <p:extLst>
      <p:ext uri="{BB962C8B-B14F-4D97-AF65-F5344CB8AC3E}">
        <p14:creationId xmlns:p14="http://schemas.microsoft.com/office/powerpoint/2010/main" val="6762235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a:latin typeface="Times New Roman" panose="02020603050405020304" pitchFamily="18" charset="0"/>
                <a:cs typeface="Times New Roman" panose="02020603050405020304" pitchFamily="18" charset="0"/>
              </a:rPr>
              <a:t>Navigation Design</a:t>
            </a:r>
            <a:r>
              <a:rPr lang="en-US" dirty="0">
                <a:latin typeface="Times New Roman" panose="02020603050405020304" pitchFamily="18" charset="0"/>
                <a:cs typeface="Times New Roman" panose="02020603050405020304" pitchFamily="18" charset="0"/>
              </a:rPr>
              <a:t>: Local Structure</a:t>
            </a:r>
          </a:p>
        </p:txBody>
      </p:sp>
      <p:sp>
        <p:nvSpPr>
          <p:cNvPr id="3" name="Content Placeholder 2"/>
          <p:cNvSpPr>
            <a:spLocks noGrp="1"/>
          </p:cNvSpPr>
          <p:nvPr>
            <p:ph idx="1"/>
          </p:nvPr>
        </p:nvSpPr>
        <p:spPr>
          <a:xfrm>
            <a:off x="551384" y="1846263"/>
            <a:ext cx="11305256" cy="4247033"/>
          </a:xfrm>
        </p:spPr>
        <p:txBody>
          <a:bodyPr/>
          <a:lstStyle/>
          <a:p>
            <a:r>
              <a:rPr lang="en-US" sz="2600" dirty="0">
                <a:latin typeface="Times New Roman" panose="02020603050405020304" pitchFamily="18" charset="0"/>
                <a:cs typeface="Times New Roman" panose="02020603050405020304" pitchFamily="18" charset="0"/>
              </a:rPr>
              <a:t>Much of interaction involves goal-seeking behavior.</a:t>
            </a:r>
          </a:p>
          <a:p>
            <a:endParaRPr lang="en-US" sz="2600" dirty="0">
              <a:latin typeface="Times New Roman" panose="02020603050405020304" pitchFamily="18" charset="0"/>
              <a:cs typeface="Times New Roman" panose="02020603050405020304" pitchFamily="18" charset="0"/>
            </a:endParaRPr>
          </a:p>
          <a:p>
            <a:r>
              <a:rPr lang="en-US" sz="2600" dirty="0">
                <a:solidFill>
                  <a:srgbClr val="FF0000"/>
                </a:solidFill>
                <a:latin typeface="Times New Roman" panose="02020603050405020304" pitchFamily="18" charset="0"/>
                <a:cs typeface="Times New Roman" panose="02020603050405020304" pitchFamily="18" charset="0"/>
              </a:rPr>
              <a:t>Users have some idea of what they are after and a partial model of the system. In an ideal world if users had perfect knowledge of what they wanted and how the system worked they could simply take the shortest path to what they want, pressing all the right buttons and links.</a:t>
            </a:r>
          </a:p>
          <a:p>
            <a:r>
              <a:rPr lang="en-US" sz="2600" dirty="0">
                <a:latin typeface="Times New Roman" panose="02020603050405020304" pitchFamily="18" charset="0"/>
                <a:cs typeface="Times New Roman" panose="02020603050405020304" pitchFamily="18" charset="0"/>
              </a:rPr>
              <a:t>However, in a world of partial knowledge users meander through the system. </a:t>
            </a:r>
          </a:p>
          <a:p>
            <a:endParaRPr lang="en-US" sz="2600" dirty="0">
              <a:latin typeface="Times New Roman" panose="02020603050405020304" pitchFamily="18" charset="0"/>
              <a:cs typeface="Times New Roman" panose="02020603050405020304" pitchFamily="18" charset="0"/>
            </a:endParaRPr>
          </a:p>
          <a:p>
            <a:r>
              <a:rPr lang="en-US" sz="2600" b="1" dirty="0">
                <a:solidFill>
                  <a:srgbClr val="00B050"/>
                </a:solidFill>
                <a:latin typeface="Times New Roman" panose="02020603050405020304" pitchFamily="18" charset="0"/>
                <a:cs typeface="Times New Roman" panose="02020603050405020304" pitchFamily="18" charset="0"/>
              </a:rPr>
              <a:t>At each point in the interaction, users should be able to make assessment of whether they are getting closer to their (often partially formed) goal.</a:t>
            </a:r>
          </a:p>
        </p:txBody>
      </p:sp>
      <p:sp>
        <p:nvSpPr>
          <p:cNvPr id="4" name="Slide Number Placeholder 3"/>
          <p:cNvSpPr>
            <a:spLocks noGrp="1"/>
          </p:cNvSpPr>
          <p:nvPr>
            <p:ph type="sldNum" sz="quarter" idx="12"/>
          </p:nvPr>
        </p:nvSpPr>
        <p:spPr/>
        <p:txBody>
          <a:bodyPr/>
          <a:lstStyle/>
          <a:p>
            <a:pPr>
              <a:defRPr/>
            </a:pPr>
            <a:fld id="{784CB106-59EF-4E38-AE9E-B3544BD66F06}" type="slidenum">
              <a:rPr lang="en-GB" altLang="en-US" smtClean="0"/>
              <a:pPr>
                <a:defRPr/>
              </a:pPr>
              <a:t>23</a:t>
            </a:fld>
            <a:endParaRPr lang="en-GB" altLang="en-US"/>
          </a:p>
        </p:txBody>
      </p:sp>
      <p:sp>
        <p:nvSpPr>
          <p:cNvPr id="5" name="Footer Placeholder 4"/>
          <p:cNvSpPr>
            <a:spLocks noGrp="1"/>
          </p:cNvSpPr>
          <p:nvPr>
            <p:ph type="ftr" sz="quarter" idx="11"/>
          </p:nvPr>
        </p:nvSpPr>
        <p:spPr/>
        <p:txBody>
          <a:bodyPr/>
          <a:lstStyle/>
          <a:p>
            <a:pPr>
              <a:defRPr/>
            </a:pPr>
            <a:r>
              <a:rPr lang="en-GB"/>
              <a:t>slides based on Dix, Alan, et al. "Human-computer interaction."  (2000).</a:t>
            </a:r>
          </a:p>
        </p:txBody>
      </p:sp>
    </p:spTree>
    <p:extLst>
      <p:ext uri="{BB962C8B-B14F-4D97-AF65-F5344CB8AC3E}">
        <p14:creationId xmlns:p14="http://schemas.microsoft.com/office/powerpoint/2010/main" val="7439491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200" dirty="0">
                <a:latin typeface="Times New Roman" panose="02020603050405020304" pitchFamily="18" charset="0"/>
                <a:cs typeface="Times New Roman" panose="02020603050405020304" pitchFamily="18" charset="0"/>
              </a:rPr>
              <a:t>Navigation Design</a:t>
            </a:r>
            <a:r>
              <a:rPr lang="en-US" dirty="0">
                <a:latin typeface="Times New Roman" panose="02020603050405020304" pitchFamily="18" charset="0"/>
                <a:cs typeface="Times New Roman" panose="02020603050405020304" pitchFamily="18" charset="0"/>
              </a:rPr>
              <a:t>: Local Structure (Avoid this!)</a:t>
            </a:r>
          </a:p>
        </p:txBody>
      </p:sp>
      <p:pic>
        <p:nvPicPr>
          <p:cNvPr id="5" name="Content Placeholder 4"/>
          <p:cNvPicPr>
            <a:picLocks noGrp="1" noChangeAspect="1"/>
          </p:cNvPicPr>
          <p:nvPr>
            <p:ph idx="1"/>
          </p:nvPr>
        </p:nvPicPr>
        <p:blipFill rotWithShape="1">
          <a:blip r:embed="rId2"/>
          <a:srcRect l="36495" t="39345" r="24255" b="32015"/>
          <a:stretch/>
        </p:blipFill>
        <p:spPr>
          <a:xfrm>
            <a:off x="1487488" y="2060847"/>
            <a:ext cx="8568952" cy="3515467"/>
          </a:xfrm>
          <a:prstGeom prst="rect">
            <a:avLst/>
          </a:prstGeom>
        </p:spPr>
      </p:pic>
      <p:sp>
        <p:nvSpPr>
          <p:cNvPr id="4" name="Slide Number Placeholder 3"/>
          <p:cNvSpPr>
            <a:spLocks noGrp="1"/>
          </p:cNvSpPr>
          <p:nvPr>
            <p:ph type="sldNum" sz="quarter" idx="12"/>
          </p:nvPr>
        </p:nvSpPr>
        <p:spPr/>
        <p:txBody>
          <a:bodyPr/>
          <a:lstStyle/>
          <a:p>
            <a:pPr>
              <a:defRPr/>
            </a:pPr>
            <a:fld id="{784CB106-59EF-4E38-AE9E-B3544BD66F06}" type="slidenum">
              <a:rPr lang="en-GB" altLang="en-US" smtClean="0"/>
              <a:pPr>
                <a:defRPr/>
              </a:pPr>
              <a:t>24</a:t>
            </a:fld>
            <a:endParaRPr lang="en-GB" altLang="en-US"/>
          </a:p>
        </p:txBody>
      </p:sp>
      <p:sp>
        <p:nvSpPr>
          <p:cNvPr id="3" name="Footer Placeholder 2"/>
          <p:cNvSpPr>
            <a:spLocks noGrp="1"/>
          </p:cNvSpPr>
          <p:nvPr>
            <p:ph type="ftr" sz="quarter" idx="11"/>
          </p:nvPr>
        </p:nvSpPr>
        <p:spPr/>
        <p:txBody>
          <a:bodyPr/>
          <a:lstStyle/>
          <a:p>
            <a:pPr>
              <a:defRPr/>
            </a:pPr>
            <a:r>
              <a:rPr lang="en-GB"/>
              <a:t>slides based on Dix, Alan, et al. "Human-computer interaction."  (2000).</a:t>
            </a:r>
          </a:p>
        </p:txBody>
      </p:sp>
    </p:spTree>
    <p:extLst>
      <p:ext uri="{BB962C8B-B14F-4D97-AF65-F5344CB8AC3E}">
        <p14:creationId xmlns:p14="http://schemas.microsoft.com/office/powerpoint/2010/main" val="20407879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Navigation Design: Local Structure</a:t>
            </a:r>
          </a:p>
        </p:txBody>
      </p:sp>
      <p:sp>
        <p:nvSpPr>
          <p:cNvPr id="3" name="Content Placeholder 2"/>
          <p:cNvSpPr>
            <a:spLocks noGrp="1"/>
          </p:cNvSpPr>
          <p:nvPr>
            <p:ph sz="half" idx="1"/>
          </p:nvPr>
        </p:nvSpPr>
        <p:spPr>
          <a:xfrm>
            <a:off x="191344" y="1845734"/>
            <a:ext cx="5843695" cy="4391578"/>
          </a:xfrm>
        </p:spPr>
        <p:txBody>
          <a:bodyPr/>
          <a:lstStyle/>
          <a:p>
            <a:r>
              <a:rPr lang="en-US" b="1" dirty="0">
                <a:latin typeface="Times New Roman" panose="02020603050405020304" pitchFamily="18" charset="0"/>
                <a:cs typeface="Times New Roman" panose="02020603050405020304" pitchFamily="18" charset="0"/>
              </a:rPr>
              <a:t>To do this goal seeking, each state of the system or each screen needs to give the user enough knowledge of what to do to get closer to their goal.</a:t>
            </a:r>
          </a:p>
          <a:p>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screen, web page or device displays should make clear </a:t>
            </a:r>
            <a:r>
              <a:rPr lang="en-US" i="1" dirty="0">
                <a:latin typeface="Times New Roman" panose="02020603050405020304" pitchFamily="18" charset="0"/>
                <a:cs typeface="Times New Roman" panose="02020603050405020304" pitchFamily="18" charset="0"/>
              </a:rPr>
              <a:t>where you are </a:t>
            </a:r>
            <a:r>
              <a:rPr lang="en-US" dirty="0">
                <a:latin typeface="Times New Roman" panose="02020603050405020304" pitchFamily="18" charset="0"/>
                <a:cs typeface="Times New Roman" panose="02020603050405020304" pitchFamily="18" charset="0"/>
              </a:rPr>
              <a:t>in terms of the interaction or state of the system. </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Some websites show ‘bread crumbs’ at the top of the screen, the path of titles showing where the page is in the site</a:t>
            </a:r>
          </a:p>
          <a:p>
            <a:endParaRPr lang="en-US" b="1" dirty="0">
              <a:latin typeface="Times New Roman" panose="02020603050405020304" pitchFamily="18" charset="0"/>
              <a:cs typeface="Times New Roman" panose="02020603050405020304" pitchFamily="18" charset="0"/>
            </a:endParaRPr>
          </a:p>
        </p:txBody>
      </p:sp>
      <p:pic>
        <p:nvPicPr>
          <p:cNvPr id="6" name="Content Placeholder 5"/>
          <p:cNvPicPr>
            <a:picLocks noGrp="1" noChangeAspect="1"/>
          </p:cNvPicPr>
          <p:nvPr>
            <p:ph sz="half" idx="2"/>
          </p:nvPr>
        </p:nvPicPr>
        <p:blipFill rotWithShape="1">
          <a:blip r:embed="rId2"/>
          <a:srcRect l="27430" t="13883" r="25833" b="55491"/>
          <a:stretch/>
        </p:blipFill>
        <p:spPr>
          <a:xfrm>
            <a:off x="6312024" y="2132856"/>
            <a:ext cx="5511338" cy="2592288"/>
          </a:xfrm>
          <a:prstGeom prst="rect">
            <a:avLst/>
          </a:prstGeom>
        </p:spPr>
      </p:pic>
      <p:sp>
        <p:nvSpPr>
          <p:cNvPr id="4" name="Slide Number Placeholder 3"/>
          <p:cNvSpPr>
            <a:spLocks noGrp="1"/>
          </p:cNvSpPr>
          <p:nvPr>
            <p:ph type="sldNum" sz="quarter" idx="12"/>
          </p:nvPr>
        </p:nvSpPr>
        <p:spPr/>
        <p:txBody>
          <a:bodyPr/>
          <a:lstStyle/>
          <a:p>
            <a:pPr>
              <a:defRPr/>
            </a:pPr>
            <a:fld id="{784CB106-59EF-4E38-AE9E-B3544BD66F06}" type="slidenum">
              <a:rPr lang="en-GB" altLang="en-US" smtClean="0"/>
              <a:pPr>
                <a:defRPr/>
              </a:pPr>
              <a:t>25</a:t>
            </a:fld>
            <a:endParaRPr lang="en-GB" altLang="en-US"/>
          </a:p>
        </p:txBody>
      </p:sp>
      <p:cxnSp>
        <p:nvCxnSpPr>
          <p:cNvPr id="8" name="Straight Arrow Connector 7"/>
          <p:cNvCxnSpPr/>
          <p:nvPr/>
        </p:nvCxnSpPr>
        <p:spPr>
          <a:xfrm flipV="1">
            <a:off x="7896200" y="4365104"/>
            <a:ext cx="576064" cy="16561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7464152" y="5949280"/>
            <a:ext cx="288032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Breadcrumbs</a:t>
            </a:r>
            <a:r>
              <a:rPr lang="en-US" dirty="0"/>
              <a:t> example</a:t>
            </a:r>
          </a:p>
        </p:txBody>
      </p:sp>
      <p:sp>
        <p:nvSpPr>
          <p:cNvPr id="5" name="Footer Placeholder 4"/>
          <p:cNvSpPr>
            <a:spLocks noGrp="1"/>
          </p:cNvSpPr>
          <p:nvPr>
            <p:ph type="ftr" sz="quarter" idx="11"/>
          </p:nvPr>
        </p:nvSpPr>
        <p:spPr/>
        <p:txBody>
          <a:bodyPr/>
          <a:lstStyle/>
          <a:p>
            <a:pPr>
              <a:defRPr/>
            </a:pPr>
            <a:r>
              <a:rPr lang="en-GB"/>
              <a:t>slides based on Dix, Alan, et al. "Human-computer interaction."  (2000).</a:t>
            </a:r>
          </a:p>
        </p:txBody>
      </p:sp>
    </p:spTree>
    <p:extLst>
      <p:ext uri="{BB962C8B-B14F-4D97-AF65-F5344CB8AC3E}">
        <p14:creationId xmlns:p14="http://schemas.microsoft.com/office/powerpoint/2010/main" val="29398907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Video group presentation</a:t>
            </a:r>
          </a:p>
        </p:txBody>
      </p:sp>
      <p:sp>
        <p:nvSpPr>
          <p:cNvPr id="7" name="Content Placeholder 6"/>
          <p:cNvSpPr>
            <a:spLocks noGrp="1"/>
          </p:cNvSpPr>
          <p:nvPr>
            <p:ph idx="1"/>
          </p:nvPr>
        </p:nvSpPr>
        <p:spPr>
          <a:xfrm>
            <a:off x="479376" y="1846263"/>
            <a:ext cx="11449271" cy="4391049"/>
          </a:xfrm>
        </p:spPr>
        <p:txBody>
          <a:bodyPr/>
          <a:lstStyle/>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pPr marL="0" indent="0" algn="ctr">
              <a:buNone/>
            </a:pPr>
            <a:r>
              <a:rPr lang="en-US" sz="2500" b="1" dirty="0">
                <a:latin typeface="Times New Roman" panose="02020603050405020304" pitchFamily="18" charset="0"/>
                <a:cs typeface="Times New Roman" panose="02020603050405020304" pitchFamily="18" charset="0"/>
              </a:rPr>
              <a:t>Breadcrumbs In Software (Desktop, mobile and web) Design: Examples, design guidelines and Best Practices</a:t>
            </a:r>
          </a:p>
          <a:p>
            <a:endParaRPr lang="en-US"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pPr>
              <a:defRPr/>
            </a:pPr>
            <a:fld id="{83D530C7-866A-4E32-9D84-AC8AA2B72CFB}" type="slidenum">
              <a:rPr lang="en-GB" altLang="en-US" smtClean="0"/>
              <a:pPr>
                <a:defRPr/>
              </a:pPr>
              <a:t>26</a:t>
            </a:fld>
            <a:endParaRPr lang="en-GB" altLang="en-US"/>
          </a:p>
        </p:txBody>
      </p:sp>
      <p:sp>
        <p:nvSpPr>
          <p:cNvPr id="2" name="Footer Placeholder 1"/>
          <p:cNvSpPr>
            <a:spLocks noGrp="1"/>
          </p:cNvSpPr>
          <p:nvPr>
            <p:ph type="ftr" sz="quarter" idx="11"/>
          </p:nvPr>
        </p:nvSpPr>
        <p:spPr/>
        <p:txBody>
          <a:bodyPr/>
          <a:lstStyle/>
          <a:p>
            <a:pPr>
              <a:defRPr/>
            </a:pPr>
            <a:r>
              <a:rPr lang="en-GB"/>
              <a:t>slides based on Dix, Alan, et al. "Human-computer interaction."  (2000).</a:t>
            </a:r>
          </a:p>
        </p:txBody>
      </p:sp>
    </p:spTree>
    <p:extLst>
      <p:ext uri="{BB962C8B-B14F-4D97-AF65-F5344CB8AC3E}">
        <p14:creationId xmlns:p14="http://schemas.microsoft.com/office/powerpoint/2010/main" val="11027788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2200" dirty="0">
                <a:latin typeface="Times New Roman" panose="02020603050405020304" pitchFamily="18" charset="0"/>
                <a:cs typeface="Times New Roman" panose="02020603050405020304" pitchFamily="18" charset="0"/>
              </a:rPr>
              <a:t>Navigation Design</a:t>
            </a:r>
            <a:r>
              <a:rPr lang="en-US" dirty="0">
                <a:latin typeface="Times New Roman" panose="02020603050405020304" pitchFamily="18" charset="0"/>
                <a:cs typeface="Times New Roman" panose="02020603050405020304" pitchFamily="18" charset="0"/>
              </a:rPr>
              <a:t>: Links</a:t>
            </a:r>
          </a:p>
        </p:txBody>
      </p:sp>
      <p:sp>
        <p:nvSpPr>
          <p:cNvPr id="3" name="Content Placeholder 2"/>
          <p:cNvSpPr>
            <a:spLocks noGrp="1"/>
          </p:cNvSpPr>
          <p:nvPr>
            <p:ph idx="1"/>
          </p:nvPr>
        </p:nvSpPr>
        <p:spPr>
          <a:xfrm>
            <a:off x="263352" y="1736725"/>
            <a:ext cx="11521280" cy="4572595"/>
          </a:xfrm>
        </p:spPr>
        <p:txBody>
          <a:bodyPr/>
          <a:lstStyle/>
          <a:p>
            <a:r>
              <a:rPr lang="en-US" sz="2600" dirty="0">
                <a:solidFill>
                  <a:srgbClr val="FF0000"/>
                </a:solidFill>
                <a:latin typeface="Times New Roman" panose="02020603050405020304" pitchFamily="18" charset="0"/>
                <a:cs typeface="Times New Roman" panose="02020603050405020304" pitchFamily="18" charset="0"/>
              </a:rPr>
              <a:t>Some web pages are particularly bad in that it is unclear which images are pure decoration and which are links to take you somewhere.</a:t>
            </a:r>
          </a:p>
          <a:p>
            <a:endParaRPr lang="en-US" sz="2600" dirty="0">
              <a:solidFill>
                <a:srgbClr val="FF0000"/>
              </a:solidFill>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On the web, the </a:t>
            </a:r>
            <a:r>
              <a:rPr lang="en-US" sz="2600" b="1" dirty="0">
                <a:latin typeface="Times New Roman" panose="02020603050405020304" pitchFamily="18" charset="0"/>
                <a:cs typeface="Times New Roman" panose="02020603050405020304" pitchFamily="18" charset="0"/>
              </a:rPr>
              <a:t>standard underlined links </a:t>
            </a:r>
            <a:r>
              <a:rPr lang="en-US" sz="2600" dirty="0">
                <a:latin typeface="Times New Roman" panose="02020603050405020304" pitchFamily="18" charset="0"/>
                <a:cs typeface="Times New Roman" panose="02020603050405020304" pitchFamily="18" charset="0"/>
              </a:rPr>
              <a:t>make it clear which text is clickable and which is not.</a:t>
            </a:r>
          </a:p>
          <a:p>
            <a:r>
              <a:rPr lang="en-US" sz="2600" dirty="0">
                <a:latin typeface="Times New Roman" panose="02020603050405020304" pitchFamily="18" charset="0"/>
                <a:cs typeface="Times New Roman" panose="02020603050405020304" pitchFamily="18" charset="0"/>
              </a:rPr>
              <a:t> However, in order to improve the appearance of the page, </a:t>
            </a:r>
            <a:r>
              <a:rPr lang="en-US" sz="2600" dirty="0">
                <a:solidFill>
                  <a:srgbClr val="00B050"/>
                </a:solidFill>
                <a:latin typeface="Times New Roman" panose="02020603050405020304" pitchFamily="18" charset="0"/>
                <a:cs typeface="Times New Roman" panose="02020603050405020304" pitchFamily="18" charset="0"/>
              </a:rPr>
              <a:t>many sites change the color of links and may remove the underline too. </a:t>
            </a:r>
          </a:p>
          <a:p>
            <a:r>
              <a:rPr lang="en-US" sz="2600" b="1" dirty="0">
                <a:latin typeface="Times New Roman" panose="02020603050405020304" pitchFamily="18" charset="0"/>
                <a:cs typeface="Times New Roman" panose="02020603050405020304" pitchFamily="18" charset="0"/>
              </a:rPr>
              <a:t>Be consistent</a:t>
            </a:r>
          </a:p>
          <a:p>
            <a:r>
              <a:rPr lang="en-US" sz="2600" dirty="0">
                <a:solidFill>
                  <a:srgbClr val="FF0000"/>
                </a:solidFill>
                <a:latin typeface="Times New Roman" panose="02020603050405020304" pitchFamily="18" charset="0"/>
                <a:cs typeface="Times New Roman" panose="02020603050405020304" pitchFamily="18" charset="0"/>
              </a:rPr>
              <a:t>This is especially confusing if underline is then used as simple emphasis on words that are not links!</a:t>
            </a:r>
          </a:p>
        </p:txBody>
      </p:sp>
      <p:sp>
        <p:nvSpPr>
          <p:cNvPr id="4" name="Slide Number Placeholder 3"/>
          <p:cNvSpPr>
            <a:spLocks noGrp="1"/>
          </p:cNvSpPr>
          <p:nvPr>
            <p:ph type="sldNum" sz="quarter" idx="12"/>
          </p:nvPr>
        </p:nvSpPr>
        <p:spPr/>
        <p:txBody>
          <a:bodyPr/>
          <a:lstStyle/>
          <a:p>
            <a:pPr>
              <a:defRPr/>
            </a:pPr>
            <a:fld id="{784CB106-59EF-4E38-AE9E-B3544BD66F06}" type="slidenum">
              <a:rPr lang="en-GB" altLang="en-US" smtClean="0"/>
              <a:pPr>
                <a:defRPr/>
              </a:pPr>
              <a:t>27</a:t>
            </a:fld>
            <a:endParaRPr lang="en-GB" altLang="en-US"/>
          </a:p>
        </p:txBody>
      </p:sp>
      <p:sp>
        <p:nvSpPr>
          <p:cNvPr id="5" name="Footer Placeholder 4"/>
          <p:cNvSpPr>
            <a:spLocks noGrp="1"/>
          </p:cNvSpPr>
          <p:nvPr>
            <p:ph type="ftr" sz="quarter" idx="11"/>
          </p:nvPr>
        </p:nvSpPr>
        <p:spPr/>
        <p:txBody>
          <a:bodyPr/>
          <a:lstStyle/>
          <a:p>
            <a:pPr>
              <a:defRPr/>
            </a:pPr>
            <a:r>
              <a:rPr lang="en-GB"/>
              <a:t>slides based on Dix, Alan, et al. "Human-computer interaction."  (2000).</a:t>
            </a:r>
          </a:p>
        </p:txBody>
      </p:sp>
    </p:spTree>
    <p:extLst>
      <p:ext uri="{BB962C8B-B14F-4D97-AF65-F5344CB8AC3E}">
        <p14:creationId xmlns:p14="http://schemas.microsoft.com/office/powerpoint/2010/main" val="17930614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dirty="0">
                <a:latin typeface="Times New Roman" panose="02020603050405020304" pitchFamily="18" charset="0"/>
                <a:cs typeface="Times New Roman" panose="02020603050405020304" pitchFamily="18" charset="0"/>
              </a:rPr>
              <a:t>Navigation Design</a:t>
            </a:r>
            <a:r>
              <a:rPr lang="en-US" dirty="0">
                <a:latin typeface="Times New Roman" panose="02020603050405020304" pitchFamily="18" charset="0"/>
                <a:cs typeface="Times New Roman" panose="02020603050405020304" pitchFamily="18" charset="0"/>
              </a:rPr>
              <a:t>: Global structure – hierarchical organization</a:t>
            </a:r>
          </a:p>
        </p:txBody>
      </p:sp>
      <p:sp>
        <p:nvSpPr>
          <p:cNvPr id="3" name="Content Placeholder 2"/>
          <p:cNvSpPr>
            <a:spLocks noGrp="1"/>
          </p:cNvSpPr>
          <p:nvPr>
            <p:ph idx="1"/>
          </p:nvPr>
        </p:nvSpPr>
        <p:spPr>
          <a:xfrm>
            <a:off x="1096962" y="1846263"/>
            <a:ext cx="10759677" cy="4391049"/>
          </a:xfrm>
        </p:spPr>
        <p:txBody>
          <a:bodyPr/>
          <a:lstStyle/>
          <a:p>
            <a:r>
              <a:rPr lang="en-US" sz="2600" dirty="0">
                <a:latin typeface="Times New Roman" panose="02020603050405020304" pitchFamily="18" charset="0"/>
                <a:cs typeface="Times New Roman" panose="02020603050405020304" pitchFamily="18" charset="0"/>
              </a:rPr>
              <a:t>The overall structure of an application represents the way various screens, pages or device states link to one another.</a:t>
            </a:r>
          </a:p>
          <a:p>
            <a:endParaRPr lang="en-US" sz="2600" dirty="0">
              <a:latin typeface="Times New Roman" panose="02020603050405020304" pitchFamily="18" charset="0"/>
              <a:cs typeface="Times New Roman" panose="02020603050405020304" pitchFamily="18" charset="0"/>
            </a:endParaRPr>
          </a:p>
          <a:p>
            <a:r>
              <a:rPr lang="en-US" sz="2600" b="1" dirty="0">
                <a:latin typeface="Times New Roman" panose="02020603050405020304" pitchFamily="18" charset="0"/>
                <a:cs typeface="Times New Roman" panose="02020603050405020304" pitchFamily="18" charset="0"/>
              </a:rPr>
              <a:t>One way to organize a system is in some form of hierarchy.</a:t>
            </a:r>
          </a:p>
          <a:p>
            <a:r>
              <a:rPr lang="en-US" sz="2600" b="1"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This is typically organized along functional boundaries (that is, different kinds of things), but may be </a:t>
            </a:r>
            <a:r>
              <a:rPr lang="en-US" sz="2600" b="1" dirty="0">
                <a:latin typeface="Times New Roman" panose="02020603050405020304" pitchFamily="18" charset="0"/>
                <a:cs typeface="Times New Roman" panose="02020603050405020304" pitchFamily="18" charset="0"/>
              </a:rPr>
              <a:t>organized by roles or user type</a:t>
            </a: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The hierarchy links screens, pages or states in logical groupings.</a:t>
            </a:r>
          </a:p>
        </p:txBody>
      </p:sp>
      <p:sp>
        <p:nvSpPr>
          <p:cNvPr id="4" name="Slide Number Placeholder 3"/>
          <p:cNvSpPr>
            <a:spLocks noGrp="1"/>
          </p:cNvSpPr>
          <p:nvPr>
            <p:ph type="sldNum" sz="quarter" idx="12"/>
          </p:nvPr>
        </p:nvSpPr>
        <p:spPr/>
        <p:txBody>
          <a:bodyPr/>
          <a:lstStyle/>
          <a:p>
            <a:pPr>
              <a:defRPr/>
            </a:pPr>
            <a:fld id="{784CB106-59EF-4E38-AE9E-B3544BD66F06}" type="slidenum">
              <a:rPr lang="en-GB" altLang="en-US" smtClean="0"/>
              <a:pPr>
                <a:defRPr/>
              </a:pPr>
              <a:t>28</a:t>
            </a:fld>
            <a:endParaRPr lang="en-GB" altLang="en-US"/>
          </a:p>
        </p:txBody>
      </p:sp>
      <p:sp>
        <p:nvSpPr>
          <p:cNvPr id="5" name="Footer Placeholder 4"/>
          <p:cNvSpPr>
            <a:spLocks noGrp="1"/>
          </p:cNvSpPr>
          <p:nvPr>
            <p:ph type="ftr" sz="quarter" idx="11"/>
          </p:nvPr>
        </p:nvSpPr>
        <p:spPr/>
        <p:txBody>
          <a:bodyPr/>
          <a:lstStyle/>
          <a:p>
            <a:pPr>
              <a:defRPr/>
            </a:pPr>
            <a:r>
              <a:rPr lang="en-GB"/>
              <a:t>slides based on Dix, Alan, et al. "Human-computer interaction."  (2000).</a:t>
            </a:r>
          </a:p>
        </p:txBody>
      </p:sp>
    </p:spTree>
    <p:extLst>
      <p:ext uri="{BB962C8B-B14F-4D97-AF65-F5344CB8AC3E}">
        <p14:creationId xmlns:p14="http://schemas.microsoft.com/office/powerpoint/2010/main" val="3802059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a:xfrm>
            <a:off x="1096963" y="287339"/>
            <a:ext cx="10058400" cy="837405"/>
          </a:xfrm>
        </p:spPr>
        <p:txBody>
          <a:bodyPr/>
          <a:lstStyle/>
          <a:p>
            <a:pPr algn="ctr" eaLnBrk="1" fontAlgn="auto" hangingPunct="1">
              <a:spcAft>
                <a:spcPts val="0"/>
              </a:spcAft>
              <a:defRPr/>
            </a:pP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Screen Design and Layout</a:t>
            </a:r>
          </a:p>
        </p:txBody>
      </p:sp>
      <p:sp>
        <p:nvSpPr>
          <p:cNvPr id="3" name="Content Placeholder 2"/>
          <p:cNvSpPr>
            <a:spLocks noGrp="1"/>
          </p:cNvSpPr>
          <p:nvPr>
            <p:ph idx="1"/>
          </p:nvPr>
        </p:nvSpPr>
        <p:spPr>
          <a:xfrm>
            <a:off x="839416" y="980517"/>
            <a:ext cx="11090448" cy="4896965"/>
          </a:xfrm>
        </p:spPr>
        <p:txBody>
          <a:bodyPr rtlCol="0">
            <a:noAutofit/>
          </a:bodyPr>
          <a:lstStyle/>
          <a:p>
            <a:pPr marL="91440" indent="-91440" eaLnBrk="1" fontAlgn="auto" hangingPunct="1">
              <a:defRPr/>
            </a:pP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If things logically belong together, then we should normally physically group them together. This may involve multiple levels of structure.</a:t>
            </a:r>
          </a:p>
          <a:p>
            <a:pPr marL="0" indent="0" eaLnBrk="1" fontAlgn="auto" hangingPunct="1">
              <a:lnSpc>
                <a:spcPct val="150000"/>
              </a:lnSpc>
              <a:buFont typeface="Arial" panose="020B0604020202020204" pitchFamily="34" charset="0"/>
              <a:buNone/>
              <a:defRPr/>
            </a:pP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For example, when collecting information from customers during a purchase order, we can use multiple levels of structure as shown below.</a:t>
            </a:r>
          </a:p>
          <a:p>
            <a:pPr marL="342900" lvl="1" indent="0" eaLnBrk="1" fontAlgn="auto" hangingPunct="1">
              <a:lnSpc>
                <a:spcPct val="100000"/>
              </a:lnSpc>
              <a:buFont typeface="Arial" panose="020B0604020202020204" pitchFamily="34" charset="0"/>
              <a:buNone/>
              <a:defRPr/>
            </a:pP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Order Details:</a:t>
            </a:r>
          </a:p>
          <a:p>
            <a:pPr marL="685800" lvl="2" indent="0" eaLnBrk="1" fontAlgn="auto" hangingPunct="1">
              <a:lnSpc>
                <a:spcPct val="100000"/>
              </a:lnSpc>
              <a:buFont typeface="Arial" panose="020B0604020202020204" pitchFamily="34" charset="0"/>
              <a:buNone/>
              <a:defRPr/>
            </a:pP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      Administrative information</a:t>
            </a:r>
          </a:p>
          <a:p>
            <a:pPr marL="932688" lvl="4" indent="-182880" eaLnBrk="1" fontAlgn="auto" hangingPunct="1">
              <a:lnSpc>
                <a:spcPct val="100000"/>
              </a:lnSpc>
              <a:defRPr/>
            </a:pP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Billing details</a:t>
            </a:r>
          </a:p>
          <a:p>
            <a:pPr marL="932688" lvl="4" indent="-182880" eaLnBrk="1" fontAlgn="auto" hangingPunct="1">
              <a:lnSpc>
                <a:spcPct val="100000"/>
              </a:lnSpc>
              <a:defRPr/>
            </a:pP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Delivery details</a:t>
            </a:r>
          </a:p>
          <a:p>
            <a:pPr marL="342900" lvl="1" indent="0" eaLnBrk="1" fontAlgn="auto" hangingPunct="1">
              <a:lnSpc>
                <a:spcPct val="100000"/>
              </a:lnSpc>
              <a:buFont typeface="Arial" panose="020B0604020202020204" pitchFamily="34" charset="0"/>
              <a:buNone/>
              <a:defRPr/>
            </a:pP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          Order information</a:t>
            </a:r>
          </a:p>
          <a:p>
            <a:pPr marL="932688" lvl="4" indent="-182880" eaLnBrk="1" fontAlgn="auto" hangingPunct="1">
              <a:lnSpc>
                <a:spcPct val="100000"/>
              </a:lnSpc>
              <a:defRPr/>
            </a:pP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Order line 1</a:t>
            </a:r>
          </a:p>
          <a:p>
            <a:pPr marL="932688" lvl="4" indent="-182880" eaLnBrk="1" fontAlgn="auto" hangingPunct="1">
              <a:lnSpc>
                <a:spcPct val="100000"/>
              </a:lnSpc>
              <a:defRPr/>
            </a:pP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Order line 2</a:t>
            </a:r>
          </a:p>
        </p:txBody>
      </p:sp>
      <p:sp>
        <p:nvSpPr>
          <p:cNvPr id="44036"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A12D8998-2B16-4507-8001-FE192F8B2295}" type="slidenum">
              <a:rPr lang="en-GB" altLang="en-US">
                <a:solidFill>
                  <a:srgbClr val="FFC551"/>
                </a:solidFill>
                <a:latin typeface="Century Gothic" panose="020B0502020202020204" pitchFamily="34" charset="0"/>
                <a:cs typeface="Arial" panose="020B0604020202020204" pitchFamily="34" charset="0"/>
              </a:rPr>
              <a:pPr/>
              <a:t>29</a:t>
            </a:fld>
            <a:endParaRPr lang="en-GB" altLang="en-US">
              <a:solidFill>
                <a:srgbClr val="FFC551"/>
              </a:solidFill>
              <a:latin typeface="Century Gothic" panose="020B0502020202020204" pitchFamily="34" charset="0"/>
              <a:cs typeface="Arial" panose="020B0604020202020204" pitchFamily="34" charset="0"/>
            </a:endParaRPr>
          </a:p>
        </p:txBody>
      </p:sp>
      <p:sp>
        <p:nvSpPr>
          <p:cNvPr id="2" name="Footer Placeholder 1"/>
          <p:cNvSpPr>
            <a:spLocks noGrp="1"/>
          </p:cNvSpPr>
          <p:nvPr>
            <p:ph type="ftr" sz="quarter" idx="11"/>
          </p:nvPr>
        </p:nvSpPr>
        <p:spPr/>
        <p:txBody>
          <a:bodyPr/>
          <a:lstStyle/>
          <a:p>
            <a:pPr>
              <a:defRPr/>
            </a:pPr>
            <a:r>
              <a:rPr lang="en-GB"/>
              <a:t>slides based on Dix, Alan, et al. "Human-computer interaction."  (2000).</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p:txBody>
          <a:bodyPr/>
          <a:lstStyle/>
          <a:p>
            <a:pPr eaLnBrk="1" fontAlgn="auto" hangingPunct="1">
              <a:spcAft>
                <a:spcPts val="0"/>
              </a:spcAft>
              <a:defRPr/>
            </a:pPr>
            <a:r>
              <a:rPr lang="en-US" altLang="en-US" i="1" dirty="0">
                <a:solidFill>
                  <a:schemeClr val="tx1">
                    <a:lumMod val="75000"/>
                    <a:lumOff val="25000"/>
                  </a:schemeClr>
                </a:solidFill>
                <a:latin typeface="Times New Roman" panose="02020603050405020304" pitchFamily="18" charset="0"/>
                <a:cs typeface="Times New Roman" panose="02020603050405020304" pitchFamily="18" charset="0"/>
              </a:rPr>
              <a:t>Order of groups and items</a:t>
            </a:r>
            <a:br>
              <a:rPr lang="en-US" altLang="en-US" i="1" dirty="0">
                <a:solidFill>
                  <a:schemeClr val="tx1">
                    <a:lumMod val="75000"/>
                    <a:lumOff val="25000"/>
                  </a:schemeClr>
                </a:solidFill>
                <a:latin typeface="Times New Roman" panose="02020603050405020304" pitchFamily="18" charset="0"/>
                <a:cs typeface="Times New Roman" panose="02020603050405020304" pitchFamily="18" charset="0"/>
              </a:rPr>
            </a:br>
            <a:endParaRPr lang="en-US" altLang="en-US"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51203" name="Content Placeholder 2"/>
          <p:cNvSpPr>
            <a:spLocks noGrp="1"/>
          </p:cNvSpPr>
          <p:nvPr>
            <p:ph idx="1"/>
          </p:nvPr>
        </p:nvSpPr>
        <p:spPr>
          <a:xfrm>
            <a:off x="1096962" y="1846263"/>
            <a:ext cx="10975701" cy="4535065"/>
          </a:xfrm>
        </p:spPr>
        <p:txBody>
          <a:bodyPr rtlCol="0">
            <a:noAutofit/>
          </a:bodyPr>
          <a:lstStyle/>
          <a:p>
            <a:pPr marL="91440"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If we look at multiple levels structure on the previous slide again, we can see that the screen seems to naturally suggest reading or filling in the billing details first, followed by the delivery details, followed by the individual order items.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Is this the right order?</a:t>
            </a: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eaLnBrk="1" fontAlgn="auto" hangingPunct="1">
              <a:defRPr/>
            </a:pPr>
            <a:r>
              <a:rPr lang="en-US" altLang="en-US" sz="2600" dirty="0">
                <a:solidFill>
                  <a:srgbClr val="FF0000"/>
                </a:solidFill>
                <a:latin typeface="Times New Roman" panose="02020603050405020304" pitchFamily="18" charset="0"/>
                <a:cs typeface="Times New Roman" panose="02020603050405020304" pitchFamily="18" charset="0"/>
              </a:rPr>
              <a:t>In general we need to think: what is the natural order for the user?</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a:t>
            </a:r>
          </a:p>
          <a:p>
            <a:pPr marL="91440" indent="-91440" eaLnBrk="1" fontAlgn="auto" hangingPunct="1">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This should normally match the order form provided on a screen.</a:t>
            </a:r>
          </a:p>
          <a:p>
            <a:r>
              <a:rPr lang="en-US" sz="2600" b="1" dirty="0">
                <a:latin typeface="Times New Roman" panose="02020603050405020304" pitchFamily="18" charset="0"/>
                <a:cs typeface="Times New Roman" panose="02020603050405020304" pitchFamily="18" charset="0"/>
              </a:rPr>
              <a:t>For data entry forms or dialog boxes we should also set up the order in which the tab key moves between fields.</a:t>
            </a:r>
            <a:endPar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eaLnBrk="1" fontAlgn="auto" hangingPunct="1">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4506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6DE158AF-AE62-4E28-93E9-1F0BB18D80B3}" type="slidenum">
              <a:rPr lang="en-GB" altLang="en-US">
                <a:solidFill>
                  <a:srgbClr val="FFC551"/>
                </a:solidFill>
                <a:latin typeface="Century Gothic" panose="020B0502020202020204" pitchFamily="34" charset="0"/>
                <a:cs typeface="Arial" panose="020B0604020202020204" pitchFamily="34" charset="0"/>
              </a:rPr>
              <a:pPr/>
              <a:t>30</a:t>
            </a:fld>
            <a:endParaRPr lang="en-GB" altLang="en-US">
              <a:solidFill>
                <a:srgbClr val="FFC551"/>
              </a:solidFill>
              <a:latin typeface="Century Gothic" panose="020B0502020202020204" pitchFamily="34" charset="0"/>
              <a:cs typeface="Arial" panose="020B0604020202020204" pitchFamily="34" charset="0"/>
            </a:endParaRPr>
          </a:p>
        </p:txBody>
      </p:sp>
      <p:sp>
        <p:nvSpPr>
          <p:cNvPr id="2" name="Footer Placeholder 1"/>
          <p:cNvSpPr>
            <a:spLocks noGrp="1"/>
          </p:cNvSpPr>
          <p:nvPr>
            <p:ph type="ftr" sz="quarter" idx="11"/>
          </p:nvPr>
        </p:nvSpPr>
        <p:spPr/>
        <p:txBody>
          <a:bodyPr/>
          <a:lstStyle/>
          <a:p>
            <a:pPr>
              <a:defRPr/>
            </a:pPr>
            <a:r>
              <a:rPr lang="en-GB"/>
              <a:t>slides based on Dix, Alan, et al. "Human-computer interaction."  (2000).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p:txBody>
          <a:bodyPr/>
          <a:lstStyle/>
          <a:p>
            <a:pPr algn="ctr" eaLnBrk="1" fontAlgn="auto" hangingPunct="1">
              <a:spcAft>
                <a:spcPts val="0"/>
              </a:spcAft>
              <a:defRPr/>
            </a:pPr>
            <a:r>
              <a:rPr lang="en-US" altLang="en-US" dirty="0">
                <a:solidFill>
                  <a:schemeClr val="tx1">
                    <a:lumMod val="75000"/>
                    <a:lumOff val="25000"/>
                  </a:schemeClr>
                </a:solidFill>
                <a:latin typeface="Futura Md BT"/>
              </a:rPr>
              <a:t>Decoration</a:t>
            </a:r>
          </a:p>
        </p:txBody>
      </p:sp>
      <p:sp>
        <p:nvSpPr>
          <p:cNvPr id="2" name="Content Placeholder 1"/>
          <p:cNvSpPr>
            <a:spLocks noGrp="1"/>
          </p:cNvSpPr>
          <p:nvPr>
            <p:ph sz="half" idx="1"/>
          </p:nvPr>
        </p:nvSpPr>
        <p:spPr>
          <a:xfrm>
            <a:off x="191344" y="1845734"/>
            <a:ext cx="6120680" cy="4535594"/>
          </a:xfrm>
        </p:spPr>
        <p:txBody>
          <a:bodyPr/>
          <a:lstStyle/>
          <a:p>
            <a:r>
              <a:rPr lang="en-US" sz="2600" dirty="0">
                <a:latin typeface="Times New Roman" panose="02020603050405020304" pitchFamily="18" charset="0"/>
                <a:cs typeface="Times New Roman" panose="02020603050405020304" pitchFamily="18" charset="0"/>
              </a:rPr>
              <a:t>looking at Figure 3, we can see how the design uses </a:t>
            </a:r>
            <a:r>
              <a:rPr lang="en-US" sz="2600" b="1" dirty="0">
                <a:latin typeface="Times New Roman" panose="02020603050405020304" pitchFamily="18" charset="0"/>
                <a:cs typeface="Times New Roman" panose="02020603050405020304" pitchFamily="18" charset="0"/>
              </a:rPr>
              <a:t>boxes</a:t>
            </a:r>
            <a:r>
              <a:rPr lang="en-US" sz="2600" dirty="0">
                <a:latin typeface="Times New Roman" panose="02020603050405020304" pitchFamily="18" charset="0"/>
                <a:cs typeface="Times New Roman" panose="02020603050405020304" pitchFamily="18" charset="0"/>
              </a:rPr>
              <a:t> and a </a:t>
            </a:r>
            <a:r>
              <a:rPr lang="en-US" sz="2600" b="1" dirty="0">
                <a:latin typeface="Times New Roman" panose="02020603050405020304" pitchFamily="18" charset="0"/>
                <a:cs typeface="Times New Roman" panose="02020603050405020304" pitchFamily="18" charset="0"/>
              </a:rPr>
              <a:t>separating line </a:t>
            </a:r>
            <a:r>
              <a:rPr lang="en-US" sz="2600" dirty="0">
                <a:latin typeface="Times New Roman" panose="02020603050405020304" pitchFamily="18" charset="0"/>
                <a:cs typeface="Times New Roman" panose="02020603050405020304" pitchFamily="18" charset="0"/>
              </a:rPr>
              <a:t>to make the grouping clear.</a:t>
            </a: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 Other decorative features like </a:t>
            </a:r>
            <a:r>
              <a:rPr lang="en-US" sz="2600" b="1" dirty="0">
                <a:latin typeface="Times New Roman" panose="02020603050405020304" pitchFamily="18" charset="0"/>
                <a:cs typeface="Times New Roman" panose="02020603050405020304" pitchFamily="18" charset="0"/>
              </a:rPr>
              <a:t>font style, and text or background colors</a:t>
            </a:r>
            <a:r>
              <a:rPr lang="en-US" sz="2600" dirty="0">
                <a:latin typeface="Times New Roman" panose="02020603050405020304" pitchFamily="18" charset="0"/>
                <a:cs typeface="Times New Roman" panose="02020603050405020304" pitchFamily="18" charset="0"/>
              </a:rPr>
              <a:t> can be used to emphasize groupings.</a:t>
            </a:r>
          </a:p>
        </p:txBody>
      </p:sp>
      <p:pic>
        <p:nvPicPr>
          <p:cNvPr id="4" name="Content Placeholder 3"/>
          <p:cNvPicPr>
            <a:picLocks noGrp="1" noChangeAspect="1"/>
          </p:cNvPicPr>
          <p:nvPr>
            <p:ph sz="half" idx="2"/>
          </p:nvPr>
        </p:nvPicPr>
        <p:blipFill rotWithShape="1">
          <a:blip r:embed="rId2"/>
          <a:srcRect l="35445" t="21587" r="25176" b="47283"/>
          <a:stretch/>
        </p:blipFill>
        <p:spPr>
          <a:xfrm>
            <a:off x="6359352" y="1618819"/>
            <a:ext cx="5832648" cy="3435007"/>
          </a:xfrm>
          <a:prstGeom prst="rect">
            <a:avLst/>
          </a:prstGeom>
        </p:spPr>
      </p:pic>
      <p:sp>
        <p:nvSpPr>
          <p:cNvPr id="4506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6DE158AF-AE62-4E28-93E9-1F0BB18D80B3}" type="slidenum">
              <a:rPr lang="en-GB" altLang="en-US">
                <a:solidFill>
                  <a:srgbClr val="FFC551"/>
                </a:solidFill>
                <a:latin typeface="Century Gothic" panose="020B0502020202020204" pitchFamily="34" charset="0"/>
                <a:cs typeface="Arial" panose="020B0604020202020204" pitchFamily="34" charset="0"/>
              </a:rPr>
              <a:pPr/>
              <a:t>31</a:t>
            </a:fld>
            <a:endParaRPr lang="en-GB" altLang="en-US">
              <a:solidFill>
                <a:srgbClr val="FFC551"/>
              </a:solidFill>
              <a:latin typeface="Century Gothic" panose="020B0502020202020204" pitchFamily="34" charset="0"/>
              <a:cs typeface="Arial" panose="020B0604020202020204" pitchFamily="34" charset="0"/>
            </a:endParaRPr>
          </a:p>
        </p:txBody>
      </p:sp>
      <p:sp>
        <p:nvSpPr>
          <p:cNvPr id="5" name="TextBox 4"/>
          <p:cNvSpPr txBox="1"/>
          <p:nvPr/>
        </p:nvSpPr>
        <p:spPr>
          <a:xfrm>
            <a:off x="6600056" y="4869160"/>
            <a:ext cx="5112568" cy="892552"/>
          </a:xfrm>
          <a:prstGeom prst="rect">
            <a:avLst/>
          </a:prstGeom>
          <a:noFill/>
        </p:spPr>
        <p:txBody>
          <a:bodyPr wrap="square" rtlCol="0">
            <a:spAutoFit/>
          </a:bodyPr>
          <a:lstStyle/>
          <a:p>
            <a:r>
              <a:rPr lang="en-US" sz="2600" dirty="0">
                <a:latin typeface="Times New Roman" panose="02020603050405020304" pitchFamily="18" charset="0"/>
                <a:cs typeface="Times New Roman" panose="02020603050405020304" pitchFamily="18" charset="0"/>
              </a:rPr>
              <a:t>Figure 3: Grouping related items in an order screen</a:t>
            </a:r>
          </a:p>
        </p:txBody>
      </p:sp>
      <p:sp>
        <p:nvSpPr>
          <p:cNvPr id="3" name="Footer Placeholder 2"/>
          <p:cNvSpPr>
            <a:spLocks noGrp="1"/>
          </p:cNvSpPr>
          <p:nvPr>
            <p:ph type="ftr" sz="quarter" idx="11"/>
          </p:nvPr>
        </p:nvSpPr>
        <p:spPr/>
        <p:txBody>
          <a:bodyPr/>
          <a:lstStyle/>
          <a:p>
            <a:pPr>
              <a:defRPr/>
            </a:pPr>
            <a:r>
              <a:rPr lang="en-GB"/>
              <a:t>slides based on Dix, Alan, et al. "Human-computer interaction."  (2000).</a:t>
            </a:r>
          </a:p>
        </p:txBody>
      </p:sp>
    </p:spTree>
    <p:extLst>
      <p:ext uri="{BB962C8B-B14F-4D97-AF65-F5344CB8AC3E}">
        <p14:creationId xmlns:p14="http://schemas.microsoft.com/office/powerpoint/2010/main" val="5094734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p:nvPr>
        </p:nvSpPr>
        <p:spPr>
          <a:xfrm>
            <a:off x="1096963" y="287338"/>
            <a:ext cx="10058400" cy="1449387"/>
          </a:xfrm>
        </p:spPr>
        <p:txBody>
          <a:bodyPr/>
          <a:lstStyle/>
          <a:p>
            <a:pPr algn="ctr" eaLnBrk="1" fontAlgn="auto" hangingPunct="1">
              <a:spcAft>
                <a:spcPts val="0"/>
              </a:spcAft>
              <a:defRPr/>
            </a:pP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Decoration</a:t>
            </a:r>
          </a:p>
        </p:txBody>
      </p:sp>
      <p:sp>
        <p:nvSpPr>
          <p:cNvPr id="46083" name="Content Placeholder 2"/>
          <p:cNvSpPr>
            <a:spLocks noGrp="1" noChangeArrowheads="1"/>
          </p:cNvSpPr>
          <p:nvPr>
            <p:ph sz="half" idx="1"/>
          </p:nvPr>
        </p:nvSpPr>
        <p:spPr>
          <a:xfrm>
            <a:off x="119063" y="1846263"/>
            <a:ext cx="4938712" cy="4391025"/>
          </a:xfrm>
        </p:spPr>
        <p:txBody>
          <a:bodyPr/>
          <a:lstStyle/>
          <a:p>
            <a:pPr eaLnBrk="1" hangingPunct="1"/>
            <a:r>
              <a:rPr lang="en-US" altLang="en-US" sz="2600" b="1" dirty="0">
                <a:latin typeface="Times New Roman" panose="02020603050405020304" pitchFamily="18" charset="0"/>
                <a:cs typeface="Times New Roman" panose="02020603050405020304" pitchFamily="18" charset="0"/>
              </a:rPr>
              <a:t>design boxes and separating lines </a:t>
            </a:r>
            <a:r>
              <a:rPr lang="en-US" altLang="en-US" sz="2600" dirty="0">
                <a:latin typeface="Times New Roman" panose="02020603050405020304" pitchFamily="18" charset="0"/>
                <a:cs typeface="Times New Roman" panose="02020603050405020304" pitchFamily="18" charset="0"/>
              </a:rPr>
              <a:t>can be used to make the grouping clear. </a:t>
            </a:r>
          </a:p>
          <a:p>
            <a:pPr eaLnBrk="1" hangingPunct="1"/>
            <a:r>
              <a:rPr lang="en-US" altLang="en-US" sz="2600" dirty="0">
                <a:latin typeface="Times New Roman" panose="02020603050405020304" pitchFamily="18" charset="0"/>
                <a:cs typeface="Times New Roman" panose="02020603050405020304" pitchFamily="18" charset="0"/>
              </a:rPr>
              <a:t>Other decorative features like font style, and text or background colors can be used to </a:t>
            </a:r>
            <a:r>
              <a:rPr lang="en-US" altLang="en-US" sz="2600" b="1" dirty="0">
                <a:latin typeface="Times New Roman" panose="02020603050405020304" pitchFamily="18" charset="0"/>
                <a:cs typeface="Times New Roman" panose="02020603050405020304" pitchFamily="18" charset="0"/>
              </a:rPr>
              <a:t>emphasize</a:t>
            </a:r>
            <a:r>
              <a:rPr lang="en-US" altLang="en-US" sz="2600" dirty="0">
                <a:latin typeface="Times New Roman" panose="02020603050405020304" pitchFamily="18" charset="0"/>
                <a:cs typeface="Times New Roman" panose="02020603050405020304" pitchFamily="18" charset="0"/>
              </a:rPr>
              <a:t> groupings. </a:t>
            </a:r>
          </a:p>
          <a:p>
            <a:pPr eaLnBrk="1" hangingPunct="1"/>
            <a:r>
              <a:rPr lang="en-US" altLang="en-US" sz="2600" dirty="0">
                <a:solidFill>
                  <a:srgbClr val="00B050"/>
                </a:solidFill>
                <a:latin typeface="Times New Roman" panose="02020603050405020304" pitchFamily="18" charset="0"/>
                <a:cs typeface="Times New Roman" panose="02020603050405020304" pitchFamily="18" charset="0"/>
              </a:rPr>
              <a:t>For example, the form shown below uses multiple levels structure  and design boxes to group items under renter, location and automobile</a:t>
            </a:r>
          </a:p>
          <a:p>
            <a:pPr eaLnBrk="1" hangingPunct="1"/>
            <a:endParaRPr lang="en-US" altLang="en-US" sz="2600" dirty="0">
              <a:latin typeface="Times New Roman" panose="02020603050405020304" pitchFamily="18" charset="0"/>
              <a:cs typeface="Times New Roman" panose="02020603050405020304" pitchFamily="18" charset="0"/>
            </a:endParaRPr>
          </a:p>
          <a:p>
            <a:pPr eaLnBrk="1" hangingPunct="1"/>
            <a:endParaRPr lang="en-US" altLang="en-US" sz="2600" dirty="0">
              <a:latin typeface="Times New Roman" panose="02020603050405020304" pitchFamily="18" charset="0"/>
              <a:cs typeface="Times New Roman" panose="02020603050405020304" pitchFamily="18" charset="0"/>
            </a:endParaRPr>
          </a:p>
        </p:txBody>
      </p:sp>
      <p:sp>
        <p:nvSpPr>
          <p:cNvPr id="46084"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B594BFDD-57E5-484F-AEDD-F089D4BE0F6C}" type="slidenum">
              <a:rPr lang="en-GB" altLang="en-US">
                <a:solidFill>
                  <a:srgbClr val="FFC551"/>
                </a:solidFill>
                <a:latin typeface="Century Gothic" panose="020B0502020202020204" pitchFamily="34" charset="0"/>
                <a:cs typeface="Arial" panose="020B0604020202020204" pitchFamily="34" charset="0"/>
              </a:rPr>
              <a:pPr/>
              <a:t>32</a:t>
            </a:fld>
            <a:endParaRPr lang="en-GB" altLang="en-US">
              <a:solidFill>
                <a:srgbClr val="FFC551"/>
              </a:solidFill>
              <a:latin typeface="Century Gothic" panose="020B0502020202020204" pitchFamily="34" charset="0"/>
              <a:cs typeface="Arial" panose="020B0604020202020204" pitchFamily="34" charset="0"/>
            </a:endParaRPr>
          </a:p>
        </p:txBody>
      </p:sp>
      <p:pic>
        <p:nvPicPr>
          <p:cNvPr id="46085" name="Picture 4"/>
          <p:cNvPicPr>
            <a:picLocks noChangeAspect="1"/>
          </p:cNvPicPr>
          <p:nvPr/>
        </p:nvPicPr>
        <p:blipFill>
          <a:blip r:embed="rId2">
            <a:extLst>
              <a:ext uri="{28A0092B-C50C-407E-A947-70E740481C1C}">
                <a14:useLocalDpi xmlns:a14="http://schemas.microsoft.com/office/drawing/2010/main" val="0"/>
              </a:ext>
            </a:extLst>
          </a:blip>
          <a:srcRect l="11168" t="54735" r="4042" b="5893"/>
          <a:stretch>
            <a:fillRect/>
          </a:stretch>
        </p:blipFill>
        <p:spPr bwMode="auto">
          <a:xfrm>
            <a:off x="5232400" y="1989138"/>
            <a:ext cx="6840538" cy="447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Footer Placeholder 1"/>
          <p:cNvSpPr>
            <a:spLocks noGrp="1"/>
          </p:cNvSpPr>
          <p:nvPr>
            <p:ph type="ftr" sz="quarter" idx="11"/>
          </p:nvPr>
        </p:nvSpPr>
        <p:spPr/>
        <p:txBody>
          <a:bodyPr/>
          <a:lstStyle/>
          <a:p>
            <a:pPr>
              <a:defRPr/>
            </a:pPr>
            <a:r>
              <a:rPr lang="en-GB"/>
              <a:t>slides based on Dix, Alan, et al. "Human-computer interaction."  (2000).</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a:xfrm>
            <a:off x="1096963" y="287338"/>
            <a:ext cx="10058400" cy="1449387"/>
          </a:xfrm>
        </p:spPr>
        <p:txBody>
          <a:bodyPr/>
          <a:lstStyle/>
          <a:p>
            <a:pPr algn="ctr" eaLnBrk="1" fontAlgn="auto" hangingPunct="1">
              <a:spcAft>
                <a:spcPts val="0"/>
              </a:spcAft>
              <a:defRPr/>
            </a:pPr>
            <a:r>
              <a:rPr lang="en-US" altLang="en-US" i="1" dirty="0">
                <a:solidFill>
                  <a:schemeClr val="tx1">
                    <a:lumMod val="75000"/>
                    <a:lumOff val="25000"/>
                  </a:schemeClr>
                </a:solidFill>
                <a:latin typeface="Times New Roman" panose="02020603050405020304" pitchFamily="18" charset="0"/>
                <a:cs typeface="Times New Roman" panose="02020603050405020304" pitchFamily="18" charset="0"/>
              </a:rPr>
              <a:t>Alignment</a:t>
            </a:r>
            <a:endParaRPr lang="en-US" altLang="en-US"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47107" name="Content Placeholder 2"/>
          <p:cNvSpPr>
            <a:spLocks noGrp="1" noChangeArrowheads="1"/>
          </p:cNvSpPr>
          <p:nvPr>
            <p:ph sz="half" idx="1"/>
          </p:nvPr>
        </p:nvSpPr>
        <p:spPr>
          <a:xfrm>
            <a:off x="533400" y="1825625"/>
            <a:ext cx="5181600" cy="4351338"/>
          </a:xfrm>
        </p:spPr>
        <p:txBody>
          <a:bodyPr/>
          <a:lstStyle/>
          <a:p>
            <a:pPr eaLnBrk="1" hangingPunct="1"/>
            <a:endParaRPr lang="en-US" altLang="en-US" sz="2600" i="1" dirty="0">
              <a:latin typeface="Times New Roman" panose="02020603050405020304" pitchFamily="18" charset="0"/>
              <a:cs typeface="Times New Roman" panose="02020603050405020304" pitchFamily="18" charset="0"/>
            </a:endParaRPr>
          </a:p>
          <a:p>
            <a:pPr eaLnBrk="1" hangingPunct="1"/>
            <a:r>
              <a:rPr lang="en-US" altLang="en-US" sz="2600" dirty="0">
                <a:latin typeface="Times New Roman" panose="02020603050405020304" pitchFamily="18" charset="0"/>
                <a:cs typeface="Times New Roman" panose="02020603050405020304" pitchFamily="18" charset="0"/>
              </a:rPr>
              <a:t>Alignment of lists is also very important. For users who read text from left to right, lists of </a:t>
            </a:r>
            <a:r>
              <a:rPr lang="en-US" altLang="en-US" sz="2600" b="1" dirty="0">
                <a:latin typeface="Times New Roman" panose="02020603050405020304" pitchFamily="18" charset="0"/>
                <a:cs typeface="Times New Roman" panose="02020603050405020304" pitchFamily="18" charset="0"/>
              </a:rPr>
              <a:t>text items should normally be aligned to the left. </a:t>
            </a:r>
          </a:p>
          <a:p>
            <a:pPr eaLnBrk="1" hangingPunct="1"/>
            <a:endParaRPr lang="en-US" altLang="en-US" sz="2600" dirty="0">
              <a:latin typeface="Times New Roman" panose="02020603050405020304" pitchFamily="18" charset="0"/>
              <a:cs typeface="Times New Roman" panose="02020603050405020304" pitchFamily="18" charset="0"/>
            </a:endParaRPr>
          </a:p>
          <a:p>
            <a:pPr eaLnBrk="1" hangingPunct="1"/>
            <a:r>
              <a:rPr lang="en-US" altLang="en-US" sz="2600" b="1" dirty="0">
                <a:latin typeface="Times New Roman" panose="02020603050405020304" pitchFamily="18" charset="0"/>
                <a:cs typeface="Times New Roman" panose="02020603050405020304" pitchFamily="18" charset="0"/>
              </a:rPr>
              <a:t>Numbers</a:t>
            </a:r>
            <a:r>
              <a:rPr lang="en-US" altLang="en-US" sz="2600" dirty="0">
                <a:latin typeface="Times New Roman" panose="02020603050405020304" pitchFamily="18" charset="0"/>
                <a:cs typeface="Times New Roman" panose="02020603050405020304" pitchFamily="18" charset="0"/>
              </a:rPr>
              <a:t>, however, should normally be aligned to the </a:t>
            </a:r>
            <a:r>
              <a:rPr lang="en-US" altLang="en-US" sz="2600" b="1" dirty="0">
                <a:latin typeface="Times New Roman" panose="02020603050405020304" pitchFamily="18" charset="0"/>
                <a:cs typeface="Times New Roman" panose="02020603050405020304" pitchFamily="18" charset="0"/>
              </a:rPr>
              <a:t>right</a:t>
            </a:r>
            <a:r>
              <a:rPr lang="en-US" altLang="en-US" sz="2600" dirty="0">
                <a:latin typeface="Times New Roman" panose="02020603050405020304" pitchFamily="18" charset="0"/>
                <a:cs typeface="Times New Roman" panose="02020603050405020304" pitchFamily="18" charset="0"/>
              </a:rPr>
              <a:t> (for integers) or at the decimal point.</a:t>
            </a:r>
          </a:p>
        </p:txBody>
      </p:sp>
      <p:pic>
        <p:nvPicPr>
          <p:cNvPr id="47108" name="Content Placeholder 5"/>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l="16484" t="29370" r="33926" b="29124"/>
          <a:stretch>
            <a:fillRect/>
          </a:stretch>
        </p:blipFill>
        <p:spPr>
          <a:xfrm>
            <a:off x="6024563" y="1833563"/>
            <a:ext cx="5832475" cy="4043362"/>
          </a:xfrm>
        </p:spPr>
      </p:pic>
      <p:sp>
        <p:nvSpPr>
          <p:cNvPr id="47109"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1191D381-30F7-480C-9FDD-131615F47E22}" type="slidenum">
              <a:rPr lang="en-GB" altLang="en-US">
                <a:solidFill>
                  <a:srgbClr val="FFC551"/>
                </a:solidFill>
                <a:latin typeface="Century Gothic" panose="020B0502020202020204" pitchFamily="34" charset="0"/>
                <a:cs typeface="Arial" panose="020B0604020202020204" pitchFamily="34" charset="0"/>
              </a:rPr>
              <a:pPr/>
              <a:t>33</a:t>
            </a:fld>
            <a:endParaRPr lang="en-GB" altLang="en-US">
              <a:solidFill>
                <a:srgbClr val="FFC551"/>
              </a:solidFill>
              <a:latin typeface="Century Gothic" panose="020B0502020202020204" pitchFamily="34" charset="0"/>
              <a:cs typeface="Arial" panose="020B0604020202020204" pitchFamily="34" charset="0"/>
            </a:endParaRPr>
          </a:p>
        </p:txBody>
      </p:sp>
      <p:sp>
        <p:nvSpPr>
          <p:cNvPr id="2" name="Footer Placeholder 1"/>
          <p:cNvSpPr>
            <a:spLocks noGrp="1"/>
          </p:cNvSpPr>
          <p:nvPr>
            <p:ph type="ftr" sz="quarter" idx="11"/>
          </p:nvPr>
        </p:nvSpPr>
        <p:spPr/>
        <p:txBody>
          <a:bodyPr/>
          <a:lstStyle/>
          <a:p>
            <a:pPr>
              <a:defRPr/>
            </a:pPr>
            <a:r>
              <a:rPr lang="en-GB"/>
              <a:t>slides based on Dix, Alan, et al. "Human-computer interaction."  (2000).</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5"/>
          <p:cNvSpPr>
            <a:spLocks noGrp="1"/>
          </p:cNvSpPr>
          <p:nvPr>
            <p:ph type="title"/>
          </p:nvPr>
        </p:nvSpPr>
        <p:spPr>
          <a:xfrm>
            <a:off x="1096963" y="287338"/>
            <a:ext cx="10058400" cy="1449387"/>
          </a:xfrm>
        </p:spPr>
        <p:txBody>
          <a:bodyPr/>
          <a:lstStyle/>
          <a:p>
            <a:pPr algn="ctr" eaLnBrk="1" fontAlgn="auto" hangingPunct="1">
              <a:spcAft>
                <a:spcPts val="0"/>
              </a:spcAft>
              <a:defRPr/>
            </a:pP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Dealing with multiple columns</a:t>
            </a:r>
          </a:p>
        </p:txBody>
      </p:sp>
      <p:sp>
        <p:nvSpPr>
          <p:cNvPr id="48131" name="Content Placeholder 6"/>
          <p:cNvSpPr>
            <a:spLocks noGrp="1" noChangeArrowheads="1"/>
          </p:cNvSpPr>
          <p:nvPr>
            <p:ph sz="half" idx="1"/>
          </p:nvPr>
        </p:nvSpPr>
        <p:spPr>
          <a:xfrm>
            <a:off x="479425" y="1846263"/>
            <a:ext cx="5556250" cy="4022725"/>
          </a:xfrm>
        </p:spPr>
        <p:txBody>
          <a:bodyPr/>
          <a:lstStyle/>
          <a:p>
            <a:pPr eaLnBrk="1" hangingPunct="1"/>
            <a:r>
              <a:rPr lang="en-US" altLang="en-US" sz="2600" dirty="0">
                <a:latin typeface="Times New Roman" panose="02020603050405020304" pitchFamily="18" charset="0"/>
                <a:cs typeface="Times New Roman" panose="02020603050405020304" pitchFamily="18" charset="0"/>
              </a:rPr>
              <a:t>Multiple column lists require more care.</a:t>
            </a:r>
          </a:p>
          <a:p>
            <a:pPr eaLnBrk="1" hangingPunct="1"/>
            <a:endParaRPr lang="en-US" altLang="en-US" sz="2600" dirty="0">
              <a:latin typeface="Times New Roman" panose="02020603050405020304" pitchFamily="18" charset="0"/>
              <a:cs typeface="Times New Roman" panose="02020603050405020304" pitchFamily="18" charset="0"/>
            </a:endParaRPr>
          </a:p>
          <a:p>
            <a:pPr eaLnBrk="1" hangingPunct="1"/>
            <a:r>
              <a:rPr lang="en-US" altLang="en-US" sz="2600" dirty="0">
                <a:latin typeface="Times New Roman" panose="02020603050405020304" pitchFamily="18" charset="0"/>
                <a:cs typeface="Times New Roman" panose="02020603050405020304" pitchFamily="18" charset="0"/>
              </a:rPr>
              <a:t> </a:t>
            </a:r>
            <a:r>
              <a:rPr lang="en-US" altLang="en-US" sz="2600" dirty="0">
                <a:solidFill>
                  <a:srgbClr val="00B050"/>
                </a:solidFill>
                <a:latin typeface="Times New Roman" panose="02020603050405020304" pitchFamily="18" charset="0"/>
                <a:cs typeface="Times New Roman" panose="02020603050405020304" pitchFamily="18" charset="0"/>
              </a:rPr>
              <a:t>Text columns have to be wide enough for the largest item</a:t>
            </a:r>
            <a:r>
              <a:rPr lang="en-US" altLang="en-US" sz="2600" dirty="0">
                <a:latin typeface="Times New Roman" panose="02020603050405020304" pitchFamily="18" charset="0"/>
                <a:cs typeface="Times New Roman" panose="02020603050405020304" pitchFamily="18" charset="0"/>
              </a:rPr>
              <a:t>, which means you can get </a:t>
            </a:r>
            <a:r>
              <a:rPr lang="en-US" altLang="en-US" sz="2600" dirty="0">
                <a:solidFill>
                  <a:srgbClr val="FF0000"/>
                </a:solidFill>
                <a:latin typeface="Times New Roman" panose="02020603050405020304" pitchFamily="18" charset="0"/>
                <a:cs typeface="Times New Roman" panose="02020603050405020304" pitchFamily="18" charset="0"/>
              </a:rPr>
              <a:t>large gaps between </a:t>
            </a:r>
            <a:r>
              <a:rPr lang="en-US" altLang="en-US" sz="2600" dirty="0">
                <a:latin typeface="Times New Roman" panose="02020603050405020304" pitchFamily="18" charset="0"/>
                <a:cs typeface="Times New Roman" panose="02020603050405020304" pitchFamily="18" charset="0"/>
              </a:rPr>
              <a:t>columns. </a:t>
            </a:r>
          </a:p>
          <a:p>
            <a:pPr eaLnBrk="1" hangingPunct="1"/>
            <a:endParaRPr lang="en-US" altLang="en-US" sz="2600" dirty="0">
              <a:latin typeface="Times New Roman" panose="02020603050405020304" pitchFamily="18" charset="0"/>
              <a:cs typeface="Times New Roman" panose="02020603050405020304" pitchFamily="18" charset="0"/>
            </a:endParaRPr>
          </a:p>
          <a:p>
            <a:pPr eaLnBrk="1" hangingPunct="1"/>
            <a:r>
              <a:rPr lang="en-US" altLang="en-US" sz="2600" dirty="0">
                <a:latin typeface="Times New Roman" panose="02020603050405020304" pitchFamily="18" charset="0"/>
                <a:cs typeface="Times New Roman" panose="02020603050405020304" pitchFamily="18" charset="0"/>
              </a:rPr>
              <a:t>Figure 5 shows an example of this (</a:t>
            </a:r>
            <a:r>
              <a:rPr lang="en-US" altLang="en-US" sz="2600" dirty="0" err="1">
                <a:latin typeface="Times New Roman" panose="02020603050405020304" pitchFamily="18" charset="0"/>
                <a:cs typeface="Times New Roman" panose="02020603050405020304" pitchFamily="18" charset="0"/>
              </a:rPr>
              <a:t>i</a:t>
            </a:r>
            <a:r>
              <a:rPr lang="en-US" altLang="en-US" sz="2600" dirty="0">
                <a:latin typeface="Times New Roman" panose="02020603050405020304" pitchFamily="18" charset="0"/>
                <a:cs typeface="Times New Roman" panose="02020603050405020304" pitchFamily="18" charset="0"/>
              </a:rPr>
              <a:t>), and you can see how hard this makes it for your eye to  scan across the rows. </a:t>
            </a:r>
          </a:p>
          <a:p>
            <a:pPr eaLnBrk="1" hangingPunct="1"/>
            <a:endParaRPr lang="en-US" altLang="en-US" sz="2600" dirty="0">
              <a:latin typeface="Times New Roman" panose="02020603050405020304" pitchFamily="18" charset="0"/>
              <a:cs typeface="Times New Roman" panose="02020603050405020304" pitchFamily="18" charset="0"/>
            </a:endParaRPr>
          </a:p>
        </p:txBody>
      </p:sp>
      <p:sp>
        <p:nvSpPr>
          <p:cNvPr id="48132"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4A776836-4000-4EC9-8283-DBEA30EBEA58}" type="slidenum">
              <a:rPr lang="en-GB" altLang="en-US">
                <a:solidFill>
                  <a:srgbClr val="FFC551"/>
                </a:solidFill>
                <a:latin typeface="Century Gothic" panose="020B0502020202020204" pitchFamily="34" charset="0"/>
                <a:cs typeface="Arial" panose="020B0604020202020204" pitchFamily="34" charset="0"/>
              </a:rPr>
              <a:pPr/>
              <a:t>34</a:t>
            </a:fld>
            <a:endParaRPr lang="en-GB" altLang="en-US">
              <a:solidFill>
                <a:srgbClr val="FFC551"/>
              </a:solidFill>
              <a:latin typeface="Century Gothic" panose="020B0502020202020204" pitchFamily="34" charset="0"/>
              <a:cs typeface="Arial" panose="020B0604020202020204" pitchFamily="34" charset="0"/>
            </a:endParaRPr>
          </a:p>
        </p:txBody>
      </p:sp>
      <p:pic>
        <p:nvPicPr>
          <p:cNvPr id="48133" name="Picture 7"/>
          <p:cNvPicPr>
            <a:picLocks noChangeAspect="1"/>
          </p:cNvPicPr>
          <p:nvPr/>
        </p:nvPicPr>
        <p:blipFill>
          <a:blip r:embed="rId2">
            <a:extLst>
              <a:ext uri="{28A0092B-C50C-407E-A947-70E740481C1C}">
                <a14:useLocalDpi xmlns:a14="http://schemas.microsoft.com/office/drawing/2010/main" val="0"/>
              </a:ext>
            </a:extLst>
          </a:blip>
          <a:srcRect l="28416" t="53937" r="51106" b="28345"/>
          <a:stretch>
            <a:fillRect/>
          </a:stretch>
        </p:blipFill>
        <p:spPr bwMode="auto">
          <a:xfrm>
            <a:off x="5946775" y="1752600"/>
            <a:ext cx="6119813" cy="266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4" name="TextBox 8"/>
          <p:cNvSpPr txBox="1">
            <a:spLocks noChangeArrowheads="1"/>
          </p:cNvSpPr>
          <p:nvPr/>
        </p:nvSpPr>
        <p:spPr bwMode="auto">
          <a:xfrm>
            <a:off x="6167438" y="4497388"/>
            <a:ext cx="602456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latin typeface="Arial" panose="020B0604020202020204" pitchFamily="34" charset="0"/>
                <a:cs typeface="Arial" panose="020B0604020202020204" pitchFamily="34" charset="0"/>
              </a:rPr>
              <a:t>Figure 5: Dealing with multiple columns </a:t>
            </a:r>
          </a:p>
          <a:p>
            <a:pPr eaLnBrk="1" hangingPunct="1"/>
            <a:r>
              <a:rPr lang="en-US" altLang="en-US">
                <a:latin typeface="Arial" panose="020B0604020202020204" pitchFamily="34" charset="0"/>
                <a:cs typeface="Arial" panose="020B0604020202020204" pitchFamily="34" charset="0"/>
              </a:rPr>
              <a:t>( names on one column and numbers on another column)</a:t>
            </a:r>
          </a:p>
        </p:txBody>
      </p:sp>
      <p:sp>
        <p:nvSpPr>
          <p:cNvPr id="2" name="Footer Placeholder 1"/>
          <p:cNvSpPr>
            <a:spLocks noGrp="1"/>
          </p:cNvSpPr>
          <p:nvPr>
            <p:ph type="ftr" sz="quarter" idx="11"/>
          </p:nvPr>
        </p:nvSpPr>
        <p:spPr/>
        <p:txBody>
          <a:bodyPr/>
          <a:lstStyle/>
          <a:p>
            <a:pPr>
              <a:defRPr/>
            </a:pPr>
            <a:r>
              <a:rPr lang="en-GB"/>
              <a:t>slides based on Dix, Alan, et al. "Human-computer interaction."  (2000).</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p:cNvSpPr>
            <a:spLocks noGrp="1"/>
          </p:cNvSpPr>
          <p:nvPr>
            <p:ph type="title"/>
          </p:nvPr>
        </p:nvSpPr>
        <p:spPr>
          <a:xfrm>
            <a:off x="1096963" y="287338"/>
            <a:ext cx="10058400" cy="1449387"/>
          </a:xfrm>
        </p:spPr>
        <p:txBody>
          <a:bodyPr/>
          <a:lstStyle/>
          <a:p>
            <a:pPr algn="ctr" eaLnBrk="1" fontAlgn="auto" hangingPunct="1">
              <a:spcAft>
                <a:spcPts val="0"/>
              </a:spcAft>
              <a:defRPr/>
            </a:pP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Dealing with multiple columns</a:t>
            </a:r>
          </a:p>
        </p:txBody>
      </p:sp>
      <p:sp>
        <p:nvSpPr>
          <p:cNvPr id="49155" name="Content Placeholder 2"/>
          <p:cNvSpPr>
            <a:spLocks noGrp="1" noChangeArrowheads="1"/>
          </p:cNvSpPr>
          <p:nvPr>
            <p:ph sz="half" idx="1"/>
          </p:nvPr>
        </p:nvSpPr>
        <p:spPr>
          <a:xfrm>
            <a:off x="192088" y="1846263"/>
            <a:ext cx="5843587" cy="4391025"/>
          </a:xfrm>
        </p:spPr>
        <p:txBody>
          <a:bodyPr/>
          <a:lstStyle/>
          <a:p>
            <a:pPr eaLnBrk="1" hangingPunct="1"/>
            <a:r>
              <a:rPr lang="en-US" altLang="en-US" sz="2600" dirty="0">
                <a:latin typeface="Times New Roman" panose="02020603050405020304" pitchFamily="18" charset="0"/>
                <a:cs typeface="Times New Roman" panose="02020603050405020304" pitchFamily="18" charset="0"/>
              </a:rPr>
              <a:t>There are several visual ways to deal with the problems associated with figure 5 on previous slide.</a:t>
            </a:r>
          </a:p>
          <a:p>
            <a:pPr eaLnBrk="1" hangingPunct="1"/>
            <a:r>
              <a:rPr lang="en-US" altLang="en-US" sz="2600" dirty="0">
                <a:latin typeface="Times New Roman" panose="02020603050405020304" pitchFamily="18" charset="0"/>
                <a:cs typeface="Times New Roman" panose="02020603050405020304" pitchFamily="18" charset="0"/>
              </a:rPr>
              <a:t>     Examples of possible solutions:</a:t>
            </a:r>
          </a:p>
          <a:p>
            <a:pPr eaLnBrk="1" hangingPunct="1"/>
            <a:endParaRPr lang="en-US" altLang="en-US" sz="2600" dirty="0">
              <a:latin typeface="Times New Roman" panose="02020603050405020304" pitchFamily="18" charset="0"/>
              <a:cs typeface="Times New Roman" panose="02020603050405020304" pitchFamily="18" charset="0"/>
            </a:endParaRPr>
          </a:p>
          <a:p>
            <a:pPr marL="342900" lvl="1" indent="0" eaLnBrk="1" hangingPunct="1">
              <a:lnSpc>
                <a:spcPct val="150000"/>
              </a:lnSpc>
              <a:buFont typeface="Arial" panose="020B0604020202020204" pitchFamily="34" charset="0"/>
              <a:buNone/>
            </a:pPr>
            <a:endParaRPr lang="en-US" altLang="en-US" sz="2600" dirty="0">
              <a:latin typeface="Times New Roman" panose="02020603050405020304" pitchFamily="18" charset="0"/>
              <a:cs typeface="Times New Roman" panose="02020603050405020304" pitchFamily="18" charset="0"/>
            </a:endParaRPr>
          </a:p>
          <a:p>
            <a:pPr marL="342900" lvl="1" indent="0" eaLnBrk="1" hangingPunct="1">
              <a:lnSpc>
                <a:spcPct val="150000"/>
              </a:lnSpc>
              <a:buFont typeface="Arial" panose="020B0604020202020204" pitchFamily="34" charset="0"/>
              <a:buNone/>
            </a:pPr>
            <a:r>
              <a:rPr lang="en-US" altLang="en-US" sz="2600" dirty="0">
                <a:latin typeface="Times New Roman" panose="02020603050405020304" pitchFamily="18" charset="0"/>
                <a:cs typeface="Times New Roman" panose="02020603050405020304" pitchFamily="18" charset="0"/>
              </a:rPr>
              <a:t>(ii) ‘leaders’ – </a:t>
            </a:r>
            <a:r>
              <a:rPr lang="en-US" altLang="en-US" sz="2600" b="1" dirty="0">
                <a:latin typeface="Times New Roman" panose="02020603050405020304" pitchFamily="18" charset="0"/>
                <a:cs typeface="Times New Roman" panose="02020603050405020304" pitchFamily="18" charset="0"/>
              </a:rPr>
              <a:t>lines of dots </a:t>
            </a:r>
            <a:r>
              <a:rPr lang="en-US" altLang="en-US" sz="2600" dirty="0">
                <a:latin typeface="Times New Roman" panose="02020603050405020304" pitchFamily="18" charset="0"/>
                <a:cs typeface="Times New Roman" panose="02020603050405020304" pitchFamily="18" charset="0"/>
              </a:rPr>
              <a:t>linking the columns; and</a:t>
            </a:r>
          </a:p>
          <a:p>
            <a:pPr marL="342900" lvl="1" indent="0" eaLnBrk="1" hangingPunct="1">
              <a:lnSpc>
                <a:spcPct val="150000"/>
              </a:lnSpc>
              <a:buFont typeface="Arial" panose="020B0604020202020204" pitchFamily="34" charset="0"/>
              <a:buNone/>
            </a:pPr>
            <a:endParaRPr lang="en-US" altLang="en-US" sz="2600" dirty="0">
              <a:latin typeface="Times New Roman" panose="02020603050405020304" pitchFamily="18" charset="0"/>
              <a:cs typeface="Times New Roman" panose="02020603050405020304" pitchFamily="18" charset="0"/>
            </a:endParaRPr>
          </a:p>
          <a:p>
            <a:pPr marL="342900" lvl="1" indent="0" eaLnBrk="1" hangingPunct="1">
              <a:lnSpc>
                <a:spcPct val="150000"/>
              </a:lnSpc>
              <a:buFont typeface="Arial" panose="020B0604020202020204" pitchFamily="34" charset="0"/>
              <a:buNone/>
            </a:pPr>
            <a:endParaRPr lang="en-US" altLang="en-US" sz="2600" dirty="0">
              <a:latin typeface="Times New Roman" panose="02020603050405020304" pitchFamily="18" charset="0"/>
              <a:cs typeface="Times New Roman" panose="02020603050405020304" pitchFamily="18" charset="0"/>
            </a:endParaRPr>
          </a:p>
          <a:p>
            <a:pPr marL="342900" lvl="1" indent="0" eaLnBrk="1" hangingPunct="1">
              <a:lnSpc>
                <a:spcPct val="150000"/>
              </a:lnSpc>
              <a:buFont typeface="Arial" panose="020B0604020202020204" pitchFamily="34" charset="0"/>
              <a:buNone/>
            </a:pPr>
            <a:endParaRPr lang="en-US" altLang="en-US" sz="2600" dirty="0">
              <a:latin typeface="Times New Roman" panose="02020603050405020304" pitchFamily="18" charset="0"/>
              <a:cs typeface="Times New Roman" panose="02020603050405020304" pitchFamily="18" charset="0"/>
            </a:endParaRPr>
          </a:p>
          <a:p>
            <a:pPr eaLnBrk="1" hangingPunct="1"/>
            <a:endParaRPr lang="en-US" altLang="en-US" sz="2600" dirty="0">
              <a:latin typeface="Times New Roman" panose="02020603050405020304" pitchFamily="18" charset="0"/>
              <a:cs typeface="Times New Roman" panose="02020603050405020304" pitchFamily="18" charset="0"/>
            </a:endParaRPr>
          </a:p>
        </p:txBody>
      </p:sp>
      <p:sp>
        <p:nvSpPr>
          <p:cNvPr id="49156" name="Content Placeholder 1"/>
          <p:cNvSpPr>
            <a:spLocks noGrp="1" noChangeArrowheads="1"/>
          </p:cNvSpPr>
          <p:nvPr>
            <p:ph sz="half" idx="2"/>
          </p:nvPr>
        </p:nvSpPr>
        <p:spPr>
          <a:xfrm>
            <a:off x="6218238" y="1846263"/>
            <a:ext cx="4937125" cy="4022725"/>
          </a:xfrm>
        </p:spPr>
        <p:txBody>
          <a:bodyPr/>
          <a:lstStyle/>
          <a:p>
            <a:pPr eaLnBrk="1" hangingPunct="1"/>
            <a:endParaRPr lang="en-GB" altLang="en-US" sz="2600" dirty="0">
              <a:latin typeface="Times New Roman" panose="02020603050405020304" pitchFamily="18" charset="0"/>
              <a:cs typeface="Times New Roman" panose="02020603050405020304" pitchFamily="18" charset="0"/>
            </a:endParaRPr>
          </a:p>
          <a:p>
            <a:pPr eaLnBrk="1" hangingPunct="1"/>
            <a:endParaRPr lang="en-GB" altLang="en-US" sz="2600" dirty="0">
              <a:latin typeface="Times New Roman" panose="02020603050405020304" pitchFamily="18" charset="0"/>
              <a:cs typeface="Times New Roman" panose="02020603050405020304" pitchFamily="18" charset="0"/>
            </a:endParaRPr>
          </a:p>
          <a:p>
            <a:pPr eaLnBrk="1" hangingPunct="1"/>
            <a:endParaRPr lang="en-GB" altLang="en-US" sz="2600" dirty="0">
              <a:latin typeface="Times New Roman" panose="02020603050405020304" pitchFamily="18" charset="0"/>
              <a:cs typeface="Times New Roman" panose="02020603050405020304" pitchFamily="18" charset="0"/>
            </a:endParaRPr>
          </a:p>
          <a:p>
            <a:pPr eaLnBrk="1" hangingPunct="1"/>
            <a:endParaRPr lang="en-GB" altLang="en-US" sz="2600" dirty="0">
              <a:latin typeface="Times New Roman" panose="02020603050405020304" pitchFamily="18" charset="0"/>
              <a:cs typeface="Times New Roman" panose="02020603050405020304" pitchFamily="18" charset="0"/>
            </a:endParaRPr>
          </a:p>
          <a:p>
            <a:pPr eaLnBrk="1" hangingPunct="1"/>
            <a:endParaRPr lang="en-GB" altLang="en-US" sz="2600" dirty="0">
              <a:latin typeface="Times New Roman" panose="02020603050405020304" pitchFamily="18" charset="0"/>
              <a:cs typeface="Times New Roman" panose="02020603050405020304" pitchFamily="18" charset="0"/>
            </a:endParaRPr>
          </a:p>
          <a:p>
            <a:pPr eaLnBrk="1" hangingPunct="1"/>
            <a:r>
              <a:rPr lang="en-US" altLang="en-US" sz="2600" dirty="0">
                <a:latin typeface="Times New Roman" panose="02020603050405020304" pitchFamily="18" charset="0"/>
                <a:cs typeface="Times New Roman" panose="02020603050405020304" pitchFamily="18" charset="0"/>
              </a:rPr>
              <a:t> </a:t>
            </a:r>
          </a:p>
          <a:p>
            <a:pPr eaLnBrk="1" hangingPunct="1"/>
            <a:r>
              <a:rPr lang="en-US" altLang="en-US" sz="2600" dirty="0">
                <a:latin typeface="Times New Roman" panose="02020603050405020304" pitchFamily="18" charset="0"/>
                <a:cs typeface="Times New Roman" panose="02020603050405020304" pitchFamily="18" charset="0"/>
              </a:rPr>
              <a:t>(iii) using </a:t>
            </a:r>
            <a:r>
              <a:rPr lang="en-US" altLang="en-US" sz="2600" b="1" dirty="0">
                <a:latin typeface="Times New Roman" panose="02020603050405020304" pitchFamily="18" charset="0"/>
                <a:cs typeface="Times New Roman" panose="02020603050405020304" pitchFamily="18" charset="0"/>
              </a:rPr>
              <a:t>soft tone colors </a:t>
            </a:r>
            <a:r>
              <a:rPr lang="en-US" altLang="en-US" sz="2600" dirty="0">
                <a:latin typeface="Times New Roman" panose="02020603050405020304" pitchFamily="18" charset="0"/>
                <a:cs typeface="Times New Roman" panose="02020603050405020304" pitchFamily="18" charset="0"/>
              </a:rPr>
              <a:t>behind rows or columns.</a:t>
            </a:r>
          </a:p>
          <a:p>
            <a:pPr eaLnBrk="1" hangingPunct="1"/>
            <a:endParaRPr lang="en-US" altLang="en-US" sz="2600" dirty="0">
              <a:latin typeface="Times New Roman" panose="02020603050405020304" pitchFamily="18" charset="0"/>
              <a:cs typeface="Times New Roman" panose="02020603050405020304" pitchFamily="18" charset="0"/>
            </a:endParaRPr>
          </a:p>
        </p:txBody>
      </p:sp>
      <p:sp>
        <p:nvSpPr>
          <p:cNvPr id="49157"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033B2CDD-B058-4C70-BAF0-74E65EA84E17}" type="slidenum">
              <a:rPr lang="en-GB" altLang="en-US">
                <a:solidFill>
                  <a:srgbClr val="FFC551"/>
                </a:solidFill>
                <a:latin typeface="Century Gothic" panose="020B0502020202020204" pitchFamily="34" charset="0"/>
                <a:cs typeface="Arial" panose="020B0604020202020204" pitchFamily="34" charset="0"/>
              </a:rPr>
              <a:pPr/>
              <a:t>35</a:t>
            </a:fld>
            <a:endParaRPr lang="en-GB" altLang="en-US">
              <a:solidFill>
                <a:srgbClr val="FFC551"/>
              </a:solidFill>
              <a:latin typeface="Century Gothic" panose="020B0502020202020204" pitchFamily="34" charset="0"/>
              <a:cs typeface="Arial" panose="020B0604020202020204" pitchFamily="34" charset="0"/>
            </a:endParaRPr>
          </a:p>
        </p:txBody>
      </p:sp>
      <p:pic>
        <p:nvPicPr>
          <p:cNvPr id="49158" name="Picture 4"/>
          <p:cNvPicPr>
            <a:picLocks noChangeAspect="1"/>
          </p:cNvPicPr>
          <p:nvPr/>
        </p:nvPicPr>
        <p:blipFill>
          <a:blip r:embed="rId2">
            <a:extLst>
              <a:ext uri="{28A0092B-C50C-407E-A947-70E740481C1C}">
                <a14:useLocalDpi xmlns:a14="http://schemas.microsoft.com/office/drawing/2010/main" val="0"/>
              </a:ext>
            </a:extLst>
          </a:blip>
          <a:srcRect l="48894" t="54921" r="32291" b="28345"/>
          <a:stretch>
            <a:fillRect/>
          </a:stretch>
        </p:blipFill>
        <p:spPr bwMode="auto">
          <a:xfrm>
            <a:off x="192088" y="3429001"/>
            <a:ext cx="3455987" cy="1440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59" name="Picture 5"/>
          <p:cNvPicPr>
            <a:picLocks noChangeAspect="1"/>
          </p:cNvPicPr>
          <p:nvPr/>
        </p:nvPicPr>
        <p:blipFill>
          <a:blip r:embed="rId2">
            <a:extLst>
              <a:ext uri="{28A0092B-C50C-407E-A947-70E740481C1C}">
                <a14:useLocalDpi xmlns:a14="http://schemas.microsoft.com/office/drawing/2010/main" val="0"/>
              </a:ext>
            </a:extLst>
          </a:blip>
          <a:srcRect l="28969" t="71655" r="51106" b="10628"/>
          <a:stretch>
            <a:fillRect/>
          </a:stretch>
        </p:blipFill>
        <p:spPr bwMode="auto">
          <a:xfrm>
            <a:off x="6816080" y="3313872"/>
            <a:ext cx="3455987" cy="1670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Footer Placeholder 1"/>
          <p:cNvSpPr>
            <a:spLocks noGrp="1"/>
          </p:cNvSpPr>
          <p:nvPr>
            <p:ph type="ftr" sz="quarter" idx="11"/>
          </p:nvPr>
        </p:nvSpPr>
        <p:spPr/>
        <p:txBody>
          <a:bodyPr/>
          <a:lstStyle/>
          <a:p>
            <a:pPr>
              <a:defRPr/>
            </a:pPr>
            <a:r>
              <a:rPr lang="en-GB"/>
              <a:t>slides based on Dix, Alan, et al. "Human-computer interaction."  (2000).</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p:nvPr>
        </p:nvSpPr>
        <p:spPr>
          <a:xfrm>
            <a:off x="1096963" y="287338"/>
            <a:ext cx="10058400" cy="1449387"/>
          </a:xfrm>
        </p:spPr>
        <p:txBody>
          <a:bodyPr/>
          <a:lstStyle/>
          <a:p>
            <a:pPr algn="ctr" eaLnBrk="1" fontAlgn="auto" hangingPunct="1">
              <a:spcAft>
                <a:spcPts val="0"/>
              </a:spcAft>
              <a:defRPr/>
            </a:pP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White Spaces</a:t>
            </a:r>
          </a:p>
        </p:txBody>
      </p:sp>
      <p:sp>
        <p:nvSpPr>
          <p:cNvPr id="56323" name="Content Placeholder 2"/>
          <p:cNvSpPr>
            <a:spLocks noGrp="1"/>
          </p:cNvSpPr>
          <p:nvPr>
            <p:ph sz="half" idx="1"/>
          </p:nvPr>
        </p:nvSpPr>
        <p:spPr>
          <a:xfrm>
            <a:off x="191344" y="1846262"/>
            <a:ext cx="6811046" cy="4319041"/>
          </a:xfrm>
        </p:spPr>
        <p:txBody>
          <a:bodyPr rtlCol="0">
            <a:noAutofit/>
          </a:bodyPr>
          <a:lstStyle/>
          <a:p>
            <a:pPr marL="91440"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In typography the space between the letters is called the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counter</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a:t>
            </a:r>
          </a:p>
          <a:p>
            <a:pPr marL="91440"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If one ignores the ‘content’ of a screen and instead concentrates on the counter  (the space between the elements),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one can get an overall feel of the layout. </a:t>
            </a:r>
          </a:p>
          <a:p>
            <a:pPr marL="91440" indent="-91440" eaLnBrk="1" fontAlgn="auto" hangingPunct="1">
              <a:defRPr/>
            </a:pPr>
            <a:r>
              <a:rPr lang="en-US" altLang="en-US" sz="2600" dirty="0">
                <a:solidFill>
                  <a:srgbClr val="FF0000"/>
                </a:solidFill>
                <a:latin typeface="Times New Roman" panose="02020603050405020304" pitchFamily="18" charset="0"/>
                <a:cs typeface="Times New Roman" panose="02020603050405020304" pitchFamily="18" charset="0"/>
              </a:rPr>
              <a:t>If elements that are supposed to be related look separate when you focus on the counter, then something is wrong.</a:t>
            </a:r>
          </a:p>
          <a:p>
            <a:pPr marL="91440" indent="-91440" eaLnBrk="1" fontAlgn="auto" hangingPunct="1">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Space can be used in several ways. </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Some of these are shown in Figure 6</a:t>
            </a:r>
          </a:p>
          <a:p>
            <a:pPr marL="91440" indent="-91440" eaLnBrk="1" fontAlgn="auto" hangingPunct="1">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2" name="Content Placeholder 1"/>
          <p:cNvSpPr>
            <a:spLocks noGrp="1"/>
          </p:cNvSpPr>
          <p:nvPr>
            <p:ph sz="half" idx="2"/>
          </p:nvPr>
        </p:nvSpPr>
        <p:spPr>
          <a:xfrm>
            <a:off x="7011843" y="1958181"/>
            <a:ext cx="4937125" cy="4022725"/>
          </a:xfrm>
        </p:spPr>
        <p:txBody>
          <a:bodyPr rtlCol="0">
            <a:normAutofit/>
          </a:bodyPr>
          <a:lstStyle/>
          <a:p>
            <a:pPr marL="91440" indent="-91440" eaLnBrk="1" fontAlgn="auto" hangingPunct="1">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The </a:t>
            </a:r>
            <a:r>
              <a:rPr lang="en-US" altLang="en-US" sz="2600" dirty="0" err="1">
                <a:solidFill>
                  <a:schemeClr val="tx1">
                    <a:lumMod val="75000"/>
                    <a:lumOff val="25000"/>
                  </a:schemeClr>
                </a:solidFill>
                <a:latin typeface="Times New Roman" panose="02020603050405020304" pitchFamily="18" charset="0"/>
                <a:cs typeface="Times New Roman" panose="02020603050405020304" pitchFamily="18" charset="0"/>
              </a:rPr>
              <a:t>coloured</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areas represent continuous areas of text or graphics. In figure 6(</a:t>
            </a:r>
            <a:r>
              <a:rPr lang="en-US" altLang="en-US" sz="2600" dirty="0" err="1">
                <a:solidFill>
                  <a:schemeClr val="tx1">
                    <a:lumMod val="75000"/>
                    <a:lumOff val="25000"/>
                  </a:schemeClr>
                </a:solidFill>
                <a:latin typeface="Times New Roman" panose="02020603050405020304" pitchFamily="18" charset="0"/>
                <a:cs typeface="Times New Roman" panose="02020603050405020304" pitchFamily="18" charset="0"/>
              </a:rPr>
              <a:t>i</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we can see that, space is used to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separate blocks.</a:t>
            </a:r>
          </a:p>
          <a:p>
            <a:pPr marL="91440" indent="-91440" eaLnBrk="1" fontAlgn="auto" hangingPunct="1">
              <a:defRPr/>
            </a:pPr>
            <a:endParaRPr lang="en-GH" sz="2600" dirty="0">
              <a:solidFill>
                <a:schemeClr val="tx1">
                  <a:lumMod val="75000"/>
                  <a:lumOff val="25000"/>
                </a:schemeClr>
              </a:solidFill>
            </a:endParaRPr>
          </a:p>
        </p:txBody>
      </p:sp>
      <p:sp>
        <p:nvSpPr>
          <p:cNvPr id="50181"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4F28557E-A039-42EF-B179-D779D71CD66C}" type="slidenum">
              <a:rPr lang="en-GB" altLang="en-US">
                <a:solidFill>
                  <a:srgbClr val="FFC551"/>
                </a:solidFill>
                <a:latin typeface="Century Gothic" panose="020B0502020202020204" pitchFamily="34" charset="0"/>
                <a:cs typeface="Arial" panose="020B0604020202020204" pitchFamily="34" charset="0"/>
              </a:rPr>
              <a:pPr/>
              <a:t>36</a:t>
            </a:fld>
            <a:endParaRPr lang="en-GB" altLang="en-US">
              <a:solidFill>
                <a:srgbClr val="FFC551"/>
              </a:solidFill>
              <a:latin typeface="Century Gothic" panose="020B0502020202020204" pitchFamily="34" charset="0"/>
              <a:cs typeface="Arial" panose="020B0604020202020204" pitchFamily="34" charset="0"/>
            </a:endParaRPr>
          </a:p>
        </p:txBody>
      </p:sp>
      <p:pic>
        <p:nvPicPr>
          <p:cNvPr id="50182" name="Picture 4"/>
          <p:cNvPicPr>
            <a:picLocks noChangeAspect="1"/>
          </p:cNvPicPr>
          <p:nvPr/>
        </p:nvPicPr>
        <p:blipFill>
          <a:blip r:embed="rId2">
            <a:extLst>
              <a:ext uri="{28A0092B-C50C-407E-A947-70E740481C1C}">
                <a14:useLocalDpi xmlns:a14="http://schemas.microsoft.com/office/drawing/2010/main" val="0"/>
              </a:ext>
            </a:extLst>
          </a:blip>
          <a:srcRect l="27310" t="68170" r="62175" b="11610"/>
          <a:stretch>
            <a:fillRect/>
          </a:stretch>
        </p:blipFill>
        <p:spPr bwMode="auto">
          <a:xfrm>
            <a:off x="7968208" y="3450023"/>
            <a:ext cx="3095625" cy="2027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3" name="TextBox 5"/>
          <p:cNvSpPr txBox="1">
            <a:spLocks noChangeArrowheads="1"/>
          </p:cNvSpPr>
          <p:nvPr/>
        </p:nvSpPr>
        <p:spPr bwMode="auto">
          <a:xfrm>
            <a:off x="7320136" y="5405985"/>
            <a:ext cx="4822825"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2600" dirty="0">
                <a:latin typeface="Times New Roman" panose="02020603050405020304" pitchFamily="18" charset="0"/>
                <a:cs typeface="Times New Roman" panose="02020603050405020304" pitchFamily="18" charset="0"/>
              </a:rPr>
              <a:t>Figure 6(</a:t>
            </a:r>
            <a:r>
              <a:rPr lang="en-US" altLang="en-US" sz="2600" dirty="0" err="1">
                <a:latin typeface="Times New Roman" panose="02020603050405020304" pitchFamily="18" charset="0"/>
                <a:cs typeface="Times New Roman" panose="02020603050405020304" pitchFamily="18" charset="0"/>
              </a:rPr>
              <a:t>i</a:t>
            </a:r>
            <a:r>
              <a:rPr lang="en-US" altLang="en-US" sz="2600" dirty="0">
                <a:latin typeface="Times New Roman" panose="02020603050405020304" pitchFamily="18" charset="0"/>
                <a:cs typeface="Times New Roman" panose="02020603050405020304" pitchFamily="18" charset="0"/>
              </a:rPr>
              <a:t>): space used to separate blocks</a:t>
            </a:r>
          </a:p>
        </p:txBody>
      </p:sp>
      <p:sp>
        <p:nvSpPr>
          <p:cNvPr id="3" name="Footer Placeholder 2"/>
          <p:cNvSpPr>
            <a:spLocks noGrp="1"/>
          </p:cNvSpPr>
          <p:nvPr>
            <p:ph type="ftr" sz="quarter" idx="11"/>
          </p:nvPr>
        </p:nvSpPr>
        <p:spPr/>
        <p:txBody>
          <a:bodyPr/>
          <a:lstStyle/>
          <a:p>
            <a:pPr>
              <a:defRPr/>
            </a:pPr>
            <a:r>
              <a:rPr lang="en-GB"/>
              <a:t>slides based on Dix, Alan, et al. "Human-computer interaction."  (2000).</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4"/>
          <p:cNvSpPr>
            <a:spLocks noGrp="1"/>
          </p:cNvSpPr>
          <p:nvPr>
            <p:ph type="title"/>
          </p:nvPr>
        </p:nvSpPr>
        <p:spPr>
          <a:xfrm>
            <a:off x="1096963" y="287338"/>
            <a:ext cx="10058400" cy="1449387"/>
          </a:xfrm>
        </p:spPr>
        <p:txBody>
          <a:bodyPr/>
          <a:lstStyle/>
          <a:p>
            <a:pPr algn="ctr" eaLnBrk="1" fontAlgn="auto" hangingPunct="1">
              <a:spcAft>
                <a:spcPts val="0"/>
              </a:spcAft>
              <a:defRPr/>
            </a:pPr>
            <a:r>
              <a:rPr lang="en-US" altLang="en-US">
                <a:solidFill>
                  <a:schemeClr val="tx1">
                    <a:lumMod val="75000"/>
                    <a:lumOff val="25000"/>
                  </a:schemeClr>
                </a:solidFill>
                <a:latin typeface="Futura Md BT"/>
              </a:rPr>
              <a:t>White Spaces</a:t>
            </a:r>
          </a:p>
        </p:txBody>
      </p:sp>
      <p:sp>
        <p:nvSpPr>
          <p:cNvPr id="51203" name="Content Placeholder 5"/>
          <p:cNvSpPr>
            <a:spLocks noGrp="1" noChangeArrowheads="1"/>
          </p:cNvSpPr>
          <p:nvPr>
            <p:ph sz="half" idx="1"/>
          </p:nvPr>
        </p:nvSpPr>
        <p:spPr>
          <a:xfrm>
            <a:off x="1096963" y="1846263"/>
            <a:ext cx="4938712" cy="4022725"/>
          </a:xfrm>
        </p:spPr>
        <p:txBody>
          <a:bodyPr/>
          <a:lstStyle/>
          <a:p>
            <a:pPr eaLnBrk="1" hangingPunct="1"/>
            <a:r>
              <a:rPr lang="en-US" altLang="en-US" sz="2600" dirty="0">
                <a:latin typeface="Times New Roman" panose="02020603050405020304" pitchFamily="18" charset="0"/>
                <a:cs typeface="Times New Roman" panose="02020603050405020304" pitchFamily="18" charset="0"/>
              </a:rPr>
              <a:t>Space can also be used to create more complex structures.</a:t>
            </a:r>
          </a:p>
          <a:p>
            <a:pPr eaLnBrk="1" hangingPunct="1"/>
            <a:r>
              <a:rPr lang="en-US" altLang="en-US" sz="2600" dirty="0">
                <a:latin typeface="Times New Roman" panose="02020603050405020304" pitchFamily="18" charset="0"/>
                <a:cs typeface="Times New Roman" panose="02020603050405020304" pitchFamily="18" charset="0"/>
              </a:rPr>
              <a:t> In (ii) there are clearly four main areas: </a:t>
            </a:r>
            <a:r>
              <a:rPr lang="en-US" altLang="en-US" sz="2600" b="1" dirty="0">
                <a:latin typeface="Times New Roman" panose="02020603050405020304" pitchFamily="18" charset="0"/>
                <a:cs typeface="Times New Roman" panose="02020603050405020304" pitchFamily="18" charset="0"/>
              </a:rPr>
              <a:t>ABC, D, E and F</a:t>
            </a:r>
            <a:r>
              <a:rPr lang="en-US" altLang="en-US" sz="2600" dirty="0">
                <a:latin typeface="Times New Roman" panose="02020603050405020304" pitchFamily="18" charset="0"/>
                <a:cs typeface="Times New Roman" panose="02020603050405020304" pitchFamily="18" charset="0"/>
              </a:rPr>
              <a:t>. Within one of these are three further areas, </a:t>
            </a:r>
            <a:r>
              <a:rPr lang="en-US" altLang="en-US" sz="2600" b="1" dirty="0">
                <a:latin typeface="Times New Roman" panose="02020603050405020304" pitchFamily="18" charset="0"/>
                <a:cs typeface="Times New Roman" panose="02020603050405020304" pitchFamily="18" charset="0"/>
              </a:rPr>
              <a:t>A, B and C,</a:t>
            </a:r>
            <a:r>
              <a:rPr lang="en-US" altLang="en-US" sz="2600" dirty="0">
                <a:latin typeface="Times New Roman" panose="02020603050405020304" pitchFamily="18" charset="0"/>
                <a:cs typeface="Times New Roman" panose="02020603050405020304" pitchFamily="18" charset="0"/>
              </a:rPr>
              <a:t> which themselves are grouped as A on its own, followed by B and C together.</a:t>
            </a:r>
          </a:p>
          <a:p>
            <a:pPr eaLnBrk="1" hangingPunct="1"/>
            <a:endParaRPr lang="en-US" altLang="en-US" sz="2600" dirty="0">
              <a:latin typeface="Times New Roman" panose="02020603050405020304" pitchFamily="18" charset="0"/>
              <a:cs typeface="Times New Roman" panose="02020603050405020304" pitchFamily="18" charset="0"/>
            </a:endParaRPr>
          </a:p>
        </p:txBody>
      </p:sp>
      <p:sp>
        <p:nvSpPr>
          <p:cNvPr id="51204" name="Content Placeholder 6"/>
          <p:cNvSpPr>
            <a:spLocks noGrp="1" noChangeArrowheads="1"/>
          </p:cNvSpPr>
          <p:nvPr>
            <p:ph sz="half" idx="2"/>
          </p:nvPr>
        </p:nvSpPr>
        <p:spPr>
          <a:xfrm>
            <a:off x="6218238" y="1846263"/>
            <a:ext cx="4937125" cy="4022725"/>
          </a:xfrm>
        </p:spPr>
        <p:txBody>
          <a:bodyPr/>
          <a:lstStyle/>
          <a:p>
            <a:pPr eaLnBrk="1" hangingPunct="1"/>
            <a:r>
              <a:rPr lang="en-US" altLang="en-US" sz="2600" dirty="0">
                <a:latin typeface="Times New Roman" panose="02020603050405020304" pitchFamily="18" charset="0"/>
                <a:cs typeface="Times New Roman" panose="02020603050405020304" pitchFamily="18" charset="0"/>
              </a:rPr>
              <a:t>(iii), we can see space used to highlight. This is a technique used frequently in magazines to highlight a quote or graphic</a:t>
            </a:r>
          </a:p>
          <a:p>
            <a:pPr eaLnBrk="1" hangingPunct="1"/>
            <a:endParaRPr lang="en-US" altLang="en-US" sz="2600" dirty="0">
              <a:latin typeface="Times New Roman" panose="02020603050405020304" pitchFamily="18" charset="0"/>
              <a:cs typeface="Times New Roman" panose="02020603050405020304" pitchFamily="18" charset="0"/>
            </a:endParaRPr>
          </a:p>
          <a:p>
            <a:pPr eaLnBrk="1" hangingPunct="1"/>
            <a:endParaRPr lang="en-US" altLang="en-US" sz="2600" dirty="0">
              <a:latin typeface="Times New Roman" panose="02020603050405020304" pitchFamily="18" charset="0"/>
              <a:cs typeface="Times New Roman" panose="02020603050405020304" pitchFamily="18" charset="0"/>
            </a:endParaRPr>
          </a:p>
        </p:txBody>
      </p:sp>
      <p:sp>
        <p:nvSpPr>
          <p:cNvPr id="51205"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F1CAEC93-249B-4982-9A61-BEFCE683CEF9}" type="slidenum">
              <a:rPr lang="en-GB" altLang="en-US">
                <a:solidFill>
                  <a:srgbClr val="FFC551"/>
                </a:solidFill>
                <a:latin typeface="Century Gothic" panose="020B0502020202020204" pitchFamily="34" charset="0"/>
                <a:cs typeface="Arial" panose="020B0604020202020204" pitchFamily="34" charset="0"/>
              </a:rPr>
              <a:pPr/>
              <a:t>37</a:t>
            </a:fld>
            <a:endParaRPr lang="en-GB" altLang="en-US">
              <a:solidFill>
                <a:srgbClr val="FFC551"/>
              </a:solidFill>
              <a:latin typeface="Century Gothic" panose="020B0502020202020204" pitchFamily="34" charset="0"/>
              <a:cs typeface="Arial" panose="020B0604020202020204" pitchFamily="34" charset="0"/>
            </a:endParaRPr>
          </a:p>
        </p:txBody>
      </p:sp>
      <p:pic>
        <p:nvPicPr>
          <p:cNvPr id="51206" name="Picture 7"/>
          <p:cNvPicPr>
            <a:picLocks noChangeAspect="1"/>
          </p:cNvPicPr>
          <p:nvPr/>
        </p:nvPicPr>
        <p:blipFill>
          <a:blip r:embed="rId2">
            <a:extLst>
              <a:ext uri="{28A0092B-C50C-407E-A947-70E740481C1C}">
                <a14:useLocalDpi xmlns:a14="http://schemas.microsoft.com/office/drawing/2010/main" val="0"/>
              </a:ext>
            </a:extLst>
          </a:blip>
          <a:srcRect l="37271" t="48032" r="48340" b="31297"/>
          <a:stretch>
            <a:fillRect/>
          </a:stretch>
        </p:blipFill>
        <p:spPr bwMode="auto">
          <a:xfrm>
            <a:off x="1223964" y="5013176"/>
            <a:ext cx="3671887" cy="1596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7" name="Picture 8"/>
          <p:cNvPicPr>
            <a:picLocks noChangeAspect="1"/>
          </p:cNvPicPr>
          <p:nvPr/>
        </p:nvPicPr>
        <p:blipFill>
          <a:blip r:embed="rId3">
            <a:extLst>
              <a:ext uri="{28A0092B-C50C-407E-A947-70E740481C1C}">
                <a14:useLocalDpi xmlns:a14="http://schemas.microsoft.com/office/drawing/2010/main" val="0"/>
              </a:ext>
            </a:extLst>
          </a:blip>
          <a:srcRect l="51469" t="48235" r="32481" b="32079"/>
          <a:stretch>
            <a:fillRect/>
          </a:stretch>
        </p:blipFill>
        <p:spPr bwMode="auto">
          <a:xfrm>
            <a:off x="6383338" y="3429000"/>
            <a:ext cx="4249737" cy="249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Footer Placeholder 1"/>
          <p:cNvSpPr>
            <a:spLocks noGrp="1"/>
          </p:cNvSpPr>
          <p:nvPr>
            <p:ph type="ftr" sz="quarter" idx="11"/>
          </p:nvPr>
        </p:nvSpPr>
        <p:spPr/>
        <p:txBody>
          <a:bodyPr/>
          <a:lstStyle/>
          <a:p>
            <a:pPr>
              <a:defRPr/>
            </a:pPr>
            <a:r>
              <a:rPr lang="en-GB"/>
              <a:t>slides based on Dix, Alan, et al. "Human-computer interaction."  (2000).</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Recall the processes in interaction design</a:t>
            </a:r>
          </a:p>
        </p:txBody>
      </p:sp>
      <p:sp>
        <p:nvSpPr>
          <p:cNvPr id="5" name="Footer Placeholder 4"/>
          <p:cNvSpPr>
            <a:spLocks noGrp="1"/>
          </p:cNvSpPr>
          <p:nvPr>
            <p:ph type="ftr" sz="quarter" idx="11"/>
          </p:nvPr>
        </p:nvSpPr>
        <p:spPr/>
        <p:txBody>
          <a:bodyPr/>
          <a:lstStyle/>
          <a:p>
            <a:pPr>
              <a:defRPr/>
            </a:pPr>
            <a:r>
              <a:rPr lang="en-GB"/>
              <a:t>slides based on Dix, Alan, et al. "Human-computer interaction."  (2000).</a:t>
            </a:r>
          </a:p>
        </p:txBody>
      </p:sp>
      <p:sp>
        <p:nvSpPr>
          <p:cNvPr id="6" name="Slide Number Placeholder 5"/>
          <p:cNvSpPr>
            <a:spLocks noGrp="1"/>
          </p:cNvSpPr>
          <p:nvPr>
            <p:ph type="sldNum" sz="quarter" idx="12"/>
          </p:nvPr>
        </p:nvSpPr>
        <p:spPr/>
        <p:txBody>
          <a:bodyPr/>
          <a:lstStyle/>
          <a:p>
            <a:pPr>
              <a:defRPr/>
            </a:pPr>
            <a:fld id="{83D530C7-866A-4E32-9D84-AC8AA2B72CFB}" type="slidenum">
              <a:rPr lang="en-GB" altLang="en-US" smtClean="0"/>
              <a:pPr>
                <a:defRPr/>
              </a:pPr>
              <a:t>38</a:t>
            </a:fld>
            <a:endParaRPr lang="en-GB" altLang="en-US"/>
          </a:p>
        </p:txBody>
      </p:sp>
      <p:pic>
        <p:nvPicPr>
          <p:cNvPr id="9" name="Content Placeholder 4"/>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26074" t="47167" r="20526" b="13693"/>
          <a:stretch/>
        </p:blipFill>
        <p:spPr>
          <a:xfrm>
            <a:off x="1415480" y="2060848"/>
            <a:ext cx="9433048" cy="3887246"/>
          </a:xfrm>
        </p:spPr>
      </p:pic>
    </p:spTree>
    <p:extLst>
      <p:ext uri="{BB962C8B-B14F-4D97-AF65-F5344CB8AC3E}">
        <p14:creationId xmlns:p14="http://schemas.microsoft.com/office/powerpoint/2010/main" val="1607618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a:xfrm>
            <a:off x="838200" y="788988"/>
            <a:ext cx="10515600" cy="623887"/>
          </a:xfrm>
        </p:spPr>
        <p:txBody>
          <a:bodyPr>
            <a:normAutofit fontScale="90000"/>
          </a:bodyPr>
          <a:lstStyle/>
          <a:p>
            <a:pPr algn="ctr" eaLnBrk="1" fontAlgn="auto" hangingPunct="1">
              <a:spcAft>
                <a:spcPts val="0"/>
              </a:spcAft>
              <a:defRPr/>
            </a:pP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Prototyping</a:t>
            </a:r>
          </a:p>
        </p:txBody>
      </p:sp>
      <p:sp>
        <p:nvSpPr>
          <p:cNvPr id="52227" name="Content Placeholder 2"/>
          <p:cNvSpPr>
            <a:spLocks noGrp="1" noChangeArrowheads="1"/>
          </p:cNvSpPr>
          <p:nvPr>
            <p:ph idx="1"/>
          </p:nvPr>
        </p:nvSpPr>
        <p:spPr>
          <a:xfrm>
            <a:off x="838200" y="1628775"/>
            <a:ext cx="10515600" cy="4968875"/>
          </a:xfrm>
        </p:spPr>
        <p:txBody>
          <a:bodyPr/>
          <a:lstStyle/>
          <a:p>
            <a:pPr eaLnBrk="1" hangingPunct="1"/>
            <a:r>
              <a:rPr lang="en-US" altLang="en-US" sz="2600" dirty="0">
                <a:solidFill>
                  <a:srgbClr val="00B050"/>
                </a:solidFill>
                <a:latin typeface="Times New Roman" panose="02020603050405020304" pitchFamily="18" charset="0"/>
                <a:cs typeface="Times New Roman" panose="02020603050405020304" pitchFamily="18" charset="0"/>
              </a:rPr>
              <a:t>Because human situations are complex and designers are not infallible it is likely that our first design will not be perfect! </a:t>
            </a:r>
            <a:endParaRPr lang="en-US" altLang="en-US" sz="2600" dirty="0">
              <a:latin typeface="Times New Roman" panose="02020603050405020304" pitchFamily="18" charset="0"/>
              <a:cs typeface="Times New Roman" panose="02020603050405020304" pitchFamily="18" charset="0"/>
            </a:endParaRPr>
          </a:p>
          <a:p>
            <a:pPr eaLnBrk="1" hangingPunct="1"/>
            <a:r>
              <a:rPr lang="en-US" altLang="en-US" sz="2600" b="1" dirty="0">
                <a:latin typeface="Times New Roman" panose="02020603050405020304" pitchFamily="18" charset="0"/>
                <a:cs typeface="Times New Roman" panose="02020603050405020304" pitchFamily="18" charset="0"/>
              </a:rPr>
              <a:t>For this reason, almost all interaction design includes some form of iteration of ideas. </a:t>
            </a:r>
          </a:p>
          <a:p>
            <a:pPr eaLnBrk="1" hangingPunct="1"/>
            <a:endParaRPr lang="en-US" altLang="en-US" sz="2600" dirty="0">
              <a:latin typeface="Times New Roman" panose="02020603050405020304" pitchFamily="18" charset="0"/>
              <a:cs typeface="Times New Roman" panose="02020603050405020304" pitchFamily="18" charset="0"/>
            </a:endParaRPr>
          </a:p>
          <a:p>
            <a:pPr eaLnBrk="1" hangingPunct="1"/>
            <a:r>
              <a:rPr lang="en-US" altLang="en-US" sz="2600" dirty="0">
                <a:latin typeface="Times New Roman" panose="02020603050405020304" pitchFamily="18" charset="0"/>
                <a:cs typeface="Times New Roman" panose="02020603050405020304" pitchFamily="18" charset="0"/>
              </a:rPr>
              <a:t>This often starts early on with paper designs and storyboards being demonstrated to colleagues and potential users. </a:t>
            </a:r>
          </a:p>
          <a:p>
            <a:pPr eaLnBrk="1" hangingPunct="1"/>
            <a:endParaRPr lang="en-US" altLang="en-US" sz="2600" dirty="0">
              <a:latin typeface="Times New Roman" panose="02020603050405020304" pitchFamily="18" charset="0"/>
              <a:cs typeface="Times New Roman" panose="02020603050405020304" pitchFamily="18" charset="0"/>
            </a:endParaRPr>
          </a:p>
          <a:p>
            <a:pPr eaLnBrk="1" hangingPunct="1"/>
            <a:r>
              <a:rPr lang="en-US" altLang="en-US" sz="2600" b="1" dirty="0">
                <a:latin typeface="Times New Roman" panose="02020603050405020304" pitchFamily="18" charset="0"/>
                <a:cs typeface="Times New Roman" panose="02020603050405020304" pitchFamily="18" charset="0"/>
              </a:rPr>
              <a:t>Later in the design process, one might use mockups of physical devices or tools to create prototype versions of software.</a:t>
            </a:r>
          </a:p>
        </p:txBody>
      </p:sp>
      <p:sp>
        <p:nvSpPr>
          <p:cNvPr id="52228"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5163274D-A85F-4624-A68A-97672985B702}" type="slidenum">
              <a:rPr lang="en-GB" altLang="en-US">
                <a:solidFill>
                  <a:srgbClr val="FFC551"/>
                </a:solidFill>
                <a:latin typeface="Century Gothic" panose="020B0502020202020204" pitchFamily="34" charset="0"/>
                <a:cs typeface="Arial" panose="020B0604020202020204" pitchFamily="34" charset="0"/>
              </a:rPr>
              <a:pPr/>
              <a:t>39</a:t>
            </a:fld>
            <a:endParaRPr lang="en-GB" altLang="en-US">
              <a:solidFill>
                <a:srgbClr val="FFC551"/>
              </a:solidFill>
              <a:latin typeface="Century Gothic" panose="020B0502020202020204" pitchFamily="34" charset="0"/>
              <a:cs typeface="Arial" panose="020B0604020202020204" pitchFamily="34" charset="0"/>
            </a:endParaRPr>
          </a:p>
        </p:txBody>
      </p:sp>
      <p:sp>
        <p:nvSpPr>
          <p:cNvPr id="2" name="Footer Placeholder 1"/>
          <p:cNvSpPr>
            <a:spLocks noGrp="1"/>
          </p:cNvSpPr>
          <p:nvPr>
            <p:ph type="ftr" sz="quarter" idx="11"/>
          </p:nvPr>
        </p:nvSpPr>
        <p:spPr/>
        <p:txBody>
          <a:bodyPr/>
          <a:lstStyle/>
          <a:p>
            <a:pPr>
              <a:defRPr/>
            </a:pPr>
            <a:r>
              <a:rPr lang="en-GB"/>
              <a:t>slides based on Dix, Alan, et al. "Human-computer interaction."  (2000).</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p:cNvSpPr>
          <p:nvPr>
            <p:ph type="title"/>
          </p:nvPr>
        </p:nvSpPr>
        <p:spPr>
          <a:xfrm>
            <a:off x="838200" y="788988"/>
            <a:ext cx="10515600" cy="407987"/>
          </a:xfrm>
        </p:spPr>
        <p:txBody>
          <a:bodyPr>
            <a:normAutofit fontScale="90000"/>
          </a:bodyPr>
          <a:lstStyle/>
          <a:p>
            <a:pPr algn="ctr" eaLnBrk="1" fontAlgn="auto" hangingPunct="1">
              <a:spcAft>
                <a:spcPts val="0"/>
              </a:spcAft>
              <a:defRPr/>
            </a:pPr>
            <a:r>
              <a:rPr lang="en-US" altLang="en-GH" dirty="0">
                <a:solidFill>
                  <a:schemeClr val="tx1">
                    <a:lumMod val="75000"/>
                    <a:lumOff val="25000"/>
                  </a:schemeClr>
                </a:solidFill>
                <a:latin typeface="Times New Roman" panose="02020603050405020304" pitchFamily="18" charset="0"/>
                <a:cs typeface="Times New Roman" panose="02020603050405020304" pitchFamily="18" charset="0"/>
              </a:rPr>
              <a:t>Prototyping</a:t>
            </a:r>
          </a:p>
        </p:txBody>
      </p:sp>
      <p:sp>
        <p:nvSpPr>
          <p:cNvPr id="59395" name="Content Placeholder 2"/>
          <p:cNvSpPr>
            <a:spLocks noGrp="1"/>
          </p:cNvSpPr>
          <p:nvPr>
            <p:ph sz="half" idx="1"/>
          </p:nvPr>
        </p:nvSpPr>
        <p:spPr>
          <a:xfrm>
            <a:off x="147638" y="1846263"/>
            <a:ext cx="5872162" cy="4895850"/>
          </a:xfrm>
        </p:spPr>
        <p:txBody>
          <a:bodyPr rtlCol="0">
            <a:noAutofit/>
          </a:bodyPr>
          <a:lstStyle/>
          <a:p>
            <a:pPr marL="91440" indent="-91440" eaLnBrk="1" fontAlgn="auto" hangingPunct="1">
              <a:defRPr/>
            </a:pPr>
            <a:r>
              <a:rPr lang="en-US" altLang="en-GH" sz="2600" dirty="0">
                <a:solidFill>
                  <a:schemeClr val="tx1">
                    <a:lumMod val="75000"/>
                    <a:lumOff val="25000"/>
                  </a:schemeClr>
                </a:solidFill>
                <a:latin typeface="Times New Roman" panose="02020603050405020304" pitchFamily="18" charset="0"/>
                <a:cs typeface="Times New Roman" panose="02020603050405020304" pitchFamily="18" charset="0"/>
              </a:rPr>
              <a:t>Any of these prototypes, whether paper-based or running software, can then be evaluated to see whether they are acceptable and where there is room for improvement.</a:t>
            </a:r>
          </a:p>
          <a:p>
            <a:pPr marL="91440" indent="-91440" eaLnBrk="1" fontAlgn="auto" hangingPunct="1">
              <a:defRPr/>
            </a:pPr>
            <a:r>
              <a:rPr lang="en-US" altLang="en-GH" sz="2600" dirty="0">
                <a:solidFill>
                  <a:schemeClr val="tx1">
                    <a:lumMod val="75000"/>
                    <a:lumOff val="25000"/>
                  </a:schemeClr>
                </a:solidFill>
                <a:latin typeface="Times New Roman" panose="02020603050405020304" pitchFamily="18" charset="0"/>
                <a:cs typeface="Times New Roman" panose="02020603050405020304" pitchFamily="18" charset="0"/>
              </a:rPr>
              <a:t>The result of evaluating the system will usually be a list of faults or problems and this is followed by a redesign exercise, which is then prototyped, evaluated . .</a:t>
            </a:r>
          </a:p>
          <a:p>
            <a:pPr marL="91440" indent="-91440" eaLnBrk="1" fontAlgn="auto" hangingPunct="1">
              <a:defRPr/>
            </a:pPr>
            <a:r>
              <a:rPr lang="en-US" altLang="en-GH" sz="2600" dirty="0">
                <a:solidFill>
                  <a:schemeClr val="tx1">
                    <a:lumMod val="75000"/>
                    <a:lumOff val="25000"/>
                  </a:schemeClr>
                </a:solidFill>
                <a:latin typeface="Times New Roman" panose="02020603050405020304" pitchFamily="18" charset="0"/>
                <a:cs typeface="Times New Roman" panose="02020603050405020304" pitchFamily="18" charset="0"/>
              </a:rPr>
              <a:t>So iteration and prototyping are the universally accepted ‘best practice’ approach for interaction design</a:t>
            </a:r>
          </a:p>
          <a:p>
            <a:pPr marL="91440" indent="-91440" eaLnBrk="1" fontAlgn="auto" hangingPunct="1">
              <a:defRPr/>
            </a:pPr>
            <a:endParaRPr lang="en-US" altLang="en-GH" sz="26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59396" name="Content Placeholder 4"/>
          <p:cNvSpPr>
            <a:spLocks noGrp="1"/>
          </p:cNvSpPr>
          <p:nvPr>
            <p:ph sz="half" idx="2"/>
          </p:nvPr>
        </p:nvSpPr>
        <p:spPr>
          <a:xfrm>
            <a:off x="6218238" y="1846263"/>
            <a:ext cx="4937125" cy="4022725"/>
          </a:xfrm>
        </p:spPr>
        <p:txBody>
          <a:bodyPr rtlCol="0">
            <a:normAutofit/>
          </a:bodyPr>
          <a:lstStyle/>
          <a:p>
            <a:pPr marL="91440" indent="-91440" eaLnBrk="1" fontAlgn="auto" hangingPunct="1">
              <a:defRPr/>
            </a:pPr>
            <a:r>
              <a:rPr lang="en-US" altLang="en-GH" sz="2600" b="1" dirty="0">
                <a:solidFill>
                  <a:schemeClr val="tx1">
                    <a:lumMod val="75000"/>
                    <a:lumOff val="25000"/>
                  </a:schemeClr>
                </a:solidFill>
                <a:latin typeface="Times New Roman" panose="02020603050405020304" pitchFamily="18" charset="0"/>
                <a:cs typeface="Times New Roman" panose="02020603050405020304" pitchFamily="18" charset="0"/>
              </a:rPr>
              <a:t>Discussion: What are the advantages and disadvantages of prototyping</a:t>
            </a:r>
          </a:p>
          <a:p>
            <a:pPr marL="91440" indent="-91440" eaLnBrk="1" fontAlgn="auto" hangingPunct="1">
              <a:defRPr/>
            </a:pPr>
            <a:endParaRPr lang="en-US" altLang="en-GH" sz="2600" dirty="0">
              <a:solidFill>
                <a:schemeClr val="tx1">
                  <a:lumMod val="75000"/>
                  <a:lumOff val="25000"/>
                </a:schemeClr>
              </a:solidFill>
            </a:endParaRPr>
          </a:p>
        </p:txBody>
      </p:sp>
      <p:sp>
        <p:nvSpPr>
          <p:cNvPr id="53253"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25793349-9273-4EF9-AF49-9C403C1CB0D2}" type="slidenum">
              <a:rPr lang="en-GB" altLang="en-US">
                <a:solidFill>
                  <a:srgbClr val="FFC551"/>
                </a:solidFill>
                <a:latin typeface="Century Gothic" panose="020B0502020202020204" pitchFamily="34" charset="0"/>
                <a:cs typeface="Arial" panose="020B0604020202020204" pitchFamily="34" charset="0"/>
              </a:rPr>
              <a:pPr/>
              <a:t>40</a:t>
            </a:fld>
            <a:endParaRPr lang="en-GB" altLang="en-US">
              <a:solidFill>
                <a:srgbClr val="FFC551"/>
              </a:solidFill>
              <a:latin typeface="Century Gothic" panose="020B0502020202020204" pitchFamily="34" charset="0"/>
              <a:cs typeface="Arial" panose="020B0604020202020204" pitchFamily="34" charset="0"/>
            </a:endParaRPr>
          </a:p>
        </p:txBody>
      </p:sp>
      <p:pic>
        <p:nvPicPr>
          <p:cNvPr id="53254" name="Picture 5"/>
          <p:cNvPicPr>
            <a:picLocks noChangeAspect="1"/>
          </p:cNvPicPr>
          <p:nvPr/>
        </p:nvPicPr>
        <p:blipFill>
          <a:blip r:embed="rId2">
            <a:extLst>
              <a:ext uri="{28A0092B-C50C-407E-A947-70E740481C1C}">
                <a14:useLocalDpi xmlns:a14="http://schemas.microsoft.com/office/drawing/2010/main" val="0"/>
              </a:ext>
            </a:extLst>
          </a:blip>
          <a:srcRect l="30077" t="27361" r="33397" b="55905"/>
          <a:stretch>
            <a:fillRect/>
          </a:stretch>
        </p:blipFill>
        <p:spPr bwMode="auto">
          <a:xfrm>
            <a:off x="6019800" y="3049588"/>
            <a:ext cx="6172200" cy="183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Footer Placeholder 1"/>
          <p:cNvSpPr>
            <a:spLocks noGrp="1"/>
          </p:cNvSpPr>
          <p:nvPr>
            <p:ph type="ftr" sz="quarter" idx="11"/>
          </p:nvPr>
        </p:nvSpPr>
        <p:spPr/>
        <p:txBody>
          <a:bodyPr/>
          <a:lstStyle/>
          <a:p>
            <a:pPr>
              <a:defRPr/>
            </a:pPr>
            <a:r>
              <a:rPr lang="en-GB"/>
              <a:t>slides based on Dix, Alan, et al. "Human-computer interaction."  (2000).</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6963" y="287339"/>
            <a:ext cx="10058400" cy="621382"/>
          </a:xfrm>
        </p:spPr>
        <p:txBody>
          <a:bodyPr>
            <a:normAutofit fontScale="90000"/>
          </a:bodyPr>
          <a:lstStyle/>
          <a:p>
            <a:pPr algn="ctr"/>
            <a:r>
              <a:rPr lang="en-US" dirty="0"/>
              <a:t>Design Focus</a:t>
            </a:r>
          </a:p>
        </p:txBody>
      </p:sp>
      <p:pic>
        <p:nvPicPr>
          <p:cNvPr id="7" name="Content Placeholder 6"/>
          <p:cNvPicPr>
            <a:picLocks noGrp="1" noChangeAspect="1"/>
          </p:cNvPicPr>
          <p:nvPr>
            <p:ph idx="1"/>
          </p:nvPr>
        </p:nvPicPr>
        <p:blipFill rotWithShape="1">
          <a:blip r:embed="rId2"/>
          <a:srcRect l="44807" t="39345" r="39351" b="26644"/>
          <a:stretch/>
        </p:blipFill>
        <p:spPr>
          <a:xfrm>
            <a:off x="3503712" y="908721"/>
            <a:ext cx="5400600" cy="5238354"/>
          </a:xfrm>
          <a:prstGeom prst="rect">
            <a:avLst/>
          </a:prstGeom>
        </p:spPr>
      </p:pic>
      <p:sp>
        <p:nvSpPr>
          <p:cNvPr id="5" name="Slide Number Placeholder 4"/>
          <p:cNvSpPr>
            <a:spLocks noGrp="1"/>
          </p:cNvSpPr>
          <p:nvPr>
            <p:ph type="sldNum" sz="quarter" idx="12"/>
          </p:nvPr>
        </p:nvSpPr>
        <p:spPr/>
        <p:txBody>
          <a:bodyPr/>
          <a:lstStyle/>
          <a:p>
            <a:pPr>
              <a:defRPr/>
            </a:pPr>
            <a:fld id="{83D530C7-866A-4E32-9D84-AC8AA2B72CFB}" type="slidenum">
              <a:rPr lang="en-GB" altLang="en-US" smtClean="0"/>
              <a:pPr>
                <a:defRPr/>
              </a:pPr>
              <a:t>41</a:t>
            </a:fld>
            <a:endParaRPr lang="en-GB" altLang="en-US"/>
          </a:p>
        </p:txBody>
      </p:sp>
      <p:sp>
        <p:nvSpPr>
          <p:cNvPr id="3" name="Footer Placeholder 2"/>
          <p:cNvSpPr>
            <a:spLocks noGrp="1"/>
          </p:cNvSpPr>
          <p:nvPr>
            <p:ph type="ftr" sz="quarter" idx="11"/>
          </p:nvPr>
        </p:nvSpPr>
        <p:spPr/>
        <p:txBody>
          <a:bodyPr/>
          <a:lstStyle/>
          <a:p>
            <a:pPr>
              <a:defRPr/>
            </a:pPr>
            <a:r>
              <a:rPr lang="en-GB"/>
              <a:t>slides based on Dix, Alan, et al. "Human-computer interaction."  (2000).</a:t>
            </a:r>
          </a:p>
        </p:txBody>
      </p:sp>
    </p:spTree>
    <p:extLst>
      <p:ext uri="{BB962C8B-B14F-4D97-AF65-F5344CB8AC3E}">
        <p14:creationId xmlns:p14="http://schemas.microsoft.com/office/powerpoint/2010/main" val="42298769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6963" y="287339"/>
            <a:ext cx="10058400" cy="693390"/>
          </a:xfrm>
        </p:spPr>
        <p:txBody>
          <a:bodyPr>
            <a:normAutofit fontScale="90000"/>
          </a:bodyPr>
          <a:lstStyle/>
          <a:p>
            <a:pPr algn="ctr"/>
            <a:r>
              <a:rPr lang="en-US" dirty="0" err="1"/>
              <a:t>Colour</a:t>
            </a:r>
            <a:r>
              <a:rPr lang="en-US" dirty="0"/>
              <a:t> and 3D</a:t>
            </a:r>
          </a:p>
        </p:txBody>
      </p:sp>
      <p:pic>
        <p:nvPicPr>
          <p:cNvPr id="5" name="Content Placeholder 4"/>
          <p:cNvPicPr>
            <a:picLocks noGrp="1" noChangeAspect="1"/>
          </p:cNvPicPr>
          <p:nvPr>
            <p:ph idx="1"/>
          </p:nvPr>
        </p:nvPicPr>
        <p:blipFill rotWithShape="1">
          <a:blip r:embed="rId2"/>
          <a:srcRect l="15361" t="26815" r="38346" b="21275"/>
          <a:stretch/>
        </p:blipFill>
        <p:spPr>
          <a:xfrm>
            <a:off x="191344" y="1844824"/>
            <a:ext cx="7560840" cy="3858690"/>
          </a:xfrm>
          <a:prstGeom prst="rect">
            <a:avLst/>
          </a:prstGeom>
        </p:spPr>
      </p:pic>
      <p:sp>
        <p:nvSpPr>
          <p:cNvPr id="4" name="Slide Number Placeholder 3"/>
          <p:cNvSpPr>
            <a:spLocks noGrp="1"/>
          </p:cNvSpPr>
          <p:nvPr>
            <p:ph type="sldNum" sz="quarter" idx="12"/>
          </p:nvPr>
        </p:nvSpPr>
        <p:spPr/>
        <p:txBody>
          <a:bodyPr/>
          <a:lstStyle/>
          <a:p>
            <a:pPr>
              <a:defRPr/>
            </a:pPr>
            <a:fld id="{784CB106-59EF-4E38-AE9E-B3544BD66F06}" type="slidenum">
              <a:rPr lang="en-GB" altLang="en-US" smtClean="0"/>
              <a:pPr>
                <a:defRPr/>
              </a:pPr>
              <a:t>42</a:t>
            </a:fld>
            <a:endParaRPr lang="en-GB" altLang="en-US"/>
          </a:p>
        </p:txBody>
      </p:sp>
      <p:pic>
        <p:nvPicPr>
          <p:cNvPr id="6" name="Picture 5"/>
          <p:cNvPicPr>
            <a:picLocks noChangeAspect="1"/>
          </p:cNvPicPr>
          <p:nvPr/>
        </p:nvPicPr>
        <p:blipFill rotWithShape="1">
          <a:blip r:embed="rId3"/>
          <a:srcRect l="5725" t="30313" r="45019" b="42125"/>
          <a:stretch/>
        </p:blipFill>
        <p:spPr>
          <a:xfrm>
            <a:off x="5765807" y="2924944"/>
            <a:ext cx="6408712" cy="2016224"/>
          </a:xfrm>
          <a:prstGeom prst="rect">
            <a:avLst/>
          </a:prstGeom>
        </p:spPr>
      </p:pic>
      <p:sp>
        <p:nvSpPr>
          <p:cNvPr id="3" name="Footer Placeholder 2"/>
          <p:cNvSpPr>
            <a:spLocks noGrp="1"/>
          </p:cNvSpPr>
          <p:nvPr>
            <p:ph type="ftr" sz="quarter" idx="11"/>
          </p:nvPr>
        </p:nvSpPr>
        <p:spPr/>
        <p:txBody>
          <a:bodyPr/>
          <a:lstStyle/>
          <a:p>
            <a:pPr>
              <a:defRPr/>
            </a:pPr>
            <a:r>
              <a:rPr lang="en-GB"/>
              <a:t>slides based on Dix, Alan, et al. "Human-computer interaction."  (2000).</a:t>
            </a:r>
          </a:p>
        </p:txBody>
      </p:sp>
    </p:spTree>
    <p:extLst>
      <p:ext uri="{BB962C8B-B14F-4D97-AF65-F5344CB8AC3E}">
        <p14:creationId xmlns:p14="http://schemas.microsoft.com/office/powerpoint/2010/main" val="25675803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Reading assignment</a:t>
            </a:r>
          </a:p>
        </p:txBody>
      </p:sp>
      <p:sp>
        <p:nvSpPr>
          <p:cNvPr id="3" name="Content Placeholder 2"/>
          <p:cNvSpPr>
            <a:spLocks noGrp="1"/>
          </p:cNvSpPr>
          <p:nvPr>
            <p:ph idx="1"/>
          </p:nvPr>
        </p:nvSpPr>
        <p:spPr/>
        <p:txBody>
          <a:bodyPr/>
          <a:lstStyle/>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algn="ctr"/>
            <a:r>
              <a:rPr lang="en-US" sz="2500" b="1" dirty="0">
                <a:latin typeface="Times New Roman" panose="02020603050405020304" pitchFamily="18" charset="0"/>
                <a:cs typeface="Times New Roman" panose="02020603050405020304" pitchFamily="18" charset="0"/>
              </a:rPr>
              <a:t>Color Guidelines</a:t>
            </a:r>
          </a:p>
          <a:p>
            <a:r>
              <a:rPr lang="en-US" sz="2500" dirty="0">
                <a:latin typeface="Times New Roman" panose="02020603050405020304" pitchFamily="18" charset="0"/>
                <a:cs typeface="Times New Roman" panose="02020603050405020304" pitchFamily="18" charset="0"/>
              </a:rPr>
              <a:t>https://web.cs.wpi.edu/~dcb/courses/CS3041/Color-guidelines.html</a:t>
            </a:r>
          </a:p>
        </p:txBody>
      </p:sp>
      <p:sp>
        <p:nvSpPr>
          <p:cNvPr id="4" name="Slide Number Placeholder 3"/>
          <p:cNvSpPr>
            <a:spLocks noGrp="1"/>
          </p:cNvSpPr>
          <p:nvPr>
            <p:ph type="sldNum" sz="quarter" idx="12"/>
          </p:nvPr>
        </p:nvSpPr>
        <p:spPr/>
        <p:txBody>
          <a:bodyPr/>
          <a:lstStyle/>
          <a:p>
            <a:pPr>
              <a:defRPr/>
            </a:pPr>
            <a:fld id="{784CB106-59EF-4E38-AE9E-B3544BD66F06}" type="slidenum">
              <a:rPr lang="en-GB" altLang="en-US" smtClean="0"/>
              <a:pPr>
                <a:defRPr/>
              </a:pPr>
              <a:t>43</a:t>
            </a:fld>
            <a:endParaRPr lang="en-GB" altLang="en-US"/>
          </a:p>
        </p:txBody>
      </p:sp>
      <p:sp>
        <p:nvSpPr>
          <p:cNvPr id="5" name="Footer Placeholder 4"/>
          <p:cNvSpPr>
            <a:spLocks noGrp="1"/>
          </p:cNvSpPr>
          <p:nvPr>
            <p:ph type="ftr" sz="quarter" idx="11"/>
          </p:nvPr>
        </p:nvSpPr>
        <p:spPr/>
        <p:txBody>
          <a:bodyPr/>
          <a:lstStyle/>
          <a:p>
            <a:pPr>
              <a:defRPr/>
            </a:pPr>
            <a:r>
              <a:rPr lang="en-GB"/>
              <a:t>slides based on Dix, Alan, et al. "Human-computer interaction."  (2000).</a:t>
            </a:r>
          </a:p>
        </p:txBody>
      </p:sp>
    </p:spTree>
    <p:extLst>
      <p:ext uri="{BB962C8B-B14F-4D97-AF65-F5344CB8AC3E}">
        <p14:creationId xmlns:p14="http://schemas.microsoft.com/office/powerpoint/2010/main" val="17119347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Assignment  --- To be submitted via the V-class</a:t>
            </a:r>
          </a:p>
        </p:txBody>
      </p:sp>
      <p:sp>
        <p:nvSpPr>
          <p:cNvPr id="3" name="Content Placeholder 2"/>
          <p:cNvSpPr>
            <a:spLocks noGrp="1"/>
          </p:cNvSpPr>
          <p:nvPr>
            <p:ph idx="1"/>
          </p:nvPr>
        </p:nvSpPr>
        <p:spPr>
          <a:xfrm>
            <a:off x="407368" y="1846263"/>
            <a:ext cx="11521280" cy="4391049"/>
          </a:xfrm>
        </p:spPr>
        <p:txBody>
          <a:bodyPr/>
          <a:lstStyle/>
          <a:p>
            <a:r>
              <a:rPr lang="en-US" dirty="0">
                <a:latin typeface="Times New Roman" panose="02020603050405020304" pitchFamily="18" charset="0"/>
                <a:cs typeface="Times New Roman" panose="02020603050405020304" pitchFamily="18" charset="0"/>
              </a:rPr>
              <a:t>Read the scenario at </a:t>
            </a:r>
          </a:p>
          <a:p>
            <a:r>
              <a:rPr lang="en-US" dirty="0">
                <a:latin typeface="Times New Roman" panose="02020603050405020304" pitchFamily="18" charset="0"/>
                <a:cs typeface="Times New Roman" panose="02020603050405020304" pitchFamily="18" charset="0"/>
                <a:hlinkClick r:id="rId2"/>
              </a:rPr>
              <a:t>https://www.hcibook.com/e3/scenario/nuclear/</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And use it to answer these questions. Submit on the v-class. Check online for the submission deadline</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784CB106-59EF-4E38-AE9E-B3544BD66F06}" type="slidenum">
              <a:rPr lang="en-GB" altLang="en-US" smtClean="0"/>
              <a:pPr>
                <a:defRPr/>
              </a:pPr>
              <a:t>44</a:t>
            </a:fld>
            <a:endParaRPr lang="en-GB" altLang="en-US"/>
          </a:p>
        </p:txBody>
      </p:sp>
      <p:pic>
        <p:nvPicPr>
          <p:cNvPr id="5" name="Picture 4"/>
          <p:cNvPicPr>
            <a:picLocks noChangeAspect="1"/>
          </p:cNvPicPr>
          <p:nvPr/>
        </p:nvPicPr>
        <p:blipFill rotWithShape="1">
          <a:blip r:embed="rId3"/>
          <a:srcRect l="21774" t="39172" r="20668" b="38188"/>
          <a:stretch/>
        </p:blipFill>
        <p:spPr>
          <a:xfrm>
            <a:off x="551384" y="3645024"/>
            <a:ext cx="9865096" cy="2195525"/>
          </a:xfrm>
          <a:prstGeom prst="rect">
            <a:avLst/>
          </a:prstGeom>
        </p:spPr>
      </p:pic>
      <p:sp>
        <p:nvSpPr>
          <p:cNvPr id="6" name="Footer Placeholder 5"/>
          <p:cNvSpPr>
            <a:spLocks noGrp="1"/>
          </p:cNvSpPr>
          <p:nvPr>
            <p:ph type="ftr" sz="quarter" idx="11"/>
          </p:nvPr>
        </p:nvSpPr>
        <p:spPr/>
        <p:txBody>
          <a:bodyPr/>
          <a:lstStyle/>
          <a:p>
            <a:pPr>
              <a:defRPr/>
            </a:pPr>
            <a:r>
              <a:rPr lang="en-GB"/>
              <a:t>slides based on Dix, Alan, et al. "Human-computer interaction."  (2000).</a:t>
            </a:r>
          </a:p>
        </p:txBody>
      </p:sp>
    </p:spTree>
    <p:extLst>
      <p:ext uri="{BB962C8B-B14F-4D97-AF65-F5344CB8AC3E}">
        <p14:creationId xmlns:p14="http://schemas.microsoft.com/office/powerpoint/2010/main" val="306034579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Group presentation</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Read the scenario at </a:t>
            </a:r>
          </a:p>
          <a:p>
            <a:r>
              <a:rPr lang="en-US" dirty="0">
                <a:latin typeface="Times New Roman" panose="02020603050405020304" pitchFamily="18" charset="0"/>
                <a:cs typeface="Times New Roman" panose="02020603050405020304" pitchFamily="18" charset="0"/>
                <a:hlinkClick r:id="rId2"/>
              </a:rPr>
              <a:t>https://www.hcibook.com/e3/scenario/nuclear/</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and create a group video presentation addressing these two questions.</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784CB106-59EF-4E38-AE9E-B3544BD66F06}" type="slidenum">
              <a:rPr lang="en-GB" altLang="en-US" smtClean="0"/>
              <a:pPr>
                <a:defRPr/>
              </a:pPr>
              <a:t>45</a:t>
            </a:fld>
            <a:endParaRPr lang="en-GB" altLang="en-US"/>
          </a:p>
        </p:txBody>
      </p:sp>
      <p:pic>
        <p:nvPicPr>
          <p:cNvPr id="6" name="Picture 5"/>
          <p:cNvPicPr>
            <a:picLocks noChangeAspect="1"/>
          </p:cNvPicPr>
          <p:nvPr/>
        </p:nvPicPr>
        <p:blipFill rotWithShape="1">
          <a:blip r:embed="rId3"/>
          <a:srcRect l="25096" t="60828" r="26202" b="27359"/>
          <a:stretch/>
        </p:blipFill>
        <p:spPr>
          <a:xfrm>
            <a:off x="906226" y="3573016"/>
            <a:ext cx="10249137" cy="1397610"/>
          </a:xfrm>
          <a:prstGeom prst="rect">
            <a:avLst/>
          </a:prstGeom>
        </p:spPr>
      </p:pic>
      <p:sp>
        <p:nvSpPr>
          <p:cNvPr id="5" name="Footer Placeholder 4"/>
          <p:cNvSpPr>
            <a:spLocks noGrp="1"/>
          </p:cNvSpPr>
          <p:nvPr>
            <p:ph type="ftr" sz="quarter" idx="11"/>
          </p:nvPr>
        </p:nvSpPr>
        <p:spPr/>
        <p:txBody>
          <a:bodyPr/>
          <a:lstStyle/>
          <a:p>
            <a:pPr>
              <a:defRPr/>
            </a:pPr>
            <a:r>
              <a:rPr lang="en-GB"/>
              <a:t>slides based on Dix, Alan, et al. "Human-computer interaction."  (2000).</a:t>
            </a:r>
          </a:p>
        </p:txBody>
      </p:sp>
    </p:spTree>
    <p:extLst>
      <p:ext uri="{BB962C8B-B14F-4D97-AF65-F5344CB8AC3E}">
        <p14:creationId xmlns:p14="http://schemas.microsoft.com/office/powerpoint/2010/main" val="20349357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title"/>
          </p:nvPr>
        </p:nvSpPr>
        <p:spPr/>
        <p:txBody>
          <a:bodyPr/>
          <a:lstStyle/>
          <a:p>
            <a:pPr algn="ctr" eaLnBrk="1" fontAlgn="auto" hangingPunct="1">
              <a:spcAft>
                <a:spcPts val="0"/>
              </a:spcAft>
              <a:defRPr/>
            </a:pPr>
            <a:r>
              <a:rPr lang="en-US" altLang="en-GH" dirty="0">
                <a:solidFill>
                  <a:schemeClr val="tx1">
                    <a:lumMod val="75000"/>
                    <a:lumOff val="25000"/>
                  </a:schemeClr>
                </a:solidFill>
                <a:latin typeface="Times New Roman" panose="02020603050405020304" pitchFamily="18" charset="0"/>
                <a:cs typeface="Times New Roman" panose="02020603050405020304" pitchFamily="18" charset="0"/>
              </a:rPr>
              <a:t>Approaches to prototyping</a:t>
            </a:r>
          </a:p>
        </p:txBody>
      </p:sp>
      <p:sp>
        <p:nvSpPr>
          <p:cNvPr id="3" name="Content Placeholder 2"/>
          <p:cNvSpPr>
            <a:spLocks noGrp="1"/>
          </p:cNvSpPr>
          <p:nvPr>
            <p:ph idx="1"/>
          </p:nvPr>
        </p:nvSpPr>
        <p:spPr/>
        <p:txBody>
          <a:bodyPr rtlCol="0">
            <a:normAutofit/>
          </a:bodyPr>
          <a:lstStyle/>
          <a:p>
            <a:pPr marL="91440" indent="-91440" eaLnBrk="1" fontAlgn="auto" hangingPunct="1">
              <a:defRPr/>
            </a:pP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There are three main approaches to prototyping:</a:t>
            </a:r>
          </a:p>
          <a:p>
            <a:pPr marL="91440" indent="-91440" eaLnBrk="1" fontAlgn="auto" hangingPunct="1">
              <a:defRPr/>
            </a:pPr>
            <a:endParaRPr 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eaLnBrk="1" fontAlgn="auto" hangingPunct="1">
              <a:defRPr/>
            </a:pPr>
            <a:endParaRPr 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457200" indent="-457200" eaLnBrk="1" fontAlgn="auto" hangingPunct="1">
              <a:lnSpc>
                <a:spcPct val="150000"/>
              </a:lnSpc>
              <a:buFont typeface="+mj-lt"/>
              <a:buAutoNum type="arabicPeriod"/>
              <a:defRPr/>
            </a:pP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Throwaway</a:t>
            </a:r>
          </a:p>
          <a:p>
            <a:pPr marL="457200" indent="-457200" eaLnBrk="1" fontAlgn="auto" hangingPunct="1">
              <a:lnSpc>
                <a:spcPct val="150000"/>
              </a:lnSpc>
              <a:buFont typeface="+mj-lt"/>
              <a:buAutoNum type="arabicPeriod"/>
              <a:defRPr/>
            </a:pP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Incremental</a:t>
            </a:r>
          </a:p>
          <a:p>
            <a:pPr marL="457200" indent="-457200" eaLnBrk="1" fontAlgn="auto" hangingPunct="1">
              <a:lnSpc>
                <a:spcPct val="150000"/>
              </a:lnSpc>
              <a:buFont typeface="+mj-lt"/>
              <a:buAutoNum type="arabicPeriod"/>
              <a:defRPr/>
            </a:pP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evolutionary</a:t>
            </a:r>
          </a:p>
        </p:txBody>
      </p:sp>
      <p:sp>
        <p:nvSpPr>
          <p:cNvPr id="54276"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C391EDA9-1A8D-4BBA-8465-70A08C936F28}" type="slidenum">
              <a:rPr lang="en-GB" altLang="en-US">
                <a:solidFill>
                  <a:srgbClr val="FFC551"/>
                </a:solidFill>
                <a:latin typeface="Century Gothic" panose="020B0502020202020204" pitchFamily="34" charset="0"/>
                <a:cs typeface="Arial" panose="020B0604020202020204" pitchFamily="34" charset="0"/>
              </a:rPr>
              <a:pPr/>
              <a:t>46</a:t>
            </a:fld>
            <a:endParaRPr lang="en-GB" altLang="en-US">
              <a:solidFill>
                <a:srgbClr val="FFC551"/>
              </a:solidFill>
              <a:latin typeface="Century Gothic" panose="020B0502020202020204" pitchFamily="34" charset="0"/>
              <a:cs typeface="Arial" panose="020B0604020202020204" pitchFamily="34" charset="0"/>
            </a:endParaRPr>
          </a:p>
        </p:txBody>
      </p:sp>
      <p:sp>
        <p:nvSpPr>
          <p:cNvPr id="2" name="Footer Placeholder 1"/>
          <p:cNvSpPr>
            <a:spLocks noGrp="1"/>
          </p:cNvSpPr>
          <p:nvPr>
            <p:ph type="ftr" sz="quarter" idx="11"/>
          </p:nvPr>
        </p:nvSpPr>
        <p:spPr/>
        <p:txBody>
          <a:bodyPr/>
          <a:lstStyle/>
          <a:p>
            <a:pPr>
              <a:defRPr/>
            </a:pPr>
            <a:r>
              <a:rPr lang="en-GB"/>
              <a:t>slides based on Dix, Alan, et al. "Human-computer interaction."  (2000).</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4"/>
          <p:cNvSpPr>
            <a:spLocks noGrp="1"/>
          </p:cNvSpPr>
          <p:nvPr>
            <p:ph type="title"/>
          </p:nvPr>
        </p:nvSpPr>
        <p:spPr>
          <a:xfrm>
            <a:off x="838200" y="788988"/>
            <a:ext cx="10515600" cy="623887"/>
          </a:xfrm>
        </p:spPr>
        <p:txBody>
          <a:bodyPr>
            <a:normAutofit fontScale="90000"/>
          </a:bodyPr>
          <a:lstStyle/>
          <a:p>
            <a:pPr algn="ctr" eaLnBrk="1" fontAlgn="auto" hangingPunct="1">
              <a:spcAft>
                <a:spcPts val="0"/>
              </a:spcAft>
              <a:defRPr/>
            </a:pPr>
            <a:r>
              <a:rPr lang="en-US" altLang="en-GH" dirty="0">
                <a:solidFill>
                  <a:schemeClr val="tx1">
                    <a:lumMod val="75000"/>
                    <a:lumOff val="25000"/>
                  </a:schemeClr>
                </a:solidFill>
                <a:latin typeface="Times New Roman" panose="02020603050405020304" pitchFamily="18" charset="0"/>
                <a:cs typeface="Times New Roman" panose="02020603050405020304" pitchFamily="18" charset="0"/>
              </a:rPr>
              <a:t>Throw-away prototyping</a:t>
            </a:r>
          </a:p>
        </p:txBody>
      </p:sp>
      <p:sp>
        <p:nvSpPr>
          <p:cNvPr id="55299" name="Content Placeholder 5"/>
          <p:cNvSpPr>
            <a:spLocks noGrp="1" noChangeArrowheads="1"/>
          </p:cNvSpPr>
          <p:nvPr>
            <p:ph sz="half" idx="1"/>
          </p:nvPr>
        </p:nvSpPr>
        <p:spPr>
          <a:xfrm>
            <a:off x="334963" y="1844675"/>
            <a:ext cx="5684837" cy="4984750"/>
          </a:xfrm>
        </p:spPr>
        <p:txBody>
          <a:bodyPr/>
          <a:lstStyle/>
          <a:p>
            <a:pPr eaLnBrk="1" hangingPunct="1"/>
            <a:r>
              <a:rPr lang="en-US" altLang="en-US" sz="2600" b="1" dirty="0">
                <a:latin typeface="Times New Roman" panose="02020603050405020304" pitchFamily="18" charset="0"/>
                <a:cs typeface="Times New Roman" panose="02020603050405020304" pitchFamily="18" charset="0"/>
              </a:rPr>
              <a:t>Throw-away: </a:t>
            </a:r>
            <a:r>
              <a:rPr lang="en-US" altLang="en-US" sz="2600" dirty="0">
                <a:latin typeface="Times New Roman" panose="02020603050405020304" pitchFamily="18" charset="0"/>
                <a:cs typeface="Times New Roman" panose="02020603050405020304" pitchFamily="18" charset="0"/>
              </a:rPr>
              <a:t>The prototype is built and tested. </a:t>
            </a:r>
          </a:p>
          <a:p>
            <a:pPr eaLnBrk="1" hangingPunct="1"/>
            <a:r>
              <a:rPr lang="en-US" altLang="en-US" sz="2600" dirty="0">
                <a:latin typeface="Times New Roman" panose="02020603050405020304" pitchFamily="18" charset="0"/>
                <a:cs typeface="Times New Roman" panose="02020603050405020304" pitchFamily="18" charset="0"/>
              </a:rPr>
              <a:t>The design knowledge gained from this exercise is used to build the final product, </a:t>
            </a:r>
            <a:r>
              <a:rPr lang="en-US" altLang="en-US" sz="2600" b="1" dirty="0">
                <a:latin typeface="Times New Roman" panose="02020603050405020304" pitchFamily="18" charset="0"/>
                <a:cs typeface="Times New Roman" panose="02020603050405020304" pitchFamily="18" charset="0"/>
              </a:rPr>
              <a:t>but the actual prototype is discarded. </a:t>
            </a:r>
          </a:p>
          <a:p>
            <a:pPr eaLnBrk="1" hangingPunct="1"/>
            <a:endParaRPr lang="en-US" altLang="en-US" sz="2600" dirty="0">
              <a:latin typeface="Times New Roman" panose="02020603050405020304" pitchFamily="18" charset="0"/>
              <a:cs typeface="Times New Roman" panose="02020603050405020304" pitchFamily="18" charset="0"/>
            </a:endParaRPr>
          </a:p>
          <a:p>
            <a:pPr eaLnBrk="1" hangingPunct="1"/>
            <a:r>
              <a:rPr lang="en-US" altLang="en-US" sz="2600" dirty="0">
                <a:latin typeface="Times New Roman" panose="02020603050405020304" pitchFamily="18" charset="0"/>
                <a:cs typeface="Times New Roman" panose="02020603050405020304" pitchFamily="18" charset="0"/>
              </a:rPr>
              <a:t>The Figure on this slide depicts the procedure in using throw-away prototypes to arrive at a final requirements specification in order for the rest of the design process to proceed.</a:t>
            </a:r>
          </a:p>
        </p:txBody>
      </p:sp>
      <p:pic>
        <p:nvPicPr>
          <p:cNvPr id="55300" name="Content Placeholder 7"/>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5880100" y="1773238"/>
            <a:ext cx="6192838" cy="3959225"/>
          </a:xfrm>
        </p:spPr>
      </p:pic>
      <p:sp>
        <p:nvSpPr>
          <p:cNvPr id="55301"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CD746323-5369-4301-B7D4-1EB38F8A6BA0}" type="slidenum">
              <a:rPr lang="en-GB" altLang="en-US">
                <a:solidFill>
                  <a:srgbClr val="FFC551"/>
                </a:solidFill>
                <a:latin typeface="Century Gothic" panose="020B0502020202020204" pitchFamily="34" charset="0"/>
                <a:cs typeface="Arial" panose="020B0604020202020204" pitchFamily="34" charset="0"/>
              </a:rPr>
              <a:pPr/>
              <a:t>47</a:t>
            </a:fld>
            <a:endParaRPr lang="en-GB" altLang="en-US">
              <a:solidFill>
                <a:srgbClr val="FFC551"/>
              </a:solidFill>
              <a:latin typeface="Century Gothic" panose="020B0502020202020204" pitchFamily="34" charset="0"/>
              <a:cs typeface="Arial" panose="020B0604020202020204" pitchFamily="34" charset="0"/>
            </a:endParaRPr>
          </a:p>
        </p:txBody>
      </p:sp>
      <p:sp>
        <p:nvSpPr>
          <p:cNvPr id="2" name="Footer Placeholder 1"/>
          <p:cNvSpPr>
            <a:spLocks noGrp="1"/>
          </p:cNvSpPr>
          <p:nvPr>
            <p:ph type="ftr" sz="quarter" idx="11"/>
          </p:nvPr>
        </p:nvSpPr>
        <p:spPr/>
        <p:txBody>
          <a:bodyPr/>
          <a:lstStyle/>
          <a:p>
            <a:pPr>
              <a:defRPr/>
            </a:pPr>
            <a:r>
              <a:rPr lang="en-GB"/>
              <a:t>slides based on Dix, Alan, et al. "Human-computer interaction."  (2000).</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4"/>
          <p:cNvSpPr>
            <a:spLocks noGrp="1"/>
          </p:cNvSpPr>
          <p:nvPr>
            <p:ph type="title"/>
          </p:nvPr>
        </p:nvSpPr>
        <p:spPr>
          <a:xfrm>
            <a:off x="838200" y="788988"/>
            <a:ext cx="10515600" cy="623887"/>
          </a:xfrm>
        </p:spPr>
        <p:txBody>
          <a:bodyPr>
            <a:normAutofit fontScale="90000"/>
          </a:bodyPr>
          <a:lstStyle/>
          <a:p>
            <a:pPr algn="ctr" eaLnBrk="1" fontAlgn="auto" hangingPunct="1">
              <a:spcAft>
                <a:spcPts val="0"/>
              </a:spcAft>
              <a:defRPr/>
            </a:pPr>
            <a:r>
              <a:rPr lang="en-US" altLang="en-GH">
                <a:solidFill>
                  <a:schemeClr val="tx1">
                    <a:lumMod val="75000"/>
                    <a:lumOff val="25000"/>
                  </a:schemeClr>
                </a:solidFill>
                <a:latin typeface="Futura Md BT"/>
              </a:rPr>
              <a:t>Incremental prototyping</a:t>
            </a:r>
          </a:p>
        </p:txBody>
      </p:sp>
      <p:sp>
        <p:nvSpPr>
          <p:cNvPr id="56323" name="Content Placeholder 5"/>
          <p:cNvSpPr>
            <a:spLocks noGrp="1" noChangeArrowheads="1"/>
          </p:cNvSpPr>
          <p:nvPr>
            <p:ph sz="half" idx="1"/>
          </p:nvPr>
        </p:nvSpPr>
        <p:spPr>
          <a:xfrm>
            <a:off x="263525" y="1801813"/>
            <a:ext cx="6120904" cy="4840287"/>
          </a:xfrm>
        </p:spPr>
        <p:txBody>
          <a:bodyPr/>
          <a:lstStyle/>
          <a:p>
            <a:pPr eaLnBrk="1" hangingPunct="1"/>
            <a:r>
              <a:rPr lang="en-US" altLang="en-US" sz="2600" b="1" dirty="0">
                <a:latin typeface="Times New Roman" panose="02020603050405020304" pitchFamily="18" charset="0"/>
                <a:cs typeface="Times New Roman" panose="02020603050405020304" pitchFamily="18" charset="0"/>
              </a:rPr>
              <a:t>Incremental: </a:t>
            </a:r>
            <a:r>
              <a:rPr lang="en-US" altLang="en-US" sz="2600" dirty="0">
                <a:solidFill>
                  <a:srgbClr val="00B050"/>
                </a:solidFill>
                <a:latin typeface="Times New Roman" panose="02020603050405020304" pitchFamily="18" charset="0"/>
                <a:cs typeface="Times New Roman" panose="02020603050405020304" pitchFamily="18" charset="0"/>
              </a:rPr>
              <a:t>The final product is built as separate components, one at a time.</a:t>
            </a:r>
            <a:endParaRPr lang="en-US" altLang="en-US" sz="2600" dirty="0">
              <a:latin typeface="Times New Roman" panose="02020603050405020304" pitchFamily="18" charset="0"/>
              <a:cs typeface="Times New Roman" panose="02020603050405020304" pitchFamily="18" charset="0"/>
            </a:endParaRPr>
          </a:p>
          <a:p>
            <a:pPr eaLnBrk="1" hangingPunct="1"/>
            <a:r>
              <a:rPr lang="en-US" altLang="en-US" sz="2600" b="1" dirty="0">
                <a:latin typeface="Times New Roman" panose="02020603050405020304" pitchFamily="18" charset="0"/>
                <a:cs typeface="Times New Roman" panose="02020603050405020304" pitchFamily="18" charset="0"/>
              </a:rPr>
              <a:t>There is one overall design for the final system, but it is partitioned into independent and smaller components. </a:t>
            </a:r>
          </a:p>
          <a:p>
            <a:pPr marL="0" indent="0" eaLnBrk="1" hangingPunct="1">
              <a:buNone/>
            </a:pPr>
            <a:endParaRPr lang="en-US" altLang="en-US" sz="2600" dirty="0">
              <a:latin typeface="Times New Roman" panose="02020603050405020304" pitchFamily="18" charset="0"/>
              <a:cs typeface="Times New Roman" panose="02020603050405020304" pitchFamily="18" charset="0"/>
            </a:endParaRPr>
          </a:p>
          <a:p>
            <a:pPr eaLnBrk="1" hangingPunct="1"/>
            <a:r>
              <a:rPr lang="en-US" altLang="en-US" sz="2600" dirty="0">
                <a:latin typeface="Times New Roman" panose="02020603050405020304" pitchFamily="18" charset="0"/>
                <a:cs typeface="Times New Roman" panose="02020603050405020304" pitchFamily="18" charset="0"/>
              </a:rPr>
              <a:t>The final product is then released as a series of products, each subsequent release including one more component. </a:t>
            </a:r>
          </a:p>
          <a:p>
            <a:pPr eaLnBrk="1" hangingPunct="1"/>
            <a:r>
              <a:rPr lang="en-US" altLang="en-US" sz="2600" dirty="0">
                <a:latin typeface="Times New Roman" panose="02020603050405020304" pitchFamily="18" charset="0"/>
                <a:cs typeface="Times New Roman" panose="02020603050405020304" pitchFamily="18" charset="0"/>
              </a:rPr>
              <a:t>This is depicted in the Figure on the slide</a:t>
            </a:r>
          </a:p>
        </p:txBody>
      </p:sp>
      <p:pic>
        <p:nvPicPr>
          <p:cNvPr id="56324" name="Content Placeholder 8"/>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6172200" y="1700213"/>
            <a:ext cx="5756275" cy="4048125"/>
          </a:xfrm>
        </p:spPr>
      </p:pic>
      <p:sp>
        <p:nvSpPr>
          <p:cNvPr id="56325"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836D2B8A-A02A-40E5-B5E5-C61D85407D4D}" type="slidenum">
              <a:rPr lang="en-GB" altLang="en-US">
                <a:solidFill>
                  <a:srgbClr val="FFC551"/>
                </a:solidFill>
                <a:latin typeface="Century Gothic" panose="020B0502020202020204" pitchFamily="34" charset="0"/>
                <a:cs typeface="Arial" panose="020B0604020202020204" pitchFamily="34" charset="0"/>
              </a:rPr>
              <a:pPr/>
              <a:t>48</a:t>
            </a:fld>
            <a:endParaRPr lang="en-GB" altLang="en-US">
              <a:solidFill>
                <a:srgbClr val="FFC551"/>
              </a:solidFill>
              <a:latin typeface="Century Gothic" panose="020B0502020202020204" pitchFamily="34" charset="0"/>
              <a:cs typeface="Arial" panose="020B0604020202020204" pitchFamily="34" charset="0"/>
            </a:endParaRPr>
          </a:p>
        </p:txBody>
      </p:sp>
      <p:sp>
        <p:nvSpPr>
          <p:cNvPr id="2" name="Footer Placeholder 1"/>
          <p:cNvSpPr>
            <a:spLocks noGrp="1"/>
          </p:cNvSpPr>
          <p:nvPr>
            <p:ph type="ftr" sz="quarter" idx="11"/>
          </p:nvPr>
        </p:nvSpPr>
        <p:spPr/>
        <p:txBody>
          <a:bodyPr/>
          <a:lstStyle/>
          <a:p>
            <a:pPr>
              <a:defRPr/>
            </a:pPr>
            <a:r>
              <a:rPr lang="en-GB"/>
              <a:t>slides based on Dix, Alan, et al. "Human-computer interaction."  (2000).</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4"/>
          <p:cNvSpPr>
            <a:spLocks noGrp="1"/>
          </p:cNvSpPr>
          <p:nvPr>
            <p:ph type="title"/>
          </p:nvPr>
        </p:nvSpPr>
        <p:spPr>
          <a:xfrm>
            <a:off x="838200" y="788988"/>
            <a:ext cx="10515600" cy="623887"/>
          </a:xfrm>
        </p:spPr>
        <p:txBody>
          <a:bodyPr>
            <a:normAutofit fontScale="90000"/>
          </a:bodyPr>
          <a:lstStyle/>
          <a:p>
            <a:pPr algn="ctr" eaLnBrk="1" fontAlgn="auto" hangingPunct="1">
              <a:spcAft>
                <a:spcPts val="0"/>
              </a:spcAft>
              <a:defRPr/>
            </a:pPr>
            <a:r>
              <a:rPr lang="en-US" altLang="en-GH" dirty="0">
                <a:solidFill>
                  <a:schemeClr val="tx1">
                    <a:lumMod val="75000"/>
                    <a:lumOff val="25000"/>
                  </a:schemeClr>
                </a:solidFill>
                <a:latin typeface="Times New Roman" panose="02020603050405020304" pitchFamily="18" charset="0"/>
                <a:cs typeface="Times New Roman" panose="02020603050405020304" pitchFamily="18" charset="0"/>
              </a:rPr>
              <a:t>Evolutionary prototyping</a:t>
            </a:r>
          </a:p>
        </p:txBody>
      </p:sp>
      <p:sp>
        <p:nvSpPr>
          <p:cNvPr id="57347" name="Content Placeholder 5"/>
          <p:cNvSpPr>
            <a:spLocks noGrp="1" noChangeArrowheads="1"/>
          </p:cNvSpPr>
          <p:nvPr>
            <p:ph sz="half" idx="1"/>
          </p:nvPr>
        </p:nvSpPr>
        <p:spPr>
          <a:xfrm>
            <a:off x="334963" y="1857375"/>
            <a:ext cx="6985173" cy="4972050"/>
          </a:xfrm>
        </p:spPr>
        <p:txBody>
          <a:bodyPr/>
          <a:lstStyle/>
          <a:p>
            <a:pPr eaLnBrk="1" hangingPunct="1"/>
            <a:r>
              <a:rPr lang="en-US" altLang="en-US" sz="2600" dirty="0">
                <a:latin typeface="Times New Roman" panose="02020603050405020304" pitchFamily="18" charset="0"/>
                <a:cs typeface="Times New Roman" panose="02020603050405020304" pitchFamily="18" charset="0"/>
              </a:rPr>
              <a:t>Here the prototype is not discarded and serves as the basis for the next iteration of design. </a:t>
            </a:r>
          </a:p>
          <a:p>
            <a:pPr eaLnBrk="1" hangingPunct="1"/>
            <a:endParaRPr lang="en-US" altLang="en-US" sz="2600" dirty="0">
              <a:latin typeface="Times New Roman" panose="02020603050405020304" pitchFamily="18" charset="0"/>
              <a:cs typeface="Times New Roman" panose="02020603050405020304" pitchFamily="18" charset="0"/>
            </a:endParaRPr>
          </a:p>
          <a:p>
            <a:pPr eaLnBrk="1" hangingPunct="1"/>
            <a:r>
              <a:rPr lang="en-US" altLang="en-US" sz="2600" dirty="0">
                <a:latin typeface="Times New Roman" panose="02020603050405020304" pitchFamily="18" charset="0"/>
                <a:cs typeface="Times New Roman" panose="02020603050405020304" pitchFamily="18" charset="0"/>
              </a:rPr>
              <a:t>In this case, the actual system is seen as evolving from a very limited initial version to its final release, as depicted in the Figure.</a:t>
            </a:r>
          </a:p>
          <a:p>
            <a:pPr eaLnBrk="1" hangingPunct="1"/>
            <a:r>
              <a:rPr lang="en-US" altLang="en-US" sz="2600" dirty="0">
                <a:latin typeface="Times New Roman" panose="02020603050405020304" pitchFamily="18" charset="0"/>
                <a:cs typeface="Times New Roman" panose="02020603050405020304" pitchFamily="18" charset="0"/>
              </a:rPr>
              <a:t>Evolutionary prototyping also fits in well with the modifications which must be made to the system that arise during the operation and maintenance activity in the life cycle.</a:t>
            </a:r>
          </a:p>
        </p:txBody>
      </p:sp>
      <p:pic>
        <p:nvPicPr>
          <p:cNvPr id="57348" name="Content Placeholder 7"/>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7104112" y="1857375"/>
            <a:ext cx="4937125" cy="4000500"/>
          </a:xfrm>
        </p:spPr>
      </p:pic>
      <p:sp>
        <p:nvSpPr>
          <p:cNvPr id="57349"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5BA493EE-68A0-46E1-A0F3-8887026045BF}" type="slidenum">
              <a:rPr lang="en-GB" altLang="en-US">
                <a:solidFill>
                  <a:srgbClr val="FFC551"/>
                </a:solidFill>
                <a:latin typeface="Century Gothic" panose="020B0502020202020204" pitchFamily="34" charset="0"/>
                <a:cs typeface="Arial" panose="020B0604020202020204" pitchFamily="34" charset="0"/>
              </a:rPr>
              <a:pPr/>
              <a:t>49</a:t>
            </a:fld>
            <a:endParaRPr lang="en-GB" altLang="en-US">
              <a:solidFill>
                <a:srgbClr val="FFC551"/>
              </a:solidFill>
              <a:latin typeface="Century Gothic" panose="020B0502020202020204" pitchFamily="34" charset="0"/>
              <a:cs typeface="Arial" panose="020B0604020202020204" pitchFamily="34" charset="0"/>
            </a:endParaRPr>
          </a:p>
        </p:txBody>
      </p:sp>
      <p:sp>
        <p:nvSpPr>
          <p:cNvPr id="2" name="Footer Placeholder 1"/>
          <p:cNvSpPr>
            <a:spLocks noGrp="1"/>
          </p:cNvSpPr>
          <p:nvPr>
            <p:ph type="ftr" sz="quarter" idx="11"/>
          </p:nvPr>
        </p:nvSpPr>
        <p:spPr/>
        <p:txBody>
          <a:bodyPr/>
          <a:lstStyle/>
          <a:p>
            <a:pPr>
              <a:defRPr/>
            </a:pPr>
            <a:r>
              <a:rPr lang="en-GB"/>
              <a:t>slides based on Dix, Alan, et al. "Human-computer interaction."  (2000).</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Content Placeholder 2"/>
          <p:cNvSpPr>
            <a:spLocks noGrp="1" noChangeArrowheads="1"/>
          </p:cNvSpPr>
          <p:nvPr>
            <p:ph idx="1"/>
          </p:nvPr>
        </p:nvSpPr>
        <p:spPr>
          <a:xfrm>
            <a:off x="3124200" y="2924175"/>
            <a:ext cx="7086600" cy="2376488"/>
          </a:xfrm>
        </p:spPr>
        <p:txBody>
          <a:bodyPr/>
          <a:lstStyle/>
          <a:p>
            <a:pPr marL="0" indent="0" eaLnBrk="1" hangingPunct="1">
              <a:buFont typeface="Arial" panose="020B0604020202020204" pitchFamily="34" charset="0"/>
              <a:buNone/>
            </a:pPr>
            <a:endParaRPr lang="en-US" altLang="en-US" dirty="0">
              <a:latin typeface="Times New Roman" panose="02020603050405020304" pitchFamily="18" charset="0"/>
              <a:cs typeface="Times New Roman" panose="02020603050405020304" pitchFamily="18" charset="0"/>
            </a:endParaRPr>
          </a:p>
          <a:p>
            <a:pPr marL="0" indent="0" algn="ctr" eaLnBrk="1" hangingPunct="1">
              <a:buFont typeface="Arial" panose="020B0604020202020204" pitchFamily="34" charset="0"/>
              <a:buNone/>
            </a:pPr>
            <a:r>
              <a:rPr lang="en-US" altLang="en-US" sz="6600" dirty="0">
                <a:latin typeface="Times New Roman" panose="02020603050405020304" pitchFamily="18" charset="0"/>
                <a:cs typeface="Times New Roman" panose="02020603050405020304" pitchFamily="18" charset="0"/>
              </a:rPr>
              <a:t>THANK YOU</a:t>
            </a:r>
          </a:p>
        </p:txBody>
      </p:sp>
      <p:sp>
        <p:nvSpPr>
          <p:cNvPr id="87044"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076A2730-E7D1-47D9-B442-8B365F6A2DBC}" type="slidenum">
              <a:rPr lang="en-GB" altLang="en-US" sz="2800">
                <a:solidFill>
                  <a:schemeClr val="folHlink"/>
                </a:solidFill>
                <a:latin typeface="Arial" panose="020B0604020202020204" pitchFamily="34" charset="0"/>
                <a:cs typeface="Arial" panose="020B0604020202020204" pitchFamily="34" charset="0"/>
              </a:rPr>
              <a:pPr/>
              <a:t>50</a:t>
            </a:fld>
            <a:endParaRPr lang="en-GB" altLang="en-US" sz="2800">
              <a:solidFill>
                <a:schemeClr val="folHlink"/>
              </a:solidFill>
              <a:latin typeface="Arial" panose="020B0604020202020204" pitchFamily="34" charset="0"/>
              <a:cs typeface="Arial" panose="020B0604020202020204" pitchFamily="34" charset="0"/>
            </a:endParaRPr>
          </a:p>
        </p:txBody>
      </p:sp>
      <p:sp>
        <p:nvSpPr>
          <p:cNvPr id="2" name="Footer Placeholder 1"/>
          <p:cNvSpPr>
            <a:spLocks noGrp="1"/>
          </p:cNvSpPr>
          <p:nvPr>
            <p:ph type="ftr" sz="quarter" idx="11"/>
          </p:nvPr>
        </p:nvSpPr>
        <p:spPr/>
        <p:txBody>
          <a:bodyPr/>
          <a:lstStyle/>
          <a:p>
            <a:pPr>
              <a:defRPr/>
            </a:pPr>
            <a:r>
              <a:rPr lang="en-GB"/>
              <a:t>slides based on Dix, Alan, et al. "Human-computer interaction."  (2000).</a:t>
            </a:r>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17198</TotalTime>
  <Words>4265</Words>
  <Application>Microsoft Office PowerPoint</Application>
  <PresentationFormat>Widescreen</PresentationFormat>
  <Paragraphs>374</Paragraphs>
  <Slides>50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50</vt:i4>
      </vt:variant>
    </vt:vector>
  </HeadingPairs>
  <TitlesOfParts>
    <vt:vector size="58" baseType="lpstr">
      <vt:lpstr>Arial</vt:lpstr>
      <vt:lpstr>Calibri</vt:lpstr>
      <vt:lpstr>Calibri Light</vt:lpstr>
      <vt:lpstr>Century Gothic</vt:lpstr>
      <vt:lpstr>Futura Md BT</vt:lpstr>
      <vt:lpstr>Times New Roman</vt:lpstr>
      <vt:lpstr>Wingdings</vt:lpstr>
      <vt:lpstr>Retrospect</vt:lpstr>
      <vt:lpstr> CSM 357 Human-Computer Interaction lecture 4: Interaction Design</vt:lpstr>
      <vt:lpstr>Overview</vt:lpstr>
      <vt:lpstr>Interaction Design</vt:lpstr>
      <vt:lpstr>The golden rule of design</vt:lpstr>
      <vt:lpstr>The process of design</vt:lpstr>
      <vt:lpstr>Interaction Design Process</vt:lpstr>
      <vt:lpstr>Interaction Design Process: Requirement Analysis and Specification (Stage 1)</vt:lpstr>
      <vt:lpstr>Interaction Design Process : Requirement Analysis and Specification</vt:lpstr>
      <vt:lpstr>Requirement Analysis and Specification: Commonly used methods and tools</vt:lpstr>
      <vt:lpstr>Requirement Analysis and Specification: Commonly used methods and tools</vt:lpstr>
      <vt:lpstr>Requirement Analysis and Specification: Commonly used methods and tools</vt:lpstr>
      <vt:lpstr>User Focus</vt:lpstr>
      <vt:lpstr>User Focus: Talk to Users</vt:lpstr>
      <vt:lpstr>User Focus: Watch the Users</vt:lpstr>
      <vt:lpstr>User Focus: Watch the Users</vt:lpstr>
      <vt:lpstr>User Focus: Use your imagination</vt:lpstr>
      <vt:lpstr>User Focus: Use your imagination (Personas)</vt:lpstr>
      <vt:lpstr>Stage 2 of Interaction Design Process: Analysis</vt:lpstr>
      <vt:lpstr>Design</vt:lpstr>
      <vt:lpstr>Design Issues</vt:lpstr>
      <vt:lpstr>Screen Design and Layout</vt:lpstr>
      <vt:lpstr>Navigation Design</vt:lpstr>
      <vt:lpstr>Navigation Design: Local Structure</vt:lpstr>
      <vt:lpstr>Navigation Design: Local Structure (Avoid this!)</vt:lpstr>
      <vt:lpstr>Navigation Design: Local Structure</vt:lpstr>
      <vt:lpstr>Video group presentation</vt:lpstr>
      <vt:lpstr>Navigation Design: Links</vt:lpstr>
      <vt:lpstr>Navigation Design: Global structure – hierarchical organization</vt:lpstr>
      <vt:lpstr>Screen Design and Layout</vt:lpstr>
      <vt:lpstr>Order of groups and items </vt:lpstr>
      <vt:lpstr>Decoration</vt:lpstr>
      <vt:lpstr>Decoration</vt:lpstr>
      <vt:lpstr>Alignment</vt:lpstr>
      <vt:lpstr>Dealing with multiple columns</vt:lpstr>
      <vt:lpstr>Dealing with multiple columns</vt:lpstr>
      <vt:lpstr>White Spaces</vt:lpstr>
      <vt:lpstr>White Spaces</vt:lpstr>
      <vt:lpstr>Recall the processes in interaction design</vt:lpstr>
      <vt:lpstr>Prototyping</vt:lpstr>
      <vt:lpstr>Prototyping</vt:lpstr>
      <vt:lpstr>Design Focus</vt:lpstr>
      <vt:lpstr>Colour and 3D</vt:lpstr>
      <vt:lpstr>Reading assignment</vt:lpstr>
      <vt:lpstr>Assignment  --- To be submitted via the V-class</vt:lpstr>
      <vt:lpstr>Group presentation</vt:lpstr>
      <vt:lpstr>Approaches to prototyping</vt:lpstr>
      <vt:lpstr>Throw-away prototyping</vt:lpstr>
      <vt:lpstr>Incremental prototyping</vt:lpstr>
      <vt:lpstr>Evolutionary prototyping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knowledge management</dc:title>
  <dc:creator>Pierro</dc:creator>
  <cp:lastModifiedBy>Kaku Kyle</cp:lastModifiedBy>
  <cp:revision>434</cp:revision>
  <cp:lastPrinted>2018-09-24T12:35:42Z</cp:lastPrinted>
  <dcterms:created xsi:type="dcterms:W3CDTF">2011-10-18T10:49:17Z</dcterms:created>
  <dcterms:modified xsi:type="dcterms:W3CDTF">2023-01-07T02:18:38Z</dcterms:modified>
</cp:coreProperties>
</file>