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86" r:id="rId1"/>
  </p:sldMasterIdLst>
  <p:notesMasterIdLst>
    <p:notesMasterId r:id="rId60"/>
  </p:notesMasterIdLst>
  <p:handoutMasterIdLst>
    <p:handoutMasterId r:id="rId61"/>
  </p:handoutMasterIdLst>
  <p:sldIdLst>
    <p:sldId id="374" r:id="rId2"/>
    <p:sldId id="426" r:id="rId3"/>
    <p:sldId id="427" r:id="rId4"/>
    <p:sldId id="429" r:id="rId5"/>
    <p:sldId id="436" r:id="rId6"/>
    <p:sldId id="478" r:id="rId7"/>
    <p:sldId id="503" r:id="rId8"/>
    <p:sldId id="437" r:id="rId9"/>
    <p:sldId id="458" r:id="rId10"/>
    <p:sldId id="504" r:id="rId11"/>
    <p:sldId id="459" r:id="rId12"/>
    <p:sldId id="438" r:id="rId13"/>
    <p:sldId id="439" r:id="rId14"/>
    <p:sldId id="440" r:id="rId15"/>
    <p:sldId id="441" r:id="rId16"/>
    <p:sldId id="505" r:id="rId17"/>
    <p:sldId id="481" r:id="rId18"/>
    <p:sldId id="444" r:id="rId19"/>
    <p:sldId id="456" r:id="rId20"/>
    <p:sldId id="479" r:id="rId21"/>
    <p:sldId id="480" r:id="rId22"/>
    <p:sldId id="460" r:id="rId23"/>
    <p:sldId id="483" r:id="rId24"/>
    <p:sldId id="484" r:id="rId25"/>
    <p:sldId id="482" r:id="rId26"/>
    <p:sldId id="461" r:id="rId27"/>
    <p:sldId id="462" r:id="rId28"/>
    <p:sldId id="485" r:id="rId29"/>
    <p:sldId id="506" r:id="rId30"/>
    <p:sldId id="463" r:id="rId31"/>
    <p:sldId id="464" r:id="rId32"/>
    <p:sldId id="465" r:id="rId33"/>
    <p:sldId id="466" r:id="rId34"/>
    <p:sldId id="467" r:id="rId35"/>
    <p:sldId id="468" r:id="rId36"/>
    <p:sldId id="469" r:id="rId37"/>
    <p:sldId id="470" r:id="rId38"/>
    <p:sldId id="489" r:id="rId39"/>
    <p:sldId id="471" r:id="rId40"/>
    <p:sldId id="486" r:id="rId41"/>
    <p:sldId id="487" r:id="rId42"/>
    <p:sldId id="472" r:id="rId43"/>
    <p:sldId id="497" r:id="rId44"/>
    <p:sldId id="473" r:id="rId45"/>
    <p:sldId id="474" r:id="rId46"/>
    <p:sldId id="488" r:id="rId47"/>
    <p:sldId id="490" r:id="rId48"/>
    <p:sldId id="491" r:id="rId49"/>
    <p:sldId id="476" r:id="rId50"/>
    <p:sldId id="502" r:id="rId51"/>
    <p:sldId id="496" r:id="rId52"/>
    <p:sldId id="477" r:id="rId53"/>
    <p:sldId id="493" r:id="rId54"/>
    <p:sldId id="498" r:id="rId55"/>
    <p:sldId id="499" r:id="rId56"/>
    <p:sldId id="500" r:id="rId57"/>
    <p:sldId id="501" r:id="rId58"/>
    <p:sldId id="315" r:id="rId59"/>
  </p:sldIdLst>
  <p:sldSz cx="12192000" cy="6858000"/>
  <p:notesSz cx="7010400" cy="92964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636" autoAdjust="0"/>
  </p:normalViewPr>
  <p:slideViewPr>
    <p:cSldViewPr>
      <p:cViewPr varScale="1">
        <p:scale>
          <a:sx n="61" d="100"/>
          <a:sy n="61" d="100"/>
        </p:scale>
        <p:origin x="1493" y="34"/>
      </p:cViewPr>
      <p:guideLst>
        <p:guide orient="horz" pos="2160"/>
        <p:guide pos="384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3177" tIns="46589" rIns="93177" bIns="46589"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3177" tIns="46589" rIns="93177" bIns="46589" rtlCol="0"/>
          <a:lstStyle>
            <a:lvl1pPr algn="r" eaLnBrk="1" fontAlgn="auto" hangingPunct="1">
              <a:spcBef>
                <a:spcPts val="0"/>
              </a:spcBef>
              <a:spcAft>
                <a:spcPts val="0"/>
              </a:spcAft>
              <a:defRPr sz="1200">
                <a:latin typeface="+mn-lt"/>
              </a:defRPr>
            </a:lvl1pPr>
          </a:lstStyle>
          <a:p>
            <a:pPr>
              <a:defRPr/>
            </a:pPr>
            <a:fld id="{886DA38F-7195-416C-8803-BB9B08602107}" type="datetimeFigureOut">
              <a:rPr lang="en-US"/>
              <a:pPr>
                <a:defRPr/>
              </a:pPr>
              <a:t>3/18/2024</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3177" tIns="46589" rIns="93177" bIns="46589"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vl1pPr>
          </a:lstStyle>
          <a:p>
            <a:pPr>
              <a:defRPr/>
            </a:pPr>
            <a:fld id="{3ECAD5B0-5A64-4C92-92AC-E892A34AE4E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eaLnBrk="1" fontAlgn="auto" hangingPunct="1">
              <a:spcBef>
                <a:spcPts val="0"/>
              </a:spcBef>
              <a:spcAft>
                <a:spcPts val="0"/>
              </a:spcAft>
              <a:defRPr sz="1200">
                <a:latin typeface="Arial" charset="0"/>
                <a:cs typeface="+mn-cs"/>
              </a:defRPr>
            </a:lvl1pPr>
          </a:lstStyle>
          <a:p>
            <a:pPr>
              <a:defRPr/>
            </a:pPr>
            <a:endParaRPr lang="en-GB"/>
          </a:p>
        </p:txBody>
      </p:sp>
      <p:sp>
        <p:nvSpPr>
          <p:cNvPr id="5123" name="Rectangle 3"/>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eaLnBrk="1" fontAlgn="auto" hangingPunct="1">
              <a:spcBef>
                <a:spcPts val="0"/>
              </a:spcBef>
              <a:spcAft>
                <a:spcPts val="0"/>
              </a:spcAft>
              <a:defRPr sz="1200">
                <a:latin typeface="Arial" charset="0"/>
                <a:cs typeface="+mn-cs"/>
              </a:defRPr>
            </a:lvl1pPr>
          </a:lstStyle>
          <a:p>
            <a:pPr>
              <a:defRPr/>
            </a:pPr>
            <a:endParaRPr lang="en-GB"/>
          </a:p>
        </p:txBody>
      </p:sp>
      <p:sp>
        <p:nvSpPr>
          <p:cNvPr id="8196" name="Rectangle 4"/>
          <p:cNvSpPr>
            <a:spLocks noGrp="1" noRot="1" noChangeAspect="1" noChangeArrowheads="1" noTextEdit="1"/>
          </p:cNvSpPr>
          <p:nvPr>
            <p:ph type="sldImg" idx="2"/>
          </p:nvPr>
        </p:nvSpPr>
        <p:spPr bwMode="auto">
          <a:xfrm>
            <a:off x="406400" y="696913"/>
            <a:ext cx="61976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6" name="Rectangle 6"/>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eaLnBrk="1" fontAlgn="auto" hangingPunct="1">
              <a:spcBef>
                <a:spcPts val="0"/>
              </a:spcBef>
              <a:spcAft>
                <a:spcPts val="0"/>
              </a:spcAft>
              <a:defRPr sz="1200">
                <a:latin typeface="Arial" charset="0"/>
                <a:cs typeface="+mn-cs"/>
              </a:defRPr>
            </a:lvl1pPr>
          </a:lstStyle>
          <a:p>
            <a:pPr>
              <a:defRPr/>
            </a:pPr>
            <a:endParaRPr lang="en-GB"/>
          </a:p>
        </p:txBody>
      </p:sp>
      <p:sp>
        <p:nvSpPr>
          <p:cNvPr id="5127" name="Rectangle 7"/>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eaLnBrk="1" hangingPunct="1">
              <a:defRPr sz="1200"/>
            </a:lvl1pPr>
          </a:lstStyle>
          <a:p>
            <a:pPr>
              <a:defRPr/>
            </a:pPr>
            <a:fld id="{79DE4C92-CDFB-4A1B-91C4-C69B234A3050}"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9DE4C92-CDFB-4A1B-91C4-C69B234A3050}" type="slidenum">
              <a:rPr lang="en-GB" altLang="en-US" smtClean="0"/>
              <a:pPr>
                <a:defRPr/>
              </a:pPr>
              <a:t>23</a:t>
            </a:fld>
            <a:endParaRPr lang="en-GB" altLang="en-US"/>
          </a:p>
        </p:txBody>
      </p:sp>
    </p:spTree>
    <p:extLst>
      <p:ext uri="{BB962C8B-B14F-4D97-AF65-F5344CB8AC3E}">
        <p14:creationId xmlns:p14="http://schemas.microsoft.com/office/powerpoint/2010/main" val="1408461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3"/>
          <p:cNvSpPr>
            <a:spLocks noGrp="1"/>
          </p:cNvSpPr>
          <p:nvPr>
            <p:ph type="dt" sz="half" idx="10"/>
          </p:nvPr>
        </p:nvSpPr>
        <p:spPr/>
        <p:txBody>
          <a:bodyPr/>
          <a:lstStyle>
            <a:lvl1pPr>
              <a:defRPr/>
            </a:lvl1pPr>
          </a:lstStyle>
          <a:p>
            <a:pPr>
              <a:defRPr/>
            </a:pPr>
            <a:fld id="{B3DFC950-64F8-48A1-920A-46A17CE85CB8}" type="datetime1">
              <a:rPr lang="en-GB"/>
              <a:pPr>
                <a:defRPr/>
              </a:pPr>
              <a:t>18/03/2024</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284A087D-C9CC-4F70-A736-363FC1819FC4}" type="slidenum">
              <a:rPr lang="en-US" altLang="en-US"/>
              <a:pPr>
                <a:defRPr/>
              </a:pPr>
              <a:t>‹#›</a:t>
            </a:fld>
            <a:endParaRPr lang="en-US" altLang="en-US"/>
          </a:p>
        </p:txBody>
      </p:sp>
    </p:spTree>
    <p:extLst>
      <p:ext uri="{BB962C8B-B14F-4D97-AF65-F5344CB8AC3E}">
        <p14:creationId xmlns:p14="http://schemas.microsoft.com/office/powerpoint/2010/main" val="1951428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EEFFB972-C684-49D4-925B-B7DF486B007F}" type="datetime1">
              <a:rPr lang="en-GB"/>
              <a:pPr>
                <a:defRPr/>
              </a:pPr>
              <a:t>18/03/2024</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CA33DAF-8E01-46BA-8B98-C3F739052EA6}" type="slidenum">
              <a:rPr lang="en-GB" altLang="en-US"/>
              <a:pPr>
                <a:defRPr/>
              </a:pPr>
              <a:t>‹#›</a:t>
            </a:fld>
            <a:endParaRPr lang="en-GB" altLang="en-US"/>
          </a:p>
        </p:txBody>
      </p:sp>
    </p:spTree>
    <p:extLst>
      <p:ext uri="{BB962C8B-B14F-4D97-AF65-F5344CB8AC3E}">
        <p14:creationId xmlns:p14="http://schemas.microsoft.com/office/powerpoint/2010/main" val="2821037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F8FF018A-1388-48C9-BF86-B7938B76C731}" type="datetime1">
              <a:rPr lang="en-GB"/>
              <a:pPr>
                <a:defRPr/>
              </a:pPr>
              <a:t>18/03/2024</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F4C33AE4-0D16-4952-95E1-85B5D149A8BB}" type="slidenum">
              <a:rPr lang="en-GB" altLang="en-US"/>
              <a:pPr>
                <a:defRPr/>
              </a:pPr>
              <a:t>‹#›</a:t>
            </a:fld>
            <a:endParaRPr lang="en-GB" altLang="en-US"/>
          </a:p>
        </p:txBody>
      </p:sp>
    </p:spTree>
    <p:extLst>
      <p:ext uri="{BB962C8B-B14F-4D97-AF65-F5344CB8AC3E}">
        <p14:creationId xmlns:p14="http://schemas.microsoft.com/office/powerpoint/2010/main" val="2501202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575AAABE-FC1B-4028-B188-340FAB91442E}" type="datetime1">
              <a:rPr lang="en-GB"/>
              <a:pPr>
                <a:defRPr/>
              </a:pPr>
              <a:t>18/03/2024</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73AD155A-D4E9-4AE4-84C6-FF1A220296F8}" type="slidenum">
              <a:rPr lang="en-GB" altLang="en-US"/>
              <a:pPr>
                <a:defRPr/>
              </a:pPr>
              <a:t>‹#›</a:t>
            </a:fld>
            <a:endParaRPr lang="en-GB" altLang="en-US"/>
          </a:p>
        </p:txBody>
      </p:sp>
    </p:spTree>
    <p:extLst>
      <p:ext uri="{BB962C8B-B14F-4D97-AF65-F5344CB8AC3E}">
        <p14:creationId xmlns:p14="http://schemas.microsoft.com/office/powerpoint/2010/main" val="3020543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55BD33B9-ACBD-42DB-B451-46DDF7614647}" type="datetime1">
              <a:rPr lang="en-GB"/>
              <a:pPr>
                <a:defRPr/>
              </a:pPr>
              <a:t>18/03/2024</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81E7F3D3-9546-4669-8184-B270C2EC9E1E}" type="slidenum">
              <a:rPr lang="en-GB" altLang="en-US"/>
              <a:pPr>
                <a:defRPr/>
              </a:pPr>
              <a:t>‹#›</a:t>
            </a:fld>
            <a:endParaRPr lang="en-GB" altLang="en-US"/>
          </a:p>
        </p:txBody>
      </p:sp>
    </p:spTree>
    <p:extLst>
      <p:ext uri="{BB962C8B-B14F-4D97-AF65-F5344CB8AC3E}">
        <p14:creationId xmlns:p14="http://schemas.microsoft.com/office/powerpoint/2010/main" val="419937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6D451954-1C2D-4920-BBCD-B4E5D969A2EB}" type="datetime1">
              <a:rPr lang="en-GB"/>
              <a:pPr>
                <a:defRPr/>
              </a:pPr>
              <a:t>18/03/2024</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37F9025F-3BCB-4A01-AED0-CCFF16559CE0}" type="slidenum">
              <a:rPr lang="en-GB" altLang="en-US"/>
              <a:pPr>
                <a:defRPr/>
              </a:pPr>
              <a:t>‹#›</a:t>
            </a:fld>
            <a:endParaRPr lang="en-GB" altLang="en-US"/>
          </a:p>
        </p:txBody>
      </p:sp>
    </p:spTree>
    <p:extLst>
      <p:ext uri="{BB962C8B-B14F-4D97-AF65-F5344CB8AC3E}">
        <p14:creationId xmlns:p14="http://schemas.microsoft.com/office/powerpoint/2010/main" val="2090462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p:cNvSpPr>
            <a:spLocks noGrp="1"/>
          </p:cNvSpPr>
          <p:nvPr>
            <p:ph type="dt" sz="half" idx="10"/>
          </p:nvPr>
        </p:nvSpPr>
        <p:spPr/>
        <p:txBody>
          <a:bodyPr/>
          <a:lstStyle>
            <a:lvl1pPr>
              <a:defRPr/>
            </a:lvl1pPr>
          </a:lstStyle>
          <a:p>
            <a:pPr>
              <a:defRPr/>
            </a:pPr>
            <a:fld id="{74E0ED68-394C-49AC-9225-93C72270FA15}" type="datetime1">
              <a:rPr lang="en-GB"/>
              <a:pPr>
                <a:defRPr/>
              </a:pPr>
              <a:t>18/03/2024</a:t>
            </a:fld>
            <a:endParaRPr lang="en-GB"/>
          </a:p>
        </p:txBody>
      </p:sp>
      <p:sp>
        <p:nvSpPr>
          <p:cNvPr id="5" name="Footer Placeholder 7"/>
          <p:cNvSpPr>
            <a:spLocks noGrp="1"/>
          </p:cNvSpPr>
          <p:nvPr>
            <p:ph type="ftr" sz="quarter" idx="11"/>
          </p:nvPr>
        </p:nvSpPr>
        <p:spPr/>
        <p:txBody>
          <a:bodyPr/>
          <a:lstStyle>
            <a:lvl1pPr>
              <a:defRPr>
                <a:solidFill>
                  <a:srgbClr val="FFFFFF"/>
                </a:solidFill>
              </a:defRPr>
            </a:lvl1pPr>
          </a:lstStyle>
          <a:p>
            <a:pPr>
              <a:defRPr/>
            </a:pPr>
            <a:endParaRPr lang="en-GB"/>
          </a:p>
        </p:txBody>
      </p:sp>
      <p:sp>
        <p:nvSpPr>
          <p:cNvPr id="6" name="Slide Number Placeholder 8"/>
          <p:cNvSpPr>
            <a:spLocks noGrp="1"/>
          </p:cNvSpPr>
          <p:nvPr>
            <p:ph type="sldNum" sz="quarter" idx="12"/>
          </p:nvPr>
        </p:nvSpPr>
        <p:spPr/>
        <p:txBody>
          <a:bodyPr/>
          <a:lstStyle>
            <a:lvl1pPr>
              <a:defRPr/>
            </a:lvl1pPr>
          </a:lstStyle>
          <a:p>
            <a:pPr>
              <a:defRPr/>
            </a:pPr>
            <a:fld id="{0B9BD1CB-6774-498B-BDEB-475A6373DC6A}" type="slidenum">
              <a:rPr lang="en-GB" altLang="en-US"/>
              <a:pPr>
                <a:defRPr/>
              </a:pPr>
              <a:t>‹#›</a:t>
            </a:fld>
            <a:endParaRPr lang="en-GB" altLang="en-US"/>
          </a:p>
        </p:txBody>
      </p:sp>
    </p:spTree>
    <p:extLst>
      <p:ext uri="{BB962C8B-B14F-4D97-AF65-F5344CB8AC3E}">
        <p14:creationId xmlns:p14="http://schemas.microsoft.com/office/powerpoint/2010/main" val="1816232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a:xfrm>
            <a:off x="465138" y="6459538"/>
            <a:ext cx="2619375" cy="365125"/>
          </a:xfrm>
        </p:spPr>
        <p:txBody>
          <a:bodyPr/>
          <a:lstStyle>
            <a:lvl1pPr algn="l">
              <a:defRPr/>
            </a:lvl1pPr>
          </a:lstStyle>
          <a:p>
            <a:pPr>
              <a:defRPr/>
            </a:pPr>
            <a:fld id="{A36F5AC1-6F2C-4E1B-8985-C226C62D780A}" type="datetime1">
              <a:rPr lang="en-GB"/>
              <a:pPr>
                <a:defRPr/>
              </a:pPr>
              <a:t>18/03/2024</a:t>
            </a:fld>
            <a:endParaRPr lang="en-GB"/>
          </a:p>
        </p:txBody>
      </p:sp>
      <p:sp>
        <p:nvSpPr>
          <p:cNvPr id="8" name="Footer Placeholder 5"/>
          <p:cNvSpPr>
            <a:spLocks noGrp="1"/>
          </p:cNvSpPr>
          <p:nvPr>
            <p:ph type="ftr" sz="quarter" idx="11"/>
          </p:nvPr>
        </p:nvSpPr>
        <p:spPr>
          <a:xfrm>
            <a:off x="4800600" y="6459538"/>
            <a:ext cx="4648200" cy="365125"/>
          </a:xfrm>
        </p:spPr>
        <p:txBody>
          <a:bodyPr/>
          <a:lstStyle>
            <a:lvl1pPr algn="l">
              <a:defRPr>
                <a:solidFill>
                  <a:schemeClr val="tx2"/>
                </a:solidFill>
              </a:defRPr>
            </a:lvl1pPr>
          </a:lstStyle>
          <a:p>
            <a:pPr>
              <a:defRPr/>
            </a:pPr>
            <a:endParaRPr lang="en-GB"/>
          </a:p>
        </p:txBody>
      </p:sp>
      <p:sp>
        <p:nvSpPr>
          <p:cNvPr id="9" name="Slide Number Placeholder 6"/>
          <p:cNvSpPr>
            <a:spLocks noGrp="1"/>
          </p:cNvSpPr>
          <p:nvPr>
            <p:ph type="sldNum" sz="quarter" idx="12"/>
          </p:nvPr>
        </p:nvSpPr>
        <p:spPr/>
        <p:txBody>
          <a:bodyPr/>
          <a:lstStyle>
            <a:lvl1pPr>
              <a:defRPr>
                <a:solidFill>
                  <a:schemeClr val="tx2"/>
                </a:solidFill>
              </a:defRPr>
            </a:lvl1pPr>
          </a:lstStyle>
          <a:p>
            <a:pPr>
              <a:defRPr/>
            </a:pPr>
            <a:fld id="{3A328A52-60D3-43A8-9BEE-9712DEA602D0}" type="slidenum">
              <a:rPr lang="en-GB" altLang="en-US"/>
              <a:pPr>
                <a:defRPr/>
              </a:pPr>
              <a:t>‹#›</a:t>
            </a:fld>
            <a:endParaRPr lang="en-GB" altLang="en-US"/>
          </a:p>
        </p:txBody>
      </p:sp>
    </p:spTree>
    <p:extLst>
      <p:ext uri="{BB962C8B-B14F-4D97-AF65-F5344CB8AC3E}">
        <p14:creationId xmlns:p14="http://schemas.microsoft.com/office/powerpoint/2010/main" val="595807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0" y="4914900"/>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lvl1pPr>
              <a:defRPr/>
            </a:lvl1pPr>
          </a:lstStyle>
          <a:p>
            <a:pPr>
              <a:defRPr/>
            </a:pPr>
            <a:fld id="{13BC209A-A961-4709-A471-FA839D5F92CB}" type="datetime1">
              <a:rPr lang="en-GB"/>
              <a:pPr>
                <a:defRPr/>
              </a:pPr>
              <a:t>18/03/2024</a:t>
            </a:fld>
            <a:endParaRPr lang="en-GB"/>
          </a:p>
        </p:txBody>
      </p:sp>
      <p:sp>
        <p:nvSpPr>
          <p:cNvPr id="8" name="Footer Placeholder 5"/>
          <p:cNvSpPr>
            <a:spLocks noGrp="1"/>
          </p:cNvSpPr>
          <p:nvPr>
            <p:ph type="ftr" sz="quarter" idx="11"/>
          </p:nvPr>
        </p:nvSpPr>
        <p:spPr/>
        <p:txBody>
          <a:bodyPr/>
          <a:lstStyle>
            <a:lvl1pPr>
              <a:defRPr/>
            </a:lvl1pPr>
          </a:lstStyle>
          <a:p>
            <a:pPr>
              <a:defRPr/>
            </a:pPr>
            <a:endParaRPr lang="en-GB"/>
          </a:p>
        </p:txBody>
      </p:sp>
      <p:sp>
        <p:nvSpPr>
          <p:cNvPr id="9" name="Slide Number Placeholder 6"/>
          <p:cNvSpPr>
            <a:spLocks noGrp="1"/>
          </p:cNvSpPr>
          <p:nvPr>
            <p:ph type="sldNum" sz="quarter" idx="12"/>
          </p:nvPr>
        </p:nvSpPr>
        <p:spPr/>
        <p:txBody>
          <a:bodyPr/>
          <a:lstStyle>
            <a:lvl1pPr>
              <a:defRPr/>
            </a:lvl1pPr>
          </a:lstStyle>
          <a:p>
            <a:pPr>
              <a:defRPr/>
            </a:pPr>
            <a:fld id="{045452DE-53E6-4180-B1B8-6CE7681BA69C}" type="slidenum">
              <a:rPr lang="en-GB" altLang="en-US"/>
              <a:pPr>
                <a:defRPr/>
              </a:pPr>
              <a:t>‹#›</a:t>
            </a:fld>
            <a:endParaRPr lang="en-GB" altLang="en-US"/>
          </a:p>
        </p:txBody>
      </p:sp>
    </p:spTree>
    <p:extLst>
      <p:ext uri="{BB962C8B-B14F-4D97-AF65-F5344CB8AC3E}">
        <p14:creationId xmlns:p14="http://schemas.microsoft.com/office/powerpoint/2010/main" val="677172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8431ADAD-0BB7-42D8-B051-792B8D51FD26}" type="datetime1">
              <a:rPr lang="en-GB"/>
              <a:pPr>
                <a:defRPr/>
              </a:pPr>
              <a:t>18/03/2024</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C0B8715B-BD9C-41C7-845A-09F0C1A90A18}" type="slidenum">
              <a:rPr lang="en-GB" altLang="en-US"/>
              <a:pPr>
                <a:defRPr/>
              </a:pPr>
              <a:t>‹#›</a:t>
            </a:fld>
            <a:endParaRPr lang="en-GB" altLang="en-US"/>
          </a:p>
        </p:txBody>
      </p:sp>
    </p:spTree>
    <p:extLst>
      <p:ext uri="{BB962C8B-B14F-4D97-AF65-F5344CB8AC3E}">
        <p14:creationId xmlns:p14="http://schemas.microsoft.com/office/powerpoint/2010/main" val="1525892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p:cNvSpPr>
            <a:spLocks noGrp="1"/>
          </p:cNvSpPr>
          <p:nvPr>
            <p:ph type="dt" sz="half" idx="10"/>
          </p:nvPr>
        </p:nvSpPr>
        <p:spPr/>
        <p:txBody>
          <a:bodyPr/>
          <a:lstStyle>
            <a:lvl1pPr>
              <a:defRPr/>
            </a:lvl1pPr>
          </a:lstStyle>
          <a:p>
            <a:pPr>
              <a:defRPr/>
            </a:pPr>
            <a:fld id="{7BF1117F-643F-4DA8-8DA0-6D595D5B521B}" type="datetime1">
              <a:rPr lang="en-GB"/>
              <a:pPr>
                <a:defRPr/>
              </a:pPr>
              <a:t>18/03/2024</a:t>
            </a:fld>
            <a:endParaRPr lang="en-GB"/>
          </a:p>
        </p:txBody>
      </p:sp>
      <p:sp>
        <p:nvSpPr>
          <p:cNvPr id="7" name="Footer Placeholder 4"/>
          <p:cNvSpPr>
            <a:spLocks noGrp="1"/>
          </p:cNvSpPr>
          <p:nvPr>
            <p:ph type="ftr" sz="quarter" idx="11"/>
          </p:nvPr>
        </p:nvSpPr>
        <p:spPr/>
        <p:txBody>
          <a:bodyPr/>
          <a:lstStyle>
            <a:lvl1pPr>
              <a:defRPr/>
            </a:lvl1pPr>
          </a:lstStyle>
          <a:p>
            <a:pPr>
              <a:defRPr/>
            </a:pPr>
            <a:endParaRPr lang="en-GB"/>
          </a:p>
        </p:txBody>
      </p:sp>
      <p:sp>
        <p:nvSpPr>
          <p:cNvPr id="8" name="Slide Number Placeholder 5"/>
          <p:cNvSpPr>
            <a:spLocks noGrp="1"/>
          </p:cNvSpPr>
          <p:nvPr>
            <p:ph type="sldNum" sz="quarter" idx="12"/>
          </p:nvPr>
        </p:nvSpPr>
        <p:spPr/>
        <p:txBody>
          <a:bodyPr/>
          <a:lstStyle>
            <a:lvl1pPr>
              <a:defRPr/>
            </a:lvl1pPr>
          </a:lstStyle>
          <a:p>
            <a:pPr>
              <a:defRPr/>
            </a:pPr>
            <a:fld id="{E22ED6CF-A1E9-44F1-A65F-3A608F4619FE}" type="slidenum">
              <a:rPr lang="en-GB" altLang="en-US"/>
              <a:pPr>
                <a:defRPr/>
              </a:pPr>
              <a:t>‹#›</a:t>
            </a:fld>
            <a:endParaRPr lang="en-GB" altLang="en-US"/>
          </a:p>
        </p:txBody>
      </p:sp>
    </p:spTree>
    <p:extLst>
      <p:ext uri="{BB962C8B-B14F-4D97-AF65-F5344CB8AC3E}">
        <p14:creationId xmlns:p14="http://schemas.microsoft.com/office/powerpoint/2010/main" val="1175174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91440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981200"/>
            <a:ext cx="5080000" cy="41148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13ED17CE-1431-4C0C-B098-7E4F348255B5}" type="slidenum">
              <a:rPr lang="en-GB" altLang="en-US"/>
              <a:pPr/>
              <a:t>‹#›</a:t>
            </a:fld>
            <a:endParaRPr lang="en-GB" altLang="en-US"/>
          </a:p>
        </p:txBody>
      </p:sp>
    </p:spTree>
    <p:extLst>
      <p:ext uri="{BB962C8B-B14F-4D97-AF65-F5344CB8AC3E}">
        <p14:creationId xmlns:p14="http://schemas.microsoft.com/office/powerpoint/2010/main" val="1122340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6963" y="287338"/>
            <a:ext cx="100584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029" name="Text Placeholder 2"/>
          <p:cNvSpPr>
            <a:spLocks noGrp="1" noChangeArrowheads="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1096963" y="6459538"/>
            <a:ext cx="2473325"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defRPr>
            </a:lvl1pPr>
          </a:lstStyle>
          <a:p>
            <a:pPr>
              <a:defRPr/>
            </a:pPr>
            <a:fld id="{397326AE-2D5C-4BD1-BEEF-68617230C0B0}" type="datetime1">
              <a:rPr lang="en-GB"/>
              <a:pPr>
                <a:defRPr/>
              </a:pPr>
              <a:t>18/03/2024</a:t>
            </a:fld>
            <a:endParaRPr lang="en-GB"/>
          </a:p>
        </p:txBody>
      </p:sp>
      <p:sp>
        <p:nvSpPr>
          <p:cNvPr id="5" name="Footer Placeholder 4"/>
          <p:cNvSpPr>
            <a:spLocks noGrp="1"/>
          </p:cNvSpPr>
          <p:nvPr>
            <p:ph type="ftr" sz="quarter" idx="3"/>
          </p:nvPr>
        </p:nvSpPr>
        <p:spPr>
          <a:xfrm>
            <a:off x="3686175" y="6459538"/>
            <a:ext cx="4822825" cy="365125"/>
          </a:xfrm>
          <a:prstGeom prst="rect">
            <a:avLst/>
          </a:prstGeom>
        </p:spPr>
        <p:txBody>
          <a:bodyPr vert="horz" lIns="91440" tIns="45720" rIns="91440" bIns="45720" rtlCol="0" anchor="ctr"/>
          <a:lstStyle>
            <a:lvl1pPr algn="ctr" eaLnBrk="1" fontAlgn="auto" hangingPunct="1">
              <a:spcBef>
                <a:spcPts val="0"/>
              </a:spcBef>
              <a:spcAft>
                <a:spcPts val="0"/>
              </a:spcAft>
              <a:defRPr sz="900" cap="all" baseline="0">
                <a:solidFill>
                  <a:srgbClr val="FFFFFF"/>
                </a:solidFill>
                <a:latin typeface="+mn-lt"/>
              </a:defRPr>
            </a:lvl1pPr>
          </a:lstStyle>
          <a:p>
            <a:pPr>
              <a:defRPr/>
            </a:pPr>
            <a:endParaRPr lang="en-GB"/>
          </a:p>
        </p:txBody>
      </p:sp>
      <p:sp>
        <p:nvSpPr>
          <p:cNvPr id="6" name="Slide Number Placeholder 5"/>
          <p:cNvSpPr>
            <a:spLocks noGrp="1"/>
          </p:cNvSpPr>
          <p:nvPr>
            <p:ph type="sldNum" sz="quarter" idx="4"/>
          </p:nvPr>
        </p:nvSpPr>
        <p:spPr>
          <a:xfrm>
            <a:off x="9901238" y="6459538"/>
            <a:ext cx="1311275"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FFFFFF"/>
                </a:solidFill>
              </a:defRPr>
            </a:lvl1pPr>
          </a:lstStyle>
          <a:p>
            <a:pPr>
              <a:defRPr/>
            </a:pPr>
            <a:fld id="{D7975C2B-0828-4FD9-9381-E88C88A451E7}" type="slidenum">
              <a:rPr lang="en-GB" altLang="en-US"/>
              <a:pPr>
                <a:defRPr/>
              </a:pPr>
              <a:t>‹#›</a:t>
            </a:fld>
            <a:endParaRPr lang="en-GB" altLang="en-US"/>
          </a:p>
        </p:txBody>
      </p:sp>
      <p:cxnSp>
        <p:nvCxnSpPr>
          <p:cNvPr id="10" name="Straight Connector 9"/>
          <p:cNvCxnSpPr/>
          <p:nvPr/>
        </p:nvCxnSpPr>
        <p:spPr>
          <a:xfrm>
            <a:off x="1193800" y="1738313"/>
            <a:ext cx="99663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360" r:id="rId1"/>
    <p:sldLayoutId id="2147484355" r:id="rId2"/>
    <p:sldLayoutId id="2147484361" r:id="rId3"/>
    <p:sldLayoutId id="2147484356" r:id="rId4"/>
    <p:sldLayoutId id="2147484357" r:id="rId5"/>
    <p:sldLayoutId id="2147484358" r:id="rId6"/>
    <p:sldLayoutId id="2147484362" r:id="rId7"/>
    <p:sldLayoutId id="2147484363" r:id="rId8"/>
    <p:sldLayoutId id="2147484364" r:id="rId9"/>
    <p:sldLayoutId id="2147484359" r:id="rId10"/>
    <p:sldLayoutId id="2147484365" r:id="rId11"/>
    <p:sldLayoutId id="2147484366" r:id="rId12"/>
  </p:sldLayoutIdLst>
  <p:hf hdr="0" ft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12.xml"/><Relationship Id="rId4"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84175" y="765175"/>
            <a:ext cx="10831513" cy="3455988"/>
          </a:xfrm>
        </p:spPr>
        <p:txBody>
          <a:bodyPr/>
          <a:lstStyle/>
          <a:p>
            <a:pPr algn="ctr" eaLnBrk="1" fontAlgn="auto" hangingPunct="1">
              <a:spcAft>
                <a:spcPts val="0"/>
              </a:spcAft>
              <a:defRPr/>
            </a:pPr>
            <a:r>
              <a:rPr lang="en-GB" altLang="en-US" dirty="0">
                <a:latin typeface="Times New Roman" panose="02020603050405020304" pitchFamily="18" charset="0"/>
                <a:cs typeface="Times New Roman" panose="02020603050405020304" pitchFamily="18" charset="0"/>
              </a:rPr>
              <a:t> </a:t>
            </a:r>
            <a:r>
              <a:rPr lang="en-GB" altLang="en-US" sz="3300" dirty="0">
                <a:latin typeface="Times New Roman" panose="02020603050405020304" pitchFamily="18" charset="0"/>
                <a:cs typeface="Times New Roman" panose="02020603050405020304" pitchFamily="18" charset="0"/>
              </a:rPr>
              <a:t>CSM 357</a:t>
            </a:r>
            <a:br>
              <a:rPr lang="en-GB" altLang="en-US" dirty="0">
                <a:latin typeface="Times New Roman" panose="02020603050405020304" pitchFamily="18" charset="0"/>
                <a:cs typeface="Times New Roman" panose="02020603050405020304" pitchFamily="18" charset="0"/>
              </a:rPr>
            </a:br>
            <a:r>
              <a:rPr lang="en-GB" altLang="en-US" sz="6000" dirty="0">
                <a:solidFill>
                  <a:schemeClr val="tx1"/>
                </a:solidFill>
                <a:latin typeface="Times New Roman" panose="02020603050405020304" pitchFamily="18" charset="0"/>
                <a:cs typeface="Times New Roman" panose="02020603050405020304" pitchFamily="18" charset="0"/>
              </a:rPr>
              <a:t>Human-Computer Interaction</a:t>
            </a:r>
            <a:br>
              <a:rPr lang="en-GB" altLang="en-US" dirty="0">
                <a:solidFill>
                  <a:srgbClr val="FFC551"/>
                </a:solidFill>
                <a:latin typeface="Times New Roman" panose="02020603050405020304" pitchFamily="18" charset="0"/>
                <a:cs typeface="Times New Roman" panose="02020603050405020304" pitchFamily="18" charset="0"/>
              </a:rPr>
            </a:br>
            <a:r>
              <a:rPr lang="en-GB" altLang="en-US" sz="2400" dirty="0">
                <a:solidFill>
                  <a:schemeClr val="tx1"/>
                </a:solidFill>
                <a:latin typeface="Times New Roman" panose="02020603050405020304" pitchFamily="18" charset="0"/>
                <a:cs typeface="Times New Roman" panose="02020603050405020304" pitchFamily="18" charset="0"/>
              </a:rPr>
              <a:t>lecture 6: HCI Paradigms/ Cognitive models</a:t>
            </a:r>
            <a:endParaRPr lang="en-GH" sz="2400" dirty="0">
              <a:latin typeface="Times New Roman" panose="02020603050405020304" pitchFamily="18" charset="0"/>
              <a:cs typeface="Times New Roman" panose="02020603050405020304" pitchFamily="18" charset="0"/>
            </a:endParaRPr>
          </a:p>
        </p:txBody>
      </p:sp>
      <p:sp>
        <p:nvSpPr>
          <p:cNvPr id="6" name="Subtitle 5"/>
          <p:cNvSpPr>
            <a:spLocks noGrp="1"/>
          </p:cNvSpPr>
          <p:nvPr>
            <p:ph type="subTitle" idx="1"/>
          </p:nvPr>
        </p:nvSpPr>
        <p:spPr>
          <a:xfrm>
            <a:off x="5375275" y="5949950"/>
            <a:ext cx="6646863" cy="441325"/>
          </a:xfrm>
        </p:spPr>
        <p:txBody>
          <a:bodyPr rtlCol="0"/>
          <a:lstStyle/>
          <a:p>
            <a:pPr eaLnBrk="1" fontAlgn="auto" hangingPunct="1">
              <a:defRPr/>
            </a:pPr>
            <a:r>
              <a:rPr lang="en-GB" sz="1800" b="1" dirty="0">
                <a:solidFill>
                  <a:srgbClr val="0070C0"/>
                </a:solidFill>
              </a:rPr>
              <a:t>Rose-Mary </a:t>
            </a:r>
            <a:r>
              <a:rPr lang="en-GB" sz="1800" b="1" dirty="0" err="1">
                <a:solidFill>
                  <a:srgbClr val="0070C0"/>
                </a:solidFill>
              </a:rPr>
              <a:t>Owusuaa</a:t>
            </a:r>
            <a:r>
              <a:rPr lang="en-GB" sz="1800" b="1" dirty="0">
                <a:solidFill>
                  <a:srgbClr val="0070C0"/>
                </a:solidFill>
              </a:rPr>
              <a:t> Mensah </a:t>
            </a:r>
            <a:r>
              <a:rPr lang="en-GB" sz="1800" b="1" dirty="0" err="1">
                <a:solidFill>
                  <a:srgbClr val="0070C0"/>
                </a:solidFill>
              </a:rPr>
              <a:t>Gyening</a:t>
            </a:r>
            <a:endParaRPr lang="en-GB" sz="1800" b="1" dirty="0">
              <a:solidFill>
                <a:srgbClr val="0070C0"/>
              </a:solidFill>
            </a:endParaRPr>
          </a:p>
          <a:p>
            <a:pPr eaLnBrk="1" fontAlgn="auto" hangingPunct="1">
              <a:defRPr/>
            </a:pPr>
            <a:endParaRPr lang="en-GH" dirty="0"/>
          </a:p>
        </p:txBody>
      </p:sp>
      <p:sp>
        <p:nvSpPr>
          <p:cNvPr id="1024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0EC6D0BF-D8C2-4074-AFA3-FBB82016E1D4}" type="slidenum">
              <a:rPr lang="en-GB" altLang="en-US" smtClean="0">
                <a:solidFill>
                  <a:srgbClr val="FFFFFF"/>
                </a:solidFill>
              </a:rPr>
              <a:pPr/>
              <a:t>1</a:t>
            </a:fld>
            <a:endParaRPr lang="en-GB" altLang="en-US">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HCI PARADIGMS</a:t>
            </a:r>
          </a:p>
        </p:txBody>
      </p:sp>
      <p:sp>
        <p:nvSpPr>
          <p:cNvPr id="6" name="Subtitle 5"/>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2</a:t>
            </a:fld>
            <a:endParaRPr lang="en-GB" altLang="en-US"/>
          </a:p>
        </p:txBody>
      </p:sp>
    </p:spTree>
    <p:extLst>
      <p:ext uri="{BB962C8B-B14F-4D97-AF65-F5344CB8AC3E}">
        <p14:creationId xmlns:p14="http://schemas.microsoft.com/office/powerpoint/2010/main" val="1328456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
            <a:ext cx="10058400" cy="1196752"/>
          </a:xfrm>
        </p:spPr>
        <p:txBody>
          <a:bodyPr/>
          <a:lstStyle/>
          <a:p>
            <a:r>
              <a:rPr lang="en-US" dirty="0">
                <a:latin typeface="Times New Roman" panose="02020603050405020304" pitchFamily="18" charset="0"/>
                <a:cs typeface="Times New Roman" panose="02020603050405020304" pitchFamily="18" charset="0"/>
              </a:rPr>
              <a:t>HCI Paradigms</a:t>
            </a:r>
          </a:p>
        </p:txBody>
      </p:sp>
      <p:sp>
        <p:nvSpPr>
          <p:cNvPr id="3" name="Content Placeholder 2"/>
          <p:cNvSpPr>
            <a:spLocks noGrp="1"/>
          </p:cNvSpPr>
          <p:nvPr>
            <p:ph idx="1"/>
          </p:nvPr>
        </p:nvSpPr>
        <p:spPr>
          <a:xfrm>
            <a:off x="479376" y="1484784"/>
            <a:ext cx="11377263" cy="4752529"/>
          </a:xfrm>
        </p:spPr>
        <p:txBody>
          <a:bodyPr/>
          <a:lstStyle/>
          <a:p>
            <a:pPr>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we now build interactive systems that are more usable than those built in the past. </a:t>
            </a:r>
          </a:p>
          <a:p>
            <a:pPr>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We also believe that there is considerable room for improvement in designing more usable systems in the future.</a:t>
            </a:r>
          </a:p>
          <a:p>
            <a:pPr>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the great advances in computer technology have increased the power of machines and enhanced the bandwidth of communication between humans and computers. </a:t>
            </a:r>
          </a:p>
          <a:p>
            <a:pPr>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The impact of technology alone, however, is not sufficient to enhance its usability.</a:t>
            </a:r>
          </a:p>
          <a:p>
            <a:pPr>
              <a:buFont typeface="Wingdings" panose="05000000000000000000" pitchFamily="2" charset="2"/>
              <a:buChar char="§"/>
            </a:pPr>
            <a:endParaRPr lang="en-US"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Paradigms for interaction have for the most part been dependent upon technological advances and their creative application to enhance interaction.</a:t>
            </a:r>
          </a:p>
        </p:txBody>
      </p:sp>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3</a:t>
            </a:fld>
            <a:endParaRPr lang="en-GB" altLang="en-US"/>
          </a:p>
        </p:txBody>
      </p:sp>
    </p:spTree>
    <p:extLst>
      <p:ext uri="{BB962C8B-B14F-4D97-AF65-F5344CB8AC3E}">
        <p14:creationId xmlns:p14="http://schemas.microsoft.com/office/powerpoint/2010/main" val="1285765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HCI Paradigms</a:t>
            </a:r>
          </a:p>
        </p:txBody>
      </p:sp>
      <p:sp>
        <p:nvSpPr>
          <p:cNvPr id="3" name="Content Placeholder 2"/>
          <p:cNvSpPr>
            <a:spLocks noGrp="1"/>
          </p:cNvSpPr>
          <p:nvPr>
            <p:ph idx="1"/>
          </p:nvPr>
        </p:nvSpPr>
        <p:spPr>
          <a:xfrm>
            <a:off x="479376" y="1846263"/>
            <a:ext cx="11712624" cy="4022725"/>
          </a:xfrm>
        </p:spPr>
        <p:txBody>
          <a:bodyPr/>
          <a:lstStyle/>
          <a:p>
            <a:r>
              <a:rPr lang="en-US" sz="2600" dirty="0">
                <a:latin typeface="Times New Roman" panose="02020603050405020304" pitchFamily="18" charset="0"/>
                <a:cs typeface="Times New Roman" panose="02020603050405020304" pitchFamily="18" charset="0"/>
              </a:rPr>
              <a:t>In this section, we investigate some of the principal historical advances in interactive</a:t>
            </a:r>
          </a:p>
          <a:p>
            <a:r>
              <a:rPr lang="en-US" sz="2600" dirty="0">
                <a:latin typeface="Times New Roman" panose="02020603050405020304" pitchFamily="18" charset="0"/>
                <a:cs typeface="Times New Roman" panose="02020603050405020304" pitchFamily="18" charset="0"/>
              </a:rPr>
              <a:t>designs.</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They do not provide mutually exclusive categories, as particular systems will often incorporate ideas from more than one of the following paradigms</a:t>
            </a:r>
          </a:p>
        </p:txBody>
      </p:sp>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4</a:t>
            </a:fld>
            <a:endParaRPr lang="en-GB" altLang="en-US"/>
          </a:p>
        </p:txBody>
      </p:sp>
    </p:spTree>
    <p:extLst>
      <p:ext uri="{BB962C8B-B14F-4D97-AF65-F5344CB8AC3E}">
        <p14:creationId xmlns:p14="http://schemas.microsoft.com/office/powerpoint/2010/main" val="2548071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fontScale="90000"/>
          </a:bodyPr>
          <a:lstStyle/>
          <a:p>
            <a:pPr eaLnBrk="1" hangingPunct="1"/>
            <a:r>
              <a:rPr lang="en-US" altLang="en-US" dirty="0">
                <a:latin typeface="Times New Roman" panose="02020603050405020304" pitchFamily="18" charset="0"/>
                <a:cs typeface="Times New Roman" panose="02020603050405020304" pitchFamily="18" charset="0"/>
              </a:rPr>
              <a:t>The initial paradigm: </a:t>
            </a:r>
            <a:r>
              <a:rPr lang="en-US" altLang="en-US" dirty="0">
                <a:solidFill>
                  <a:srgbClr val="FF0000"/>
                </a:solidFill>
                <a:latin typeface="Times New Roman" panose="02020603050405020304" pitchFamily="18" charset="0"/>
                <a:cs typeface="Times New Roman" panose="02020603050405020304" pitchFamily="18" charset="0"/>
              </a:rPr>
              <a:t>Batch processing</a:t>
            </a:r>
            <a:br>
              <a:rPr lang="en-US" altLang="en-US" dirty="0">
                <a:latin typeface="Times New Roman" panose="02020603050405020304" pitchFamily="18" charset="0"/>
                <a:cs typeface="Times New Roman" panose="02020603050405020304" pitchFamily="18" charset="0"/>
              </a:rPr>
            </a:br>
            <a:endParaRPr lang="en-US" altLang="en-US" dirty="0">
              <a:latin typeface="Times New Roman" panose="02020603050405020304" pitchFamily="18" charset="0"/>
              <a:cs typeface="Times New Roman" panose="02020603050405020304" pitchFamily="18" charset="0"/>
            </a:endParaRPr>
          </a:p>
        </p:txBody>
      </p:sp>
      <p:sp>
        <p:nvSpPr>
          <p:cNvPr id="6147" name="Rectangle 3"/>
          <p:cNvSpPr>
            <a:spLocks noGrp="1" noChangeArrowheads="1"/>
          </p:cNvSpPr>
          <p:nvPr>
            <p:ph type="body" sz="half" idx="1"/>
          </p:nvPr>
        </p:nvSpPr>
        <p:spPr>
          <a:xfrm>
            <a:off x="2209801" y="3432906"/>
            <a:ext cx="3813175" cy="2663094"/>
          </a:xfrm>
        </p:spPr>
        <p:txBody>
          <a:bodyPr/>
          <a:lstStyle/>
          <a:p>
            <a:pPr eaLnBrk="1" hangingPunct="1"/>
            <a:r>
              <a:rPr lang="en-US" altLang="en-US" sz="2600" dirty="0">
                <a:solidFill>
                  <a:srgbClr val="FF0000"/>
                </a:solidFill>
                <a:latin typeface="Times New Roman" panose="02020603050405020304" pitchFamily="18" charset="0"/>
                <a:cs typeface="Times New Roman" panose="02020603050405020304" pitchFamily="18" charset="0"/>
              </a:rPr>
              <a:t>Batch processing</a:t>
            </a:r>
            <a:endParaRPr lang="en-US" altLang="en-US" sz="2600" dirty="0">
              <a:latin typeface="Times New Roman" panose="02020603050405020304" pitchFamily="18" charset="0"/>
              <a:cs typeface="Times New Roman" panose="02020603050405020304" pitchFamily="18" charset="0"/>
            </a:endParaRPr>
          </a:p>
        </p:txBody>
      </p:sp>
      <p:graphicFrame>
        <p:nvGraphicFramePr>
          <p:cNvPr id="47108" name="Object 4"/>
          <p:cNvGraphicFramePr>
            <a:graphicFrameLocks noChangeAspect="1"/>
          </p:cNvGraphicFramePr>
          <p:nvPr/>
        </p:nvGraphicFramePr>
        <p:xfrm>
          <a:off x="9329739" y="3325813"/>
          <a:ext cx="1050925" cy="1282700"/>
        </p:xfrm>
        <a:graphic>
          <a:graphicData uri="http://schemas.openxmlformats.org/presentationml/2006/ole">
            <mc:AlternateContent xmlns:mc="http://schemas.openxmlformats.org/markup-compatibility/2006">
              <mc:Choice xmlns:v="urn:schemas-microsoft-com:vml" Requires="v">
                <p:oleObj name="Microsoft ClipArt Gallery" r:id="rId2" imgW="2581275" imgH="3152775" progId="MS_ClipArt_Gallery">
                  <p:embed/>
                </p:oleObj>
              </mc:Choice>
              <mc:Fallback>
                <p:oleObj name="Microsoft ClipArt Gallery" r:id="rId2" imgW="2581275" imgH="3152775" progId="MS_ClipArt_Gallery">
                  <p:embed/>
                  <p:pic>
                    <p:nvPicPr>
                      <p:cNvPr id="4710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29739" y="3325813"/>
                        <a:ext cx="1050925" cy="1282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7109" name="Group 5"/>
          <p:cNvGrpSpPr>
            <a:grpSpLocks/>
          </p:cNvGrpSpPr>
          <p:nvPr/>
        </p:nvGrpSpPr>
        <p:grpSpPr bwMode="auto">
          <a:xfrm>
            <a:off x="5867401" y="3243263"/>
            <a:ext cx="1152525" cy="1236662"/>
            <a:chOff x="-48" y="96"/>
            <a:chExt cx="1629" cy="1690"/>
          </a:xfrm>
        </p:grpSpPr>
        <p:grpSp>
          <p:nvGrpSpPr>
            <p:cNvPr id="6251" name="Group 6"/>
            <p:cNvGrpSpPr>
              <a:grpSpLocks/>
            </p:cNvGrpSpPr>
            <p:nvPr/>
          </p:nvGrpSpPr>
          <p:grpSpPr bwMode="auto">
            <a:xfrm>
              <a:off x="576" y="96"/>
              <a:ext cx="1005" cy="1402"/>
              <a:chOff x="3" y="0"/>
              <a:chExt cx="1348" cy="1978"/>
            </a:xfrm>
          </p:grpSpPr>
          <p:sp>
            <p:nvSpPr>
              <p:cNvPr id="6291" name="Freeform 7"/>
              <p:cNvSpPr>
                <a:spLocks/>
              </p:cNvSpPr>
              <p:nvPr/>
            </p:nvSpPr>
            <p:spPr bwMode="auto">
              <a:xfrm>
                <a:off x="20" y="8"/>
                <a:ext cx="1295" cy="1970"/>
              </a:xfrm>
              <a:custGeom>
                <a:avLst/>
                <a:gdLst>
                  <a:gd name="T0" fmla="*/ 65 w 1295"/>
                  <a:gd name="T1" fmla="*/ 88 h 1970"/>
                  <a:gd name="T2" fmla="*/ 351 w 1295"/>
                  <a:gd name="T3" fmla="*/ 42 h 1970"/>
                  <a:gd name="T4" fmla="*/ 691 w 1295"/>
                  <a:gd name="T5" fmla="*/ 0 h 1970"/>
                  <a:gd name="T6" fmla="*/ 1054 w 1295"/>
                  <a:gd name="T7" fmla="*/ 88 h 1970"/>
                  <a:gd name="T8" fmla="*/ 1268 w 1295"/>
                  <a:gd name="T9" fmla="*/ 164 h 1970"/>
                  <a:gd name="T10" fmla="*/ 1295 w 1295"/>
                  <a:gd name="T11" fmla="*/ 194 h 1970"/>
                  <a:gd name="T12" fmla="*/ 1131 w 1295"/>
                  <a:gd name="T13" fmla="*/ 232 h 1970"/>
                  <a:gd name="T14" fmla="*/ 810 w 1295"/>
                  <a:gd name="T15" fmla="*/ 332 h 1970"/>
                  <a:gd name="T16" fmla="*/ 493 w 1295"/>
                  <a:gd name="T17" fmla="*/ 438 h 1970"/>
                  <a:gd name="T18" fmla="*/ 462 w 1295"/>
                  <a:gd name="T19" fmla="*/ 709 h 1970"/>
                  <a:gd name="T20" fmla="*/ 458 w 1295"/>
                  <a:gd name="T21" fmla="*/ 1071 h 1970"/>
                  <a:gd name="T22" fmla="*/ 443 w 1295"/>
                  <a:gd name="T23" fmla="*/ 1638 h 1970"/>
                  <a:gd name="T24" fmla="*/ 439 w 1295"/>
                  <a:gd name="T25" fmla="*/ 1970 h 1970"/>
                  <a:gd name="T26" fmla="*/ 340 w 1295"/>
                  <a:gd name="T27" fmla="*/ 1894 h 1970"/>
                  <a:gd name="T28" fmla="*/ 241 w 1295"/>
                  <a:gd name="T29" fmla="*/ 1753 h 1970"/>
                  <a:gd name="T30" fmla="*/ 153 w 1295"/>
                  <a:gd name="T31" fmla="*/ 1661 h 1970"/>
                  <a:gd name="T32" fmla="*/ 0 w 1295"/>
                  <a:gd name="T33" fmla="*/ 1494 h 1970"/>
                  <a:gd name="T34" fmla="*/ 8 w 1295"/>
                  <a:gd name="T35" fmla="*/ 1174 h 1970"/>
                  <a:gd name="T36" fmla="*/ 23 w 1295"/>
                  <a:gd name="T37" fmla="*/ 918 h 1970"/>
                  <a:gd name="T38" fmla="*/ 19 w 1295"/>
                  <a:gd name="T39" fmla="*/ 690 h 1970"/>
                  <a:gd name="T40" fmla="*/ 27 w 1295"/>
                  <a:gd name="T41" fmla="*/ 465 h 1970"/>
                  <a:gd name="T42" fmla="*/ 34 w 1295"/>
                  <a:gd name="T43" fmla="*/ 225 h 1970"/>
                  <a:gd name="T44" fmla="*/ 65 w 1295"/>
                  <a:gd name="T45" fmla="*/ 88 h 197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95" h="1970">
                    <a:moveTo>
                      <a:pt x="65" y="88"/>
                    </a:moveTo>
                    <a:lnTo>
                      <a:pt x="351" y="42"/>
                    </a:lnTo>
                    <a:lnTo>
                      <a:pt x="691" y="0"/>
                    </a:lnTo>
                    <a:lnTo>
                      <a:pt x="1054" y="88"/>
                    </a:lnTo>
                    <a:lnTo>
                      <a:pt x="1268" y="164"/>
                    </a:lnTo>
                    <a:lnTo>
                      <a:pt x="1295" y="194"/>
                    </a:lnTo>
                    <a:lnTo>
                      <a:pt x="1131" y="232"/>
                    </a:lnTo>
                    <a:lnTo>
                      <a:pt x="810" y="332"/>
                    </a:lnTo>
                    <a:lnTo>
                      <a:pt x="493" y="438"/>
                    </a:lnTo>
                    <a:lnTo>
                      <a:pt x="462" y="709"/>
                    </a:lnTo>
                    <a:lnTo>
                      <a:pt x="458" y="1071"/>
                    </a:lnTo>
                    <a:lnTo>
                      <a:pt x="443" y="1638"/>
                    </a:lnTo>
                    <a:lnTo>
                      <a:pt x="439" y="1970"/>
                    </a:lnTo>
                    <a:lnTo>
                      <a:pt x="340" y="1894"/>
                    </a:lnTo>
                    <a:lnTo>
                      <a:pt x="241" y="1753"/>
                    </a:lnTo>
                    <a:lnTo>
                      <a:pt x="153" y="1661"/>
                    </a:lnTo>
                    <a:lnTo>
                      <a:pt x="0" y="1494"/>
                    </a:lnTo>
                    <a:lnTo>
                      <a:pt x="8" y="1174"/>
                    </a:lnTo>
                    <a:lnTo>
                      <a:pt x="23" y="918"/>
                    </a:lnTo>
                    <a:lnTo>
                      <a:pt x="19" y="690"/>
                    </a:lnTo>
                    <a:lnTo>
                      <a:pt x="27" y="465"/>
                    </a:lnTo>
                    <a:lnTo>
                      <a:pt x="34" y="225"/>
                    </a:lnTo>
                    <a:lnTo>
                      <a:pt x="65" y="88"/>
                    </a:ln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2" name="Freeform 8"/>
              <p:cNvSpPr>
                <a:spLocks/>
              </p:cNvSpPr>
              <p:nvPr/>
            </p:nvSpPr>
            <p:spPr bwMode="auto">
              <a:xfrm>
                <a:off x="453" y="197"/>
                <a:ext cx="885" cy="1777"/>
              </a:xfrm>
              <a:custGeom>
                <a:avLst/>
                <a:gdLst>
                  <a:gd name="T0" fmla="*/ 61 w 885"/>
                  <a:gd name="T1" fmla="*/ 233 h 1777"/>
                  <a:gd name="T2" fmla="*/ 314 w 885"/>
                  <a:gd name="T3" fmla="*/ 172 h 1777"/>
                  <a:gd name="T4" fmla="*/ 636 w 885"/>
                  <a:gd name="T5" fmla="*/ 65 h 1777"/>
                  <a:gd name="T6" fmla="*/ 885 w 885"/>
                  <a:gd name="T7" fmla="*/ 0 h 1777"/>
                  <a:gd name="T8" fmla="*/ 881 w 885"/>
                  <a:gd name="T9" fmla="*/ 141 h 1777"/>
                  <a:gd name="T10" fmla="*/ 881 w 885"/>
                  <a:gd name="T11" fmla="*/ 309 h 1777"/>
                  <a:gd name="T12" fmla="*/ 874 w 885"/>
                  <a:gd name="T13" fmla="*/ 496 h 1777"/>
                  <a:gd name="T14" fmla="*/ 854 w 885"/>
                  <a:gd name="T15" fmla="*/ 778 h 1777"/>
                  <a:gd name="T16" fmla="*/ 858 w 885"/>
                  <a:gd name="T17" fmla="*/ 991 h 1777"/>
                  <a:gd name="T18" fmla="*/ 858 w 885"/>
                  <a:gd name="T19" fmla="*/ 1258 h 1777"/>
                  <a:gd name="T20" fmla="*/ 851 w 885"/>
                  <a:gd name="T21" fmla="*/ 1422 h 1777"/>
                  <a:gd name="T22" fmla="*/ 820 w 885"/>
                  <a:gd name="T23" fmla="*/ 1476 h 1777"/>
                  <a:gd name="T24" fmla="*/ 605 w 885"/>
                  <a:gd name="T25" fmla="*/ 1556 h 1777"/>
                  <a:gd name="T26" fmla="*/ 234 w 885"/>
                  <a:gd name="T27" fmla="*/ 1697 h 1777"/>
                  <a:gd name="T28" fmla="*/ 0 w 885"/>
                  <a:gd name="T29" fmla="*/ 1777 h 1777"/>
                  <a:gd name="T30" fmla="*/ 8 w 885"/>
                  <a:gd name="T31" fmla="*/ 1663 h 1777"/>
                  <a:gd name="T32" fmla="*/ 15 w 885"/>
                  <a:gd name="T33" fmla="*/ 1236 h 1777"/>
                  <a:gd name="T34" fmla="*/ 19 w 885"/>
                  <a:gd name="T35" fmla="*/ 847 h 1777"/>
                  <a:gd name="T36" fmla="*/ 27 w 885"/>
                  <a:gd name="T37" fmla="*/ 591 h 1777"/>
                  <a:gd name="T38" fmla="*/ 38 w 885"/>
                  <a:gd name="T39" fmla="*/ 351 h 1777"/>
                  <a:gd name="T40" fmla="*/ 61 w 885"/>
                  <a:gd name="T41" fmla="*/ 233 h 177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85" h="1777">
                    <a:moveTo>
                      <a:pt x="61" y="233"/>
                    </a:moveTo>
                    <a:lnTo>
                      <a:pt x="314" y="172"/>
                    </a:lnTo>
                    <a:lnTo>
                      <a:pt x="636" y="65"/>
                    </a:lnTo>
                    <a:lnTo>
                      <a:pt x="885" y="0"/>
                    </a:lnTo>
                    <a:lnTo>
                      <a:pt x="881" y="141"/>
                    </a:lnTo>
                    <a:lnTo>
                      <a:pt x="881" y="309"/>
                    </a:lnTo>
                    <a:lnTo>
                      <a:pt x="874" y="496"/>
                    </a:lnTo>
                    <a:lnTo>
                      <a:pt x="854" y="778"/>
                    </a:lnTo>
                    <a:lnTo>
                      <a:pt x="858" y="991"/>
                    </a:lnTo>
                    <a:lnTo>
                      <a:pt x="858" y="1258"/>
                    </a:lnTo>
                    <a:lnTo>
                      <a:pt x="851" y="1422"/>
                    </a:lnTo>
                    <a:lnTo>
                      <a:pt x="820" y="1476"/>
                    </a:lnTo>
                    <a:lnTo>
                      <a:pt x="605" y="1556"/>
                    </a:lnTo>
                    <a:lnTo>
                      <a:pt x="234" y="1697"/>
                    </a:lnTo>
                    <a:lnTo>
                      <a:pt x="0" y="1777"/>
                    </a:lnTo>
                    <a:lnTo>
                      <a:pt x="8" y="1663"/>
                    </a:lnTo>
                    <a:lnTo>
                      <a:pt x="15" y="1236"/>
                    </a:lnTo>
                    <a:lnTo>
                      <a:pt x="19" y="847"/>
                    </a:lnTo>
                    <a:lnTo>
                      <a:pt x="27" y="591"/>
                    </a:lnTo>
                    <a:lnTo>
                      <a:pt x="38" y="351"/>
                    </a:lnTo>
                    <a:lnTo>
                      <a:pt x="61" y="233"/>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293" name="Group 9"/>
              <p:cNvGrpSpPr>
                <a:grpSpLocks/>
              </p:cNvGrpSpPr>
              <p:nvPr/>
            </p:nvGrpSpPr>
            <p:grpSpPr bwMode="auto">
              <a:xfrm>
                <a:off x="3" y="0"/>
                <a:ext cx="1348" cy="1976"/>
                <a:chOff x="3" y="0"/>
                <a:chExt cx="1348" cy="1976"/>
              </a:xfrm>
            </p:grpSpPr>
            <p:sp>
              <p:nvSpPr>
                <p:cNvPr id="6294" name="Oval 10"/>
                <p:cNvSpPr>
                  <a:spLocks noChangeArrowheads="1"/>
                </p:cNvSpPr>
                <p:nvPr/>
              </p:nvSpPr>
              <p:spPr bwMode="auto">
                <a:xfrm>
                  <a:off x="1163" y="311"/>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6295" name="Oval 11"/>
                <p:cNvSpPr>
                  <a:spLocks noChangeArrowheads="1"/>
                </p:cNvSpPr>
                <p:nvPr/>
              </p:nvSpPr>
              <p:spPr bwMode="auto">
                <a:xfrm>
                  <a:off x="1163" y="410"/>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6296" name="Oval 12"/>
                <p:cNvSpPr>
                  <a:spLocks noChangeArrowheads="1"/>
                </p:cNvSpPr>
                <p:nvPr/>
              </p:nvSpPr>
              <p:spPr bwMode="auto">
                <a:xfrm>
                  <a:off x="1163" y="512"/>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6297" name="Oval 13"/>
                <p:cNvSpPr>
                  <a:spLocks noChangeArrowheads="1"/>
                </p:cNvSpPr>
                <p:nvPr/>
              </p:nvSpPr>
              <p:spPr bwMode="auto">
                <a:xfrm>
                  <a:off x="1163" y="607"/>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6298" name="Oval 14"/>
                <p:cNvSpPr>
                  <a:spLocks noChangeArrowheads="1"/>
                </p:cNvSpPr>
                <p:nvPr/>
              </p:nvSpPr>
              <p:spPr bwMode="auto">
                <a:xfrm>
                  <a:off x="1163" y="698"/>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6299" name="Freeform 15"/>
                <p:cNvSpPr>
                  <a:spLocks/>
                </p:cNvSpPr>
                <p:nvPr/>
              </p:nvSpPr>
              <p:spPr bwMode="auto">
                <a:xfrm>
                  <a:off x="635" y="376"/>
                  <a:ext cx="468" cy="353"/>
                </a:xfrm>
                <a:custGeom>
                  <a:avLst/>
                  <a:gdLst>
                    <a:gd name="T0" fmla="*/ 116 w 468"/>
                    <a:gd name="T1" fmla="*/ 122 h 353"/>
                    <a:gd name="T2" fmla="*/ 282 w 468"/>
                    <a:gd name="T3" fmla="*/ 70 h 353"/>
                    <a:gd name="T4" fmla="*/ 387 w 468"/>
                    <a:gd name="T5" fmla="*/ 29 h 353"/>
                    <a:gd name="T6" fmla="*/ 439 w 468"/>
                    <a:gd name="T7" fmla="*/ 0 h 353"/>
                    <a:gd name="T8" fmla="*/ 462 w 468"/>
                    <a:gd name="T9" fmla="*/ 0 h 353"/>
                    <a:gd name="T10" fmla="*/ 468 w 468"/>
                    <a:gd name="T11" fmla="*/ 33 h 353"/>
                    <a:gd name="T12" fmla="*/ 460 w 468"/>
                    <a:gd name="T13" fmla="*/ 120 h 353"/>
                    <a:gd name="T14" fmla="*/ 454 w 468"/>
                    <a:gd name="T15" fmla="*/ 209 h 353"/>
                    <a:gd name="T16" fmla="*/ 445 w 468"/>
                    <a:gd name="T17" fmla="*/ 239 h 353"/>
                    <a:gd name="T18" fmla="*/ 387 w 468"/>
                    <a:gd name="T19" fmla="*/ 254 h 353"/>
                    <a:gd name="T20" fmla="*/ 261 w 468"/>
                    <a:gd name="T21" fmla="*/ 273 h 353"/>
                    <a:gd name="T22" fmla="*/ 149 w 468"/>
                    <a:gd name="T23" fmla="*/ 306 h 353"/>
                    <a:gd name="T24" fmla="*/ 75 w 468"/>
                    <a:gd name="T25" fmla="*/ 330 h 353"/>
                    <a:gd name="T26" fmla="*/ 12 w 468"/>
                    <a:gd name="T27" fmla="*/ 353 h 353"/>
                    <a:gd name="T28" fmla="*/ 0 w 468"/>
                    <a:gd name="T29" fmla="*/ 337 h 353"/>
                    <a:gd name="T30" fmla="*/ 10 w 468"/>
                    <a:gd name="T31" fmla="*/ 277 h 353"/>
                    <a:gd name="T32" fmla="*/ 15 w 468"/>
                    <a:gd name="T33" fmla="*/ 149 h 353"/>
                    <a:gd name="T34" fmla="*/ 15 w 468"/>
                    <a:gd name="T35" fmla="*/ 111 h 353"/>
                    <a:gd name="T36" fmla="*/ 44 w 468"/>
                    <a:gd name="T37" fmla="*/ 114 h 353"/>
                    <a:gd name="T38" fmla="*/ 70 w 468"/>
                    <a:gd name="T39" fmla="*/ 128 h 353"/>
                    <a:gd name="T40" fmla="*/ 56 w 468"/>
                    <a:gd name="T41" fmla="*/ 175 h 353"/>
                    <a:gd name="T42" fmla="*/ 50 w 468"/>
                    <a:gd name="T43" fmla="*/ 244 h 353"/>
                    <a:gd name="T44" fmla="*/ 44 w 468"/>
                    <a:gd name="T45" fmla="*/ 303 h 353"/>
                    <a:gd name="T46" fmla="*/ 68 w 468"/>
                    <a:gd name="T47" fmla="*/ 308 h 353"/>
                    <a:gd name="T48" fmla="*/ 162 w 468"/>
                    <a:gd name="T49" fmla="*/ 277 h 353"/>
                    <a:gd name="T50" fmla="*/ 259 w 468"/>
                    <a:gd name="T51" fmla="*/ 248 h 353"/>
                    <a:gd name="T52" fmla="*/ 340 w 468"/>
                    <a:gd name="T53" fmla="*/ 227 h 353"/>
                    <a:gd name="T54" fmla="*/ 396 w 468"/>
                    <a:gd name="T55" fmla="*/ 213 h 353"/>
                    <a:gd name="T56" fmla="*/ 416 w 468"/>
                    <a:gd name="T57" fmla="*/ 204 h 353"/>
                    <a:gd name="T58" fmla="*/ 437 w 468"/>
                    <a:gd name="T59" fmla="*/ 145 h 353"/>
                    <a:gd name="T60" fmla="*/ 439 w 468"/>
                    <a:gd name="T61" fmla="*/ 80 h 353"/>
                    <a:gd name="T62" fmla="*/ 427 w 468"/>
                    <a:gd name="T63" fmla="*/ 41 h 353"/>
                    <a:gd name="T64" fmla="*/ 381 w 468"/>
                    <a:gd name="T65" fmla="*/ 52 h 353"/>
                    <a:gd name="T66" fmla="*/ 277 w 468"/>
                    <a:gd name="T67" fmla="*/ 97 h 353"/>
                    <a:gd name="T68" fmla="*/ 178 w 468"/>
                    <a:gd name="T69" fmla="*/ 120 h 353"/>
                    <a:gd name="T70" fmla="*/ 116 w 468"/>
                    <a:gd name="T71" fmla="*/ 122 h 35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68" h="353">
                      <a:moveTo>
                        <a:pt x="116" y="122"/>
                      </a:moveTo>
                      <a:lnTo>
                        <a:pt x="282" y="70"/>
                      </a:lnTo>
                      <a:lnTo>
                        <a:pt x="387" y="29"/>
                      </a:lnTo>
                      <a:lnTo>
                        <a:pt x="439" y="0"/>
                      </a:lnTo>
                      <a:lnTo>
                        <a:pt x="462" y="0"/>
                      </a:lnTo>
                      <a:lnTo>
                        <a:pt x="468" y="33"/>
                      </a:lnTo>
                      <a:lnTo>
                        <a:pt x="460" y="120"/>
                      </a:lnTo>
                      <a:lnTo>
                        <a:pt x="454" y="209"/>
                      </a:lnTo>
                      <a:lnTo>
                        <a:pt x="445" y="239"/>
                      </a:lnTo>
                      <a:lnTo>
                        <a:pt x="387" y="254"/>
                      </a:lnTo>
                      <a:lnTo>
                        <a:pt x="261" y="273"/>
                      </a:lnTo>
                      <a:lnTo>
                        <a:pt x="149" y="306"/>
                      </a:lnTo>
                      <a:lnTo>
                        <a:pt x="75" y="330"/>
                      </a:lnTo>
                      <a:lnTo>
                        <a:pt x="12" y="353"/>
                      </a:lnTo>
                      <a:lnTo>
                        <a:pt x="0" y="337"/>
                      </a:lnTo>
                      <a:lnTo>
                        <a:pt x="10" y="277"/>
                      </a:lnTo>
                      <a:lnTo>
                        <a:pt x="15" y="149"/>
                      </a:lnTo>
                      <a:lnTo>
                        <a:pt x="15" y="111"/>
                      </a:lnTo>
                      <a:lnTo>
                        <a:pt x="44" y="114"/>
                      </a:lnTo>
                      <a:lnTo>
                        <a:pt x="70" y="128"/>
                      </a:lnTo>
                      <a:lnTo>
                        <a:pt x="56" y="175"/>
                      </a:lnTo>
                      <a:lnTo>
                        <a:pt x="50" y="244"/>
                      </a:lnTo>
                      <a:lnTo>
                        <a:pt x="44" y="303"/>
                      </a:lnTo>
                      <a:lnTo>
                        <a:pt x="68" y="308"/>
                      </a:lnTo>
                      <a:lnTo>
                        <a:pt x="162" y="277"/>
                      </a:lnTo>
                      <a:lnTo>
                        <a:pt x="259" y="248"/>
                      </a:lnTo>
                      <a:lnTo>
                        <a:pt x="340" y="227"/>
                      </a:lnTo>
                      <a:lnTo>
                        <a:pt x="396" y="213"/>
                      </a:lnTo>
                      <a:lnTo>
                        <a:pt x="416" y="204"/>
                      </a:lnTo>
                      <a:lnTo>
                        <a:pt x="437" y="145"/>
                      </a:lnTo>
                      <a:lnTo>
                        <a:pt x="439" y="80"/>
                      </a:lnTo>
                      <a:lnTo>
                        <a:pt x="427" y="41"/>
                      </a:lnTo>
                      <a:lnTo>
                        <a:pt x="381" y="52"/>
                      </a:lnTo>
                      <a:lnTo>
                        <a:pt x="277" y="97"/>
                      </a:lnTo>
                      <a:lnTo>
                        <a:pt x="178" y="120"/>
                      </a:lnTo>
                      <a:lnTo>
                        <a:pt x="116" y="1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300" name="Group 16"/>
                <p:cNvGrpSpPr>
                  <a:grpSpLocks/>
                </p:cNvGrpSpPr>
                <p:nvPr/>
              </p:nvGrpSpPr>
              <p:grpSpPr bwMode="auto">
                <a:xfrm>
                  <a:off x="658" y="757"/>
                  <a:ext cx="72" cy="40"/>
                  <a:chOff x="658" y="757"/>
                  <a:chExt cx="72" cy="40"/>
                </a:xfrm>
              </p:grpSpPr>
              <p:sp>
                <p:nvSpPr>
                  <p:cNvPr id="6327" name="Freeform 17"/>
                  <p:cNvSpPr>
                    <a:spLocks/>
                  </p:cNvSpPr>
                  <p:nvPr/>
                </p:nvSpPr>
                <p:spPr bwMode="auto">
                  <a:xfrm>
                    <a:off x="658" y="757"/>
                    <a:ext cx="72" cy="40"/>
                  </a:xfrm>
                  <a:custGeom>
                    <a:avLst/>
                    <a:gdLst>
                      <a:gd name="T0" fmla="*/ 0 w 72"/>
                      <a:gd name="T1" fmla="*/ 4 h 40"/>
                      <a:gd name="T2" fmla="*/ 44 w 72"/>
                      <a:gd name="T3" fmla="*/ 0 h 40"/>
                      <a:gd name="T4" fmla="*/ 55 w 72"/>
                      <a:gd name="T5" fmla="*/ 6 h 40"/>
                      <a:gd name="T6" fmla="*/ 66 w 72"/>
                      <a:gd name="T7" fmla="*/ 11 h 40"/>
                      <a:gd name="T8" fmla="*/ 72 w 72"/>
                      <a:gd name="T9" fmla="*/ 23 h 40"/>
                      <a:gd name="T10" fmla="*/ 63 w 72"/>
                      <a:gd name="T11" fmla="*/ 27 h 40"/>
                      <a:gd name="T12" fmla="*/ 49 w 72"/>
                      <a:gd name="T13" fmla="*/ 34 h 40"/>
                      <a:gd name="T14" fmla="*/ 40 w 72"/>
                      <a:gd name="T15" fmla="*/ 40 h 40"/>
                      <a:gd name="T16" fmla="*/ 28 w 72"/>
                      <a:gd name="T17" fmla="*/ 40 h 40"/>
                      <a:gd name="T18" fmla="*/ 0 w 72"/>
                      <a:gd name="T19" fmla="*/ 4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2" h="40">
                        <a:moveTo>
                          <a:pt x="0" y="4"/>
                        </a:moveTo>
                        <a:lnTo>
                          <a:pt x="44" y="0"/>
                        </a:lnTo>
                        <a:lnTo>
                          <a:pt x="55" y="6"/>
                        </a:lnTo>
                        <a:lnTo>
                          <a:pt x="66" y="11"/>
                        </a:lnTo>
                        <a:lnTo>
                          <a:pt x="72" y="23"/>
                        </a:lnTo>
                        <a:lnTo>
                          <a:pt x="63" y="27"/>
                        </a:lnTo>
                        <a:lnTo>
                          <a:pt x="49" y="34"/>
                        </a:lnTo>
                        <a:lnTo>
                          <a:pt x="40" y="40"/>
                        </a:lnTo>
                        <a:lnTo>
                          <a:pt x="28" y="40"/>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8" name="Freeform 18"/>
                  <p:cNvSpPr>
                    <a:spLocks/>
                  </p:cNvSpPr>
                  <p:nvPr/>
                </p:nvSpPr>
                <p:spPr bwMode="auto">
                  <a:xfrm>
                    <a:off x="658" y="757"/>
                    <a:ext cx="72" cy="40"/>
                  </a:xfrm>
                  <a:custGeom>
                    <a:avLst/>
                    <a:gdLst>
                      <a:gd name="T0" fmla="*/ 0 w 72"/>
                      <a:gd name="T1" fmla="*/ 4 h 40"/>
                      <a:gd name="T2" fmla="*/ 44 w 72"/>
                      <a:gd name="T3" fmla="*/ 0 h 40"/>
                      <a:gd name="T4" fmla="*/ 55 w 72"/>
                      <a:gd name="T5" fmla="*/ 6 h 40"/>
                      <a:gd name="T6" fmla="*/ 66 w 72"/>
                      <a:gd name="T7" fmla="*/ 11 h 40"/>
                      <a:gd name="T8" fmla="*/ 72 w 72"/>
                      <a:gd name="T9" fmla="*/ 23 h 40"/>
                      <a:gd name="T10" fmla="*/ 63 w 72"/>
                      <a:gd name="T11" fmla="*/ 27 h 40"/>
                      <a:gd name="T12" fmla="*/ 49 w 72"/>
                      <a:gd name="T13" fmla="*/ 34 h 40"/>
                      <a:gd name="T14" fmla="*/ 40 w 72"/>
                      <a:gd name="T15" fmla="*/ 40 h 40"/>
                      <a:gd name="T16" fmla="*/ 28 w 72"/>
                      <a:gd name="T17" fmla="*/ 40 h 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40">
                        <a:moveTo>
                          <a:pt x="0" y="4"/>
                        </a:moveTo>
                        <a:lnTo>
                          <a:pt x="44" y="0"/>
                        </a:lnTo>
                        <a:lnTo>
                          <a:pt x="55" y="6"/>
                        </a:lnTo>
                        <a:lnTo>
                          <a:pt x="66" y="11"/>
                        </a:lnTo>
                        <a:lnTo>
                          <a:pt x="72" y="23"/>
                        </a:lnTo>
                        <a:lnTo>
                          <a:pt x="63" y="27"/>
                        </a:lnTo>
                        <a:lnTo>
                          <a:pt x="49" y="34"/>
                        </a:lnTo>
                        <a:lnTo>
                          <a:pt x="40" y="40"/>
                        </a:lnTo>
                        <a:lnTo>
                          <a:pt x="28" y="4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301" name="Freeform 19"/>
                <p:cNvSpPr>
                  <a:spLocks/>
                </p:cNvSpPr>
                <p:nvPr/>
              </p:nvSpPr>
              <p:spPr bwMode="auto">
                <a:xfrm>
                  <a:off x="659" y="750"/>
                  <a:ext cx="90" cy="60"/>
                </a:xfrm>
                <a:custGeom>
                  <a:avLst/>
                  <a:gdLst>
                    <a:gd name="T0" fmla="*/ 90 w 90"/>
                    <a:gd name="T1" fmla="*/ 17 h 60"/>
                    <a:gd name="T2" fmla="*/ 88 w 90"/>
                    <a:gd name="T3" fmla="*/ 13 h 60"/>
                    <a:gd name="T4" fmla="*/ 85 w 90"/>
                    <a:gd name="T5" fmla="*/ 9 h 60"/>
                    <a:gd name="T6" fmla="*/ 80 w 90"/>
                    <a:gd name="T7" fmla="*/ 6 h 60"/>
                    <a:gd name="T8" fmla="*/ 75 w 90"/>
                    <a:gd name="T9" fmla="*/ 5 h 60"/>
                    <a:gd name="T10" fmla="*/ 68 w 90"/>
                    <a:gd name="T11" fmla="*/ 2 h 60"/>
                    <a:gd name="T12" fmla="*/ 61 w 90"/>
                    <a:gd name="T13" fmla="*/ 1 h 60"/>
                    <a:gd name="T14" fmla="*/ 54 w 90"/>
                    <a:gd name="T15" fmla="*/ 0 h 60"/>
                    <a:gd name="T16" fmla="*/ 46 w 90"/>
                    <a:gd name="T17" fmla="*/ 1 h 60"/>
                    <a:gd name="T18" fmla="*/ 38 w 90"/>
                    <a:gd name="T19" fmla="*/ 3 h 60"/>
                    <a:gd name="T20" fmla="*/ 31 w 90"/>
                    <a:gd name="T21" fmla="*/ 6 h 60"/>
                    <a:gd name="T22" fmla="*/ 23 w 90"/>
                    <a:gd name="T23" fmla="*/ 9 h 60"/>
                    <a:gd name="T24" fmla="*/ 18 w 90"/>
                    <a:gd name="T25" fmla="*/ 13 h 60"/>
                    <a:gd name="T26" fmla="*/ 11 w 90"/>
                    <a:gd name="T27" fmla="*/ 18 h 60"/>
                    <a:gd name="T28" fmla="*/ 7 w 90"/>
                    <a:gd name="T29" fmla="*/ 23 h 60"/>
                    <a:gd name="T30" fmla="*/ 3 w 90"/>
                    <a:gd name="T31" fmla="*/ 27 h 60"/>
                    <a:gd name="T32" fmla="*/ 1 w 90"/>
                    <a:gd name="T33" fmla="*/ 32 h 60"/>
                    <a:gd name="T34" fmla="*/ 0 w 90"/>
                    <a:gd name="T35" fmla="*/ 38 h 60"/>
                    <a:gd name="T36" fmla="*/ 0 w 90"/>
                    <a:gd name="T37" fmla="*/ 43 h 60"/>
                    <a:gd name="T38" fmla="*/ 2 w 90"/>
                    <a:gd name="T39" fmla="*/ 47 h 60"/>
                    <a:gd name="T40" fmla="*/ 5 w 90"/>
                    <a:gd name="T41" fmla="*/ 51 h 60"/>
                    <a:gd name="T42" fmla="*/ 10 w 90"/>
                    <a:gd name="T43" fmla="*/ 54 h 60"/>
                    <a:gd name="T44" fmla="*/ 15 w 90"/>
                    <a:gd name="T45" fmla="*/ 55 h 60"/>
                    <a:gd name="T46" fmla="*/ 22 w 90"/>
                    <a:gd name="T47" fmla="*/ 58 h 60"/>
                    <a:gd name="T48" fmla="*/ 29 w 90"/>
                    <a:gd name="T49" fmla="*/ 59 h 60"/>
                    <a:gd name="T50" fmla="*/ 36 w 90"/>
                    <a:gd name="T51" fmla="*/ 60 h 60"/>
                    <a:gd name="T52" fmla="*/ 44 w 90"/>
                    <a:gd name="T53" fmla="*/ 59 h 60"/>
                    <a:gd name="T54" fmla="*/ 52 w 90"/>
                    <a:gd name="T55" fmla="*/ 57 h 60"/>
                    <a:gd name="T56" fmla="*/ 59 w 90"/>
                    <a:gd name="T57" fmla="*/ 54 h 60"/>
                    <a:gd name="T58" fmla="*/ 67 w 90"/>
                    <a:gd name="T59" fmla="*/ 51 h 60"/>
                    <a:gd name="T60" fmla="*/ 72 w 90"/>
                    <a:gd name="T61" fmla="*/ 47 h 60"/>
                    <a:gd name="T62" fmla="*/ 79 w 90"/>
                    <a:gd name="T63" fmla="*/ 42 h 60"/>
                    <a:gd name="T64" fmla="*/ 83 w 90"/>
                    <a:gd name="T65" fmla="*/ 37 h 60"/>
                    <a:gd name="T66" fmla="*/ 87 w 90"/>
                    <a:gd name="T67" fmla="*/ 33 h 60"/>
                    <a:gd name="T68" fmla="*/ 89 w 90"/>
                    <a:gd name="T69" fmla="*/ 28 h 60"/>
                    <a:gd name="T70" fmla="*/ 90 w 90"/>
                    <a:gd name="T71" fmla="*/ 22 h 60"/>
                    <a:gd name="T72" fmla="*/ 90 w 90"/>
                    <a:gd name="T73" fmla="*/ 17 h 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0" h="60">
                      <a:moveTo>
                        <a:pt x="90" y="17"/>
                      </a:moveTo>
                      <a:lnTo>
                        <a:pt x="88" y="13"/>
                      </a:lnTo>
                      <a:lnTo>
                        <a:pt x="85" y="9"/>
                      </a:lnTo>
                      <a:lnTo>
                        <a:pt x="80" y="6"/>
                      </a:lnTo>
                      <a:lnTo>
                        <a:pt x="75" y="5"/>
                      </a:lnTo>
                      <a:lnTo>
                        <a:pt x="68" y="2"/>
                      </a:lnTo>
                      <a:lnTo>
                        <a:pt x="61" y="1"/>
                      </a:lnTo>
                      <a:lnTo>
                        <a:pt x="54" y="0"/>
                      </a:lnTo>
                      <a:lnTo>
                        <a:pt x="46" y="1"/>
                      </a:lnTo>
                      <a:lnTo>
                        <a:pt x="38" y="3"/>
                      </a:lnTo>
                      <a:lnTo>
                        <a:pt x="31" y="6"/>
                      </a:lnTo>
                      <a:lnTo>
                        <a:pt x="23" y="9"/>
                      </a:lnTo>
                      <a:lnTo>
                        <a:pt x="18" y="13"/>
                      </a:lnTo>
                      <a:lnTo>
                        <a:pt x="11" y="18"/>
                      </a:lnTo>
                      <a:lnTo>
                        <a:pt x="7" y="23"/>
                      </a:lnTo>
                      <a:lnTo>
                        <a:pt x="3" y="27"/>
                      </a:lnTo>
                      <a:lnTo>
                        <a:pt x="1" y="32"/>
                      </a:lnTo>
                      <a:lnTo>
                        <a:pt x="0" y="38"/>
                      </a:lnTo>
                      <a:lnTo>
                        <a:pt x="0" y="43"/>
                      </a:lnTo>
                      <a:lnTo>
                        <a:pt x="2" y="47"/>
                      </a:lnTo>
                      <a:lnTo>
                        <a:pt x="5" y="51"/>
                      </a:lnTo>
                      <a:lnTo>
                        <a:pt x="10" y="54"/>
                      </a:lnTo>
                      <a:lnTo>
                        <a:pt x="15" y="55"/>
                      </a:lnTo>
                      <a:lnTo>
                        <a:pt x="22" y="58"/>
                      </a:lnTo>
                      <a:lnTo>
                        <a:pt x="29" y="59"/>
                      </a:lnTo>
                      <a:lnTo>
                        <a:pt x="36" y="60"/>
                      </a:lnTo>
                      <a:lnTo>
                        <a:pt x="44" y="59"/>
                      </a:lnTo>
                      <a:lnTo>
                        <a:pt x="52" y="57"/>
                      </a:lnTo>
                      <a:lnTo>
                        <a:pt x="59" y="54"/>
                      </a:lnTo>
                      <a:lnTo>
                        <a:pt x="67" y="51"/>
                      </a:lnTo>
                      <a:lnTo>
                        <a:pt x="72" y="47"/>
                      </a:lnTo>
                      <a:lnTo>
                        <a:pt x="79" y="42"/>
                      </a:lnTo>
                      <a:lnTo>
                        <a:pt x="83" y="37"/>
                      </a:lnTo>
                      <a:lnTo>
                        <a:pt x="87" y="33"/>
                      </a:lnTo>
                      <a:lnTo>
                        <a:pt x="89" y="28"/>
                      </a:lnTo>
                      <a:lnTo>
                        <a:pt x="90" y="22"/>
                      </a:lnTo>
                      <a:lnTo>
                        <a:pt x="9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2" name="Freeform 20"/>
                <p:cNvSpPr>
                  <a:spLocks/>
                </p:cNvSpPr>
                <p:nvPr/>
              </p:nvSpPr>
              <p:spPr bwMode="auto">
                <a:xfrm>
                  <a:off x="824" y="701"/>
                  <a:ext cx="92" cy="60"/>
                </a:xfrm>
                <a:custGeom>
                  <a:avLst/>
                  <a:gdLst>
                    <a:gd name="T0" fmla="*/ 92 w 92"/>
                    <a:gd name="T1" fmla="*/ 17 h 60"/>
                    <a:gd name="T2" fmla="*/ 90 w 92"/>
                    <a:gd name="T3" fmla="*/ 13 h 60"/>
                    <a:gd name="T4" fmla="*/ 87 w 92"/>
                    <a:gd name="T5" fmla="*/ 8 h 60"/>
                    <a:gd name="T6" fmla="*/ 82 w 92"/>
                    <a:gd name="T7" fmla="*/ 5 h 60"/>
                    <a:gd name="T8" fmla="*/ 77 w 92"/>
                    <a:gd name="T9" fmla="*/ 2 h 60"/>
                    <a:gd name="T10" fmla="*/ 70 w 92"/>
                    <a:gd name="T11" fmla="*/ 1 h 60"/>
                    <a:gd name="T12" fmla="*/ 61 w 92"/>
                    <a:gd name="T13" fmla="*/ 0 h 60"/>
                    <a:gd name="T14" fmla="*/ 55 w 92"/>
                    <a:gd name="T15" fmla="*/ 0 h 60"/>
                    <a:gd name="T16" fmla="*/ 47 w 92"/>
                    <a:gd name="T17" fmla="*/ 0 h 60"/>
                    <a:gd name="T18" fmla="*/ 39 w 92"/>
                    <a:gd name="T19" fmla="*/ 2 h 60"/>
                    <a:gd name="T20" fmla="*/ 32 w 92"/>
                    <a:gd name="T21" fmla="*/ 5 h 60"/>
                    <a:gd name="T22" fmla="*/ 24 w 92"/>
                    <a:gd name="T23" fmla="*/ 9 h 60"/>
                    <a:gd name="T24" fmla="*/ 18 w 92"/>
                    <a:gd name="T25" fmla="*/ 12 h 60"/>
                    <a:gd name="T26" fmla="*/ 11 w 92"/>
                    <a:gd name="T27" fmla="*/ 17 h 60"/>
                    <a:gd name="T28" fmla="*/ 7 w 92"/>
                    <a:gd name="T29" fmla="*/ 23 h 60"/>
                    <a:gd name="T30" fmla="*/ 3 w 92"/>
                    <a:gd name="T31" fmla="*/ 28 h 60"/>
                    <a:gd name="T32" fmla="*/ 1 w 92"/>
                    <a:gd name="T33" fmla="*/ 31 h 60"/>
                    <a:gd name="T34" fmla="*/ 0 w 92"/>
                    <a:gd name="T35" fmla="*/ 38 h 60"/>
                    <a:gd name="T36" fmla="*/ 0 w 92"/>
                    <a:gd name="T37" fmla="*/ 43 h 60"/>
                    <a:gd name="T38" fmla="*/ 2 w 92"/>
                    <a:gd name="T39" fmla="*/ 47 h 60"/>
                    <a:gd name="T40" fmla="*/ 5 w 92"/>
                    <a:gd name="T41" fmla="*/ 52 h 60"/>
                    <a:gd name="T42" fmla="*/ 10 w 92"/>
                    <a:gd name="T43" fmla="*/ 55 h 60"/>
                    <a:gd name="T44" fmla="*/ 15 w 92"/>
                    <a:gd name="T45" fmla="*/ 58 h 60"/>
                    <a:gd name="T46" fmla="*/ 22 w 92"/>
                    <a:gd name="T47" fmla="*/ 59 h 60"/>
                    <a:gd name="T48" fmla="*/ 31 w 92"/>
                    <a:gd name="T49" fmla="*/ 60 h 60"/>
                    <a:gd name="T50" fmla="*/ 37 w 92"/>
                    <a:gd name="T51" fmla="*/ 60 h 60"/>
                    <a:gd name="T52" fmla="*/ 45 w 92"/>
                    <a:gd name="T53" fmla="*/ 60 h 60"/>
                    <a:gd name="T54" fmla="*/ 53 w 92"/>
                    <a:gd name="T55" fmla="*/ 58 h 60"/>
                    <a:gd name="T56" fmla="*/ 60 w 92"/>
                    <a:gd name="T57" fmla="*/ 55 h 60"/>
                    <a:gd name="T58" fmla="*/ 68 w 92"/>
                    <a:gd name="T59" fmla="*/ 51 h 60"/>
                    <a:gd name="T60" fmla="*/ 74 w 92"/>
                    <a:gd name="T61" fmla="*/ 48 h 60"/>
                    <a:gd name="T62" fmla="*/ 81 w 92"/>
                    <a:gd name="T63" fmla="*/ 43 h 60"/>
                    <a:gd name="T64" fmla="*/ 85 w 92"/>
                    <a:gd name="T65" fmla="*/ 37 h 60"/>
                    <a:gd name="T66" fmla="*/ 89 w 92"/>
                    <a:gd name="T67" fmla="*/ 32 h 60"/>
                    <a:gd name="T68" fmla="*/ 91 w 92"/>
                    <a:gd name="T69" fmla="*/ 29 h 60"/>
                    <a:gd name="T70" fmla="*/ 92 w 92"/>
                    <a:gd name="T71" fmla="*/ 22 h 60"/>
                    <a:gd name="T72" fmla="*/ 92 w 92"/>
                    <a:gd name="T73" fmla="*/ 17 h 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2" h="60">
                      <a:moveTo>
                        <a:pt x="92" y="17"/>
                      </a:moveTo>
                      <a:lnTo>
                        <a:pt x="90" y="13"/>
                      </a:lnTo>
                      <a:lnTo>
                        <a:pt x="87" y="8"/>
                      </a:lnTo>
                      <a:lnTo>
                        <a:pt x="82" y="5"/>
                      </a:lnTo>
                      <a:lnTo>
                        <a:pt x="77" y="2"/>
                      </a:lnTo>
                      <a:lnTo>
                        <a:pt x="70" y="1"/>
                      </a:lnTo>
                      <a:lnTo>
                        <a:pt x="61" y="0"/>
                      </a:lnTo>
                      <a:lnTo>
                        <a:pt x="55" y="0"/>
                      </a:lnTo>
                      <a:lnTo>
                        <a:pt x="47" y="0"/>
                      </a:lnTo>
                      <a:lnTo>
                        <a:pt x="39" y="2"/>
                      </a:lnTo>
                      <a:lnTo>
                        <a:pt x="32" y="5"/>
                      </a:lnTo>
                      <a:lnTo>
                        <a:pt x="24" y="9"/>
                      </a:lnTo>
                      <a:lnTo>
                        <a:pt x="18" y="12"/>
                      </a:lnTo>
                      <a:lnTo>
                        <a:pt x="11" y="17"/>
                      </a:lnTo>
                      <a:lnTo>
                        <a:pt x="7" y="23"/>
                      </a:lnTo>
                      <a:lnTo>
                        <a:pt x="3" y="28"/>
                      </a:lnTo>
                      <a:lnTo>
                        <a:pt x="1" y="31"/>
                      </a:lnTo>
                      <a:lnTo>
                        <a:pt x="0" y="38"/>
                      </a:lnTo>
                      <a:lnTo>
                        <a:pt x="0" y="43"/>
                      </a:lnTo>
                      <a:lnTo>
                        <a:pt x="2" y="47"/>
                      </a:lnTo>
                      <a:lnTo>
                        <a:pt x="5" y="52"/>
                      </a:lnTo>
                      <a:lnTo>
                        <a:pt x="10" y="55"/>
                      </a:lnTo>
                      <a:lnTo>
                        <a:pt x="15" y="58"/>
                      </a:lnTo>
                      <a:lnTo>
                        <a:pt x="22" y="59"/>
                      </a:lnTo>
                      <a:lnTo>
                        <a:pt x="31" y="60"/>
                      </a:lnTo>
                      <a:lnTo>
                        <a:pt x="37" y="60"/>
                      </a:lnTo>
                      <a:lnTo>
                        <a:pt x="45" y="60"/>
                      </a:lnTo>
                      <a:lnTo>
                        <a:pt x="53" y="58"/>
                      </a:lnTo>
                      <a:lnTo>
                        <a:pt x="60" y="55"/>
                      </a:lnTo>
                      <a:lnTo>
                        <a:pt x="68" y="51"/>
                      </a:lnTo>
                      <a:lnTo>
                        <a:pt x="74" y="48"/>
                      </a:lnTo>
                      <a:lnTo>
                        <a:pt x="81" y="43"/>
                      </a:lnTo>
                      <a:lnTo>
                        <a:pt x="85" y="37"/>
                      </a:lnTo>
                      <a:lnTo>
                        <a:pt x="89" y="32"/>
                      </a:lnTo>
                      <a:lnTo>
                        <a:pt x="91" y="29"/>
                      </a:lnTo>
                      <a:lnTo>
                        <a:pt x="92" y="22"/>
                      </a:lnTo>
                      <a:lnTo>
                        <a:pt x="92"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3" name="Freeform 21"/>
                <p:cNvSpPr>
                  <a:spLocks/>
                </p:cNvSpPr>
                <p:nvPr/>
              </p:nvSpPr>
              <p:spPr bwMode="auto">
                <a:xfrm>
                  <a:off x="970" y="661"/>
                  <a:ext cx="92" cy="60"/>
                </a:xfrm>
                <a:custGeom>
                  <a:avLst/>
                  <a:gdLst>
                    <a:gd name="T0" fmla="*/ 92 w 92"/>
                    <a:gd name="T1" fmla="*/ 17 h 60"/>
                    <a:gd name="T2" fmla="*/ 90 w 92"/>
                    <a:gd name="T3" fmla="*/ 13 h 60"/>
                    <a:gd name="T4" fmla="*/ 87 w 92"/>
                    <a:gd name="T5" fmla="*/ 8 h 60"/>
                    <a:gd name="T6" fmla="*/ 82 w 92"/>
                    <a:gd name="T7" fmla="*/ 5 h 60"/>
                    <a:gd name="T8" fmla="*/ 77 w 92"/>
                    <a:gd name="T9" fmla="*/ 2 h 60"/>
                    <a:gd name="T10" fmla="*/ 70 w 92"/>
                    <a:gd name="T11" fmla="*/ 1 h 60"/>
                    <a:gd name="T12" fmla="*/ 61 w 92"/>
                    <a:gd name="T13" fmla="*/ 0 h 60"/>
                    <a:gd name="T14" fmla="*/ 55 w 92"/>
                    <a:gd name="T15" fmla="*/ 0 h 60"/>
                    <a:gd name="T16" fmla="*/ 47 w 92"/>
                    <a:gd name="T17" fmla="*/ 0 h 60"/>
                    <a:gd name="T18" fmla="*/ 39 w 92"/>
                    <a:gd name="T19" fmla="*/ 2 h 60"/>
                    <a:gd name="T20" fmla="*/ 32 w 92"/>
                    <a:gd name="T21" fmla="*/ 5 h 60"/>
                    <a:gd name="T22" fmla="*/ 24 w 92"/>
                    <a:gd name="T23" fmla="*/ 9 h 60"/>
                    <a:gd name="T24" fmla="*/ 18 w 92"/>
                    <a:gd name="T25" fmla="*/ 12 h 60"/>
                    <a:gd name="T26" fmla="*/ 11 w 92"/>
                    <a:gd name="T27" fmla="*/ 17 h 60"/>
                    <a:gd name="T28" fmla="*/ 7 w 92"/>
                    <a:gd name="T29" fmla="*/ 23 h 60"/>
                    <a:gd name="T30" fmla="*/ 3 w 92"/>
                    <a:gd name="T31" fmla="*/ 28 h 60"/>
                    <a:gd name="T32" fmla="*/ 1 w 92"/>
                    <a:gd name="T33" fmla="*/ 31 h 60"/>
                    <a:gd name="T34" fmla="*/ 0 w 92"/>
                    <a:gd name="T35" fmla="*/ 38 h 60"/>
                    <a:gd name="T36" fmla="*/ 0 w 92"/>
                    <a:gd name="T37" fmla="*/ 43 h 60"/>
                    <a:gd name="T38" fmla="*/ 2 w 92"/>
                    <a:gd name="T39" fmla="*/ 47 h 60"/>
                    <a:gd name="T40" fmla="*/ 5 w 92"/>
                    <a:gd name="T41" fmla="*/ 52 h 60"/>
                    <a:gd name="T42" fmla="*/ 10 w 92"/>
                    <a:gd name="T43" fmla="*/ 55 h 60"/>
                    <a:gd name="T44" fmla="*/ 15 w 92"/>
                    <a:gd name="T45" fmla="*/ 58 h 60"/>
                    <a:gd name="T46" fmla="*/ 22 w 92"/>
                    <a:gd name="T47" fmla="*/ 59 h 60"/>
                    <a:gd name="T48" fmla="*/ 31 w 92"/>
                    <a:gd name="T49" fmla="*/ 60 h 60"/>
                    <a:gd name="T50" fmla="*/ 37 w 92"/>
                    <a:gd name="T51" fmla="*/ 60 h 60"/>
                    <a:gd name="T52" fmla="*/ 45 w 92"/>
                    <a:gd name="T53" fmla="*/ 60 h 60"/>
                    <a:gd name="T54" fmla="*/ 53 w 92"/>
                    <a:gd name="T55" fmla="*/ 58 h 60"/>
                    <a:gd name="T56" fmla="*/ 60 w 92"/>
                    <a:gd name="T57" fmla="*/ 55 h 60"/>
                    <a:gd name="T58" fmla="*/ 68 w 92"/>
                    <a:gd name="T59" fmla="*/ 51 h 60"/>
                    <a:gd name="T60" fmla="*/ 74 w 92"/>
                    <a:gd name="T61" fmla="*/ 48 h 60"/>
                    <a:gd name="T62" fmla="*/ 81 w 92"/>
                    <a:gd name="T63" fmla="*/ 43 h 60"/>
                    <a:gd name="T64" fmla="*/ 85 w 92"/>
                    <a:gd name="T65" fmla="*/ 37 h 60"/>
                    <a:gd name="T66" fmla="*/ 89 w 92"/>
                    <a:gd name="T67" fmla="*/ 32 h 60"/>
                    <a:gd name="T68" fmla="*/ 91 w 92"/>
                    <a:gd name="T69" fmla="*/ 29 h 60"/>
                    <a:gd name="T70" fmla="*/ 92 w 92"/>
                    <a:gd name="T71" fmla="*/ 22 h 60"/>
                    <a:gd name="T72" fmla="*/ 92 w 92"/>
                    <a:gd name="T73" fmla="*/ 17 h 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2" h="60">
                      <a:moveTo>
                        <a:pt x="92" y="17"/>
                      </a:moveTo>
                      <a:lnTo>
                        <a:pt x="90" y="13"/>
                      </a:lnTo>
                      <a:lnTo>
                        <a:pt x="87" y="8"/>
                      </a:lnTo>
                      <a:lnTo>
                        <a:pt x="82" y="5"/>
                      </a:lnTo>
                      <a:lnTo>
                        <a:pt x="77" y="2"/>
                      </a:lnTo>
                      <a:lnTo>
                        <a:pt x="70" y="1"/>
                      </a:lnTo>
                      <a:lnTo>
                        <a:pt x="61" y="0"/>
                      </a:lnTo>
                      <a:lnTo>
                        <a:pt x="55" y="0"/>
                      </a:lnTo>
                      <a:lnTo>
                        <a:pt x="47" y="0"/>
                      </a:lnTo>
                      <a:lnTo>
                        <a:pt x="39" y="2"/>
                      </a:lnTo>
                      <a:lnTo>
                        <a:pt x="32" y="5"/>
                      </a:lnTo>
                      <a:lnTo>
                        <a:pt x="24" y="9"/>
                      </a:lnTo>
                      <a:lnTo>
                        <a:pt x="18" y="12"/>
                      </a:lnTo>
                      <a:lnTo>
                        <a:pt x="11" y="17"/>
                      </a:lnTo>
                      <a:lnTo>
                        <a:pt x="7" y="23"/>
                      </a:lnTo>
                      <a:lnTo>
                        <a:pt x="3" y="28"/>
                      </a:lnTo>
                      <a:lnTo>
                        <a:pt x="1" y="31"/>
                      </a:lnTo>
                      <a:lnTo>
                        <a:pt x="0" y="38"/>
                      </a:lnTo>
                      <a:lnTo>
                        <a:pt x="0" y="43"/>
                      </a:lnTo>
                      <a:lnTo>
                        <a:pt x="2" y="47"/>
                      </a:lnTo>
                      <a:lnTo>
                        <a:pt x="5" y="52"/>
                      </a:lnTo>
                      <a:lnTo>
                        <a:pt x="10" y="55"/>
                      </a:lnTo>
                      <a:lnTo>
                        <a:pt x="15" y="58"/>
                      </a:lnTo>
                      <a:lnTo>
                        <a:pt x="22" y="59"/>
                      </a:lnTo>
                      <a:lnTo>
                        <a:pt x="31" y="60"/>
                      </a:lnTo>
                      <a:lnTo>
                        <a:pt x="37" y="60"/>
                      </a:lnTo>
                      <a:lnTo>
                        <a:pt x="45" y="60"/>
                      </a:lnTo>
                      <a:lnTo>
                        <a:pt x="53" y="58"/>
                      </a:lnTo>
                      <a:lnTo>
                        <a:pt x="60" y="55"/>
                      </a:lnTo>
                      <a:lnTo>
                        <a:pt x="68" y="51"/>
                      </a:lnTo>
                      <a:lnTo>
                        <a:pt x="74" y="48"/>
                      </a:lnTo>
                      <a:lnTo>
                        <a:pt x="81" y="43"/>
                      </a:lnTo>
                      <a:lnTo>
                        <a:pt x="85" y="37"/>
                      </a:lnTo>
                      <a:lnTo>
                        <a:pt x="89" y="32"/>
                      </a:lnTo>
                      <a:lnTo>
                        <a:pt x="91" y="29"/>
                      </a:lnTo>
                      <a:lnTo>
                        <a:pt x="92" y="22"/>
                      </a:lnTo>
                      <a:lnTo>
                        <a:pt x="92"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4" name="Freeform 22"/>
                <p:cNvSpPr>
                  <a:spLocks/>
                </p:cNvSpPr>
                <p:nvPr/>
              </p:nvSpPr>
              <p:spPr bwMode="auto">
                <a:xfrm>
                  <a:off x="635" y="769"/>
                  <a:ext cx="477" cy="158"/>
                </a:xfrm>
                <a:custGeom>
                  <a:avLst/>
                  <a:gdLst>
                    <a:gd name="T0" fmla="*/ 17 w 477"/>
                    <a:gd name="T1" fmla="*/ 116 h 158"/>
                    <a:gd name="T2" fmla="*/ 174 w 477"/>
                    <a:gd name="T3" fmla="*/ 86 h 158"/>
                    <a:gd name="T4" fmla="*/ 319 w 477"/>
                    <a:gd name="T5" fmla="*/ 50 h 158"/>
                    <a:gd name="T6" fmla="*/ 462 w 477"/>
                    <a:gd name="T7" fmla="*/ 0 h 158"/>
                    <a:gd name="T8" fmla="*/ 477 w 477"/>
                    <a:gd name="T9" fmla="*/ 16 h 158"/>
                    <a:gd name="T10" fmla="*/ 467 w 477"/>
                    <a:gd name="T11" fmla="*/ 46 h 158"/>
                    <a:gd name="T12" fmla="*/ 421 w 477"/>
                    <a:gd name="T13" fmla="*/ 58 h 158"/>
                    <a:gd name="T14" fmla="*/ 295 w 477"/>
                    <a:gd name="T15" fmla="*/ 76 h 158"/>
                    <a:gd name="T16" fmla="*/ 162 w 477"/>
                    <a:gd name="T17" fmla="*/ 116 h 158"/>
                    <a:gd name="T18" fmla="*/ 75 w 477"/>
                    <a:gd name="T19" fmla="*/ 130 h 158"/>
                    <a:gd name="T20" fmla="*/ 23 w 477"/>
                    <a:gd name="T21" fmla="*/ 158 h 158"/>
                    <a:gd name="T22" fmla="*/ 0 w 477"/>
                    <a:gd name="T23" fmla="*/ 140 h 158"/>
                    <a:gd name="T24" fmla="*/ 17 w 477"/>
                    <a:gd name="T25" fmla="*/ 116 h 1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7" h="158">
                      <a:moveTo>
                        <a:pt x="17" y="116"/>
                      </a:moveTo>
                      <a:lnTo>
                        <a:pt x="174" y="86"/>
                      </a:lnTo>
                      <a:lnTo>
                        <a:pt x="319" y="50"/>
                      </a:lnTo>
                      <a:lnTo>
                        <a:pt x="462" y="0"/>
                      </a:lnTo>
                      <a:lnTo>
                        <a:pt x="477" y="16"/>
                      </a:lnTo>
                      <a:lnTo>
                        <a:pt x="467" y="46"/>
                      </a:lnTo>
                      <a:lnTo>
                        <a:pt x="421" y="58"/>
                      </a:lnTo>
                      <a:lnTo>
                        <a:pt x="295" y="76"/>
                      </a:lnTo>
                      <a:lnTo>
                        <a:pt x="162" y="116"/>
                      </a:lnTo>
                      <a:lnTo>
                        <a:pt x="75" y="130"/>
                      </a:lnTo>
                      <a:lnTo>
                        <a:pt x="23" y="158"/>
                      </a:lnTo>
                      <a:lnTo>
                        <a:pt x="0" y="140"/>
                      </a:lnTo>
                      <a:lnTo>
                        <a:pt x="17"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5" name="Freeform 23"/>
                <p:cNvSpPr>
                  <a:spLocks/>
                </p:cNvSpPr>
                <p:nvPr/>
              </p:nvSpPr>
              <p:spPr bwMode="auto">
                <a:xfrm>
                  <a:off x="647" y="987"/>
                  <a:ext cx="270" cy="78"/>
                </a:xfrm>
                <a:custGeom>
                  <a:avLst/>
                  <a:gdLst>
                    <a:gd name="T0" fmla="*/ 4 w 270"/>
                    <a:gd name="T1" fmla="*/ 40 h 78"/>
                    <a:gd name="T2" fmla="*/ 117 w 270"/>
                    <a:gd name="T3" fmla="*/ 21 h 78"/>
                    <a:gd name="T4" fmla="*/ 241 w 270"/>
                    <a:gd name="T5" fmla="*/ 0 h 78"/>
                    <a:gd name="T6" fmla="*/ 270 w 270"/>
                    <a:gd name="T7" fmla="*/ 13 h 78"/>
                    <a:gd name="T8" fmla="*/ 252 w 270"/>
                    <a:gd name="T9" fmla="*/ 38 h 78"/>
                    <a:gd name="T10" fmla="*/ 158 w 270"/>
                    <a:gd name="T11" fmla="*/ 44 h 78"/>
                    <a:gd name="T12" fmla="*/ 47 w 270"/>
                    <a:gd name="T13" fmla="*/ 65 h 78"/>
                    <a:gd name="T14" fmla="*/ 0 w 270"/>
                    <a:gd name="T15" fmla="*/ 78 h 78"/>
                    <a:gd name="T16" fmla="*/ 4 w 270"/>
                    <a:gd name="T17" fmla="*/ 40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0" h="78">
                      <a:moveTo>
                        <a:pt x="4" y="40"/>
                      </a:moveTo>
                      <a:lnTo>
                        <a:pt x="117" y="21"/>
                      </a:lnTo>
                      <a:lnTo>
                        <a:pt x="241" y="0"/>
                      </a:lnTo>
                      <a:lnTo>
                        <a:pt x="270" y="13"/>
                      </a:lnTo>
                      <a:lnTo>
                        <a:pt x="252" y="38"/>
                      </a:lnTo>
                      <a:lnTo>
                        <a:pt x="158" y="44"/>
                      </a:lnTo>
                      <a:lnTo>
                        <a:pt x="47" y="65"/>
                      </a:lnTo>
                      <a:lnTo>
                        <a:pt x="0" y="78"/>
                      </a:lnTo>
                      <a:lnTo>
                        <a:pt x="4"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6" name="Freeform 24"/>
                <p:cNvSpPr>
                  <a:spLocks/>
                </p:cNvSpPr>
                <p:nvPr/>
              </p:nvSpPr>
              <p:spPr bwMode="auto">
                <a:xfrm>
                  <a:off x="986" y="913"/>
                  <a:ext cx="259" cy="76"/>
                </a:xfrm>
                <a:custGeom>
                  <a:avLst/>
                  <a:gdLst>
                    <a:gd name="T0" fmla="*/ 245 w 259"/>
                    <a:gd name="T1" fmla="*/ 0 h 76"/>
                    <a:gd name="T2" fmla="*/ 133 w 259"/>
                    <a:gd name="T3" fmla="*/ 15 h 76"/>
                    <a:gd name="T4" fmla="*/ 18 w 259"/>
                    <a:gd name="T5" fmla="*/ 38 h 76"/>
                    <a:gd name="T6" fmla="*/ 0 w 259"/>
                    <a:gd name="T7" fmla="*/ 57 h 76"/>
                    <a:gd name="T8" fmla="*/ 10 w 259"/>
                    <a:gd name="T9" fmla="*/ 76 h 76"/>
                    <a:gd name="T10" fmla="*/ 39 w 259"/>
                    <a:gd name="T11" fmla="*/ 72 h 76"/>
                    <a:gd name="T12" fmla="*/ 153 w 259"/>
                    <a:gd name="T13" fmla="*/ 38 h 76"/>
                    <a:gd name="T14" fmla="*/ 259 w 259"/>
                    <a:gd name="T15" fmla="*/ 27 h 76"/>
                    <a:gd name="T16" fmla="*/ 245 w 259"/>
                    <a:gd name="T17" fmla="*/ 0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9" h="76">
                      <a:moveTo>
                        <a:pt x="245" y="0"/>
                      </a:moveTo>
                      <a:lnTo>
                        <a:pt x="133" y="15"/>
                      </a:lnTo>
                      <a:lnTo>
                        <a:pt x="18" y="38"/>
                      </a:lnTo>
                      <a:lnTo>
                        <a:pt x="0" y="57"/>
                      </a:lnTo>
                      <a:lnTo>
                        <a:pt x="10" y="76"/>
                      </a:lnTo>
                      <a:lnTo>
                        <a:pt x="39" y="72"/>
                      </a:lnTo>
                      <a:lnTo>
                        <a:pt x="153" y="38"/>
                      </a:lnTo>
                      <a:lnTo>
                        <a:pt x="259" y="27"/>
                      </a:lnTo>
                      <a:lnTo>
                        <a:pt x="24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7" name="Freeform 25"/>
                <p:cNvSpPr>
                  <a:spLocks/>
                </p:cNvSpPr>
                <p:nvPr/>
              </p:nvSpPr>
              <p:spPr bwMode="auto">
                <a:xfrm>
                  <a:off x="1013" y="1063"/>
                  <a:ext cx="122" cy="51"/>
                </a:xfrm>
                <a:custGeom>
                  <a:avLst/>
                  <a:gdLst>
                    <a:gd name="T0" fmla="*/ 14 w 122"/>
                    <a:gd name="T1" fmla="*/ 13 h 51"/>
                    <a:gd name="T2" fmla="*/ 112 w 122"/>
                    <a:gd name="T3" fmla="*/ 0 h 51"/>
                    <a:gd name="T4" fmla="*/ 122 w 122"/>
                    <a:gd name="T5" fmla="*/ 20 h 51"/>
                    <a:gd name="T6" fmla="*/ 98 w 122"/>
                    <a:gd name="T7" fmla="*/ 47 h 51"/>
                    <a:gd name="T8" fmla="*/ 31 w 122"/>
                    <a:gd name="T9" fmla="*/ 51 h 51"/>
                    <a:gd name="T10" fmla="*/ 0 w 122"/>
                    <a:gd name="T11" fmla="*/ 40 h 51"/>
                    <a:gd name="T12" fmla="*/ 14 w 122"/>
                    <a:gd name="T13" fmla="*/ 13 h 5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2" h="51">
                      <a:moveTo>
                        <a:pt x="14" y="13"/>
                      </a:moveTo>
                      <a:lnTo>
                        <a:pt x="112" y="0"/>
                      </a:lnTo>
                      <a:lnTo>
                        <a:pt x="122" y="20"/>
                      </a:lnTo>
                      <a:lnTo>
                        <a:pt x="98" y="47"/>
                      </a:lnTo>
                      <a:lnTo>
                        <a:pt x="31" y="51"/>
                      </a:lnTo>
                      <a:lnTo>
                        <a:pt x="0" y="40"/>
                      </a:lnTo>
                      <a:lnTo>
                        <a:pt x="14"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8" name="Freeform 26"/>
                <p:cNvSpPr>
                  <a:spLocks/>
                </p:cNvSpPr>
                <p:nvPr/>
              </p:nvSpPr>
              <p:spPr bwMode="auto">
                <a:xfrm>
                  <a:off x="770" y="1106"/>
                  <a:ext cx="105" cy="60"/>
                </a:xfrm>
                <a:custGeom>
                  <a:avLst/>
                  <a:gdLst>
                    <a:gd name="T0" fmla="*/ 0 w 105"/>
                    <a:gd name="T1" fmla="*/ 16 h 60"/>
                    <a:gd name="T2" fmla="*/ 105 w 105"/>
                    <a:gd name="T3" fmla="*/ 0 h 60"/>
                    <a:gd name="T4" fmla="*/ 105 w 105"/>
                    <a:gd name="T5" fmla="*/ 33 h 60"/>
                    <a:gd name="T6" fmla="*/ 74 w 105"/>
                    <a:gd name="T7" fmla="*/ 49 h 60"/>
                    <a:gd name="T8" fmla="*/ 6 w 105"/>
                    <a:gd name="T9" fmla="*/ 60 h 60"/>
                    <a:gd name="T10" fmla="*/ 0 w 105"/>
                    <a:gd name="T11" fmla="*/ 16 h 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5" h="60">
                      <a:moveTo>
                        <a:pt x="0" y="16"/>
                      </a:moveTo>
                      <a:lnTo>
                        <a:pt x="105" y="0"/>
                      </a:lnTo>
                      <a:lnTo>
                        <a:pt x="105" y="33"/>
                      </a:lnTo>
                      <a:lnTo>
                        <a:pt x="74" y="49"/>
                      </a:lnTo>
                      <a:lnTo>
                        <a:pt x="6" y="60"/>
                      </a:lnTo>
                      <a:lnTo>
                        <a:pt x="0"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9" name="Freeform 27"/>
                <p:cNvSpPr>
                  <a:spLocks/>
                </p:cNvSpPr>
                <p:nvPr/>
              </p:nvSpPr>
              <p:spPr bwMode="auto">
                <a:xfrm>
                  <a:off x="647" y="1125"/>
                  <a:ext cx="87" cy="58"/>
                </a:xfrm>
                <a:custGeom>
                  <a:avLst/>
                  <a:gdLst>
                    <a:gd name="T0" fmla="*/ 10 w 87"/>
                    <a:gd name="T1" fmla="*/ 11 h 58"/>
                    <a:gd name="T2" fmla="*/ 87 w 87"/>
                    <a:gd name="T3" fmla="*/ 0 h 58"/>
                    <a:gd name="T4" fmla="*/ 87 w 87"/>
                    <a:gd name="T5" fmla="*/ 47 h 58"/>
                    <a:gd name="T6" fmla="*/ 0 w 87"/>
                    <a:gd name="T7" fmla="*/ 58 h 58"/>
                    <a:gd name="T8" fmla="*/ 10 w 87"/>
                    <a:gd name="T9" fmla="*/ 11 h 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 h="58">
                      <a:moveTo>
                        <a:pt x="10" y="11"/>
                      </a:moveTo>
                      <a:lnTo>
                        <a:pt x="87" y="0"/>
                      </a:lnTo>
                      <a:lnTo>
                        <a:pt x="87" y="47"/>
                      </a:lnTo>
                      <a:lnTo>
                        <a:pt x="0" y="58"/>
                      </a:lnTo>
                      <a:lnTo>
                        <a:pt x="1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0" name="Freeform 28"/>
                <p:cNvSpPr>
                  <a:spLocks/>
                </p:cNvSpPr>
                <p:nvPr/>
              </p:nvSpPr>
              <p:spPr bwMode="auto">
                <a:xfrm>
                  <a:off x="658" y="1444"/>
                  <a:ext cx="54" cy="44"/>
                </a:xfrm>
                <a:custGeom>
                  <a:avLst/>
                  <a:gdLst>
                    <a:gd name="T0" fmla="*/ 53 w 54"/>
                    <a:gd name="T1" fmla="*/ 15 h 44"/>
                    <a:gd name="T2" fmla="*/ 52 w 54"/>
                    <a:gd name="T3" fmla="*/ 11 h 44"/>
                    <a:gd name="T4" fmla="*/ 49 w 54"/>
                    <a:gd name="T5" fmla="*/ 7 h 44"/>
                    <a:gd name="T6" fmla="*/ 47 w 54"/>
                    <a:gd name="T7" fmla="*/ 5 h 44"/>
                    <a:gd name="T8" fmla="*/ 43 w 54"/>
                    <a:gd name="T9" fmla="*/ 1 h 44"/>
                    <a:gd name="T10" fmla="*/ 39 w 54"/>
                    <a:gd name="T11" fmla="*/ 0 h 44"/>
                    <a:gd name="T12" fmla="*/ 35 w 54"/>
                    <a:gd name="T13" fmla="*/ 0 h 44"/>
                    <a:gd name="T14" fmla="*/ 32 w 54"/>
                    <a:gd name="T15" fmla="*/ 0 h 44"/>
                    <a:gd name="T16" fmla="*/ 26 w 54"/>
                    <a:gd name="T17" fmla="*/ 0 h 44"/>
                    <a:gd name="T18" fmla="*/ 21 w 54"/>
                    <a:gd name="T19" fmla="*/ 1 h 44"/>
                    <a:gd name="T20" fmla="*/ 16 w 54"/>
                    <a:gd name="T21" fmla="*/ 2 h 44"/>
                    <a:gd name="T22" fmla="*/ 13 w 54"/>
                    <a:gd name="T23" fmla="*/ 5 h 44"/>
                    <a:gd name="T24" fmla="*/ 9 w 54"/>
                    <a:gd name="T25" fmla="*/ 7 h 44"/>
                    <a:gd name="T26" fmla="*/ 6 w 54"/>
                    <a:gd name="T27" fmla="*/ 10 h 44"/>
                    <a:gd name="T28" fmla="*/ 4 w 54"/>
                    <a:gd name="T29" fmla="*/ 13 h 44"/>
                    <a:gd name="T30" fmla="*/ 2 w 54"/>
                    <a:gd name="T31" fmla="*/ 17 h 44"/>
                    <a:gd name="T32" fmla="*/ 0 w 54"/>
                    <a:gd name="T33" fmla="*/ 22 h 44"/>
                    <a:gd name="T34" fmla="*/ 0 w 54"/>
                    <a:gd name="T35" fmla="*/ 26 h 44"/>
                    <a:gd name="T36" fmla="*/ 1 w 54"/>
                    <a:gd name="T37" fmla="*/ 29 h 44"/>
                    <a:gd name="T38" fmla="*/ 2 w 54"/>
                    <a:gd name="T39" fmla="*/ 33 h 44"/>
                    <a:gd name="T40" fmla="*/ 5 w 54"/>
                    <a:gd name="T41" fmla="*/ 37 h 44"/>
                    <a:gd name="T42" fmla="*/ 7 w 54"/>
                    <a:gd name="T43" fmla="*/ 39 h 44"/>
                    <a:gd name="T44" fmla="*/ 11 w 54"/>
                    <a:gd name="T45" fmla="*/ 43 h 44"/>
                    <a:gd name="T46" fmla="*/ 15 w 54"/>
                    <a:gd name="T47" fmla="*/ 44 h 44"/>
                    <a:gd name="T48" fmla="*/ 19 w 54"/>
                    <a:gd name="T49" fmla="*/ 44 h 44"/>
                    <a:gd name="T50" fmla="*/ 22 w 54"/>
                    <a:gd name="T51" fmla="*/ 44 h 44"/>
                    <a:gd name="T52" fmla="*/ 28 w 54"/>
                    <a:gd name="T53" fmla="*/ 44 h 44"/>
                    <a:gd name="T54" fmla="*/ 33 w 54"/>
                    <a:gd name="T55" fmla="*/ 43 h 44"/>
                    <a:gd name="T56" fmla="*/ 38 w 54"/>
                    <a:gd name="T57" fmla="*/ 42 h 44"/>
                    <a:gd name="T58" fmla="*/ 41 w 54"/>
                    <a:gd name="T59" fmla="*/ 39 h 44"/>
                    <a:gd name="T60" fmla="*/ 45 w 54"/>
                    <a:gd name="T61" fmla="*/ 37 h 44"/>
                    <a:gd name="T62" fmla="*/ 48 w 54"/>
                    <a:gd name="T63" fmla="*/ 34 h 44"/>
                    <a:gd name="T64" fmla="*/ 50 w 54"/>
                    <a:gd name="T65" fmla="*/ 31 h 44"/>
                    <a:gd name="T66" fmla="*/ 52 w 54"/>
                    <a:gd name="T67" fmla="*/ 27 h 44"/>
                    <a:gd name="T68" fmla="*/ 54 w 54"/>
                    <a:gd name="T69" fmla="*/ 22 h 44"/>
                    <a:gd name="T70" fmla="*/ 54 w 54"/>
                    <a:gd name="T71" fmla="*/ 18 h 44"/>
                    <a:gd name="T72" fmla="*/ 53 w 54"/>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4" h="44">
                      <a:moveTo>
                        <a:pt x="53" y="15"/>
                      </a:moveTo>
                      <a:lnTo>
                        <a:pt x="52" y="11"/>
                      </a:lnTo>
                      <a:lnTo>
                        <a:pt x="49" y="7"/>
                      </a:lnTo>
                      <a:lnTo>
                        <a:pt x="47" y="5"/>
                      </a:lnTo>
                      <a:lnTo>
                        <a:pt x="43" y="1"/>
                      </a:lnTo>
                      <a:lnTo>
                        <a:pt x="39" y="0"/>
                      </a:lnTo>
                      <a:lnTo>
                        <a:pt x="35" y="0"/>
                      </a:lnTo>
                      <a:lnTo>
                        <a:pt x="32" y="0"/>
                      </a:lnTo>
                      <a:lnTo>
                        <a:pt x="26" y="0"/>
                      </a:lnTo>
                      <a:lnTo>
                        <a:pt x="21" y="1"/>
                      </a:lnTo>
                      <a:lnTo>
                        <a:pt x="16" y="2"/>
                      </a:lnTo>
                      <a:lnTo>
                        <a:pt x="13" y="5"/>
                      </a:lnTo>
                      <a:lnTo>
                        <a:pt x="9" y="7"/>
                      </a:lnTo>
                      <a:lnTo>
                        <a:pt x="6" y="10"/>
                      </a:lnTo>
                      <a:lnTo>
                        <a:pt x="4" y="13"/>
                      </a:lnTo>
                      <a:lnTo>
                        <a:pt x="2" y="17"/>
                      </a:lnTo>
                      <a:lnTo>
                        <a:pt x="0" y="22"/>
                      </a:lnTo>
                      <a:lnTo>
                        <a:pt x="0" y="26"/>
                      </a:lnTo>
                      <a:lnTo>
                        <a:pt x="1" y="29"/>
                      </a:lnTo>
                      <a:lnTo>
                        <a:pt x="2" y="33"/>
                      </a:lnTo>
                      <a:lnTo>
                        <a:pt x="5" y="37"/>
                      </a:lnTo>
                      <a:lnTo>
                        <a:pt x="7" y="39"/>
                      </a:lnTo>
                      <a:lnTo>
                        <a:pt x="11" y="43"/>
                      </a:lnTo>
                      <a:lnTo>
                        <a:pt x="15" y="44"/>
                      </a:lnTo>
                      <a:lnTo>
                        <a:pt x="19" y="44"/>
                      </a:lnTo>
                      <a:lnTo>
                        <a:pt x="22" y="44"/>
                      </a:lnTo>
                      <a:lnTo>
                        <a:pt x="28" y="44"/>
                      </a:lnTo>
                      <a:lnTo>
                        <a:pt x="33" y="43"/>
                      </a:lnTo>
                      <a:lnTo>
                        <a:pt x="38" y="42"/>
                      </a:lnTo>
                      <a:lnTo>
                        <a:pt x="41" y="39"/>
                      </a:lnTo>
                      <a:lnTo>
                        <a:pt x="45" y="37"/>
                      </a:lnTo>
                      <a:lnTo>
                        <a:pt x="48" y="34"/>
                      </a:lnTo>
                      <a:lnTo>
                        <a:pt x="50" y="31"/>
                      </a:lnTo>
                      <a:lnTo>
                        <a:pt x="52" y="27"/>
                      </a:lnTo>
                      <a:lnTo>
                        <a:pt x="54" y="22"/>
                      </a:lnTo>
                      <a:lnTo>
                        <a:pt x="54" y="18"/>
                      </a:lnTo>
                      <a:lnTo>
                        <a:pt x="53"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1" name="Freeform 29"/>
                <p:cNvSpPr>
                  <a:spLocks/>
                </p:cNvSpPr>
                <p:nvPr/>
              </p:nvSpPr>
              <p:spPr bwMode="auto">
                <a:xfrm>
                  <a:off x="804" y="1404"/>
                  <a:ext cx="56" cy="44"/>
                </a:xfrm>
                <a:custGeom>
                  <a:avLst/>
                  <a:gdLst>
                    <a:gd name="T0" fmla="*/ 55 w 56"/>
                    <a:gd name="T1" fmla="*/ 15 h 44"/>
                    <a:gd name="T2" fmla="*/ 54 w 56"/>
                    <a:gd name="T3" fmla="*/ 11 h 44"/>
                    <a:gd name="T4" fmla="*/ 51 w 56"/>
                    <a:gd name="T5" fmla="*/ 7 h 44"/>
                    <a:gd name="T6" fmla="*/ 49 w 56"/>
                    <a:gd name="T7" fmla="*/ 5 h 44"/>
                    <a:gd name="T8" fmla="*/ 44 w 56"/>
                    <a:gd name="T9" fmla="*/ 1 h 44"/>
                    <a:gd name="T10" fmla="*/ 40 w 56"/>
                    <a:gd name="T11" fmla="*/ 0 h 44"/>
                    <a:gd name="T12" fmla="*/ 37 w 56"/>
                    <a:gd name="T13" fmla="*/ 0 h 44"/>
                    <a:gd name="T14" fmla="*/ 33 w 56"/>
                    <a:gd name="T15" fmla="*/ 0 h 44"/>
                    <a:gd name="T16" fmla="*/ 27 w 56"/>
                    <a:gd name="T17" fmla="*/ 0 h 44"/>
                    <a:gd name="T18" fmla="*/ 22 w 56"/>
                    <a:gd name="T19" fmla="*/ 1 h 44"/>
                    <a:gd name="T20" fmla="*/ 18 w 56"/>
                    <a:gd name="T21" fmla="*/ 2 h 44"/>
                    <a:gd name="T22" fmla="*/ 14 w 56"/>
                    <a:gd name="T23" fmla="*/ 5 h 44"/>
                    <a:gd name="T24" fmla="*/ 9 w 56"/>
                    <a:gd name="T25" fmla="*/ 7 h 44"/>
                    <a:gd name="T26" fmla="*/ 7 w 56"/>
                    <a:gd name="T27" fmla="*/ 10 h 44"/>
                    <a:gd name="T28" fmla="*/ 5 w 56"/>
                    <a:gd name="T29" fmla="*/ 13 h 44"/>
                    <a:gd name="T30" fmla="*/ 2 w 56"/>
                    <a:gd name="T31" fmla="*/ 17 h 44"/>
                    <a:gd name="T32" fmla="*/ 0 w 56"/>
                    <a:gd name="T33" fmla="*/ 22 h 44"/>
                    <a:gd name="T34" fmla="*/ 0 w 56"/>
                    <a:gd name="T35" fmla="*/ 26 h 44"/>
                    <a:gd name="T36" fmla="*/ 1 w 56"/>
                    <a:gd name="T37" fmla="*/ 29 h 44"/>
                    <a:gd name="T38" fmla="*/ 2 w 56"/>
                    <a:gd name="T39" fmla="*/ 33 h 44"/>
                    <a:gd name="T40" fmla="*/ 5 w 56"/>
                    <a:gd name="T41" fmla="*/ 37 h 44"/>
                    <a:gd name="T42" fmla="*/ 7 w 56"/>
                    <a:gd name="T43" fmla="*/ 39 h 44"/>
                    <a:gd name="T44" fmla="*/ 12 w 56"/>
                    <a:gd name="T45" fmla="*/ 43 h 44"/>
                    <a:gd name="T46" fmla="*/ 16 w 56"/>
                    <a:gd name="T47" fmla="*/ 44 h 44"/>
                    <a:gd name="T48" fmla="*/ 19 w 56"/>
                    <a:gd name="T49" fmla="*/ 44 h 44"/>
                    <a:gd name="T50" fmla="*/ 23 w 56"/>
                    <a:gd name="T51" fmla="*/ 44 h 44"/>
                    <a:gd name="T52" fmla="*/ 29 w 56"/>
                    <a:gd name="T53" fmla="*/ 44 h 44"/>
                    <a:gd name="T54" fmla="*/ 34 w 56"/>
                    <a:gd name="T55" fmla="*/ 43 h 44"/>
                    <a:gd name="T56" fmla="*/ 39 w 56"/>
                    <a:gd name="T57" fmla="*/ 42 h 44"/>
                    <a:gd name="T58" fmla="*/ 42 w 56"/>
                    <a:gd name="T59" fmla="*/ 39 h 44"/>
                    <a:gd name="T60" fmla="*/ 47 w 56"/>
                    <a:gd name="T61" fmla="*/ 37 h 44"/>
                    <a:gd name="T62" fmla="*/ 49 w 56"/>
                    <a:gd name="T63" fmla="*/ 34 h 44"/>
                    <a:gd name="T64" fmla="*/ 51 w 56"/>
                    <a:gd name="T65" fmla="*/ 31 h 44"/>
                    <a:gd name="T66" fmla="*/ 54 w 56"/>
                    <a:gd name="T67" fmla="*/ 27 h 44"/>
                    <a:gd name="T68" fmla="*/ 56 w 56"/>
                    <a:gd name="T69" fmla="*/ 22 h 44"/>
                    <a:gd name="T70" fmla="*/ 56 w 56"/>
                    <a:gd name="T71" fmla="*/ 18 h 44"/>
                    <a:gd name="T72" fmla="*/ 55 w 56"/>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6" h="44">
                      <a:moveTo>
                        <a:pt x="55" y="15"/>
                      </a:moveTo>
                      <a:lnTo>
                        <a:pt x="54" y="11"/>
                      </a:lnTo>
                      <a:lnTo>
                        <a:pt x="51" y="7"/>
                      </a:lnTo>
                      <a:lnTo>
                        <a:pt x="49" y="5"/>
                      </a:lnTo>
                      <a:lnTo>
                        <a:pt x="44" y="1"/>
                      </a:lnTo>
                      <a:lnTo>
                        <a:pt x="40" y="0"/>
                      </a:lnTo>
                      <a:lnTo>
                        <a:pt x="37" y="0"/>
                      </a:lnTo>
                      <a:lnTo>
                        <a:pt x="33" y="0"/>
                      </a:lnTo>
                      <a:lnTo>
                        <a:pt x="27" y="0"/>
                      </a:lnTo>
                      <a:lnTo>
                        <a:pt x="22" y="1"/>
                      </a:lnTo>
                      <a:lnTo>
                        <a:pt x="18" y="2"/>
                      </a:lnTo>
                      <a:lnTo>
                        <a:pt x="14" y="5"/>
                      </a:lnTo>
                      <a:lnTo>
                        <a:pt x="9" y="7"/>
                      </a:lnTo>
                      <a:lnTo>
                        <a:pt x="7" y="10"/>
                      </a:lnTo>
                      <a:lnTo>
                        <a:pt x="5" y="13"/>
                      </a:lnTo>
                      <a:lnTo>
                        <a:pt x="2" y="17"/>
                      </a:lnTo>
                      <a:lnTo>
                        <a:pt x="0" y="22"/>
                      </a:lnTo>
                      <a:lnTo>
                        <a:pt x="0" y="26"/>
                      </a:lnTo>
                      <a:lnTo>
                        <a:pt x="1" y="29"/>
                      </a:lnTo>
                      <a:lnTo>
                        <a:pt x="2" y="33"/>
                      </a:lnTo>
                      <a:lnTo>
                        <a:pt x="5" y="37"/>
                      </a:lnTo>
                      <a:lnTo>
                        <a:pt x="7" y="39"/>
                      </a:lnTo>
                      <a:lnTo>
                        <a:pt x="12" y="43"/>
                      </a:lnTo>
                      <a:lnTo>
                        <a:pt x="16" y="44"/>
                      </a:lnTo>
                      <a:lnTo>
                        <a:pt x="19" y="44"/>
                      </a:lnTo>
                      <a:lnTo>
                        <a:pt x="23" y="44"/>
                      </a:lnTo>
                      <a:lnTo>
                        <a:pt x="29" y="44"/>
                      </a:lnTo>
                      <a:lnTo>
                        <a:pt x="34" y="43"/>
                      </a:lnTo>
                      <a:lnTo>
                        <a:pt x="39" y="42"/>
                      </a:lnTo>
                      <a:lnTo>
                        <a:pt x="42" y="39"/>
                      </a:lnTo>
                      <a:lnTo>
                        <a:pt x="47" y="37"/>
                      </a:lnTo>
                      <a:lnTo>
                        <a:pt x="49" y="34"/>
                      </a:lnTo>
                      <a:lnTo>
                        <a:pt x="51" y="31"/>
                      </a:lnTo>
                      <a:lnTo>
                        <a:pt x="54" y="27"/>
                      </a:lnTo>
                      <a:lnTo>
                        <a:pt x="56" y="22"/>
                      </a:lnTo>
                      <a:lnTo>
                        <a:pt x="56" y="18"/>
                      </a:lnTo>
                      <a:lnTo>
                        <a:pt x="55"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2" name="Freeform 30"/>
                <p:cNvSpPr>
                  <a:spLocks/>
                </p:cNvSpPr>
                <p:nvPr/>
              </p:nvSpPr>
              <p:spPr bwMode="auto">
                <a:xfrm>
                  <a:off x="945" y="1359"/>
                  <a:ext cx="54" cy="44"/>
                </a:xfrm>
                <a:custGeom>
                  <a:avLst/>
                  <a:gdLst>
                    <a:gd name="T0" fmla="*/ 53 w 54"/>
                    <a:gd name="T1" fmla="*/ 15 h 44"/>
                    <a:gd name="T2" fmla="*/ 52 w 54"/>
                    <a:gd name="T3" fmla="*/ 11 h 44"/>
                    <a:gd name="T4" fmla="*/ 49 w 54"/>
                    <a:gd name="T5" fmla="*/ 7 h 44"/>
                    <a:gd name="T6" fmla="*/ 47 w 54"/>
                    <a:gd name="T7" fmla="*/ 5 h 44"/>
                    <a:gd name="T8" fmla="*/ 43 w 54"/>
                    <a:gd name="T9" fmla="*/ 1 h 44"/>
                    <a:gd name="T10" fmla="*/ 39 w 54"/>
                    <a:gd name="T11" fmla="*/ 0 h 44"/>
                    <a:gd name="T12" fmla="*/ 35 w 54"/>
                    <a:gd name="T13" fmla="*/ 0 h 44"/>
                    <a:gd name="T14" fmla="*/ 32 w 54"/>
                    <a:gd name="T15" fmla="*/ 0 h 44"/>
                    <a:gd name="T16" fmla="*/ 26 w 54"/>
                    <a:gd name="T17" fmla="*/ 0 h 44"/>
                    <a:gd name="T18" fmla="*/ 21 w 54"/>
                    <a:gd name="T19" fmla="*/ 1 h 44"/>
                    <a:gd name="T20" fmla="*/ 16 w 54"/>
                    <a:gd name="T21" fmla="*/ 2 h 44"/>
                    <a:gd name="T22" fmla="*/ 13 w 54"/>
                    <a:gd name="T23" fmla="*/ 5 h 44"/>
                    <a:gd name="T24" fmla="*/ 9 w 54"/>
                    <a:gd name="T25" fmla="*/ 7 h 44"/>
                    <a:gd name="T26" fmla="*/ 6 w 54"/>
                    <a:gd name="T27" fmla="*/ 10 h 44"/>
                    <a:gd name="T28" fmla="*/ 4 w 54"/>
                    <a:gd name="T29" fmla="*/ 13 h 44"/>
                    <a:gd name="T30" fmla="*/ 2 w 54"/>
                    <a:gd name="T31" fmla="*/ 17 h 44"/>
                    <a:gd name="T32" fmla="*/ 0 w 54"/>
                    <a:gd name="T33" fmla="*/ 22 h 44"/>
                    <a:gd name="T34" fmla="*/ 0 w 54"/>
                    <a:gd name="T35" fmla="*/ 26 h 44"/>
                    <a:gd name="T36" fmla="*/ 1 w 54"/>
                    <a:gd name="T37" fmla="*/ 29 h 44"/>
                    <a:gd name="T38" fmla="*/ 2 w 54"/>
                    <a:gd name="T39" fmla="*/ 33 h 44"/>
                    <a:gd name="T40" fmla="*/ 5 w 54"/>
                    <a:gd name="T41" fmla="*/ 37 h 44"/>
                    <a:gd name="T42" fmla="*/ 7 w 54"/>
                    <a:gd name="T43" fmla="*/ 39 h 44"/>
                    <a:gd name="T44" fmla="*/ 11 w 54"/>
                    <a:gd name="T45" fmla="*/ 43 h 44"/>
                    <a:gd name="T46" fmla="*/ 15 w 54"/>
                    <a:gd name="T47" fmla="*/ 44 h 44"/>
                    <a:gd name="T48" fmla="*/ 19 w 54"/>
                    <a:gd name="T49" fmla="*/ 44 h 44"/>
                    <a:gd name="T50" fmla="*/ 22 w 54"/>
                    <a:gd name="T51" fmla="*/ 44 h 44"/>
                    <a:gd name="T52" fmla="*/ 28 w 54"/>
                    <a:gd name="T53" fmla="*/ 44 h 44"/>
                    <a:gd name="T54" fmla="*/ 33 w 54"/>
                    <a:gd name="T55" fmla="*/ 43 h 44"/>
                    <a:gd name="T56" fmla="*/ 38 w 54"/>
                    <a:gd name="T57" fmla="*/ 42 h 44"/>
                    <a:gd name="T58" fmla="*/ 41 w 54"/>
                    <a:gd name="T59" fmla="*/ 39 h 44"/>
                    <a:gd name="T60" fmla="*/ 45 w 54"/>
                    <a:gd name="T61" fmla="*/ 37 h 44"/>
                    <a:gd name="T62" fmla="*/ 48 w 54"/>
                    <a:gd name="T63" fmla="*/ 34 h 44"/>
                    <a:gd name="T64" fmla="*/ 50 w 54"/>
                    <a:gd name="T65" fmla="*/ 31 h 44"/>
                    <a:gd name="T66" fmla="*/ 52 w 54"/>
                    <a:gd name="T67" fmla="*/ 27 h 44"/>
                    <a:gd name="T68" fmla="*/ 54 w 54"/>
                    <a:gd name="T69" fmla="*/ 22 h 44"/>
                    <a:gd name="T70" fmla="*/ 54 w 54"/>
                    <a:gd name="T71" fmla="*/ 18 h 44"/>
                    <a:gd name="T72" fmla="*/ 53 w 54"/>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4" h="44">
                      <a:moveTo>
                        <a:pt x="53" y="15"/>
                      </a:moveTo>
                      <a:lnTo>
                        <a:pt x="52" y="11"/>
                      </a:lnTo>
                      <a:lnTo>
                        <a:pt x="49" y="7"/>
                      </a:lnTo>
                      <a:lnTo>
                        <a:pt x="47" y="5"/>
                      </a:lnTo>
                      <a:lnTo>
                        <a:pt x="43" y="1"/>
                      </a:lnTo>
                      <a:lnTo>
                        <a:pt x="39" y="0"/>
                      </a:lnTo>
                      <a:lnTo>
                        <a:pt x="35" y="0"/>
                      </a:lnTo>
                      <a:lnTo>
                        <a:pt x="32" y="0"/>
                      </a:lnTo>
                      <a:lnTo>
                        <a:pt x="26" y="0"/>
                      </a:lnTo>
                      <a:lnTo>
                        <a:pt x="21" y="1"/>
                      </a:lnTo>
                      <a:lnTo>
                        <a:pt x="16" y="2"/>
                      </a:lnTo>
                      <a:lnTo>
                        <a:pt x="13" y="5"/>
                      </a:lnTo>
                      <a:lnTo>
                        <a:pt x="9" y="7"/>
                      </a:lnTo>
                      <a:lnTo>
                        <a:pt x="6" y="10"/>
                      </a:lnTo>
                      <a:lnTo>
                        <a:pt x="4" y="13"/>
                      </a:lnTo>
                      <a:lnTo>
                        <a:pt x="2" y="17"/>
                      </a:lnTo>
                      <a:lnTo>
                        <a:pt x="0" y="22"/>
                      </a:lnTo>
                      <a:lnTo>
                        <a:pt x="0" y="26"/>
                      </a:lnTo>
                      <a:lnTo>
                        <a:pt x="1" y="29"/>
                      </a:lnTo>
                      <a:lnTo>
                        <a:pt x="2" y="33"/>
                      </a:lnTo>
                      <a:lnTo>
                        <a:pt x="5" y="37"/>
                      </a:lnTo>
                      <a:lnTo>
                        <a:pt x="7" y="39"/>
                      </a:lnTo>
                      <a:lnTo>
                        <a:pt x="11" y="43"/>
                      </a:lnTo>
                      <a:lnTo>
                        <a:pt x="15" y="44"/>
                      </a:lnTo>
                      <a:lnTo>
                        <a:pt x="19" y="44"/>
                      </a:lnTo>
                      <a:lnTo>
                        <a:pt x="22" y="44"/>
                      </a:lnTo>
                      <a:lnTo>
                        <a:pt x="28" y="44"/>
                      </a:lnTo>
                      <a:lnTo>
                        <a:pt x="33" y="43"/>
                      </a:lnTo>
                      <a:lnTo>
                        <a:pt x="38" y="42"/>
                      </a:lnTo>
                      <a:lnTo>
                        <a:pt x="41" y="39"/>
                      </a:lnTo>
                      <a:lnTo>
                        <a:pt x="45" y="37"/>
                      </a:lnTo>
                      <a:lnTo>
                        <a:pt x="48" y="34"/>
                      </a:lnTo>
                      <a:lnTo>
                        <a:pt x="50" y="31"/>
                      </a:lnTo>
                      <a:lnTo>
                        <a:pt x="52" y="27"/>
                      </a:lnTo>
                      <a:lnTo>
                        <a:pt x="54" y="22"/>
                      </a:lnTo>
                      <a:lnTo>
                        <a:pt x="54" y="18"/>
                      </a:lnTo>
                      <a:lnTo>
                        <a:pt x="53"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3" name="Freeform 31"/>
                <p:cNvSpPr>
                  <a:spLocks/>
                </p:cNvSpPr>
                <p:nvPr/>
              </p:nvSpPr>
              <p:spPr bwMode="auto">
                <a:xfrm>
                  <a:off x="1091" y="1319"/>
                  <a:ext cx="54" cy="44"/>
                </a:xfrm>
                <a:custGeom>
                  <a:avLst/>
                  <a:gdLst>
                    <a:gd name="T0" fmla="*/ 53 w 54"/>
                    <a:gd name="T1" fmla="*/ 15 h 44"/>
                    <a:gd name="T2" fmla="*/ 52 w 54"/>
                    <a:gd name="T3" fmla="*/ 11 h 44"/>
                    <a:gd name="T4" fmla="*/ 49 w 54"/>
                    <a:gd name="T5" fmla="*/ 7 h 44"/>
                    <a:gd name="T6" fmla="*/ 47 w 54"/>
                    <a:gd name="T7" fmla="*/ 5 h 44"/>
                    <a:gd name="T8" fmla="*/ 43 w 54"/>
                    <a:gd name="T9" fmla="*/ 1 h 44"/>
                    <a:gd name="T10" fmla="*/ 39 w 54"/>
                    <a:gd name="T11" fmla="*/ 0 h 44"/>
                    <a:gd name="T12" fmla="*/ 35 w 54"/>
                    <a:gd name="T13" fmla="*/ 0 h 44"/>
                    <a:gd name="T14" fmla="*/ 32 w 54"/>
                    <a:gd name="T15" fmla="*/ 0 h 44"/>
                    <a:gd name="T16" fmla="*/ 26 w 54"/>
                    <a:gd name="T17" fmla="*/ 0 h 44"/>
                    <a:gd name="T18" fmla="*/ 21 w 54"/>
                    <a:gd name="T19" fmla="*/ 1 h 44"/>
                    <a:gd name="T20" fmla="*/ 16 w 54"/>
                    <a:gd name="T21" fmla="*/ 2 h 44"/>
                    <a:gd name="T22" fmla="*/ 13 w 54"/>
                    <a:gd name="T23" fmla="*/ 5 h 44"/>
                    <a:gd name="T24" fmla="*/ 9 w 54"/>
                    <a:gd name="T25" fmla="*/ 7 h 44"/>
                    <a:gd name="T26" fmla="*/ 6 w 54"/>
                    <a:gd name="T27" fmla="*/ 10 h 44"/>
                    <a:gd name="T28" fmla="*/ 4 w 54"/>
                    <a:gd name="T29" fmla="*/ 13 h 44"/>
                    <a:gd name="T30" fmla="*/ 2 w 54"/>
                    <a:gd name="T31" fmla="*/ 17 h 44"/>
                    <a:gd name="T32" fmla="*/ 0 w 54"/>
                    <a:gd name="T33" fmla="*/ 22 h 44"/>
                    <a:gd name="T34" fmla="*/ 0 w 54"/>
                    <a:gd name="T35" fmla="*/ 26 h 44"/>
                    <a:gd name="T36" fmla="*/ 1 w 54"/>
                    <a:gd name="T37" fmla="*/ 29 h 44"/>
                    <a:gd name="T38" fmla="*/ 2 w 54"/>
                    <a:gd name="T39" fmla="*/ 33 h 44"/>
                    <a:gd name="T40" fmla="*/ 5 w 54"/>
                    <a:gd name="T41" fmla="*/ 37 h 44"/>
                    <a:gd name="T42" fmla="*/ 7 w 54"/>
                    <a:gd name="T43" fmla="*/ 39 h 44"/>
                    <a:gd name="T44" fmla="*/ 11 w 54"/>
                    <a:gd name="T45" fmla="*/ 43 h 44"/>
                    <a:gd name="T46" fmla="*/ 15 w 54"/>
                    <a:gd name="T47" fmla="*/ 44 h 44"/>
                    <a:gd name="T48" fmla="*/ 19 w 54"/>
                    <a:gd name="T49" fmla="*/ 44 h 44"/>
                    <a:gd name="T50" fmla="*/ 22 w 54"/>
                    <a:gd name="T51" fmla="*/ 44 h 44"/>
                    <a:gd name="T52" fmla="*/ 28 w 54"/>
                    <a:gd name="T53" fmla="*/ 44 h 44"/>
                    <a:gd name="T54" fmla="*/ 33 w 54"/>
                    <a:gd name="T55" fmla="*/ 43 h 44"/>
                    <a:gd name="T56" fmla="*/ 38 w 54"/>
                    <a:gd name="T57" fmla="*/ 42 h 44"/>
                    <a:gd name="T58" fmla="*/ 41 w 54"/>
                    <a:gd name="T59" fmla="*/ 39 h 44"/>
                    <a:gd name="T60" fmla="*/ 45 w 54"/>
                    <a:gd name="T61" fmla="*/ 37 h 44"/>
                    <a:gd name="T62" fmla="*/ 48 w 54"/>
                    <a:gd name="T63" fmla="*/ 34 h 44"/>
                    <a:gd name="T64" fmla="*/ 50 w 54"/>
                    <a:gd name="T65" fmla="*/ 31 h 44"/>
                    <a:gd name="T66" fmla="*/ 52 w 54"/>
                    <a:gd name="T67" fmla="*/ 27 h 44"/>
                    <a:gd name="T68" fmla="*/ 54 w 54"/>
                    <a:gd name="T69" fmla="*/ 22 h 44"/>
                    <a:gd name="T70" fmla="*/ 54 w 54"/>
                    <a:gd name="T71" fmla="*/ 18 h 44"/>
                    <a:gd name="T72" fmla="*/ 53 w 54"/>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4" h="44">
                      <a:moveTo>
                        <a:pt x="53" y="15"/>
                      </a:moveTo>
                      <a:lnTo>
                        <a:pt x="52" y="11"/>
                      </a:lnTo>
                      <a:lnTo>
                        <a:pt x="49" y="7"/>
                      </a:lnTo>
                      <a:lnTo>
                        <a:pt x="47" y="5"/>
                      </a:lnTo>
                      <a:lnTo>
                        <a:pt x="43" y="1"/>
                      </a:lnTo>
                      <a:lnTo>
                        <a:pt x="39" y="0"/>
                      </a:lnTo>
                      <a:lnTo>
                        <a:pt x="35" y="0"/>
                      </a:lnTo>
                      <a:lnTo>
                        <a:pt x="32" y="0"/>
                      </a:lnTo>
                      <a:lnTo>
                        <a:pt x="26" y="0"/>
                      </a:lnTo>
                      <a:lnTo>
                        <a:pt x="21" y="1"/>
                      </a:lnTo>
                      <a:lnTo>
                        <a:pt x="16" y="2"/>
                      </a:lnTo>
                      <a:lnTo>
                        <a:pt x="13" y="5"/>
                      </a:lnTo>
                      <a:lnTo>
                        <a:pt x="9" y="7"/>
                      </a:lnTo>
                      <a:lnTo>
                        <a:pt x="6" y="10"/>
                      </a:lnTo>
                      <a:lnTo>
                        <a:pt x="4" y="13"/>
                      </a:lnTo>
                      <a:lnTo>
                        <a:pt x="2" y="17"/>
                      </a:lnTo>
                      <a:lnTo>
                        <a:pt x="0" y="22"/>
                      </a:lnTo>
                      <a:lnTo>
                        <a:pt x="0" y="26"/>
                      </a:lnTo>
                      <a:lnTo>
                        <a:pt x="1" y="29"/>
                      </a:lnTo>
                      <a:lnTo>
                        <a:pt x="2" y="33"/>
                      </a:lnTo>
                      <a:lnTo>
                        <a:pt x="5" y="37"/>
                      </a:lnTo>
                      <a:lnTo>
                        <a:pt x="7" y="39"/>
                      </a:lnTo>
                      <a:lnTo>
                        <a:pt x="11" y="43"/>
                      </a:lnTo>
                      <a:lnTo>
                        <a:pt x="15" y="44"/>
                      </a:lnTo>
                      <a:lnTo>
                        <a:pt x="19" y="44"/>
                      </a:lnTo>
                      <a:lnTo>
                        <a:pt x="22" y="44"/>
                      </a:lnTo>
                      <a:lnTo>
                        <a:pt x="28" y="44"/>
                      </a:lnTo>
                      <a:lnTo>
                        <a:pt x="33" y="43"/>
                      </a:lnTo>
                      <a:lnTo>
                        <a:pt x="38" y="42"/>
                      </a:lnTo>
                      <a:lnTo>
                        <a:pt x="41" y="39"/>
                      </a:lnTo>
                      <a:lnTo>
                        <a:pt x="45" y="37"/>
                      </a:lnTo>
                      <a:lnTo>
                        <a:pt x="48" y="34"/>
                      </a:lnTo>
                      <a:lnTo>
                        <a:pt x="50" y="31"/>
                      </a:lnTo>
                      <a:lnTo>
                        <a:pt x="52" y="27"/>
                      </a:lnTo>
                      <a:lnTo>
                        <a:pt x="54" y="22"/>
                      </a:lnTo>
                      <a:lnTo>
                        <a:pt x="54" y="18"/>
                      </a:lnTo>
                      <a:lnTo>
                        <a:pt x="53"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4" name="Freeform 32"/>
                <p:cNvSpPr>
                  <a:spLocks/>
                </p:cNvSpPr>
                <p:nvPr/>
              </p:nvSpPr>
              <p:spPr bwMode="auto">
                <a:xfrm>
                  <a:off x="650" y="1442"/>
                  <a:ext cx="565" cy="162"/>
                </a:xfrm>
                <a:custGeom>
                  <a:avLst/>
                  <a:gdLst>
                    <a:gd name="T0" fmla="*/ 17 w 565"/>
                    <a:gd name="T1" fmla="*/ 120 h 162"/>
                    <a:gd name="T2" fmla="*/ 145 w 565"/>
                    <a:gd name="T3" fmla="*/ 102 h 162"/>
                    <a:gd name="T4" fmla="*/ 283 w 565"/>
                    <a:gd name="T5" fmla="*/ 68 h 162"/>
                    <a:gd name="T6" fmla="*/ 405 w 565"/>
                    <a:gd name="T7" fmla="*/ 36 h 162"/>
                    <a:gd name="T8" fmla="*/ 542 w 565"/>
                    <a:gd name="T9" fmla="*/ 0 h 162"/>
                    <a:gd name="T10" fmla="*/ 565 w 565"/>
                    <a:gd name="T11" fmla="*/ 8 h 162"/>
                    <a:gd name="T12" fmla="*/ 555 w 565"/>
                    <a:gd name="T13" fmla="*/ 26 h 162"/>
                    <a:gd name="T14" fmla="*/ 498 w 565"/>
                    <a:gd name="T15" fmla="*/ 38 h 162"/>
                    <a:gd name="T16" fmla="*/ 380 w 565"/>
                    <a:gd name="T17" fmla="*/ 66 h 162"/>
                    <a:gd name="T18" fmla="*/ 233 w 565"/>
                    <a:gd name="T19" fmla="*/ 104 h 162"/>
                    <a:gd name="T20" fmla="*/ 118 w 565"/>
                    <a:gd name="T21" fmla="*/ 134 h 162"/>
                    <a:gd name="T22" fmla="*/ 35 w 565"/>
                    <a:gd name="T23" fmla="*/ 162 h 162"/>
                    <a:gd name="T24" fmla="*/ 0 w 565"/>
                    <a:gd name="T25" fmla="*/ 152 h 162"/>
                    <a:gd name="T26" fmla="*/ 17 w 565"/>
                    <a:gd name="T27" fmla="*/ 120 h 1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65" h="162">
                      <a:moveTo>
                        <a:pt x="17" y="120"/>
                      </a:moveTo>
                      <a:lnTo>
                        <a:pt x="145" y="102"/>
                      </a:lnTo>
                      <a:lnTo>
                        <a:pt x="283" y="68"/>
                      </a:lnTo>
                      <a:lnTo>
                        <a:pt x="405" y="36"/>
                      </a:lnTo>
                      <a:lnTo>
                        <a:pt x="542" y="0"/>
                      </a:lnTo>
                      <a:lnTo>
                        <a:pt x="565" y="8"/>
                      </a:lnTo>
                      <a:lnTo>
                        <a:pt x="555" y="26"/>
                      </a:lnTo>
                      <a:lnTo>
                        <a:pt x="498" y="38"/>
                      </a:lnTo>
                      <a:lnTo>
                        <a:pt x="380" y="66"/>
                      </a:lnTo>
                      <a:lnTo>
                        <a:pt x="233" y="104"/>
                      </a:lnTo>
                      <a:lnTo>
                        <a:pt x="118" y="134"/>
                      </a:lnTo>
                      <a:lnTo>
                        <a:pt x="35" y="162"/>
                      </a:lnTo>
                      <a:lnTo>
                        <a:pt x="0" y="152"/>
                      </a:lnTo>
                      <a:lnTo>
                        <a:pt x="17"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5" name="Freeform 33"/>
                <p:cNvSpPr>
                  <a:spLocks/>
                </p:cNvSpPr>
                <p:nvPr/>
              </p:nvSpPr>
              <p:spPr bwMode="auto">
                <a:xfrm>
                  <a:off x="605" y="1539"/>
                  <a:ext cx="606" cy="259"/>
                </a:xfrm>
                <a:custGeom>
                  <a:avLst/>
                  <a:gdLst>
                    <a:gd name="T0" fmla="*/ 117 w 606"/>
                    <a:gd name="T1" fmla="*/ 131 h 259"/>
                    <a:gd name="T2" fmla="*/ 271 w 606"/>
                    <a:gd name="T3" fmla="*/ 88 h 259"/>
                    <a:gd name="T4" fmla="*/ 408 w 606"/>
                    <a:gd name="T5" fmla="*/ 49 h 259"/>
                    <a:gd name="T6" fmla="*/ 525 w 606"/>
                    <a:gd name="T7" fmla="*/ 20 h 259"/>
                    <a:gd name="T8" fmla="*/ 598 w 606"/>
                    <a:gd name="T9" fmla="*/ 0 h 259"/>
                    <a:gd name="T10" fmla="*/ 606 w 606"/>
                    <a:gd name="T11" fmla="*/ 26 h 259"/>
                    <a:gd name="T12" fmla="*/ 594 w 606"/>
                    <a:gd name="T13" fmla="*/ 77 h 259"/>
                    <a:gd name="T14" fmla="*/ 473 w 606"/>
                    <a:gd name="T15" fmla="*/ 112 h 259"/>
                    <a:gd name="T16" fmla="*/ 273 w 606"/>
                    <a:gd name="T17" fmla="*/ 161 h 259"/>
                    <a:gd name="T18" fmla="*/ 117 w 606"/>
                    <a:gd name="T19" fmla="*/ 218 h 259"/>
                    <a:gd name="T20" fmla="*/ 23 w 606"/>
                    <a:gd name="T21" fmla="*/ 259 h 259"/>
                    <a:gd name="T22" fmla="*/ 0 w 606"/>
                    <a:gd name="T23" fmla="*/ 249 h 259"/>
                    <a:gd name="T24" fmla="*/ 0 w 606"/>
                    <a:gd name="T25" fmla="*/ 208 h 259"/>
                    <a:gd name="T26" fmla="*/ 23 w 606"/>
                    <a:gd name="T27" fmla="*/ 137 h 259"/>
                    <a:gd name="T28" fmla="*/ 60 w 606"/>
                    <a:gd name="T29" fmla="*/ 141 h 259"/>
                    <a:gd name="T30" fmla="*/ 35 w 606"/>
                    <a:gd name="T31" fmla="*/ 173 h 259"/>
                    <a:gd name="T32" fmla="*/ 29 w 606"/>
                    <a:gd name="T33" fmla="*/ 220 h 259"/>
                    <a:gd name="T34" fmla="*/ 52 w 606"/>
                    <a:gd name="T35" fmla="*/ 218 h 259"/>
                    <a:gd name="T36" fmla="*/ 158 w 606"/>
                    <a:gd name="T37" fmla="*/ 182 h 259"/>
                    <a:gd name="T38" fmla="*/ 319 w 606"/>
                    <a:gd name="T39" fmla="*/ 130 h 259"/>
                    <a:gd name="T40" fmla="*/ 456 w 606"/>
                    <a:gd name="T41" fmla="*/ 94 h 259"/>
                    <a:gd name="T42" fmla="*/ 543 w 606"/>
                    <a:gd name="T43" fmla="*/ 65 h 259"/>
                    <a:gd name="T44" fmla="*/ 575 w 606"/>
                    <a:gd name="T45" fmla="*/ 59 h 259"/>
                    <a:gd name="T46" fmla="*/ 581 w 606"/>
                    <a:gd name="T47" fmla="*/ 24 h 259"/>
                    <a:gd name="T48" fmla="*/ 473 w 606"/>
                    <a:gd name="T49" fmla="*/ 55 h 259"/>
                    <a:gd name="T50" fmla="*/ 317 w 606"/>
                    <a:gd name="T51" fmla="*/ 90 h 259"/>
                    <a:gd name="T52" fmla="*/ 185 w 606"/>
                    <a:gd name="T53" fmla="*/ 131 h 259"/>
                    <a:gd name="T54" fmla="*/ 71 w 606"/>
                    <a:gd name="T55" fmla="*/ 165 h 259"/>
                    <a:gd name="T56" fmla="*/ 83 w 606"/>
                    <a:gd name="T57" fmla="*/ 137 h 259"/>
                    <a:gd name="T58" fmla="*/ 117 w 606"/>
                    <a:gd name="T59" fmla="*/ 131 h 25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6" h="259">
                      <a:moveTo>
                        <a:pt x="117" y="131"/>
                      </a:moveTo>
                      <a:lnTo>
                        <a:pt x="271" y="88"/>
                      </a:lnTo>
                      <a:lnTo>
                        <a:pt x="408" y="49"/>
                      </a:lnTo>
                      <a:lnTo>
                        <a:pt x="525" y="20"/>
                      </a:lnTo>
                      <a:lnTo>
                        <a:pt x="598" y="0"/>
                      </a:lnTo>
                      <a:lnTo>
                        <a:pt x="606" y="26"/>
                      </a:lnTo>
                      <a:lnTo>
                        <a:pt x="594" y="77"/>
                      </a:lnTo>
                      <a:lnTo>
                        <a:pt x="473" y="112"/>
                      </a:lnTo>
                      <a:lnTo>
                        <a:pt x="273" y="161"/>
                      </a:lnTo>
                      <a:lnTo>
                        <a:pt x="117" y="218"/>
                      </a:lnTo>
                      <a:lnTo>
                        <a:pt x="23" y="259"/>
                      </a:lnTo>
                      <a:lnTo>
                        <a:pt x="0" y="249"/>
                      </a:lnTo>
                      <a:lnTo>
                        <a:pt x="0" y="208"/>
                      </a:lnTo>
                      <a:lnTo>
                        <a:pt x="23" y="137"/>
                      </a:lnTo>
                      <a:lnTo>
                        <a:pt x="60" y="141"/>
                      </a:lnTo>
                      <a:lnTo>
                        <a:pt x="35" y="173"/>
                      </a:lnTo>
                      <a:lnTo>
                        <a:pt x="29" y="220"/>
                      </a:lnTo>
                      <a:lnTo>
                        <a:pt x="52" y="218"/>
                      </a:lnTo>
                      <a:lnTo>
                        <a:pt x="158" y="182"/>
                      </a:lnTo>
                      <a:lnTo>
                        <a:pt x="319" y="130"/>
                      </a:lnTo>
                      <a:lnTo>
                        <a:pt x="456" y="94"/>
                      </a:lnTo>
                      <a:lnTo>
                        <a:pt x="543" y="65"/>
                      </a:lnTo>
                      <a:lnTo>
                        <a:pt x="575" y="59"/>
                      </a:lnTo>
                      <a:lnTo>
                        <a:pt x="581" y="24"/>
                      </a:lnTo>
                      <a:lnTo>
                        <a:pt x="473" y="55"/>
                      </a:lnTo>
                      <a:lnTo>
                        <a:pt x="317" y="90"/>
                      </a:lnTo>
                      <a:lnTo>
                        <a:pt x="185" y="131"/>
                      </a:lnTo>
                      <a:lnTo>
                        <a:pt x="71" y="165"/>
                      </a:lnTo>
                      <a:lnTo>
                        <a:pt x="83" y="137"/>
                      </a:lnTo>
                      <a:lnTo>
                        <a:pt x="117" y="1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316" name="Group 34"/>
                <p:cNvGrpSpPr>
                  <a:grpSpLocks/>
                </p:cNvGrpSpPr>
                <p:nvPr/>
              </p:nvGrpSpPr>
              <p:grpSpPr bwMode="auto">
                <a:xfrm>
                  <a:off x="1081" y="1154"/>
                  <a:ext cx="105" cy="108"/>
                  <a:chOff x="1081" y="1154"/>
                  <a:chExt cx="105" cy="108"/>
                </a:xfrm>
              </p:grpSpPr>
              <p:sp>
                <p:nvSpPr>
                  <p:cNvPr id="6325" name="Freeform 35"/>
                  <p:cNvSpPr>
                    <a:spLocks/>
                  </p:cNvSpPr>
                  <p:nvPr/>
                </p:nvSpPr>
                <p:spPr bwMode="auto">
                  <a:xfrm>
                    <a:off x="1093" y="1154"/>
                    <a:ext cx="93" cy="108"/>
                  </a:xfrm>
                  <a:custGeom>
                    <a:avLst/>
                    <a:gdLst>
                      <a:gd name="T0" fmla="*/ 2 w 93"/>
                      <a:gd name="T1" fmla="*/ 53 h 108"/>
                      <a:gd name="T2" fmla="*/ 14 w 93"/>
                      <a:gd name="T3" fmla="*/ 31 h 108"/>
                      <a:gd name="T4" fmla="*/ 37 w 93"/>
                      <a:gd name="T5" fmla="*/ 29 h 108"/>
                      <a:gd name="T6" fmla="*/ 64 w 93"/>
                      <a:gd name="T7" fmla="*/ 31 h 108"/>
                      <a:gd name="T8" fmla="*/ 70 w 93"/>
                      <a:gd name="T9" fmla="*/ 49 h 108"/>
                      <a:gd name="T10" fmla="*/ 58 w 93"/>
                      <a:gd name="T11" fmla="*/ 73 h 108"/>
                      <a:gd name="T12" fmla="*/ 37 w 93"/>
                      <a:gd name="T13" fmla="*/ 79 h 108"/>
                      <a:gd name="T14" fmla="*/ 6 w 93"/>
                      <a:gd name="T15" fmla="*/ 84 h 108"/>
                      <a:gd name="T16" fmla="*/ 8 w 93"/>
                      <a:gd name="T17" fmla="*/ 98 h 108"/>
                      <a:gd name="T18" fmla="*/ 27 w 93"/>
                      <a:gd name="T19" fmla="*/ 108 h 108"/>
                      <a:gd name="T20" fmla="*/ 62 w 93"/>
                      <a:gd name="T21" fmla="*/ 96 h 108"/>
                      <a:gd name="T22" fmla="*/ 83 w 93"/>
                      <a:gd name="T23" fmla="*/ 77 h 108"/>
                      <a:gd name="T24" fmla="*/ 93 w 93"/>
                      <a:gd name="T25" fmla="*/ 59 h 108"/>
                      <a:gd name="T26" fmla="*/ 89 w 93"/>
                      <a:gd name="T27" fmla="*/ 29 h 108"/>
                      <a:gd name="T28" fmla="*/ 70 w 93"/>
                      <a:gd name="T29" fmla="*/ 16 h 108"/>
                      <a:gd name="T30" fmla="*/ 37 w 93"/>
                      <a:gd name="T31" fmla="*/ 0 h 108"/>
                      <a:gd name="T32" fmla="*/ 12 w 93"/>
                      <a:gd name="T33" fmla="*/ 6 h 108"/>
                      <a:gd name="T34" fmla="*/ 0 w 93"/>
                      <a:gd name="T35" fmla="*/ 35 h 108"/>
                      <a:gd name="T36" fmla="*/ 2 w 93"/>
                      <a:gd name="T37" fmla="*/ 53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3" h="108">
                        <a:moveTo>
                          <a:pt x="2" y="53"/>
                        </a:moveTo>
                        <a:lnTo>
                          <a:pt x="14" y="31"/>
                        </a:lnTo>
                        <a:lnTo>
                          <a:pt x="37" y="29"/>
                        </a:lnTo>
                        <a:lnTo>
                          <a:pt x="64" y="31"/>
                        </a:lnTo>
                        <a:lnTo>
                          <a:pt x="70" y="49"/>
                        </a:lnTo>
                        <a:lnTo>
                          <a:pt x="58" y="73"/>
                        </a:lnTo>
                        <a:lnTo>
                          <a:pt x="37" y="79"/>
                        </a:lnTo>
                        <a:lnTo>
                          <a:pt x="6" y="84"/>
                        </a:lnTo>
                        <a:lnTo>
                          <a:pt x="8" y="98"/>
                        </a:lnTo>
                        <a:lnTo>
                          <a:pt x="27" y="108"/>
                        </a:lnTo>
                        <a:lnTo>
                          <a:pt x="62" y="96"/>
                        </a:lnTo>
                        <a:lnTo>
                          <a:pt x="83" y="77"/>
                        </a:lnTo>
                        <a:lnTo>
                          <a:pt x="93" y="59"/>
                        </a:lnTo>
                        <a:lnTo>
                          <a:pt x="89" y="29"/>
                        </a:lnTo>
                        <a:lnTo>
                          <a:pt x="70" y="16"/>
                        </a:lnTo>
                        <a:lnTo>
                          <a:pt x="37" y="0"/>
                        </a:lnTo>
                        <a:lnTo>
                          <a:pt x="12" y="6"/>
                        </a:lnTo>
                        <a:lnTo>
                          <a:pt x="0" y="35"/>
                        </a:lnTo>
                        <a:lnTo>
                          <a:pt x="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6" name="Freeform 36"/>
                  <p:cNvSpPr>
                    <a:spLocks/>
                  </p:cNvSpPr>
                  <p:nvPr/>
                </p:nvSpPr>
                <p:spPr bwMode="auto">
                  <a:xfrm>
                    <a:off x="1081" y="1180"/>
                    <a:ext cx="54" cy="73"/>
                  </a:xfrm>
                  <a:custGeom>
                    <a:avLst/>
                    <a:gdLst>
                      <a:gd name="T0" fmla="*/ 41 w 54"/>
                      <a:gd name="T1" fmla="*/ 0 h 73"/>
                      <a:gd name="T2" fmla="*/ 16 w 54"/>
                      <a:gd name="T3" fmla="*/ 15 h 73"/>
                      <a:gd name="T4" fmla="*/ 20 w 54"/>
                      <a:gd name="T5" fmla="*/ 39 h 73"/>
                      <a:gd name="T6" fmla="*/ 27 w 54"/>
                      <a:gd name="T7" fmla="*/ 58 h 73"/>
                      <a:gd name="T8" fmla="*/ 54 w 54"/>
                      <a:gd name="T9" fmla="*/ 67 h 73"/>
                      <a:gd name="T10" fmla="*/ 27 w 54"/>
                      <a:gd name="T11" fmla="*/ 73 h 73"/>
                      <a:gd name="T12" fmla="*/ 2 w 54"/>
                      <a:gd name="T13" fmla="*/ 58 h 73"/>
                      <a:gd name="T14" fmla="*/ 0 w 54"/>
                      <a:gd name="T15" fmla="*/ 34 h 73"/>
                      <a:gd name="T16" fmla="*/ 2 w 54"/>
                      <a:gd name="T17" fmla="*/ 6 h 73"/>
                      <a:gd name="T18" fmla="*/ 41 w 54"/>
                      <a:gd name="T19" fmla="*/ 0 h 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73">
                        <a:moveTo>
                          <a:pt x="41" y="0"/>
                        </a:moveTo>
                        <a:lnTo>
                          <a:pt x="16" y="15"/>
                        </a:lnTo>
                        <a:lnTo>
                          <a:pt x="20" y="39"/>
                        </a:lnTo>
                        <a:lnTo>
                          <a:pt x="27" y="58"/>
                        </a:lnTo>
                        <a:lnTo>
                          <a:pt x="54" y="67"/>
                        </a:lnTo>
                        <a:lnTo>
                          <a:pt x="27" y="73"/>
                        </a:lnTo>
                        <a:lnTo>
                          <a:pt x="2" y="58"/>
                        </a:lnTo>
                        <a:lnTo>
                          <a:pt x="0" y="34"/>
                        </a:lnTo>
                        <a:lnTo>
                          <a:pt x="2" y="6"/>
                        </a:lnTo>
                        <a:lnTo>
                          <a:pt x="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317" name="Group 37"/>
                <p:cNvGrpSpPr>
                  <a:grpSpLocks/>
                </p:cNvGrpSpPr>
                <p:nvPr/>
              </p:nvGrpSpPr>
              <p:grpSpPr bwMode="auto">
                <a:xfrm>
                  <a:off x="888" y="1194"/>
                  <a:ext cx="104" cy="108"/>
                  <a:chOff x="888" y="1194"/>
                  <a:chExt cx="104" cy="108"/>
                </a:xfrm>
              </p:grpSpPr>
              <p:sp>
                <p:nvSpPr>
                  <p:cNvPr id="6323" name="Freeform 38"/>
                  <p:cNvSpPr>
                    <a:spLocks/>
                  </p:cNvSpPr>
                  <p:nvPr/>
                </p:nvSpPr>
                <p:spPr bwMode="auto">
                  <a:xfrm>
                    <a:off x="899" y="1194"/>
                    <a:ext cx="93" cy="108"/>
                  </a:xfrm>
                  <a:custGeom>
                    <a:avLst/>
                    <a:gdLst>
                      <a:gd name="T0" fmla="*/ 2 w 93"/>
                      <a:gd name="T1" fmla="*/ 53 h 108"/>
                      <a:gd name="T2" fmla="*/ 14 w 93"/>
                      <a:gd name="T3" fmla="*/ 31 h 108"/>
                      <a:gd name="T4" fmla="*/ 37 w 93"/>
                      <a:gd name="T5" fmla="*/ 29 h 108"/>
                      <a:gd name="T6" fmla="*/ 64 w 93"/>
                      <a:gd name="T7" fmla="*/ 31 h 108"/>
                      <a:gd name="T8" fmla="*/ 70 w 93"/>
                      <a:gd name="T9" fmla="*/ 49 h 108"/>
                      <a:gd name="T10" fmla="*/ 58 w 93"/>
                      <a:gd name="T11" fmla="*/ 73 h 108"/>
                      <a:gd name="T12" fmla="*/ 37 w 93"/>
                      <a:gd name="T13" fmla="*/ 79 h 108"/>
                      <a:gd name="T14" fmla="*/ 6 w 93"/>
                      <a:gd name="T15" fmla="*/ 84 h 108"/>
                      <a:gd name="T16" fmla="*/ 8 w 93"/>
                      <a:gd name="T17" fmla="*/ 98 h 108"/>
                      <a:gd name="T18" fmla="*/ 27 w 93"/>
                      <a:gd name="T19" fmla="*/ 108 h 108"/>
                      <a:gd name="T20" fmla="*/ 62 w 93"/>
                      <a:gd name="T21" fmla="*/ 96 h 108"/>
                      <a:gd name="T22" fmla="*/ 83 w 93"/>
                      <a:gd name="T23" fmla="*/ 77 h 108"/>
                      <a:gd name="T24" fmla="*/ 93 w 93"/>
                      <a:gd name="T25" fmla="*/ 59 h 108"/>
                      <a:gd name="T26" fmla="*/ 89 w 93"/>
                      <a:gd name="T27" fmla="*/ 29 h 108"/>
                      <a:gd name="T28" fmla="*/ 70 w 93"/>
                      <a:gd name="T29" fmla="*/ 16 h 108"/>
                      <a:gd name="T30" fmla="*/ 37 w 93"/>
                      <a:gd name="T31" fmla="*/ 0 h 108"/>
                      <a:gd name="T32" fmla="*/ 12 w 93"/>
                      <a:gd name="T33" fmla="*/ 6 h 108"/>
                      <a:gd name="T34" fmla="*/ 0 w 93"/>
                      <a:gd name="T35" fmla="*/ 35 h 108"/>
                      <a:gd name="T36" fmla="*/ 2 w 93"/>
                      <a:gd name="T37" fmla="*/ 53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3" h="108">
                        <a:moveTo>
                          <a:pt x="2" y="53"/>
                        </a:moveTo>
                        <a:lnTo>
                          <a:pt x="14" y="31"/>
                        </a:lnTo>
                        <a:lnTo>
                          <a:pt x="37" y="29"/>
                        </a:lnTo>
                        <a:lnTo>
                          <a:pt x="64" y="31"/>
                        </a:lnTo>
                        <a:lnTo>
                          <a:pt x="70" y="49"/>
                        </a:lnTo>
                        <a:lnTo>
                          <a:pt x="58" y="73"/>
                        </a:lnTo>
                        <a:lnTo>
                          <a:pt x="37" y="79"/>
                        </a:lnTo>
                        <a:lnTo>
                          <a:pt x="6" y="84"/>
                        </a:lnTo>
                        <a:lnTo>
                          <a:pt x="8" y="98"/>
                        </a:lnTo>
                        <a:lnTo>
                          <a:pt x="27" y="108"/>
                        </a:lnTo>
                        <a:lnTo>
                          <a:pt x="62" y="96"/>
                        </a:lnTo>
                        <a:lnTo>
                          <a:pt x="83" y="77"/>
                        </a:lnTo>
                        <a:lnTo>
                          <a:pt x="93" y="59"/>
                        </a:lnTo>
                        <a:lnTo>
                          <a:pt x="89" y="29"/>
                        </a:lnTo>
                        <a:lnTo>
                          <a:pt x="70" y="16"/>
                        </a:lnTo>
                        <a:lnTo>
                          <a:pt x="37" y="0"/>
                        </a:lnTo>
                        <a:lnTo>
                          <a:pt x="12" y="6"/>
                        </a:lnTo>
                        <a:lnTo>
                          <a:pt x="0" y="35"/>
                        </a:lnTo>
                        <a:lnTo>
                          <a:pt x="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4" name="Freeform 39"/>
                  <p:cNvSpPr>
                    <a:spLocks/>
                  </p:cNvSpPr>
                  <p:nvPr/>
                </p:nvSpPr>
                <p:spPr bwMode="auto">
                  <a:xfrm>
                    <a:off x="888" y="1220"/>
                    <a:ext cx="53" cy="73"/>
                  </a:xfrm>
                  <a:custGeom>
                    <a:avLst/>
                    <a:gdLst>
                      <a:gd name="T0" fmla="*/ 40 w 53"/>
                      <a:gd name="T1" fmla="*/ 0 h 73"/>
                      <a:gd name="T2" fmla="*/ 15 w 53"/>
                      <a:gd name="T3" fmla="*/ 15 h 73"/>
                      <a:gd name="T4" fmla="*/ 20 w 53"/>
                      <a:gd name="T5" fmla="*/ 39 h 73"/>
                      <a:gd name="T6" fmla="*/ 27 w 53"/>
                      <a:gd name="T7" fmla="*/ 58 h 73"/>
                      <a:gd name="T8" fmla="*/ 53 w 53"/>
                      <a:gd name="T9" fmla="*/ 67 h 73"/>
                      <a:gd name="T10" fmla="*/ 27 w 53"/>
                      <a:gd name="T11" fmla="*/ 73 h 73"/>
                      <a:gd name="T12" fmla="*/ 2 w 53"/>
                      <a:gd name="T13" fmla="*/ 58 h 73"/>
                      <a:gd name="T14" fmla="*/ 0 w 53"/>
                      <a:gd name="T15" fmla="*/ 34 h 73"/>
                      <a:gd name="T16" fmla="*/ 2 w 53"/>
                      <a:gd name="T17" fmla="*/ 6 h 73"/>
                      <a:gd name="T18" fmla="*/ 40 w 53"/>
                      <a:gd name="T19" fmla="*/ 0 h 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3" h="73">
                        <a:moveTo>
                          <a:pt x="40" y="0"/>
                        </a:moveTo>
                        <a:lnTo>
                          <a:pt x="15" y="15"/>
                        </a:lnTo>
                        <a:lnTo>
                          <a:pt x="20" y="39"/>
                        </a:lnTo>
                        <a:lnTo>
                          <a:pt x="27" y="58"/>
                        </a:lnTo>
                        <a:lnTo>
                          <a:pt x="53" y="67"/>
                        </a:lnTo>
                        <a:lnTo>
                          <a:pt x="27" y="73"/>
                        </a:lnTo>
                        <a:lnTo>
                          <a:pt x="2" y="58"/>
                        </a:lnTo>
                        <a:lnTo>
                          <a:pt x="0" y="34"/>
                        </a:lnTo>
                        <a:lnTo>
                          <a:pt x="2" y="6"/>
                        </a:lnTo>
                        <a:lnTo>
                          <a:pt x="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318" name="Group 40"/>
                <p:cNvGrpSpPr>
                  <a:grpSpLocks/>
                </p:cNvGrpSpPr>
                <p:nvPr/>
              </p:nvGrpSpPr>
              <p:grpSpPr bwMode="auto">
                <a:xfrm>
                  <a:off x="690" y="1243"/>
                  <a:ext cx="105" cy="109"/>
                  <a:chOff x="690" y="1243"/>
                  <a:chExt cx="105" cy="109"/>
                </a:xfrm>
              </p:grpSpPr>
              <p:sp>
                <p:nvSpPr>
                  <p:cNvPr id="6321" name="Freeform 41"/>
                  <p:cNvSpPr>
                    <a:spLocks/>
                  </p:cNvSpPr>
                  <p:nvPr/>
                </p:nvSpPr>
                <p:spPr bwMode="auto">
                  <a:xfrm>
                    <a:off x="702" y="1243"/>
                    <a:ext cx="93" cy="109"/>
                  </a:xfrm>
                  <a:custGeom>
                    <a:avLst/>
                    <a:gdLst>
                      <a:gd name="T0" fmla="*/ 2 w 93"/>
                      <a:gd name="T1" fmla="*/ 53 h 109"/>
                      <a:gd name="T2" fmla="*/ 14 w 93"/>
                      <a:gd name="T3" fmla="*/ 31 h 109"/>
                      <a:gd name="T4" fmla="*/ 37 w 93"/>
                      <a:gd name="T5" fmla="*/ 29 h 109"/>
                      <a:gd name="T6" fmla="*/ 64 w 93"/>
                      <a:gd name="T7" fmla="*/ 31 h 109"/>
                      <a:gd name="T8" fmla="*/ 70 w 93"/>
                      <a:gd name="T9" fmla="*/ 49 h 109"/>
                      <a:gd name="T10" fmla="*/ 58 w 93"/>
                      <a:gd name="T11" fmla="*/ 74 h 109"/>
                      <a:gd name="T12" fmla="*/ 37 w 93"/>
                      <a:gd name="T13" fmla="*/ 80 h 109"/>
                      <a:gd name="T14" fmla="*/ 6 w 93"/>
                      <a:gd name="T15" fmla="*/ 84 h 109"/>
                      <a:gd name="T16" fmla="*/ 8 w 93"/>
                      <a:gd name="T17" fmla="*/ 99 h 109"/>
                      <a:gd name="T18" fmla="*/ 27 w 93"/>
                      <a:gd name="T19" fmla="*/ 109 h 109"/>
                      <a:gd name="T20" fmla="*/ 62 w 93"/>
                      <a:gd name="T21" fmla="*/ 97 h 109"/>
                      <a:gd name="T22" fmla="*/ 83 w 93"/>
                      <a:gd name="T23" fmla="*/ 78 h 109"/>
                      <a:gd name="T24" fmla="*/ 93 w 93"/>
                      <a:gd name="T25" fmla="*/ 60 h 109"/>
                      <a:gd name="T26" fmla="*/ 89 w 93"/>
                      <a:gd name="T27" fmla="*/ 29 h 109"/>
                      <a:gd name="T28" fmla="*/ 70 w 93"/>
                      <a:gd name="T29" fmla="*/ 16 h 109"/>
                      <a:gd name="T30" fmla="*/ 37 w 93"/>
                      <a:gd name="T31" fmla="*/ 0 h 109"/>
                      <a:gd name="T32" fmla="*/ 12 w 93"/>
                      <a:gd name="T33" fmla="*/ 6 h 109"/>
                      <a:gd name="T34" fmla="*/ 0 w 93"/>
                      <a:gd name="T35" fmla="*/ 35 h 109"/>
                      <a:gd name="T36" fmla="*/ 2 w 93"/>
                      <a:gd name="T37" fmla="*/ 53 h 1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3" h="109">
                        <a:moveTo>
                          <a:pt x="2" y="53"/>
                        </a:moveTo>
                        <a:lnTo>
                          <a:pt x="14" y="31"/>
                        </a:lnTo>
                        <a:lnTo>
                          <a:pt x="37" y="29"/>
                        </a:lnTo>
                        <a:lnTo>
                          <a:pt x="64" y="31"/>
                        </a:lnTo>
                        <a:lnTo>
                          <a:pt x="70" y="49"/>
                        </a:lnTo>
                        <a:lnTo>
                          <a:pt x="58" y="74"/>
                        </a:lnTo>
                        <a:lnTo>
                          <a:pt x="37" y="80"/>
                        </a:lnTo>
                        <a:lnTo>
                          <a:pt x="6" y="84"/>
                        </a:lnTo>
                        <a:lnTo>
                          <a:pt x="8" y="99"/>
                        </a:lnTo>
                        <a:lnTo>
                          <a:pt x="27" y="109"/>
                        </a:lnTo>
                        <a:lnTo>
                          <a:pt x="62" y="97"/>
                        </a:lnTo>
                        <a:lnTo>
                          <a:pt x="83" y="78"/>
                        </a:lnTo>
                        <a:lnTo>
                          <a:pt x="93" y="60"/>
                        </a:lnTo>
                        <a:lnTo>
                          <a:pt x="89" y="29"/>
                        </a:lnTo>
                        <a:lnTo>
                          <a:pt x="70" y="16"/>
                        </a:lnTo>
                        <a:lnTo>
                          <a:pt x="37" y="0"/>
                        </a:lnTo>
                        <a:lnTo>
                          <a:pt x="12" y="6"/>
                        </a:lnTo>
                        <a:lnTo>
                          <a:pt x="0" y="35"/>
                        </a:lnTo>
                        <a:lnTo>
                          <a:pt x="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2" name="Freeform 42"/>
                  <p:cNvSpPr>
                    <a:spLocks/>
                  </p:cNvSpPr>
                  <p:nvPr/>
                </p:nvSpPr>
                <p:spPr bwMode="auto">
                  <a:xfrm>
                    <a:off x="690" y="1270"/>
                    <a:ext cx="54" cy="72"/>
                  </a:xfrm>
                  <a:custGeom>
                    <a:avLst/>
                    <a:gdLst>
                      <a:gd name="T0" fmla="*/ 41 w 54"/>
                      <a:gd name="T1" fmla="*/ 0 h 72"/>
                      <a:gd name="T2" fmla="*/ 16 w 54"/>
                      <a:gd name="T3" fmla="*/ 15 h 72"/>
                      <a:gd name="T4" fmla="*/ 20 w 54"/>
                      <a:gd name="T5" fmla="*/ 38 h 72"/>
                      <a:gd name="T6" fmla="*/ 27 w 54"/>
                      <a:gd name="T7" fmla="*/ 57 h 72"/>
                      <a:gd name="T8" fmla="*/ 54 w 54"/>
                      <a:gd name="T9" fmla="*/ 66 h 72"/>
                      <a:gd name="T10" fmla="*/ 27 w 54"/>
                      <a:gd name="T11" fmla="*/ 72 h 72"/>
                      <a:gd name="T12" fmla="*/ 2 w 54"/>
                      <a:gd name="T13" fmla="*/ 57 h 72"/>
                      <a:gd name="T14" fmla="*/ 0 w 54"/>
                      <a:gd name="T15" fmla="*/ 34 h 72"/>
                      <a:gd name="T16" fmla="*/ 2 w 54"/>
                      <a:gd name="T17" fmla="*/ 6 h 72"/>
                      <a:gd name="T18" fmla="*/ 41 w 54"/>
                      <a:gd name="T19" fmla="*/ 0 h 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72">
                        <a:moveTo>
                          <a:pt x="41" y="0"/>
                        </a:moveTo>
                        <a:lnTo>
                          <a:pt x="16" y="15"/>
                        </a:lnTo>
                        <a:lnTo>
                          <a:pt x="20" y="38"/>
                        </a:lnTo>
                        <a:lnTo>
                          <a:pt x="27" y="57"/>
                        </a:lnTo>
                        <a:lnTo>
                          <a:pt x="54" y="66"/>
                        </a:lnTo>
                        <a:lnTo>
                          <a:pt x="27" y="72"/>
                        </a:lnTo>
                        <a:lnTo>
                          <a:pt x="2" y="57"/>
                        </a:lnTo>
                        <a:lnTo>
                          <a:pt x="0" y="34"/>
                        </a:lnTo>
                        <a:lnTo>
                          <a:pt x="2" y="6"/>
                        </a:lnTo>
                        <a:lnTo>
                          <a:pt x="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319" name="Freeform 43"/>
                <p:cNvSpPr>
                  <a:spLocks/>
                </p:cNvSpPr>
                <p:nvPr/>
              </p:nvSpPr>
              <p:spPr bwMode="auto">
                <a:xfrm>
                  <a:off x="3" y="780"/>
                  <a:ext cx="1316" cy="1196"/>
                </a:xfrm>
                <a:custGeom>
                  <a:avLst/>
                  <a:gdLst>
                    <a:gd name="T0" fmla="*/ 29 w 1316"/>
                    <a:gd name="T1" fmla="*/ 42 h 1196"/>
                    <a:gd name="T2" fmla="*/ 52 w 1316"/>
                    <a:gd name="T3" fmla="*/ 130 h 1196"/>
                    <a:gd name="T4" fmla="*/ 40 w 1316"/>
                    <a:gd name="T5" fmla="*/ 340 h 1196"/>
                    <a:gd name="T6" fmla="*/ 38 w 1316"/>
                    <a:gd name="T7" fmla="*/ 569 h 1196"/>
                    <a:gd name="T8" fmla="*/ 55 w 1316"/>
                    <a:gd name="T9" fmla="*/ 730 h 1196"/>
                    <a:gd name="T10" fmla="*/ 120 w 1316"/>
                    <a:gd name="T11" fmla="*/ 806 h 1196"/>
                    <a:gd name="T12" fmla="*/ 222 w 1316"/>
                    <a:gd name="T13" fmla="*/ 908 h 1196"/>
                    <a:gd name="T14" fmla="*/ 304 w 1316"/>
                    <a:gd name="T15" fmla="*/ 1005 h 1196"/>
                    <a:gd name="T16" fmla="*/ 378 w 1316"/>
                    <a:gd name="T17" fmla="*/ 1108 h 1196"/>
                    <a:gd name="T18" fmla="*/ 447 w 1316"/>
                    <a:gd name="T19" fmla="*/ 1167 h 1196"/>
                    <a:gd name="T20" fmla="*/ 453 w 1316"/>
                    <a:gd name="T21" fmla="*/ 1057 h 1196"/>
                    <a:gd name="T22" fmla="*/ 453 w 1316"/>
                    <a:gd name="T23" fmla="*/ 730 h 1196"/>
                    <a:gd name="T24" fmla="*/ 453 w 1316"/>
                    <a:gd name="T25" fmla="*/ 462 h 1196"/>
                    <a:gd name="T26" fmla="*/ 458 w 1316"/>
                    <a:gd name="T27" fmla="*/ 266 h 1196"/>
                    <a:gd name="T28" fmla="*/ 481 w 1316"/>
                    <a:gd name="T29" fmla="*/ 0 h 1196"/>
                    <a:gd name="T30" fmla="*/ 485 w 1316"/>
                    <a:gd name="T31" fmla="*/ 174 h 1196"/>
                    <a:gd name="T32" fmla="*/ 485 w 1316"/>
                    <a:gd name="T33" fmla="*/ 334 h 1196"/>
                    <a:gd name="T34" fmla="*/ 479 w 1316"/>
                    <a:gd name="T35" fmla="*/ 531 h 1196"/>
                    <a:gd name="T36" fmla="*/ 479 w 1316"/>
                    <a:gd name="T37" fmla="*/ 736 h 1196"/>
                    <a:gd name="T38" fmla="*/ 476 w 1316"/>
                    <a:gd name="T39" fmla="*/ 925 h 1196"/>
                    <a:gd name="T40" fmla="*/ 476 w 1316"/>
                    <a:gd name="T41" fmla="*/ 1143 h 1196"/>
                    <a:gd name="T42" fmla="*/ 567 w 1316"/>
                    <a:gd name="T43" fmla="*/ 1131 h 1196"/>
                    <a:gd name="T44" fmla="*/ 762 w 1316"/>
                    <a:gd name="T45" fmla="*/ 1064 h 1196"/>
                    <a:gd name="T46" fmla="*/ 881 w 1316"/>
                    <a:gd name="T47" fmla="*/ 1018 h 1196"/>
                    <a:gd name="T48" fmla="*/ 1010 w 1316"/>
                    <a:gd name="T49" fmla="*/ 971 h 1196"/>
                    <a:gd name="T50" fmla="*/ 1148 w 1316"/>
                    <a:gd name="T51" fmla="*/ 909 h 1196"/>
                    <a:gd name="T52" fmla="*/ 1253 w 1316"/>
                    <a:gd name="T53" fmla="*/ 875 h 1196"/>
                    <a:gd name="T54" fmla="*/ 1270 w 1316"/>
                    <a:gd name="T55" fmla="*/ 844 h 1196"/>
                    <a:gd name="T56" fmla="*/ 1285 w 1316"/>
                    <a:gd name="T57" fmla="*/ 818 h 1196"/>
                    <a:gd name="T58" fmla="*/ 1293 w 1316"/>
                    <a:gd name="T59" fmla="*/ 646 h 1196"/>
                    <a:gd name="T60" fmla="*/ 1291 w 1316"/>
                    <a:gd name="T61" fmla="*/ 443 h 1196"/>
                    <a:gd name="T62" fmla="*/ 1291 w 1316"/>
                    <a:gd name="T63" fmla="*/ 311 h 1196"/>
                    <a:gd name="T64" fmla="*/ 1293 w 1316"/>
                    <a:gd name="T65" fmla="*/ 197 h 1196"/>
                    <a:gd name="T66" fmla="*/ 1316 w 1316"/>
                    <a:gd name="T67" fmla="*/ 4 h 1196"/>
                    <a:gd name="T68" fmla="*/ 1316 w 1316"/>
                    <a:gd name="T69" fmla="*/ 220 h 1196"/>
                    <a:gd name="T70" fmla="*/ 1316 w 1316"/>
                    <a:gd name="T71" fmla="*/ 376 h 1196"/>
                    <a:gd name="T72" fmla="*/ 1316 w 1316"/>
                    <a:gd name="T73" fmla="*/ 598 h 1196"/>
                    <a:gd name="T74" fmla="*/ 1316 w 1316"/>
                    <a:gd name="T75" fmla="*/ 829 h 1196"/>
                    <a:gd name="T76" fmla="*/ 1303 w 1316"/>
                    <a:gd name="T77" fmla="*/ 885 h 1196"/>
                    <a:gd name="T78" fmla="*/ 1274 w 1316"/>
                    <a:gd name="T79" fmla="*/ 904 h 1196"/>
                    <a:gd name="T80" fmla="*/ 1190 w 1316"/>
                    <a:gd name="T81" fmla="*/ 925 h 1196"/>
                    <a:gd name="T82" fmla="*/ 1064 w 1316"/>
                    <a:gd name="T83" fmla="*/ 976 h 1196"/>
                    <a:gd name="T84" fmla="*/ 921 w 1316"/>
                    <a:gd name="T85" fmla="*/ 1036 h 1196"/>
                    <a:gd name="T86" fmla="*/ 777 w 1316"/>
                    <a:gd name="T87" fmla="*/ 1091 h 1196"/>
                    <a:gd name="T88" fmla="*/ 600 w 1316"/>
                    <a:gd name="T89" fmla="*/ 1150 h 1196"/>
                    <a:gd name="T90" fmla="*/ 479 w 1316"/>
                    <a:gd name="T91" fmla="*/ 1194 h 1196"/>
                    <a:gd name="T92" fmla="*/ 434 w 1316"/>
                    <a:gd name="T93" fmla="*/ 1196 h 1196"/>
                    <a:gd name="T94" fmla="*/ 390 w 1316"/>
                    <a:gd name="T95" fmla="*/ 1154 h 1196"/>
                    <a:gd name="T96" fmla="*/ 321 w 1316"/>
                    <a:gd name="T97" fmla="*/ 1081 h 1196"/>
                    <a:gd name="T98" fmla="*/ 256 w 1316"/>
                    <a:gd name="T99" fmla="*/ 984 h 1196"/>
                    <a:gd name="T100" fmla="*/ 187 w 1316"/>
                    <a:gd name="T101" fmla="*/ 908 h 1196"/>
                    <a:gd name="T102" fmla="*/ 97 w 1316"/>
                    <a:gd name="T103" fmla="*/ 823 h 1196"/>
                    <a:gd name="T104" fmla="*/ 44 w 1316"/>
                    <a:gd name="T105" fmla="*/ 770 h 1196"/>
                    <a:gd name="T106" fmla="*/ 6 w 1316"/>
                    <a:gd name="T107" fmla="*/ 730 h 1196"/>
                    <a:gd name="T108" fmla="*/ 0 w 1316"/>
                    <a:gd name="T109" fmla="*/ 674 h 1196"/>
                    <a:gd name="T110" fmla="*/ 17 w 1316"/>
                    <a:gd name="T111" fmla="*/ 520 h 1196"/>
                    <a:gd name="T112" fmla="*/ 29 w 1316"/>
                    <a:gd name="T113" fmla="*/ 216 h 1196"/>
                    <a:gd name="T114" fmla="*/ 29 w 1316"/>
                    <a:gd name="T115" fmla="*/ 42 h 119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316" h="1196">
                      <a:moveTo>
                        <a:pt x="29" y="42"/>
                      </a:moveTo>
                      <a:lnTo>
                        <a:pt x="52" y="130"/>
                      </a:lnTo>
                      <a:lnTo>
                        <a:pt x="40" y="340"/>
                      </a:lnTo>
                      <a:lnTo>
                        <a:pt x="38" y="569"/>
                      </a:lnTo>
                      <a:lnTo>
                        <a:pt x="55" y="730"/>
                      </a:lnTo>
                      <a:lnTo>
                        <a:pt x="120" y="806"/>
                      </a:lnTo>
                      <a:lnTo>
                        <a:pt x="222" y="908"/>
                      </a:lnTo>
                      <a:lnTo>
                        <a:pt x="304" y="1005"/>
                      </a:lnTo>
                      <a:lnTo>
                        <a:pt x="378" y="1108"/>
                      </a:lnTo>
                      <a:lnTo>
                        <a:pt x="447" y="1167"/>
                      </a:lnTo>
                      <a:lnTo>
                        <a:pt x="453" y="1057"/>
                      </a:lnTo>
                      <a:lnTo>
                        <a:pt x="453" y="730"/>
                      </a:lnTo>
                      <a:lnTo>
                        <a:pt x="453" y="462"/>
                      </a:lnTo>
                      <a:lnTo>
                        <a:pt x="458" y="266"/>
                      </a:lnTo>
                      <a:lnTo>
                        <a:pt x="481" y="0"/>
                      </a:lnTo>
                      <a:lnTo>
                        <a:pt x="485" y="174"/>
                      </a:lnTo>
                      <a:lnTo>
                        <a:pt x="485" y="334"/>
                      </a:lnTo>
                      <a:lnTo>
                        <a:pt x="479" y="531"/>
                      </a:lnTo>
                      <a:lnTo>
                        <a:pt x="479" y="736"/>
                      </a:lnTo>
                      <a:lnTo>
                        <a:pt x="476" y="925"/>
                      </a:lnTo>
                      <a:lnTo>
                        <a:pt x="476" y="1143"/>
                      </a:lnTo>
                      <a:lnTo>
                        <a:pt x="567" y="1131"/>
                      </a:lnTo>
                      <a:lnTo>
                        <a:pt x="762" y="1064"/>
                      </a:lnTo>
                      <a:lnTo>
                        <a:pt x="881" y="1018"/>
                      </a:lnTo>
                      <a:lnTo>
                        <a:pt x="1010" y="971"/>
                      </a:lnTo>
                      <a:lnTo>
                        <a:pt x="1148" y="909"/>
                      </a:lnTo>
                      <a:lnTo>
                        <a:pt x="1253" y="875"/>
                      </a:lnTo>
                      <a:lnTo>
                        <a:pt x="1270" y="844"/>
                      </a:lnTo>
                      <a:lnTo>
                        <a:pt x="1285" y="818"/>
                      </a:lnTo>
                      <a:lnTo>
                        <a:pt x="1293" y="646"/>
                      </a:lnTo>
                      <a:lnTo>
                        <a:pt x="1291" y="443"/>
                      </a:lnTo>
                      <a:lnTo>
                        <a:pt x="1291" y="311"/>
                      </a:lnTo>
                      <a:lnTo>
                        <a:pt x="1293" y="197"/>
                      </a:lnTo>
                      <a:lnTo>
                        <a:pt x="1316" y="4"/>
                      </a:lnTo>
                      <a:lnTo>
                        <a:pt x="1316" y="220"/>
                      </a:lnTo>
                      <a:lnTo>
                        <a:pt x="1316" y="376"/>
                      </a:lnTo>
                      <a:lnTo>
                        <a:pt x="1316" y="598"/>
                      </a:lnTo>
                      <a:lnTo>
                        <a:pt x="1316" y="829"/>
                      </a:lnTo>
                      <a:lnTo>
                        <a:pt x="1303" y="885"/>
                      </a:lnTo>
                      <a:lnTo>
                        <a:pt x="1274" y="904"/>
                      </a:lnTo>
                      <a:lnTo>
                        <a:pt x="1190" y="925"/>
                      </a:lnTo>
                      <a:lnTo>
                        <a:pt x="1064" y="976"/>
                      </a:lnTo>
                      <a:lnTo>
                        <a:pt x="921" y="1036"/>
                      </a:lnTo>
                      <a:lnTo>
                        <a:pt x="777" y="1091"/>
                      </a:lnTo>
                      <a:lnTo>
                        <a:pt x="600" y="1150"/>
                      </a:lnTo>
                      <a:lnTo>
                        <a:pt x="479" y="1194"/>
                      </a:lnTo>
                      <a:lnTo>
                        <a:pt x="434" y="1196"/>
                      </a:lnTo>
                      <a:lnTo>
                        <a:pt x="390" y="1154"/>
                      </a:lnTo>
                      <a:lnTo>
                        <a:pt x="321" y="1081"/>
                      </a:lnTo>
                      <a:lnTo>
                        <a:pt x="256" y="984"/>
                      </a:lnTo>
                      <a:lnTo>
                        <a:pt x="187" y="908"/>
                      </a:lnTo>
                      <a:lnTo>
                        <a:pt x="97" y="823"/>
                      </a:lnTo>
                      <a:lnTo>
                        <a:pt x="44" y="770"/>
                      </a:lnTo>
                      <a:lnTo>
                        <a:pt x="6" y="730"/>
                      </a:lnTo>
                      <a:lnTo>
                        <a:pt x="0" y="674"/>
                      </a:lnTo>
                      <a:lnTo>
                        <a:pt x="17" y="520"/>
                      </a:lnTo>
                      <a:lnTo>
                        <a:pt x="29" y="216"/>
                      </a:lnTo>
                      <a:lnTo>
                        <a:pt x="29"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0" name="Freeform 44"/>
                <p:cNvSpPr>
                  <a:spLocks/>
                </p:cNvSpPr>
                <p:nvPr/>
              </p:nvSpPr>
              <p:spPr bwMode="auto">
                <a:xfrm>
                  <a:off x="31" y="0"/>
                  <a:ext cx="1320" cy="1122"/>
                </a:xfrm>
                <a:custGeom>
                  <a:avLst/>
                  <a:gdLst>
                    <a:gd name="T0" fmla="*/ 0 w 1320"/>
                    <a:gd name="T1" fmla="*/ 891 h 1122"/>
                    <a:gd name="T2" fmla="*/ 0 w 1320"/>
                    <a:gd name="T3" fmla="*/ 648 h 1122"/>
                    <a:gd name="T4" fmla="*/ 11 w 1320"/>
                    <a:gd name="T5" fmla="*/ 442 h 1122"/>
                    <a:gd name="T6" fmla="*/ 21 w 1320"/>
                    <a:gd name="T7" fmla="*/ 172 h 1122"/>
                    <a:gd name="T8" fmla="*/ 34 w 1320"/>
                    <a:gd name="T9" fmla="*/ 86 h 1122"/>
                    <a:gd name="T10" fmla="*/ 413 w 1320"/>
                    <a:gd name="T11" fmla="*/ 32 h 1122"/>
                    <a:gd name="T12" fmla="*/ 663 w 1320"/>
                    <a:gd name="T13" fmla="*/ 0 h 1122"/>
                    <a:gd name="T14" fmla="*/ 686 w 1320"/>
                    <a:gd name="T15" fmla="*/ 0 h 1122"/>
                    <a:gd name="T16" fmla="*/ 858 w 1320"/>
                    <a:gd name="T17" fmla="*/ 38 h 1122"/>
                    <a:gd name="T18" fmla="*/ 1074 w 1320"/>
                    <a:gd name="T19" fmla="*/ 96 h 1122"/>
                    <a:gd name="T20" fmla="*/ 1291 w 1320"/>
                    <a:gd name="T21" fmla="*/ 178 h 1122"/>
                    <a:gd name="T22" fmla="*/ 1310 w 1320"/>
                    <a:gd name="T23" fmla="*/ 199 h 1122"/>
                    <a:gd name="T24" fmla="*/ 1320 w 1320"/>
                    <a:gd name="T25" fmla="*/ 394 h 1122"/>
                    <a:gd name="T26" fmla="*/ 1310 w 1320"/>
                    <a:gd name="T27" fmla="*/ 637 h 1122"/>
                    <a:gd name="T28" fmla="*/ 1280 w 1320"/>
                    <a:gd name="T29" fmla="*/ 1122 h 1122"/>
                    <a:gd name="T30" fmla="*/ 1268 w 1320"/>
                    <a:gd name="T31" fmla="*/ 961 h 1122"/>
                    <a:gd name="T32" fmla="*/ 1276 w 1320"/>
                    <a:gd name="T33" fmla="*/ 700 h 1122"/>
                    <a:gd name="T34" fmla="*/ 1293 w 1320"/>
                    <a:gd name="T35" fmla="*/ 514 h 1122"/>
                    <a:gd name="T36" fmla="*/ 1293 w 1320"/>
                    <a:gd name="T37" fmla="*/ 262 h 1122"/>
                    <a:gd name="T38" fmla="*/ 1282 w 1320"/>
                    <a:gd name="T39" fmla="*/ 212 h 1122"/>
                    <a:gd name="T40" fmla="*/ 1104 w 1320"/>
                    <a:gd name="T41" fmla="*/ 256 h 1122"/>
                    <a:gd name="T42" fmla="*/ 886 w 1320"/>
                    <a:gd name="T43" fmla="*/ 331 h 1122"/>
                    <a:gd name="T44" fmla="*/ 665 w 1320"/>
                    <a:gd name="T45" fmla="*/ 401 h 1122"/>
                    <a:gd name="T46" fmla="*/ 502 w 1320"/>
                    <a:gd name="T47" fmla="*/ 451 h 1122"/>
                    <a:gd name="T48" fmla="*/ 491 w 1320"/>
                    <a:gd name="T49" fmla="*/ 497 h 1122"/>
                    <a:gd name="T50" fmla="*/ 468 w 1320"/>
                    <a:gd name="T51" fmla="*/ 694 h 1122"/>
                    <a:gd name="T52" fmla="*/ 457 w 1320"/>
                    <a:gd name="T53" fmla="*/ 870 h 1122"/>
                    <a:gd name="T54" fmla="*/ 447 w 1320"/>
                    <a:gd name="T55" fmla="*/ 1091 h 1122"/>
                    <a:gd name="T56" fmla="*/ 436 w 1320"/>
                    <a:gd name="T57" fmla="*/ 967 h 1122"/>
                    <a:gd name="T58" fmla="*/ 441 w 1320"/>
                    <a:gd name="T59" fmla="*/ 700 h 1122"/>
                    <a:gd name="T60" fmla="*/ 447 w 1320"/>
                    <a:gd name="T61" fmla="*/ 499 h 1122"/>
                    <a:gd name="T62" fmla="*/ 439 w 1320"/>
                    <a:gd name="T63" fmla="*/ 442 h 1122"/>
                    <a:gd name="T64" fmla="*/ 399 w 1320"/>
                    <a:gd name="T65" fmla="*/ 401 h 1122"/>
                    <a:gd name="T66" fmla="*/ 250 w 1320"/>
                    <a:gd name="T67" fmla="*/ 287 h 1122"/>
                    <a:gd name="T68" fmla="*/ 136 w 1320"/>
                    <a:gd name="T69" fmla="*/ 210 h 1122"/>
                    <a:gd name="T70" fmla="*/ 55 w 1320"/>
                    <a:gd name="T71" fmla="*/ 143 h 1122"/>
                    <a:gd name="T72" fmla="*/ 75 w 1320"/>
                    <a:gd name="T73" fmla="*/ 138 h 1122"/>
                    <a:gd name="T74" fmla="*/ 107 w 1320"/>
                    <a:gd name="T75" fmla="*/ 149 h 1122"/>
                    <a:gd name="T76" fmla="*/ 218 w 1320"/>
                    <a:gd name="T77" fmla="*/ 233 h 1122"/>
                    <a:gd name="T78" fmla="*/ 313 w 1320"/>
                    <a:gd name="T79" fmla="*/ 302 h 1122"/>
                    <a:gd name="T80" fmla="*/ 428 w 1320"/>
                    <a:gd name="T81" fmla="*/ 390 h 1122"/>
                    <a:gd name="T82" fmla="*/ 491 w 1320"/>
                    <a:gd name="T83" fmla="*/ 419 h 1122"/>
                    <a:gd name="T84" fmla="*/ 527 w 1320"/>
                    <a:gd name="T85" fmla="*/ 417 h 1122"/>
                    <a:gd name="T86" fmla="*/ 779 w 1320"/>
                    <a:gd name="T87" fmla="*/ 333 h 1122"/>
                    <a:gd name="T88" fmla="*/ 970 w 1320"/>
                    <a:gd name="T89" fmla="*/ 279 h 1122"/>
                    <a:gd name="T90" fmla="*/ 1171 w 1320"/>
                    <a:gd name="T91" fmla="*/ 212 h 1122"/>
                    <a:gd name="T92" fmla="*/ 1251 w 1320"/>
                    <a:gd name="T93" fmla="*/ 189 h 1122"/>
                    <a:gd name="T94" fmla="*/ 1068 w 1320"/>
                    <a:gd name="T95" fmla="*/ 113 h 1122"/>
                    <a:gd name="T96" fmla="*/ 869 w 1320"/>
                    <a:gd name="T97" fmla="*/ 63 h 1122"/>
                    <a:gd name="T98" fmla="*/ 674 w 1320"/>
                    <a:gd name="T99" fmla="*/ 23 h 1122"/>
                    <a:gd name="T100" fmla="*/ 441 w 1320"/>
                    <a:gd name="T101" fmla="*/ 44 h 1122"/>
                    <a:gd name="T102" fmla="*/ 222 w 1320"/>
                    <a:gd name="T103" fmla="*/ 78 h 1122"/>
                    <a:gd name="T104" fmla="*/ 52 w 1320"/>
                    <a:gd name="T105" fmla="*/ 115 h 1122"/>
                    <a:gd name="T106" fmla="*/ 46 w 1320"/>
                    <a:gd name="T107" fmla="*/ 229 h 1122"/>
                    <a:gd name="T108" fmla="*/ 34 w 1320"/>
                    <a:gd name="T109" fmla="*/ 407 h 1122"/>
                    <a:gd name="T110" fmla="*/ 29 w 1320"/>
                    <a:gd name="T111" fmla="*/ 617 h 1122"/>
                    <a:gd name="T112" fmla="*/ 15 w 1320"/>
                    <a:gd name="T113" fmla="*/ 763 h 1122"/>
                    <a:gd name="T114" fmla="*/ 17 w 1320"/>
                    <a:gd name="T115" fmla="*/ 933 h 1122"/>
                    <a:gd name="T116" fmla="*/ 0 w 1320"/>
                    <a:gd name="T117" fmla="*/ 891 h 112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320" h="1122">
                      <a:moveTo>
                        <a:pt x="0" y="891"/>
                      </a:moveTo>
                      <a:lnTo>
                        <a:pt x="0" y="648"/>
                      </a:lnTo>
                      <a:lnTo>
                        <a:pt x="11" y="442"/>
                      </a:lnTo>
                      <a:lnTo>
                        <a:pt x="21" y="172"/>
                      </a:lnTo>
                      <a:lnTo>
                        <a:pt x="34" y="86"/>
                      </a:lnTo>
                      <a:lnTo>
                        <a:pt x="413" y="32"/>
                      </a:lnTo>
                      <a:lnTo>
                        <a:pt x="663" y="0"/>
                      </a:lnTo>
                      <a:lnTo>
                        <a:pt x="686" y="0"/>
                      </a:lnTo>
                      <a:lnTo>
                        <a:pt x="858" y="38"/>
                      </a:lnTo>
                      <a:lnTo>
                        <a:pt x="1074" y="96"/>
                      </a:lnTo>
                      <a:lnTo>
                        <a:pt x="1291" y="178"/>
                      </a:lnTo>
                      <a:lnTo>
                        <a:pt x="1310" y="199"/>
                      </a:lnTo>
                      <a:lnTo>
                        <a:pt x="1320" y="394"/>
                      </a:lnTo>
                      <a:lnTo>
                        <a:pt x="1310" y="637"/>
                      </a:lnTo>
                      <a:lnTo>
                        <a:pt x="1280" y="1122"/>
                      </a:lnTo>
                      <a:lnTo>
                        <a:pt x="1268" y="961"/>
                      </a:lnTo>
                      <a:lnTo>
                        <a:pt x="1276" y="700"/>
                      </a:lnTo>
                      <a:lnTo>
                        <a:pt x="1293" y="514"/>
                      </a:lnTo>
                      <a:lnTo>
                        <a:pt x="1293" y="262"/>
                      </a:lnTo>
                      <a:lnTo>
                        <a:pt x="1282" y="212"/>
                      </a:lnTo>
                      <a:lnTo>
                        <a:pt x="1104" y="256"/>
                      </a:lnTo>
                      <a:lnTo>
                        <a:pt x="886" y="331"/>
                      </a:lnTo>
                      <a:lnTo>
                        <a:pt x="665" y="401"/>
                      </a:lnTo>
                      <a:lnTo>
                        <a:pt x="502" y="451"/>
                      </a:lnTo>
                      <a:lnTo>
                        <a:pt x="491" y="497"/>
                      </a:lnTo>
                      <a:lnTo>
                        <a:pt x="468" y="694"/>
                      </a:lnTo>
                      <a:lnTo>
                        <a:pt x="457" y="870"/>
                      </a:lnTo>
                      <a:lnTo>
                        <a:pt x="447" y="1091"/>
                      </a:lnTo>
                      <a:lnTo>
                        <a:pt x="436" y="967"/>
                      </a:lnTo>
                      <a:lnTo>
                        <a:pt x="441" y="700"/>
                      </a:lnTo>
                      <a:lnTo>
                        <a:pt x="447" y="499"/>
                      </a:lnTo>
                      <a:lnTo>
                        <a:pt x="439" y="442"/>
                      </a:lnTo>
                      <a:lnTo>
                        <a:pt x="399" y="401"/>
                      </a:lnTo>
                      <a:lnTo>
                        <a:pt x="250" y="287"/>
                      </a:lnTo>
                      <a:lnTo>
                        <a:pt x="136" y="210"/>
                      </a:lnTo>
                      <a:lnTo>
                        <a:pt x="55" y="143"/>
                      </a:lnTo>
                      <a:lnTo>
                        <a:pt x="75" y="138"/>
                      </a:lnTo>
                      <a:lnTo>
                        <a:pt x="107" y="149"/>
                      </a:lnTo>
                      <a:lnTo>
                        <a:pt x="218" y="233"/>
                      </a:lnTo>
                      <a:lnTo>
                        <a:pt x="313" y="302"/>
                      </a:lnTo>
                      <a:lnTo>
                        <a:pt x="428" y="390"/>
                      </a:lnTo>
                      <a:lnTo>
                        <a:pt x="491" y="419"/>
                      </a:lnTo>
                      <a:lnTo>
                        <a:pt x="527" y="417"/>
                      </a:lnTo>
                      <a:lnTo>
                        <a:pt x="779" y="333"/>
                      </a:lnTo>
                      <a:lnTo>
                        <a:pt x="970" y="279"/>
                      </a:lnTo>
                      <a:lnTo>
                        <a:pt x="1171" y="212"/>
                      </a:lnTo>
                      <a:lnTo>
                        <a:pt x="1251" y="189"/>
                      </a:lnTo>
                      <a:lnTo>
                        <a:pt x="1068" y="113"/>
                      </a:lnTo>
                      <a:lnTo>
                        <a:pt x="869" y="63"/>
                      </a:lnTo>
                      <a:lnTo>
                        <a:pt x="674" y="23"/>
                      </a:lnTo>
                      <a:lnTo>
                        <a:pt x="441" y="44"/>
                      </a:lnTo>
                      <a:lnTo>
                        <a:pt x="222" y="78"/>
                      </a:lnTo>
                      <a:lnTo>
                        <a:pt x="52" y="115"/>
                      </a:lnTo>
                      <a:lnTo>
                        <a:pt x="46" y="229"/>
                      </a:lnTo>
                      <a:lnTo>
                        <a:pt x="34" y="407"/>
                      </a:lnTo>
                      <a:lnTo>
                        <a:pt x="29" y="617"/>
                      </a:lnTo>
                      <a:lnTo>
                        <a:pt x="15" y="763"/>
                      </a:lnTo>
                      <a:lnTo>
                        <a:pt x="17" y="933"/>
                      </a:lnTo>
                      <a:lnTo>
                        <a:pt x="0" y="8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6252" name="Group 45"/>
            <p:cNvGrpSpPr>
              <a:grpSpLocks/>
            </p:cNvGrpSpPr>
            <p:nvPr/>
          </p:nvGrpSpPr>
          <p:grpSpPr bwMode="auto">
            <a:xfrm>
              <a:off x="-48" y="384"/>
              <a:ext cx="1005" cy="1402"/>
              <a:chOff x="3" y="0"/>
              <a:chExt cx="1348" cy="1978"/>
            </a:xfrm>
          </p:grpSpPr>
          <p:sp>
            <p:nvSpPr>
              <p:cNvPr id="6253" name="Freeform 46"/>
              <p:cNvSpPr>
                <a:spLocks/>
              </p:cNvSpPr>
              <p:nvPr/>
            </p:nvSpPr>
            <p:spPr bwMode="auto">
              <a:xfrm>
                <a:off x="20" y="8"/>
                <a:ext cx="1295" cy="1970"/>
              </a:xfrm>
              <a:custGeom>
                <a:avLst/>
                <a:gdLst>
                  <a:gd name="T0" fmla="*/ 65 w 1295"/>
                  <a:gd name="T1" fmla="*/ 88 h 1970"/>
                  <a:gd name="T2" fmla="*/ 351 w 1295"/>
                  <a:gd name="T3" fmla="*/ 42 h 1970"/>
                  <a:gd name="T4" fmla="*/ 691 w 1295"/>
                  <a:gd name="T5" fmla="*/ 0 h 1970"/>
                  <a:gd name="T6" fmla="*/ 1054 w 1295"/>
                  <a:gd name="T7" fmla="*/ 88 h 1970"/>
                  <a:gd name="T8" fmla="*/ 1268 w 1295"/>
                  <a:gd name="T9" fmla="*/ 164 h 1970"/>
                  <a:gd name="T10" fmla="*/ 1295 w 1295"/>
                  <a:gd name="T11" fmla="*/ 194 h 1970"/>
                  <a:gd name="T12" fmla="*/ 1131 w 1295"/>
                  <a:gd name="T13" fmla="*/ 232 h 1970"/>
                  <a:gd name="T14" fmla="*/ 810 w 1295"/>
                  <a:gd name="T15" fmla="*/ 332 h 1970"/>
                  <a:gd name="T16" fmla="*/ 493 w 1295"/>
                  <a:gd name="T17" fmla="*/ 438 h 1970"/>
                  <a:gd name="T18" fmla="*/ 462 w 1295"/>
                  <a:gd name="T19" fmla="*/ 709 h 1970"/>
                  <a:gd name="T20" fmla="*/ 458 w 1295"/>
                  <a:gd name="T21" fmla="*/ 1071 h 1970"/>
                  <a:gd name="T22" fmla="*/ 443 w 1295"/>
                  <a:gd name="T23" fmla="*/ 1638 h 1970"/>
                  <a:gd name="T24" fmla="*/ 439 w 1295"/>
                  <a:gd name="T25" fmla="*/ 1970 h 1970"/>
                  <a:gd name="T26" fmla="*/ 340 w 1295"/>
                  <a:gd name="T27" fmla="*/ 1894 h 1970"/>
                  <a:gd name="T28" fmla="*/ 241 w 1295"/>
                  <a:gd name="T29" fmla="*/ 1753 h 1970"/>
                  <a:gd name="T30" fmla="*/ 153 w 1295"/>
                  <a:gd name="T31" fmla="*/ 1661 h 1970"/>
                  <a:gd name="T32" fmla="*/ 0 w 1295"/>
                  <a:gd name="T33" fmla="*/ 1494 h 1970"/>
                  <a:gd name="T34" fmla="*/ 8 w 1295"/>
                  <a:gd name="T35" fmla="*/ 1174 h 1970"/>
                  <a:gd name="T36" fmla="*/ 23 w 1295"/>
                  <a:gd name="T37" fmla="*/ 918 h 1970"/>
                  <a:gd name="T38" fmla="*/ 19 w 1295"/>
                  <a:gd name="T39" fmla="*/ 690 h 1970"/>
                  <a:gd name="T40" fmla="*/ 27 w 1295"/>
                  <a:gd name="T41" fmla="*/ 465 h 1970"/>
                  <a:gd name="T42" fmla="*/ 34 w 1295"/>
                  <a:gd name="T43" fmla="*/ 225 h 1970"/>
                  <a:gd name="T44" fmla="*/ 65 w 1295"/>
                  <a:gd name="T45" fmla="*/ 88 h 197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95" h="1970">
                    <a:moveTo>
                      <a:pt x="65" y="88"/>
                    </a:moveTo>
                    <a:lnTo>
                      <a:pt x="351" y="42"/>
                    </a:lnTo>
                    <a:lnTo>
                      <a:pt x="691" y="0"/>
                    </a:lnTo>
                    <a:lnTo>
                      <a:pt x="1054" y="88"/>
                    </a:lnTo>
                    <a:lnTo>
                      <a:pt x="1268" y="164"/>
                    </a:lnTo>
                    <a:lnTo>
                      <a:pt x="1295" y="194"/>
                    </a:lnTo>
                    <a:lnTo>
                      <a:pt x="1131" y="232"/>
                    </a:lnTo>
                    <a:lnTo>
                      <a:pt x="810" y="332"/>
                    </a:lnTo>
                    <a:lnTo>
                      <a:pt x="493" y="438"/>
                    </a:lnTo>
                    <a:lnTo>
                      <a:pt x="462" y="709"/>
                    </a:lnTo>
                    <a:lnTo>
                      <a:pt x="458" y="1071"/>
                    </a:lnTo>
                    <a:lnTo>
                      <a:pt x="443" y="1638"/>
                    </a:lnTo>
                    <a:lnTo>
                      <a:pt x="439" y="1970"/>
                    </a:lnTo>
                    <a:lnTo>
                      <a:pt x="340" y="1894"/>
                    </a:lnTo>
                    <a:lnTo>
                      <a:pt x="241" y="1753"/>
                    </a:lnTo>
                    <a:lnTo>
                      <a:pt x="153" y="1661"/>
                    </a:lnTo>
                    <a:lnTo>
                      <a:pt x="0" y="1494"/>
                    </a:lnTo>
                    <a:lnTo>
                      <a:pt x="8" y="1174"/>
                    </a:lnTo>
                    <a:lnTo>
                      <a:pt x="23" y="918"/>
                    </a:lnTo>
                    <a:lnTo>
                      <a:pt x="19" y="690"/>
                    </a:lnTo>
                    <a:lnTo>
                      <a:pt x="27" y="465"/>
                    </a:lnTo>
                    <a:lnTo>
                      <a:pt x="34" y="225"/>
                    </a:lnTo>
                    <a:lnTo>
                      <a:pt x="65" y="88"/>
                    </a:ln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4" name="Freeform 47"/>
              <p:cNvSpPr>
                <a:spLocks/>
              </p:cNvSpPr>
              <p:nvPr/>
            </p:nvSpPr>
            <p:spPr bwMode="auto">
              <a:xfrm>
                <a:off x="453" y="197"/>
                <a:ext cx="885" cy="1777"/>
              </a:xfrm>
              <a:custGeom>
                <a:avLst/>
                <a:gdLst>
                  <a:gd name="T0" fmla="*/ 61 w 885"/>
                  <a:gd name="T1" fmla="*/ 233 h 1777"/>
                  <a:gd name="T2" fmla="*/ 314 w 885"/>
                  <a:gd name="T3" fmla="*/ 172 h 1777"/>
                  <a:gd name="T4" fmla="*/ 636 w 885"/>
                  <a:gd name="T5" fmla="*/ 65 h 1777"/>
                  <a:gd name="T6" fmla="*/ 885 w 885"/>
                  <a:gd name="T7" fmla="*/ 0 h 1777"/>
                  <a:gd name="T8" fmla="*/ 881 w 885"/>
                  <a:gd name="T9" fmla="*/ 141 h 1777"/>
                  <a:gd name="T10" fmla="*/ 881 w 885"/>
                  <a:gd name="T11" fmla="*/ 309 h 1777"/>
                  <a:gd name="T12" fmla="*/ 874 w 885"/>
                  <a:gd name="T13" fmla="*/ 496 h 1777"/>
                  <a:gd name="T14" fmla="*/ 854 w 885"/>
                  <a:gd name="T15" fmla="*/ 778 h 1777"/>
                  <a:gd name="T16" fmla="*/ 858 w 885"/>
                  <a:gd name="T17" fmla="*/ 991 h 1777"/>
                  <a:gd name="T18" fmla="*/ 858 w 885"/>
                  <a:gd name="T19" fmla="*/ 1258 h 1777"/>
                  <a:gd name="T20" fmla="*/ 851 w 885"/>
                  <a:gd name="T21" fmla="*/ 1422 h 1777"/>
                  <a:gd name="T22" fmla="*/ 820 w 885"/>
                  <a:gd name="T23" fmla="*/ 1476 h 1777"/>
                  <a:gd name="T24" fmla="*/ 605 w 885"/>
                  <a:gd name="T25" fmla="*/ 1556 h 1777"/>
                  <a:gd name="T26" fmla="*/ 234 w 885"/>
                  <a:gd name="T27" fmla="*/ 1697 h 1777"/>
                  <a:gd name="T28" fmla="*/ 0 w 885"/>
                  <a:gd name="T29" fmla="*/ 1777 h 1777"/>
                  <a:gd name="T30" fmla="*/ 8 w 885"/>
                  <a:gd name="T31" fmla="*/ 1663 h 1777"/>
                  <a:gd name="T32" fmla="*/ 15 w 885"/>
                  <a:gd name="T33" fmla="*/ 1236 h 1777"/>
                  <a:gd name="T34" fmla="*/ 19 w 885"/>
                  <a:gd name="T35" fmla="*/ 847 h 1777"/>
                  <a:gd name="T36" fmla="*/ 27 w 885"/>
                  <a:gd name="T37" fmla="*/ 591 h 1777"/>
                  <a:gd name="T38" fmla="*/ 38 w 885"/>
                  <a:gd name="T39" fmla="*/ 351 h 1777"/>
                  <a:gd name="T40" fmla="*/ 61 w 885"/>
                  <a:gd name="T41" fmla="*/ 233 h 177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85" h="1777">
                    <a:moveTo>
                      <a:pt x="61" y="233"/>
                    </a:moveTo>
                    <a:lnTo>
                      <a:pt x="314" y="172"/>
                    </a:lnTo>
                    <a:lnTo>
                      <a:pt x="636" y="65"/>
                    </a:lnTo>
                    <a:lnTo>
                      <a:pt x="885" y="0"/>
                    </a:lnTo>
                    <a:lnTo>
                      <a:pt x="881" y="141"/>
                    </a:lnTo>
                    <a:lnTo>
                      <a:pt x="881" y="309"/>
                    </a:lnTo>
                    <a:lnTo>
                      <a:pt x="874" y="496"/>
                    </a:lnTo>
                    <a:lnTo>
                      <a:pt x="854" y="778"/>
                    </a:lnTo>
                    <a:lnTo>
                      <a:pt x="858" y="991"/>
                    </a:lnTo>
                    <a:lnTo>
                      <a:pt x="858" y="1258"/>
                    </a:lnTo>
                    <a:lnTo>
                      <a:pt x="851" y="1422"/>
                    </a:lnTo>
                    <a:lnTo>
                      <a:pt x="820" y="1476"/>
                    </a:lnTo>
                    <a:lnTo>
                      <a:pt x="605" y="1556"/>
                    </a:lnTo>
                    <a:lnTo>
                      <a:pt x="234" y="1697"/>
                    </a:lnTo>
                    <a:lnTo>
                      <a:pt x="0" y="1777"/>
                    </a:lnTo>
                    <a:lnTo>
                      <a:pt x="8" y="1663"/>
                    </a:lnTo>
                    <a:lnTo>
                      <a:pt x="15" y="1236"/>
                    </a:lnTo>
                    <a:lnTo>
                      <a:pt x="19" y="847"/>
                    </a:lnTo>
                    <a:lnTo>
                      <a:pt x="27" y="591"/>
                    </a:lnTo>
                    <a:lnTo>
                      <a:pt x="38" y="351"/>
                    </a:lnTo>
                    <a:lnTo>
                      <a:pt x="61" y="233"/>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255" name="Group 48"/>
              <p:cNvGrpSpPr>
                <a:grpSpLocks/>
              </p:cNvGrpSpPr>
              <p:nvPr/>
            </p:nvGrpSpPr>
            <p:grpSpPr bwMode="auto">
              <a:xfrm>
                <a:off x="3" y="0"/>
                <a:ext cx="1348" cy="1976"/>
                <a:chOff x="3" y="0"/>
                <a:chExt cx="1348" cy="1976"/>
              </a:xfrm>
            </p:grpSpPr>
            <p:sp>
              <p:nvSpPr>
                <p:cNvPr id="6256" name="Oval 49"/>
                <p:cNvSpPr>
                  <a:spLocks noChangeArrowheads="1"/>
                </p:cNvSpPr>
                <p:nvPr/>
              </p:nvSpPr>
              <p:spPr bwMode="auto">
                <a:xfrm>
                  <a:off x="1163" y="311"/>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6257" name="Oval 50"/>
                <p:cNvSpPr>
                  <a:spLocks noChangeArrowheads="1"/>
                </p:cNvSpPr>
                <p:nvPr/>
              </p:nvSpPr>
              <p:spPr bwMode="auto">
                <a:xfrm>
                  <a:off x="1163" y="410"/>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6258" name="Oval 51"/>
                <p:cNvSpPr>
                  <a:spLocks noChangeArrowheads="1"/>
                </p:cNvSpPr>
                <p:nvPr/>
              </p:nvSpPr>
              <p:spPr bwMode="auto">
                <a:xfrm>
                  <a:off x="1163" y="512"/>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6259" name="Oval 52"/>
                <p:cNvSpPr>
                  <a:spLocks noChangeArrowheads="1"/>
                </p:cNvSpPr>
                <p:nvPr/>
              </p:nvSpPr>
              <p:spPr bwMode="auto">
                <a:xfrm>
                  <a:off x="1163" y="607"/>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6260" name="Oval 53"/>
                <p:cNvSpPr>
                  <a:spLocks noChangeArrowheads="1"/>
                </p:cNvSpPr>
                <p:nvPr/>
              </p:nvSpPr>
              <p:spPr bwMode="auto">
                <a:xfrm>
                  <a:off x="1163" y="698"/>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6261" name="Freeform 54"/>
                <p:cNvSpPr>
                  <a:spLocks/>
                </p:cNvSpPr>
                <p:nvPr/>
              </p:nvSpPr>
              <p:spPr bwMode="auto">
                <a:xfrm>
                  <a:off x="635" y="376"/>
                  <a:ext cx="468" cy="353"/>
                </a:xfrm>
                <a:custGeom>
                  <a:avLst/>
                  <a:gdLst>
                    <a:gd name="T0" fmla="*/ 116 w 468"/>
                    <a:gd name="T1" fmla="*/ 122 h 353"/>
                    <a:gd name="T2" fmla="*/ 282 w 468"/>
                    <a:gd name="T3" fmla="*/ 70 h 353"/>
                    <a:gd name="T4" fmla="*/ 387 w 468"/>
                    <a:gd name="T5" fmla="*/ 29 h 353"/>
                    <a:gd name="T6" fmla="*/ 439 w 468"/>
                    <a:gd name="T7" fmla="*/ 0 h 353"/>
                    <a:gd name="T8" fmla="*/ 462 w 468"/>
                    <a:gd name="T9" fmla="*/ 0 h 353"/>
                    <a:gd name="T10" fmla="*/ 468 w 468"/>
                    <a:gd name="T11" fmla="*/ 33 h 353"/>
                    <a:gd name="T12" fmla="*/ 460 w 468"/>
                    <a:gd name="T13" fmla="*/ 120 h 353"/>
                    <a:gd name="T14" fmla="*/ 454 w 468"/>
                    <a:gd name="T15" fmla="*/ 209 h 353"/>
                    <a:gd name="T16" fmla="*/ 445 w 468"/>
                    <a:gd name="T17" fmla="*/ 239 h 353"/>
                    <a:gd name="T18" fmla="*/ 387 w 468"/>
                    <a:gd name="T19" fmla="*/ 254 h 353"/>
                    <a:gd name="T20" fmla="*/ 261 w 468"/>
                    <a:gd name="T21" fmla="*/ 273 h 353"/>
                    <a:gd name="T22" fmla="*/ 149 w 468"/>
                    <a:gd name="T23" fmla="*/ 306 h 353"/>
                    <a:gd name="T24" fmla="*/ 75 w 468"/>
                    <a:gd name="T25" fmla="*/ 330 h 353"/>
                    <a:gd name="T26" fmla="*/ 12 w 468"/>
                    <a:gd name="T27" fmla="*/ 353 h 353"/>
                    <a:gd name="T28" fmla="*/ 0 w 468"/>
                    <a:gd name="T29" fmla="*/ 337 h 353"/>
                    <a:gd name="T30" fmla="*/ 10 w 468"/>
                    <a:gd name="T31" fmla="*/ 277 h 353"/>
                    <a:gd name="T32" fmla="*/ 15 w 468"/>
                    <a:gd name="T33" fmla="*/ 149 h 353"/>
                    <a:gd name="T34" fmla="*/ 15 w 468"/>
                    <a:gd name="T35" fmla="*/ 111 h 353"/>
                    <a:gd name="T36" fmla="*/ 44 w 468"/>
                    <a:gd name="T37" fmla="*/ 114 h 353"/>
                    <a:gd name="T38" fmla="*/ 70 w 468"/>
                    <a:gd name="T39" fmla="*/ 128 h 353"/>
                    <a:gd name="T40" fmla="*/ 56 w 468"/>
                    <a:gd name="T41" fmla="*/ 175 h 353"/>
                    <a:gd name="T42" fmla="*/ 50 w 468"/>
                    <a:gd name="T43" fmla="*/ 244 h 353"/>
                    <a:gd name="T44" fmla="*/ 44 w 468"/>
                    <a:gd name="T45" fmla="*/ 303 h 353"/>
                    <a:gd name="T46" fmla="*/ 68 w 468"/>
                    <a:gd name="T47" fmla="*/ 308 h 353"/>
                    <a:gd name="T48" fmla="*/ 162 w 468"/>
                    <a:gd name="T49" fmla="*/ 277 h 353"/>
                    <a:gd name="T50" fmla="*/ 259 w 468"/>
                    <a:gd name="T51" fmla="*/ 248 h 353"/>
                    <a:gd name="T52" fmla="*/ 340 w 468"/>
                    <a:gd name="T53" fmla="*/ 227 h 353"/>
                    <a:gd name="T54" fmla="*/ 396 w 468"/>
                    <a:gd name="T55" fmla="*/ 213 h 353"/>
                    <a:gd name="T56" fmla="*/ 416 w 468"/>
                    <a:gd name="T57" fmla="*/ 204 h 353"/>
                    <a:gd name="T58" fmla="*/ 437 w 468"/>
                    <a:gd name="T59" fmla="*/ 145 h 353"/>
                    <a:gd name="T60" fmla="*/ 439 w 468"/>
                    <a:gd name="T61" fmla="*/ 80 h 353"/>
                    <a:gd name="T62" fmla="*/ 427 w 468"/>
                    <a:gd name="T63" fmla="*/ 41 h 353"/>
                    <a:gd name="T64" fmla="*/ 381 w 468"/>
                    <a:gd name="T65" fmla="*/ 52 h 353"/>
                    <a:gd name="T66" fmla="*/ 277 w 468"/>
                    <a:gd name="T67" fmla="*/ 97 h 353"/>
                    <a:gd name="T68" fmla="*/ 178 w 468"/>
                    <a:gd name="T69" fmla="*/ 120 h 353"/>
                    <a:gd name="T70" fmla="*/ 116 w 468"/>
                    <a:gd name="T71" fmla="*/ 122 h 35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68" h="353">
                      <a:moveTo>
                        <a:pt x="116" y="122"/>
                      </a:moveTo>
                      <a:lnTo>
                        <a:pt x="282" y="70"/>
                      </a:lnTo>
                      <a:lnTo>
                        <a:pt x="387" y="29"/>
                      </a:lnTo>
                      <a:lnTo>
                        <a:pt x="439" y="0"/>
                      </a:lnTo>
                      <a:lnTo>
                        <a:pt x="462" y="0"/>
                      </a:lnTo>
                      <a:lnTo>
                        <a:pt x="468" y="33"/>
                      </a:lnTo>
                      <a:lnTo>
                        <a:pt x="460" y="120"/>
                      </a:lnTo>
                      <a:lnTo>
                        <a:pt x="454" y="209"/>
                      </a:lnTo>
                      <a:lnTo>
                        <a:pt x="445" y="239"/>
                      </a:lnTo>
                      <a:lnTo>
                        <a:pt x="387" y="254"/>
                      </a:lnTo>
                      <a:lnTo>
                        <a:pt x="261" y="273"/>
                      </a:lnTo>
                      <a:lnTo>
                        <a:pt x="149" y="306"/>
                      </a:lnTo>
                      <a:lnTo>
                        <a:pt x="75" y="330"/>
                      </a:lnTo>
                      <a:lnTo>
                        <a:pt x="12" y="353"/>
                      </a:lnTo>
                      <a:lnTo>
                        <a:pt x="0" y="337"/>
                      </a:lnTo>
                      <a:lnTo>
                        <a:pt x="10" y="277"/>
                      </a:lnTo>
                      <a:lnTo>
                        <a:pt x="15" y="149"/>
                      </a:lnTo>
                      <a:lnTo>
                        <a:pt x="15" y="111"/>
                      </a:lnTo>
                      <a:lnTo>
                        <a:pt x="44" y="114"/>
                      </a:lnTo>
                      <a:lnTo>
                        <a:pt x="70" y="128"/>
                      </a:lnTo>
                      <a:lnTo>
                        <a:pt x="56" y="175"/>
                      </a:lnTo>
                      <a:lnTo>
                        <a:pt x="50" y="244"/>
                      </a:lnTo>
                      <a:lnTo>
                        <a:pt x="44" y="303"/>
                      </a:lnTo>
                      <a:lnTo>
                        <a:pt x="68" y="308"/>
                      </a:lnTo>
                      <a:lnTo>
                        <a:pt x="162" y="277"/>
                      </a:lnTo>
                      <a:lnTo>
                        <a:pt x="259" y="248"/>
                      </a:lnTo>
                      <a:lnTo>
                        <a:pt x="340" y="227"/>
                      </a:lnTo>
                      <a:lnTo>
                        <a:pt x="396" y="213"/>
                      </a:lnTo>
                      <a:lnTo>
                        <a:pt x="416" y="204"/>
                      </a:lnTo>
                      <a:lnTo>
                        <a:pt x="437" y="145"/>
                      </a:lnTo>
                      <a:lnTo>
                        <a:pt x="439" y="80"/>
                      </a:lnTo>
                      <a:lnTo>
                        <a:pt x="427" y="41"/>
                      </a:lnTo>
                      <a:lnTo>
                        <a:pt x="381" y="52"/>
                      </a:lnTo>
                      <a:lnTo>
                        <a:pt x="277" y="97"/>
                      </a:lnTo>
                      <a:lnTo>
                        <a:pt x="178" y="120"/>
                      </a:lnTo>
                      <a:lnTo>
                        <a:pt x="116" y="1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262" name="Group 55"/>
                <p:cNvGrpSpPr>
                  <a:grpSpLocks/>
                </p:cNvGrpSpPr>
                <p:nvPr/>
              </p:nvGrpSpPr>
              <p:grpSpPr bwMode="auto">
                <a:xfrm>
                  <a:off x="658" y="757"/>
                  <a:ext cx="72" cy="40"/>
                  <a:chOff x="658" y="757"/>
                  <a:chExt cx="72" cy="40"/>
                </a:xfrm>
              </p:grpSpPr>
              <p:sp>
                <p:nvSpPr>
                  <p:cNvPr id="6289" name="Freeform 56"/>
                  <p:cNvSpPr>
                    <a:spLocks/>
                  </p:cNvSpPr>
                  <p:nvPr/>
                </p:nvSpPr>
                <p:spPr bwMode="auto">
                  <a:xfrm>
                    <a:off x="658" y="757"/>
                    <a:ext cx="72" cy="40"/>
                  </a:xfrm>
                  <a:custGeom>
                    <a:avLst/>
                    <a:gdLst>
                      <a:gd name="T0" fmla="*/ 0 w 72"/>
                      <a:gd name="T1" fmla="*/ 4 h 40"/>
                      <a:gd name="T2" fmla="*/ 44 w 72"/>
                      <a:gd name="T3" fmla="*/ 0 h 40"/>
                      <a:gd name="T4" fmla="*/ 55 w 72"/>
                      <a:gd name="T5" fmla="*/ 6 h 40"/>
                      <a:gd name="T6" fmla="*/ 66 w 72"/>
                      <a:gd name="T7" fmla="*/ 11 h 40"/>
                      <a:gd name="T8" fmla="*/ 72 w 72"/>
                      <a:gd name="T9" fmla="*/ 23 h 40"/>
                      <a:gd name="T10" fmla="*/ 63 w 72"/>
                      <a:gd name="T11" fmla="*/ 27 h 40"/>
                      <a:gd name="T12" fmla="*/ 49 w 72"/>
                      <a:gd name="T13" fmla="*/ 34 h 40"/>
                      <a:gd name="T14" fmla="*/ 40 w 72"/>
                      <a:gd name="T15" fmla="*/ 40 h 40"/>
                      <a:gd name="T16" fmla="*/ 28 w 72"/>
                      <a:gd name="T17" fmla="*/ 40 h 40"/>
                      <a:gd name="T18" fmla="*/ 0 w 72"/>
                      <a:gd name="T19" fmla="*/ 4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2" h="40">
                        <a:moveTo>
                          <a:pt x="0" y="4"/>
                        </a:moveTo>
                        <a:lnTo>
                          <a:pt x="44" y="0"/>
                        </a:lnTo>
                        <a:lnTo>
                          <a:pt x="55" y="6"/>
                        </a:lnTo>
                        <a:lnTo>
                          <a:pt x="66" y="11"/>
                        </a:lnTo>
                        <a:lnTo>
                          <a:pt x="72" y="23"/>
                        </a:lnTo>
                        <a:lnTo>
                          <a:pt x="63" y="27"/>
                        </a:lnTo>
                        <a:lnTo>
                          <a:pt x="49" y="34"/>
                        </a:lnTo>
                        <a:lnTo>
                          <a:pt x="40" y="40"/>
                        </a:lnTo>
                        <a:lnTo>
                          <a:pt x="28" y="40"/>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0" name="Freeform 57"/>
                  <p:cNvSpPr>
                    <a:spLocks/>
                  </p:cNvSpPr>
                  <p:nvPr/>
                </p:nvSpPr>
                <p:spPr bwMode="auto">
                  <a:xfrm>
                    <a:off x="658" y="757"/>
                    <a:ext cx="72" cy="40"/>
                  </a:xfrm>
                  <a:custGeom>
                    <a:avLst/>
                    <a:gdLst>
                      <a:gd name="T0" fmla="*/ 0 w 72"/>
                      <a:gd name="T1" fmla="*/ 4 h 40"/>
                      <a:gd name="T2" fmla="*/ 44 w 72"/>
                      <a:gd name="T3" fmla="*/ 0 h 40"/>
                      <a:gd name="T4" fmla="*/ 55 w 72"/>
                      <a:gd name="T5" fmla="*/ 6 h 40"/>
                      <a:gd name="T6" fmla="*/ 66 w 72"/>
                      <a:gd name="T7" fmla="*/ 11 h 40"/>
                      <a:gd name="T8" fmla="*/ 72 w 72"/>
                      <a:gd name="T9" fmla="*/ 23 h 40"/>
                      <a:gd name="T10" fmla="*/ 63 w 72"/>
                      <a:gd name="T11" fmla="*/ 27 h 40"/>
                      <a:gd name="T12" fmla="*/ 49 w 72"/>
                      <a:gd name="T13" fmla="*/ 34 h 40"/>
                      <a:gd name="T14" fmla="*/ 40 w 72"/>
                      <a:gd name="T15" fmla="*/ 40 h 40"/>
                      <a:gd name="T16" fmla="*/ 28 w 72"/>
                      <a:gd name="T17" fmla="*/ 40 h 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40">
                        <a:moveTo>
                          <a:pt x="0" y="4"/>
                        </a:moveTo>
                        <a:lnTo>
                          <a:pt x="44" y="0"/>
                        </a:lnTo>
                        <a:lnTo>
                          <a:pt x="55" y="6"/>
                        </a:lnTo>
                        <a:lnTo>
                          <a:pt x="66" y="11"/>
                        </a:lnTo>
                        <a:lnTo>
                          <a:pt x="72" y="23"/>
                        </a:lnTo>
                        <a:lnTo>
                          <a:pt x="63" y="27"/>
                        </a:lnTo>
                        <a:lnTo>
                          <a:pt x="49" y="34"/>
                        </a:lnTo>
                        <a:lnTo>
                          <a:pt x="40" y="40"/>
                        </a:lnTo>
                        <a:lnTo>
                          <a:pt x="28" y="4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263" name="Freeform 58"/>
                <p:cNvSpPr>
                  <a:spLocks/>
                </p:cNvSpPr>
                <p:nvPr/>
              </p:nvSpPr>
              <p:spPr bwMode="auto">
                <a:xfrm>
                  <a:off x="659" y="750"/>
                  <a:ext cx="90" cy="60"/>
                </a:xfrm>
                <a:custGeom>
                  <a:avLst/>
                  <a:gdLst>
                    <a:gd name="T0" fmla="*/ 90 w 90"/>
                    <a:gd name="T1" fmla="*/ 17 h 60"/>
                    <a:gd name="T2" fmla="*/ 88 w 90"/>
                    <a:gd name="T3" fmla="*/ 13 h 60"/>
                    <a:gd name="T4" fmla="*/ 85 w 90"/>
                    <a:gd name="T5" fmla="*/ 9 h 60"/>
                    <a:gd name="T6" fmla="*/ 80 w 90"/>
                    <a:gd name="T7" fmla="*/ 6 h 60"/>
                    <a:gd name="T8" fmla="*/ 75 w 90"/>
                    <a:gd name="T9" fmla="*/ 5 h 60"/>
                    <a:gd name="T10" fmla="*/ 68 w 90"/>
                    <a:gd name="T11" fmla="*/ 2 h 60"/>
                    <a:gd name="T12" fmla="*/ 61 w 90"/>
                    <a:gd name="T13" fmla="*/ 1 h 60"/>
                    <a:gd name="T14" fmla="*/ 54 w 90"/>
                    <a:gd name="T15" fmla="*/ 0 h 60"/>
                    <a:gd name="T16" fmla="*/ 46 w 90"/>
                    <a:gd name="T17" fmla="*/ 1 h 60"/>
                    <a:gd name="T18" fmla="*/ 38 w 90"/>
                    <a:gd name="T19" fmla="*/ 3 h 60"/>
                    <a:gd name="T20" fmla="*/ 31 w 90"/>
                    <a:gd name="T21" fmla="*/ 6 h 60"/>
                    <a:gd name="T22" fmla="*/ 23 w 90"/>
                    <a:gd name="T23" fmla="*/ 9 h 60"/>
                    <a:gd name="T24" fmla="*/ 18 w 90"/>
                    <a:gd name="T25" fmla="*/ 13 h 60"/>
                    <a:gd name="T26" fmla="*/ 11 w 90"/>
                    <a:gd name="T27" fmla="*/ 18 h 60"/>
                    <a:gd name="T28" fmla="*/ 7 w 90"/>
                    <a:gd name="T29" fmla="*/ 23 h 60"/>
                    <a:gd name="T30" fmla="*/ 3 w 90"/>
                    <a:gd name="T31" fmla="*/ 27 h 60"/>
                    <a:gd name="T32" fmla="*/ 1 w 90"/>
                    <a:gd name="T33" fmla="*/ 32 h 60"/>
                    <a:gd name="T34" fmla="*/ 0 w 90"/>
                    <a:gd name="T35" fmla="*/ 38 h 60"/>
                    <a:gd name="T36" fmla="*/ 0 w 90"/>
                    <a:gd name="T37" fmla="*/ 43 h 60"/>
                    <a:gd name="T38" fmla="*/ 2 w 90"/>
                    <a:gd name="T39" fmla="*/ 47 h 60"/>
                    <a:gd name="T40" fmla="*/ 5 w 90"/>
                    <a:gd name="T41" fmla="*/ 51 h 60"/>
                    <a:gd name="T42" fmla="*/ 10 w 90"/>
                    <a:gd name="T43" fmla="*/ 54 h 60"/>
                    <a:gd name="T44" fmla="*/ 15 w 90"/>
                    <a:gd name="T45" fmla="*/ 55 h 60"/>
                    <a:gd name="T46" fmla="*/ 22 w 90"/>
                    <a:gd name="T47" fmla="*/ 58 h 60"/>
                    <a:gd name="T48" fmla="*/ 29 w 90"/>
                    <a:gd name="T49" fmla="*/ 59 h 60"/>
                    <a:gd name="T50" fmla="*/ 36 w 90"/>
                    <a:gd name="T51" fmla="*/ 60 h 60"/>
                    <a:gd name="T52" fmla="*/ 44 w 90"/>
                    <a:gd name="T53" fmla="*/ 59 h 60"/>
                    <a:gd name="T54" fmla="*/ 52 w 90"/>
                    <a:gd name="T55" fmla="*/ 57 h 60"/>
                    <a:gd name="T56" fmla="*/ 59 w 90"/>
                    <a:gd name="T57" fmla="*/ 54 h 60"/>
                    <a:gd name="T58" fmla="*/ 67 w 90"/>
                    <a:gd name="T59" fmla="*/ 51 h 60"/>
                    <a:gd name="T60" fmla="*/ 72 w 90"/>
                    <a:gd name="T61" fmla="*/ 47 h 60"/>
                    <a:gd name="T62" fmla="*/ 79 w 90"/>
                    <a:gd name="T63" fmla="*/ 42 h 60"/>
                    <a:gd name="T64" fmla="*/ 83 w 90"/>
                    <a:gd name="T65" fmla="*/ 37 h 60"/>
                    <a:gd name="T66" fmla="*/ 87 w 90"/>
                    <a:gd name="T67" fmla="*/ 33 h 60"/>
                    <a:gd name="T68" fmla="*/ 89 w 90"/>
                    <a:gd name="T69" fmla="*/ 28 h 60"/>
                    <a:gd name="T70" fmla="*/ 90 w 90"/>
                    <a:gd name="T71" fmla="*/ 22 h 60"/>
                    <a:gd name="T72" fmla="*/ 90 w 90"/>
                    <a:gd name="T73" fmla="*/ 17 h 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0" h="60">
                      <a:moveTo>
                        <a:pt x="90" y="17"/>
                      </a:moveTo>
                      <a:lnTo>
                        <a:pt x="88" y="13"/>
                      </a:lnTo>
                      <a:lnTo>
                        <a:pt x="85" y="9"/>
                      </a:lnTo>
                      <a:lnTo>
                        <a:pt x="80" y="6"/>
                      </a:lnTo>
                      <a:lnTo>
                        <a:pt x="75" y="5"/>
                      </a:lnTo>
                      <a:lnTo>
                        <a:pt x="68" y="2"/>
                      </a:lnTo>
                      <a:lnTo>
                        <a:pt x="61" y="1"/>
                      </a:lnTo>
                      <a:lnTo>
                        <a:pt x="54" y="0"/>
                      </a:lnTo>
                      <a:lnTo>
                        <a:pt x="46" y="1"/>
                      </a:lnTo>
                      <a:lnTo>
                        <a:pt x="38" y="3"/>
                      </a:lnTo>
                      <a:lnTo>
                        <a:pt x="31" y="6"/>
                      </a:lnTo>
                      <a:lnTo>
                        <a:pt x="23" y="9"/>
                      </a:lnTo>
                      <a:lnTo>
                        <a:pt x="18" y="13"/>
                      </a:lnTo>
                      <a:lnTo>
                        <a:pt x="11" y="18"/>
                      </a:lnTo>
                      <a:lnTo>
                        <a:pt x="7" y="23"/>
                      </a:lnTo>
                      <a:lnTo>
                        <a:pt x="3" y="27"/>
                      </a:lnTo>
                      <a:lnTo>
                        <a:pt x="1" y="32"/>
                      </a:lnTo>
                      <a:lnTo>
                        <a:pt x="0" y="38"/>
                      </a:lnTo>
                      <a:lnTo>
                        <a:pt x="0" y="43"/>
                      </a:lnTo>
                      <a:lnTo>
                        <a:pt x="2" y="47"/>
                      </a:lnTo>
                      <a:lnTo>
                        <a:pt x="5" y="51"/>
                      </a:lnTo>
                      <a:lnTo>
                        <a:pt x="10" y="54"/>
                      </a:lnTo>
                      <a:lnTo>
                        <a:pt x="15" y="55"/>
                      </a:lnTo>
                      <a:lnTo>
                        <a:pt x="22" y="58"/>
                      </a:lnTo>
                      <a:lnTo>
                        <a:pt x="29" y="59"/>
                      </a:lnTo>
                      <a:lnTo>
                        <a:pt x="36" y="60"/>
                      </a:lnTo>
                      <a:lnTo>
                        <a:pt x="44" y="59"/>
                      </a:lnTo>
                      <a:lnTo>
                        <a:pt x="52" y="57"/>
                      </a:lnTo>
                      <a:lnTo>
                        <a:pt x="59" y="54"/>
                      </a:lnTo>
                      <a:lnTo>
                        <a:pt x="67" y="51"/>
                      </a:lnTo>
                      <a:lnTo>
                        <a:pt x="72" y="47"/>
                      </a:lnTo>
                      <a:lnTo>
                        <a:pt x="79" y="42"/>
                      </a:lnTo>
                      <a:lnTo>
                        <a:pt x="83" y="37"/>
                      </a:lnTo>
                      <a:lnTo>
                        <a:pt x="87" y="33"/>
                      </a:lnTo>
                      <a:lnTo>
                        <a:pt x="89" y="28"/>
                      </a:lnTo>
                      <a:lnTo>
                        <a:pt x="90" y="22"/>
                      </a:lnTo>
                      <a:lnTo>
                        <a:pt x="9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4" name="Freeform 59"/>
                <p:cNvSpPr>
                  <a:spLocks/>
                </p:cNvSpPr>
                <p:nvPr/>
              </p:nvSpPr>
              <p:spPr bwMode="auto">
                <a:xfrm>
                  <a:off x="824" y="701"/>
                  <a:ext cx="92" cy="60"/>
                </a:xfrm>
                <a:custGeom>
                  <a:avLst/>
                  <a:gdLst>
                    <a:gd name="T0" fmla="*/ 92 w 92"/>
                    <a:gd name="T1" fmla="*/ 17 h 60"/>
                    <a:gd name="T2" fmla="*/ 90 w 92"/>
                    <a:gd name="T3" fmla="*/ 13 h 60"/>
                    <a:gd name="T4" fmla="*/ 87 w 92"/>
                    <a:gd name="T5" fmla="*/ 8 h 60"/>
                    <a:gd name="T6" fmla="*/ 82 w 92"/>
                    <a:gd name="T7" fmla="*/ 5 h 60"/>
                    <a:gd name="T8" fmla="*/ 77 w 92"/>
                    <a:gd name="T9" fmla="*/ 2 h 60"/>
                    <a:gd name="T10" fmla="*/ 70 w 92"/>
                    <a:gd name="T11" fmla="*/ 1 h 60"/>
                    <a:gd name="T12" fmla="*/ 61 w 92"/>
                    <a:gd name="T13" fmla="*/ 0 h 60"/>
                    <a:gd name="T14" fmla="*/ 55 w 92"/>
                    <a:gd name="T15" fmla="*/ 0 h 60"/>
                    <a:gd name="T16" fmla="*/ 47 w 92"/>
                    <a:gd name="T17" fmla="*/ 0 h 60"/>
                    <a:gd name="T18" fmla="*/ 39 w 92"/>
                    <a:gd name="T19" fmla="*/ 2 h 60"/>
                    <a:gd name="T20" fmla="*/ 32 w 92"/>
                    <a:gd name="T21" fmla="*/ 5 h 60"/>
                    <a:gd name="T22" fmla="*/ 24 w 92"/>
                    <a:gd name="T23" fmla="*/ 9 h 60"/>
                    <a:gd name="T24" fmla="*/ 18 w 92"/>
                    <a:gd name="T25" fmla="*/ 12 h 60"/>
                    <a:gd name="T26" fmla="*/ 11 w 92"/>
                    <a:gd name="T27" fmla="*/ 17 h 60"/>
                    <a:gd name="T28" fmla="*/ 7 w 92"/>
                    <a:gd name="T29" fmla="*/ 23 h 60"/>
                    <a:gd name="T30" fmla="*/ 3 w 92"/>
                    <a:gd name="T31" fmla="*/ 28 h 60"/>
                    <a:gd name="T32" fmla="*/ 1 w 92"/>
                    <a:gd name="T33" fmla="*/ 31 h 60"/>
                    <a:gd name="T34" fmla="*/ 0 w 92"/>
                    <a:gd name="T35" fmla="*/ 38 h 60"/>
                    <a:gd name="T36" fmla="*/ 0 w 92"/>
                    <a:gd name="T37" fmla="*/ 43 h 60"/>
                    <a:gd name="T38" fmla="*/ 2 w 92"/>
                    <a:gd name="T39" fmla="*/ 47 h 60"/>
                    <a:gd name="T40" fmla="*/ 5 w 92"/>
                    <a:gd name="T41" fmla="*/ 52 h 60"/>
                    <a:gd name="T42" fmla="*/ 10 w 92"/>
                    <a:gd name="T43" fmla="*/ 55 h 60"/>
                    <a:gd name="T44" fmla="*/ 15 w 92"/>
                    <a:gd name="T45" fmla="*/ 58 h 60"/>
                    <a:gd name="T46" fmla="*/ 22 w 92"/>
                    <a:gd name="T47" fmla="*/ 59 h 60"/>
                    <a:gd name="T48" fmla="*/ 31 w 92"/>
                    <a:gd name="T49" fmla="*/ 60 h 60"/>
                    <a:gd name="T50" fmla="*/ 37 w 92"/>
                    <a:gd name="T51" fmla="*/ 60 h 60"/>
                    <a:gd name="T52" fmla="*/ 45 w 92"/>
                    <a:gd name="T53" fmla="*/ 60 h 60"/>
                    <a:gd name="T54" fmla="*/ 53 w 92"/>
                    <a:gd name="T55" fmla="*/ 58 h 60"/>
                    <a:gd name="T56" fmla="*/ 60 w 92"/>
                    <a:gd name="T57" fmla="*/ 55 h 60"/>
                    <a:gd name="T58" fmla="*/ 68 w 92"/>
                    <a:gd name="T59" fmla="*/ 51 h 60"/>
                    <a:gd name="T60" fmla="*/ 74 w 92"/>
                    <a:gd name="T61" fmla="*/ 48 h 60"/>
                    <a:gd name="T62" fmla="*/ 81 w 92"/>
                    <a:gd name="T63" fmla="*/ 43 h 60"/>
                    <a:gd name="T64" fmla="*/ 85 w 92"/>
                    <a:gd name="T65" fmla="*/ 37 h 60"/>
                    <a:gd name="T66" fmla="*/ 89 w 92"/>
                    <a:gd name="T67" fmla="*/ 32 h 60"/>
                    <a:gd name="T68" fmla="*/ 91 w 92"/>
                    <a:gd name="T69" fmla="*/ 29 h 60"/>
                    <a:gd name="T70" fmla="*/ 92 w 92"/>
                    <a:gd name="T71" fmla="*/ 22 h 60"/>
                    <a:gd name="T72" fmla="*/ 92 w 92"/>
                    <a:gd name="T73" fmla="*/ 17 h 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2" h="60">
                      <a:moveTo>
                        <a:pt x="92" y="17"/>
                      </a:moveTo>
                      <a:lnTo>
                        <a:pt x="90" y="13"/>
                      </a:lnTo>
                      <a:lnTo>
                        <a:pt x="87" y="8"/>
                      </a:lnTo>
                      <a:lnTo>
                        <a:pt x="82" y="5"/>
                      </a:lnTo>
                      <a:lnTo>
                        <a:pt x="77" y="2"/>
                      </a:lnTo>
                      <a:lnTo>
                        <a:pt x="70" y="1"/>
                      </a:lnTo>
                      <a:lnTo>
                        <a:pt x="61" y="0"/>
                      </a:lnTo>
                      <a:lnTo>
                        <a:pt x="55" y="0"/>
                      </a:lnTo>
                      <a:lnTo>
                        <a:pt x="47" y="0"/>
                      </a:lnTo>
                      <a:lnTo>
                        <a:pt x="39" y="2"/>
                      </a:lnTo>
                      <a:lnTo>
                        <a:pt x="32" y="5"/>
                      </a:lnTo>
                      <a:lnTo>
                        <a:pt x="24" y="9"/>
                      </a:lnTo>
                      <a:lnTo>
                        <a:pt x="18" y="12"/>
                      </a:lnTo>
                      <a:lnTo>
                        <a:pt x="11" y="17"/>
                      </a:lnTo>
                      <a:lnTo>
                        <a:pt x="7" y="23"/>
                      </a:lnTo>
                      <a:lnTo>
                        <a:pt x="3" y="28"/>
                      </a:lnTo>
                      <a:lnTo>
                        <a:pt x="1" y="31"/>
                      </a:lnTo>
                      <a:lnTo>
                        <a:pt x="0" y="38"/>
                      </a:lnTo>
                      <a:lnTo>
                        <a:pt x="0" y="43"/>
                      </a:lnTo>
                      <a:lnTo>
                        <a:pt x="2" y="47"/>
                      </a:lnTo>
                      <a:lnTo>
                        <a:pt x="5" y="52"/>
                      </a:lnTo>
                      <a:lnTo>
                        <a:pt x="10" y="55"/>
                      </a:lnTo>
                      <a:lnTo>
                        <a:pt x="15" y="58"/>
                      </a:lnTo>
                      <a:lnTo>
                        <a:pt x="22" y="59"/>
                      </a:lnTo>
                      <a:lnTo>
                        <a:pt x="31" y="60"/>
                      </a:lnTo>
                      <a:lnTo>
                        <a:pt x="37" y="60"/>
                      </a:lnTo>
                      <a:lnTo>
                        <a:pt x="45" y="60"/>
                      </a:lnTo>
                      <a:lnTo>
                        <a:pt x="53" y="58"/>
                      </a:lnTo>
                      <a:lnTo>
                        <a:pt x="60" y="55"/>
                      </a:lnTo>
                      <a:lnTo>
                        <a:pt x="68" y="51"/>
                      </a:lnTo>
                      <a:lnTo>
                        <a:pt x="74" y="48"/>
                      </a:lnTo>
                      <a:lnTo>
                        <a:pt x="81" y="43"/>
                      </a:lnTo>
                      <a:lnTo>
                        <a:pt x="85" y="37"/>
                      </a:lnTo>
                      <a:lnTo>
                        <a:pt x="89" y="32"/>
                      </a:lnTo>
                      <a:lnTo>
                        <a:pt x="91" y="29"/>
                      </a:lnTo>
                      <a:lnTo>
                        <a:pt x="92" y="22"/>
                      </a:lnTo>
                      <a:lnTo>
                        <a:pt x="92"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5" name="Freeform 60"/>
                <p:cNvSpPr>
                  <a:spLocks/>
                </p:cNvSpPr>
                <p:nvPr/>
              </p:nvSpPr>
              <p:spPr bwMode="auto">
                <a:xfrm>
                  <a:off x="970" y="661"/>
                  <a:ext cx="92" cy="60"/>
                </a:xfrm>
                <a:custGeom>
                  <a:avLst/>
                  <a:gdLst>
                    <a:gd name="T0" fmla="*/ 92 w 92"/>
                    <a:gd name="T1" fmla="*/ 17 h 60"/>
                    <a:gd name="T2" fmla="*/ 90 w 92"/>
                    <a:gd name="T3" fmla="*/ 13 h 60"/>
                    <a:gd name="T4" fmla="*/ 87 w 92"/>
                    <a:gd name="T5" fmla="*/ 8 h 60"/>
                    <a:gd name="T6" fmla="*/ 82 w 92"/>
                    <a:gd name="T7" fmla="*/ 5 h 60"/>
                    <a:gd name="T8" fmla="*/ 77 w 92"/>
                    <a:gd name="T9" fmla="*/ 2 h 60"/>
                    <a:gd name="T10" fmla="*/ 70 w 92"/>
                    <a:gd name="T11" fmla="*/ 1 h 60"/>
                    <a:gd name="T12" fmla="*/ 61 w 92"/>
                    <a:gd name="T13" fmla="*/ 0 h 60"/>
                    <a:gd name="T14" fmla="*/ 55 w 92"/>
                    <a:gd name="T15" fmla="*/ 0 h 60"/>
                    <a:gd name="T16" fmla="*/ 47 w 92"/>
                    <a:gd name="T17" fmla="*/ 0 h 60"/>
                    <a:gd name="T18" fmla="*/ 39 w 92"/>
                    <a:gd name="T19" fmla="*/ 2 h 60"/>
                    <a:gd name="T20" fmla="*/ 32 w 92"/>
                    <a:gd name="T21" fmla="*/ 5 h 60"/>
                    <a:gd name="T22" fmla="*/ 24 w 92"/>
                    <a:gd name="T23" fmla="*/ 9 h 60"/>
                    <a:gd name="T24" fmla="*/ 18 w 92"/>
                    <a:gd name="T25" fmla="*/ 12 h 60"/>
                    <a:gd name="T26" fmla="*/ 11 w 92"/>
                    <a:gd name="T27" fmla="*/ 17 h 60"/>
                    <a:gd name="T28" fmla="*/ 7 w 92"/>
                    <a:gd name="T29" fmla="*/ 23 h 60"/>
                    <a:gd name="T30" fmla="*/ 3 w 92"/>
                    <a:gd name="T31" fmla="*/ 28 h 60"/>
                    <a:gd name="T32" fmla="*/ 1 w 92"/>
                    <a:gd name="T33" fmla="*/ 31 h 60"/>
                    <a:gd name="T34" fmla="*/ 0 w 92"/>
                    <a:gd name="T35" fmla="*/ 38 h 60"/>
                    <a:gd name="T36" fmla="*/ 0 w 92"/>
                    <a:gd name="T37" fmla="*/ 43 h 60"/>
                    <a:gd name="T38" fmla="*/ 2 w 92"/>
                    <a:gd name="T39" fmla="*/ 47 h 60"/>
                    <a:gd name="T40" fmla="*/ 5 w 92"/>
                    <a:gd name="T41" fmla="*/ 52 h 60"/>
                    <a:gd name="T42" fmla="*/ 10 w 92"/>
                    <a:gd name="T43" fmla="*/ 55 h 60"/>
                    <a:gd name="T44" fmla="*/ 15 w 92"/>
                    <a:gd name="T45" fmla="*/ 58 h 60"/>
                    <a:gd name="T46" fmla="*/ 22 w 92"/>
                    <a:gd name="T47" fmla="*/ 59 h 60"/>
                    <a:gd name="T48" fmla="*/ 31 w 92"/>
                    <a:gd name="T49" fmla="*/ 60 h 60"/>
                    <a:gd name="T50" fmla="*/ 37 w 92"/>
                    <a:gd name="T51" fmla="*/ 60 h 60"/>
                    <a:gd name="T52" fmla="*/ 45 w 92"/>
                    <a:gd name="T53" fmla="*/ 60 h 60"/>
                    <a:gd name="T54" fmla="*/ 53 w 92"/>
                    <a:gd name="T55" fmla="*/ 58 h 60"/>
                    <a:gd name="T56" fmla="*/ 60 w 92"/>
                    <a:gd name="T57" fmla="*/ 55 h 60"/>
                    <a:gd name="T58" fmla="*/ 68 w 92"/>
                    <a:gd name="T59" fmla="*/ 51 h 60"/>
                    <a:gd name="T60" fmla="*/ 74 w 92"/>
                    <a:gd name="T61" fmla="*/ 48 h 60"/>
                    <a:gd name="T62" fmla="*/ 81 w 92"/>
                    <a:gd name="T63" fmla="*/ 43 h 60"/>
                    <a:gd name="T64" fmla="*/ 85 w 92"/>
                    <a:gd name="T65" fmla="*/ 37 h 60"/>
                    <a:gd name="T66" fmla="*/ 89 w 92"/>
                    <a:gd name="T67" fmla="*/ 32 h 60"/>
                    <a:gd name="T68" fmla="*/ 91 w 92"/>
                    <a:gd name="T69" fmla="*/ 29 h 60"/>
                    <a:gd name="T70" fmla="*/ 92 w 92"/>
                    <a:gd name="T71" fmla="*/ 22 h 60"/>
                    <a:gd name="T72" fmla="*/ 92 w 92"/>
                    <a:gd name="T73" fmla="*/ 17 h 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2" h="60">
                      <a:moveTo>
                        <a:pt x="92" y="17"/>
                      </a:moveTo>
                      <a:lnTo>
                        <a:pt x="90" y="13"/>
                      </a:lnTo>
                      <a:lnTo>
                        <a:pt x="87" y="8"/>
                      </a:lnTo>
                      <a:lnTo>
                        <a:pt x="82" y="5"/>
                      </a:lnTo>
                      <a:lnTo>
                        <a:pt x="77" y="2"/>
                      </a:lnTo>
                      <a:lnTo>
                        <a:pt x="70" y="1"/>
                      </a:lnTo>
                      <a:lnTo>
                        <a:pt x="61" y="0"/>
                      </a:lnTo>
                      <a:lnTo>
                        <a:pt x="55" y="0"/>
                      </a:lnTo>
                      <a:lnTo>
                        <a:pt x="47" y="0"/>
                      </a:lnTo>
                      <a:lnTo>
                        <a:pt x="39" y="2"/>
                      </a:lnTo>
                      <a:lnTo>
                        <a:pt x="32" y="5"/>
                      </a:lnTo>
                      <a:lnTo>
                        <a:pt x="24" y="9"/>
                      </a:lnTo>
                      <a:lnTo>
                        <a:pt x="18" y="12"/>
                      </a:lnTo>
                      <a:lnTo>
                        <a:pt x="11" y="17"/>
                      </a:lnTo>
                      <a:lnTo>
                        <a:pt x="7" y="23"/>
                      </a:lnTo>
                      <a:lnTo>
                        <a:pt x="3" y="28"/>
                      </a:lnTo>
                      <a:lnTo>
                        <a:pt x="1" y="31"/>
                      </a:lnTo>
                      <a:lnTo>
                        <a:pt x="0" y="38"/>
                      </a:lnTo>
                      <a:lnTo>
                        <a:pt x="0" y="43"/>
                      </a:lnTo>
                      <a:lnTo>
                        <a:pt x="2" y="47"/>
                      </a:lnTo>
                      <a:lnTo>
                        <a:pt x="5" y="52"/>
                      </a:lnTo>
                      <a:lnTo>
                        <a:pt x="10" y="55"/>
                      </a:lnTo>
                      <a:lnTo>
                        <a:pt x="15" y="58"/>
                      </a:lnTo>
                      <a:lnTo>
                        <a:pt x="22" y="59"/>
                      </a:lnTo>
                      <a:lnTo>
                        <a:pt x="31" y="60"/>
                      </a:lnTo>
                      <a:lnTo>
                        <a:pt x="37" y="60"/>
                      </a:lnTo>
                      <a:lnTo>
                        <a:pt x="45" y="60"/>
                      </a:lnTo>
                      <a:lnTo>
                        <a:pt x="53" y="58"/>
                      </a:lnTo>
                      <a:lnTo>
                        <a:pt x="60" y="55"/>
                      </a:lnTo>
                      <a:lnTo>
                        <a:pt x="68" y="51"/>
                      </a:lnTo>
                      <a:lnTo>
                        <a:pt x="74" y="48"/>
                      </a:lnTo>
                      <a:lnTo>
                        <a:pt x="81" y="43"/>
                      </a:lnTo>
                      <a:lnTo>
                        <a:pt x="85" y="37"/>
                      </a:lnTo>
                      <a:lnTo>
                        <a:pt x="89" y="32"/>
                      </a:lnTo>
                      <a:lnTo>
                        <a:pt x="91" y="29"/>
                      </a:lnTo>
                      <a:lnTo>
                        <a:pt x="92" y="22"/>
                      </a:lnTo>
                      <a:lnTo>
                        <a:pt x="92"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6" name="Freeform 61"/>
                <p:cNvSpPr>
                  <a:spLocks/>
                </p:cNvSpPr>
                <p:nvPr/>
              </p:nvSpPr>
              <p:spPr bwMode="auto">
                <a:xfrm>
                  <a:off x="635" y="769"/>
                  <a:ext cx="477" cy="158"/>
                </a:xfrm>
                <a:custGeom>
                  <a:avLst/>
                  <a:gdLst>
                    <a:gd name="T0" fmla="*/ 17 w 477"/>
                    <a:gd name="T1" fmla="*/ 116 h 158"/>
                    <a:gd name="T2" fmla="*/ 174 w 477"/>
                    <a:gd name="T3" fmla="*/ 86 h 158"/>
                    <a:gd name="T4" fmla="*/ 319 w 477"/>
                    <a:gd name="T5" fmla="*/ 50 h 158"/>
                    <a:gd name="T6" fmla="*/ 462 w 477"/>
                    <a:gd name="T7" fmla="*/ 0 h 158"/>
                    <a:gd name="T8" fmla="*/ 477 w 477"/>
                    <a:gd name="T9" fmla="*/ 16 h 158"/>
                    <a:gd name="T10" fmla="*/ 467 w 477"/>
                    <a:gd name="T11" fmla="*/ 46 h 158"/>
                    <a:gd name="T12" fmla="*/ 421 w 477"/>
                    <a:gd name="T13" fmla="*/ 58 h 158"/>
                    <a:gd name="T14" fmla="*/ 295 w 477"/>
                    <a:gd name="T15" fmla="*/ 76 h 158"/>
                    <a:gd name="T16" fmla="*/ 162 w 477"/>
                    <a:gd name="T17" fmla="*/ 116 h 158"/>
                    <a:gd name="T18" fmla="*/ 75 w 477"/>
                    <a:gd name="T19" fmla="*/ 130 h 158"/>
                    <a:gd name="T20" fmla="*/ 23 w 477"/>
                    <a:gd name="T21" fmla="*/ 158 h 158"/>
                    <a:gd name="T22" fmla="*/ 0 w 477"/>
                    <a:gd name="T23" fmla="*/ 140 h 158"/>
                    <a:gd name="T24" fmla="*/ 17 w 477"/>
                    <a:gd name="T25" fmla="*/ 116 h 1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7" h="158">
                      <a:moveTo>
                        <a:pt x="17" y="116"/>
                      </a:moveTo>
                      <a:lnTo>
                        <a:pt x="174" y="86"/>
                      </a:lnTo>
                      <a:lnTo>
                        <a:pt x="319" y="50"/>
                      </a:lnTo>
                      <a:lnTo>
                        <a:pt x="462" y="0"/>
                      </a:lnTo>
                      <a:lnTo>
                        <a:pt x="477" y="16"/>
                      </a:lnTo>
                      <a:lnTo>
                        <a:pt x="467" y="46"/>
                      </a:lnTo>
                      <a:lnTo>
                        <a:pt x="421" y="58"/>
                      </a:lnTo>
                      <a:lnTo>
                        <a:pt x="295" y="76"/>
                      </a:lnTo>
                      <a:lnTo>
                        <a:pt x="162" y="116"/>
                      </a:lnTo>
                      <a:lnTo>
                        <a:pt x="75" y="130"/>
                      </a:lnTo>
                      <a:lnTo>
                        <a:pt x="23" y="158"/>
                      </a:lnTo>
                      <a:lnTo>
                        <a:pt x="0" y="140"/>
                      </a:lnTo>
                      <a:lnTo>
                        <a:pt x="17"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7" name="Freeform 62"/>
                <p:cNvSpPr>
                  <a:spLocks/>
                </p:cNvSpPr>
                <p:nvPr/>
              </p:nvSpPr>
              <p:spPr bwMode="auto">
                <a:xfrm>
                  <a:off x="647" y="987"/>
                  <a:ext cx="270" cy="78"/>
                </a:xfrm>
                <a:custGeom>
                  <a:avLst/>
                  <a:gdLst>
                    <a:gd name="T0" fmla="*/ 4 w 270"/>
                    <a:gd name="T1" fmla="*/ 40 h 78"/>
                    <a:gd name="T2" fmla="*/ 117 w 270"/>
                    <a:gd name="T3" fmla="*/ 21 h 78"/>
                    <a:gd name="T4" fmla="*/ 241 w 270"/>
                    <a:gd name="T5" fmla="*/ 0 h 78"/>
                    <a:gd name="T6" fmla="*/ 270 w 270"/>
                    <a:gd name="T7" fmla="*/ 13 h 78"/>
                    <a:gd name="T8" fmla="*/ 252 w 270"/>
                    <a:gd name="T9" fmla="*/ 38 h 78"/>
                    <a:gd name="T10" fmla="*/ 158 w 270"/>
                    <a:gd name="T11" fmla="*/ 44 h 78"/>
                    <a:gd name="T12" fmla="*/ 47 w 270"/>
                    <a:gd name="T13" fmla="*/ 65 h 78"/>
                    <a:gd name="T14" fmla="*/ 0 w 270"/>
                    <a:gd name="T15" fmla="*/ 78 h 78"/>
                    <a:gd name="T16" fmla="*/ 4 w 270"/>
                    <a:gd name="T17" fmla="*/ 40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0" h="78">
                      <a:moveTo>
                        <a:pt x="4" y="40"/>
                      </a:moveTo>
                      <a:lnTo>
                        <a:pt x="117" y="21"/>
                      </a:lnTo>
                      <a:lnTo>
                        <a:pt x="241" y="0"/>
                      </a:lnTo>
                      <a:lnTo>
                        <a:pt x="270" y="13"/>
                      </a:lnTo>
                      <a:lnTo>
                        <a:pt x="252" y="38"/>
                      </a:lnTo>
                      <a:lnTo>
                        <a:pt x="158" y="44"/>
                      </a:lnTo>
                      <a:lnTo>
                        <a:pt x="47" y="65"/>
                      </a:lnTo>
                      <a:lnTo>
                        <a:pt x="0" y="78"/>
                      </a:lnTo>
                      <a:lnTo>
                        <a:pt x="4"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8" name="Freeform 63"/>
                <p:cNvSpPr>
                  <a:spLocks/>
                </p:cNvSpPr>
                <p:nvPr/>
              </p:nvSpPr>
              <p:spPr bwMode="auto">
                <a:xfrm>
                  <a:off x="986" y="913"/>
                  <a:ext cx="259" cy="76"/>
                </a:xfrm>
                <a:custGeom>
                  <a:avLst/>
                  <a:gdLst>
                    <a:gd name="T0" fmla="*/ 245 w 259"/>
                    <a:gd name="T1" fmla="*/ 0 h 76"/>
                    <a:gd name="T2" fmla="*/ 133 w 259"/>
                    <a:gd name="T3" fmla="*/ 15 h 76"/>
                    <a:gd name="T4" fmla="*/ 18 w 259"/>
                    <a:gd name="T5" fmla="*/ 38 h 76"/>
                    <a:gd name="T6" fmla="*/ 0 w 259"/>
                    <a:gd name="T7" fmla="*/ 57 h 76"/>
                    <a:gd name="T8" fmla="*/ 10 w 259"/>
                    <a:gd name="T9" fmla="*/ 76 h 76"/>
                    <a:gd name="T10" fmla="*/ 39 w 259"/>
                    <a:gd name="T11" fmla="*/ 72 h 76"/>
                    <a:gd name="T12" fmla="*/ 153 w 259"/>
                    <a:gd name="T13" fmla="*/ 38 h 76"/>
                    <a:gd name="T14" fmla="*/ 259 w 259"/>
                    <a:gd name="T15" fmla="*/ 27 h 76"/>
                    <a:gd name="T16" fmla="*/ 245 w 259"/>
                    <a:gd name="T17" fmla="*/ 0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9" h="76">
                      <a:moveTo>
                        <a:pt x="245" y="0"/>
                      </a:moveTo>
                      <a:lnTo>
                        <a:pt x="133" y="15"/>
                      </a:lnTo>
                      <a:lnTo>
                        <a:pt x="18" y="38"/>
                      </a:lnTo>
                      <a:lnTo>
                        <a:pt x="0" y="57"/>
                      </a:lnTo>
                      <a:lnTo>
                        <a:pt x="10" y="76"/>
                      </a:lnTo>
                      <a:lnTo>
                        <a:pt x="39" y="72"/>
                      </a:lnTo>
                      <a:lnTo>
                        <a:pt x="153" y="38"/>
                      </a:lnTo>
                      <a:lnTo>
                        <a:pt x="259" y="27"/>
                      </a:lnTo>
                      <a:lnTo>
                        <a:pt x="24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9" name="Freeform 64"/>
                <p:cNvSpPr>
                  <a:spLocks/>
                </p:cNvSpPr>
                <p:nvPr/>
              </p:nvSpPr>
              <p:spPr bwMode="auto">
                <a:xfrm>
                  <a:off x="1013" y="1063"/>
                  <a:ext cx="122" cy="51"/>
                </a:xfrm>
                <a:custGeom>
                  <a:avLst/>
                  <a:gdLst>
                    <a:gd name="T0" fmla="*/ 14 w 122"/>
                    <a:gd name="T1" fmla="*/ 13 h 51"/>
                    <a:gd name="T2" fmla="*/ 112 w 122"/>
                    <a:gd name="T3" fmla="*/ 0 h 51"/>
                    <a:gd name="T4" fmla="*/ 122 w 122"/>
                    <a:gd name="T5" fmla="*/ 20 h 51"/>
                    <a:gd name="T6" fmla="*/ 98 w 122"/>
                    <a:gd name="T7" fmla="*/ 47 h 51"/>
                    <a:gd name="T8" fmla="*/ 31 w 122"/>
                    <a:gd name="T9" fmla="*/ 51 h 51"/>
                    <a:gd name="T10" fmla="*/ 0 w 122"/>
                    <a:gd name="T11" fmla="*/ 40 h 51"/>
                    <a:gd name="T12" fmla="*/ 14 w 122"/>
                    <a:gd name="T13" fmla="*/ 13 h 5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2" h="51">
                      <a:moveTo>
                        <a:pt x="14" y="13"/>
                      </a:moveTo>
                      <a:lnTo>
                        <a:pt x="112" y="0"/>
                      </a:lnTo>
                      <a:lnTo>
                        <a:pt x="122" y="20"/>
                      </a:lnTo>
                      <a:lnTo>
                        <a:pt x="98" y="47"/>
                      </a:lnTo>
                      <a:lnTo>
                        <a:pt x="31" y="51"/>
                      </a:lnTo>
                      <a:lnTo>
                        <a:pt x="0" y="40"/>
                      </a:lnTo>
                      <a:lnTo>
                        <a:pt x="14"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0" name="Freeform 65"/>
                <p:cNvSpPr>
                  <a:spLocks/>
                </p:cNvSpPr>
                <p:nvPr/>
              </p:nvSpPr>
              <p:spPr bwMode="auto">
                <a:xfrm>
                  <a:off x="770" y="1106"/>
                  <a:ext cx="105" cy="60"/>
                </a:xfrm>
                <a:custGeom>
                  <a:avLst/>
                  <a:gdLst>
                    <a:gd name="T0" fmla="*/ 0 w 105"/>
                    <a:gd name="T1" fmla="*/ 16 h 60"/>
                    <a:gd name="T2" fmla="*/ 105 w 105"/>
                    <a:gd name="T3" fmla="*/ 0 h 60"/>
                    <a:gd name="T4" fmla="*/ 105 w 105"/>
                    <a:gd name="T5" fmla="*/ 33 h 60"/>
                    <a:gd name="T6" fmla="*/ 74 w 105"/>
                    <a:gd name="T7" fmla="*/ 49 h 60"/>
                    <a:gd name="T8" fmla="*/ 6 w 105"/>
                    <a:gd name="T9" fmla="*/ 60 h 60"/>
                    <a:gd name="T10" fmla="*/ 0 w 105"/>
                    <a:gd name="T11" fmla="*/ 16 h 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5" h="60">
                      <a:moveTo>
                        <a:pt x="0" y="16"/>
                      </a:moveTo>
                      <a:lnTo>
                        <a:pt x="105" y="0"/>
                      </a:lnTo>
                      <a:lnTo>
                        <a:pt x="105" y="33"/>
                      </a:lnTo>
                      <a:lnTo>
                        <a:pt x="74" y="49"/>
                      </a:lnTo>
                      <a:lnTo>
                        <a:pt x="6" y="60"/>
                      </a:lnTo>
                      <a:lnTo>
                        <a:pt x="0"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1" name="Freeform 66"/>
                <p:cNvSpPr>
                  <a:spLocks/>
                </p:cNvSpPr>
                <p:nvPr/>
              </p:nvSpPr>
              <p:spPr bwMode="auto">
                <a:xfrm>
                  <a:off x="647" y="1125"/>
                  <a:ext cx="87" cy="58"/>
                </a:xfrm>
                <a:custGeom>
                  <a:avLst/>
                  <a:gdLst>
                    <a:gd name="T0" fmla="*/ 10 w 87"/>
                    <a:gd name="T1" fmla="*/ 11 h 58"/>
                    <a:gd name="T2" fmla="*/ 87 w 87"/>
                    <a:gd name="T3" fmla="*/ 0 h 58"/>
                    <a:gd name="T4" fmla="*/ 87 w 87"/>
                    <a:gd name="T5" fmla="*/ 47 h 58"/>
                    <a:gd name="T6" fmla="*/ 0 w 87"/>
                    <a:gd name="T7" fmla="*/ 58 h 58"/>
                    <a:gd name="T8" fmla="*/ 10 w 87"/>
                    <a:gd name="T9" fmla="*/ 11 h 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 h="58">
                      <a:moveTo>
                        <a:pt x="10" y="11"/>
                      </a:moveTo>
                      <a:lnTo>
                        <a:pt x="87" y="0"/>
                      </a:lnTo>
                      <a:lnTo>
                        <a:pt x="87" y="47"/>
                      </a:lnTo>
                      <a:lnTo>
                        <a:pt x="0" y="58"/>
                      </a:lnTo>
                      <a:lnTo>
                        <a:pt x="1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2" name="Freeform 67"/>
                <p:cNvSpPr>
                  <a:spLocks/>
                </p:cNvSpPr>
                <p:nvPr/>
              </p:nvSpPr>
              <p:spPr bwMode="auto">
                <a:xfrm>
                  <a:off x="658" y="1444"/>
                  <a:ext cx="54" cy="44"/>
                </a:xfrm>
                <a:custGeom>
                  <a:avLst/>
                  <a:gdLst>
                    <a:gd name="T0" fmla="*/ 53 w 54"/>
                    <a:gd name="T1" fmla="*/ 15 h 44"/>
                    <a:gd name="T2" fmla="*/ 52 w 54"/>
                    <a:gd name="T3" fmla="*/ 11 h 44"/>
                    <a:gd name="T4" fmla="*/ 49 w 54"/>
                    <a:gd name="T5" fmla="*/ 7 h 44"/>
                    <a:gd name="T6" fmla="*/ 47 w 54"/>
                    <a:gd name="T7" fmla="*/ 5 h 44"/>
                    <a:gd name="T8" fmla="*/ 43 w 54"/>
                    <a:gd name="T9" fmla="*/ 1 h 44"/>
                    <a:gd name="T10" fmla="*/ 39 w 54"/>
                    <a:gd name="T11" fmla="*/ 0 h 44"/>
                    <a:gd name="T12" fmla="*/ 35 w 54"/>
                    <a:gd name="T13" fmla="*/ 0 h 44"/>
                    <a:gd name="T14" fmla="*/ 32 w 54"/>
                    <a:gd name="T15" fmla="*/ 0 h 44"/>
                    <a:gd name="T16" fmla="*/ 26 w 54"/>
                    <a:gd name="T17" fmla="*/ 0 h 44"/>
                    <a:gd name="T18" fmla="*/ 21 w 54"/>
                    <a:gd name="T19" fmla="*/ 1 h 44"/>
                    <a:gd name="T20" fmla="*/ 16 w 54"/>
                    <a:gd name="T21" fmla="*/ 2 h 44"/>
                    <a:gd name="T22" fmla="*/ 13 w 54"/>
                    <a:gd name="T23" fmla="*/ 5 h 44"/>
                    <a:gd name="T24" fmla="*/ 9 w 54"/>
                    <a:gd name="T25" fmla="*/ 7 h 44"/>
                    <a:gd name="T26" fmla="*/ 6 w 54"/>
                    <a:gd name="T27" fmla="*/ 10 h 44"/>
                    <a:gd name="T28" fmla="*/ 4 w 54"/>
                    <a:gd name="T29" fmla="*/ 13 h 44"/>
                    <a:gd name="T30" fmla="*/ 2 w 54"/>
                    <a:gd name="T31" fmla="*/ 17 h 44"/>
                    <a:gd name="T32" fmla="*/ 0 w 54"/>
                    <a:gd name="T33" fmla="*/ 22 h 44"/>
                    <a:gd name="T34" fmla="*/ 0 w 54"/>
                    <a:gd name="T35" fmla="*/ 26 h 44"/>
                    <a:gd name="T36" fmla="*/ 1 w 54"/>
                    <a:gd name="T37" fmla="*/ 29 h 44"/>
                    <a:gd name="T38" fmla="*/ 2 w 54"/>
                    <a:gd name="T39" fmla="*/ 33 h 44"/>
                    <a:gd name="T40" fmla="*/ 5 w 54"/>
                    <a:gd name="T41" fmla="*/ 37 h 44"/>
                    <a:gd name="T42" fmla="*/ 7 w 54"/>
                    <a:gd name="T43" fmla="*/ 39 h 44"/>
                    <a:gd name="T44" fmla="*/ 11 w 54"/>
                    <a:gd name="T45" fmla="*/ 43 h 44"/>
                    <a:gd name="T46" fmla="*/ 15 w 54"/>
                    <a:gd name="T47" fmla="*/ 44 h 44"/>
                    <a:gd name="T48" fmla="*/ 19 w 54"/>
                    <a:gd name="T49" fmla="*/ 44 h 44"/>
                    <a:gd name="T50" fmla="*/ 22 w 54"/>
                    <a:gd name="T51" fmla="*/ 44 h 44"/>
                    <a:gd name="T52" fmla="*/ 28 w 54"/>
                    <a:gd name="T53" fmla="*/ 44 h 44"/>
                    <a:gd name="T54" fmla="*/ 33 w 54"/>
                    <a:gd name="T55" fmla="*/ 43 h 44"/>
                    <a:gd name="T56" fmla="*/ 38 w 54"/>
                    <a:gd name="T57" fmla="*/ 42 h 44"/>
                    <a:gd name="T58" fmla="*/ 41 w 54"/>
                    <a:gd name="T59" fmla="*/ 39 h 44"/>
                    <a:gd name="T60" fmla="*/ 45 w 54"/>
                    <a:gd name="T61" fmla="*/ 37 h 44"/>
                    <a:gd name="T62" fmla="*/ 48 w 54"/>
                    <a:gd name="T63" fmla="*/ 34 h 44"/>
                    <a:gd name="T64" fmla="*/ 50 w 54"/>
                    <a:gd name="T65" fmla="*/ 31 h 44"/>
                    <a:gd name="T66" fmla="*/ 52 w 54"/>
                    <a:gd name="T67" fmla="*/ 27 h 44"/>
                    <a:gd name="T68" fmla="*/ 54 w 54"/>
                    <a:gd name="T69" fmla="*/ 22 h 44"/>
                    <a:gd name="T70" fmla="*/ 54 w 54"/>
                    <a:gd name="T71" fmla="*/ 18 h 44"/>
                    <a:gd name="T72" fmla="*/ 53 w 54"/>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4" h="44">
                      <a:moveTo>
                        <a:pt x="53" y="15"/>
                      </a:moveTo>
                      <a:lnTo>
                        <a:pt x="52" y="11"/>
                      </a:lnTo>
                      <a:lnTo>
                        <a:pt x="49" y="7"/>
                      </a:lnTo>
                      <a:lnTo>
                        <a:pt x="47" y="5"/>
                      </a:lnTo>
                      <a:lnTo>
                        <a:pt x="43" y="1"/>
                      </a:lnTo>
                      <a:lnTo>
                        <a:pt x="39" y="0"/>
                      </a:lnTo>
                      <a:lnTo>
                        <a:pt x="35" y="0"/>
                      </a:lnTo>
                      <a:lnTo>
                        <a:pt x="32" y="0"/>
                      </a:lnTo>
                      <a:lnTo>
                        <a:pt x="26" y="0"/>
                      </a:lnTo>
                      <a:lnTo>
                        <a:pt x="21" y="1"/>
                      </a:lnTo>
                      <a:lnTo>
                        <a:pt x="16" y="2"/>
                      </a:lnTo>
                      <a:lnTo>
                        <a:pt x="13" y="5"/>
                      </a:lnTo>
                      <a:lnTo>
                        <a:pt x="9" y="7"/>
                      </a:lnTo>
                      <a:lnTo>
                        <a:pt x="6" y="10"/>
                      </a:lnTo>
                      <a:lnTo>
                        <a:pt x="4" y="13"/>
                      </a:lnTo>
                      <a:lnTo>
                        <a:pt x="2" y="17"/>
                      </a:lnTo>
                      <a:lnTo>
                        <a:pt x="0" y="22"/>
                      </a:lnTo>
                      <a:lnTo>
                        <a:pt x="0" y="26"/>
                      </a:lnTo>
                      <a:lnTo>
                        <a:pt x="1" y="29"/>
                      </a:lnTo>
                      <a:lnTo>
                        <a:pt x="2" y="33"/>
                      </a:lnTo>
                      <a:lnTo>
                        <a:pt x="5" y="37"/>
                      </a:lnTo>
                      <a:lnTo>
                        <a:pt x="7" y="39"/>
                      </a:lnTo>
                      <a:lnTo>
                        <a:pt x="11" y="43"/>
                      </a:lnTo>
                      <a:lnTo>
                        <a:pt x="15" y="44"/>
                      </a:lnTo>
                      <a:lnTo>
                        <a:pt x="19" y="44"/>
                      </a:lnTo>
                      <a:lnTo>
                        <a:pt x="22" y="44"/>
                      </a:lnTo>
                      <a:lnTo>
                        <a:pt x="28" y="44"/>
                      </a:lnTo>
                      <a:lnTo>
                        <a:pt x="33" y="43"/>
                      </a:lnTo>
                      <a:lnTo>
                        <a:pt x="38" y="42"/>
                      </a:lnTo>
                      <a:lnTo>
                        <a:pt x="41" y="39"/>
                      </a:lnTo>
                      <a:lnTo>
                        <a:pt x="45" y="37"/>
                      </a:lnTo>
                      <a:lnTo>
                        <a:pt x="48" y="34"/>
                      </a:lnTo>
                      <a:lnTo>
                        <a:pt x="50" y="31"/>
                      </a:lnTo>
                      <a:lnTo>
                        <a:pt x="52" y="27"/>
                      </a:lnTo>
                      <a:lnTo>
                        <a:pt x="54" y="22"/>
                      </a:lnTo>
                      <a:lnTo>
                        <a:pt x="54" y="18"/>
                      </a:lnTo>
                      <a:lnTo>
                        <a:pt x="53"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3" name="Freeform 68"/>
                <p:cNvSpPr>
                  <a:spLocks/>
                </p:cNvSpPr>
                <p:nvPr/>
              </p:nvSpPr>
              <p:spPr bwMode="auto">
                <a:xfrm>
                  <a:off x="804" y="1404"/>
                  <a:ext cx="56" cy="44"/>
                </a:xfrm>
                <a:custGeom>
                  <a:avLst/>
                  <a:gdLst>
                    <a:gd name="T0" fmla="*/ 55 w 56"/>
                    <a:gd name="T1" fmla="*/ 15 h 44"/>
                    <a:gd name="T2" fmla="*/ 54 w 56"/>
                    <a:gd name="T3" fmla="*/ 11 h 44"/>
                    <a:gd name="T4" fmla="*/ 51 w 56"/>
                    <a:gd name="T5" fmla="*/ 7 h 44"/>
                    <a:gd name="T6" fmla="*/ 49 w 56"/>
                    <a:gd name="T7" fmla="*/ 5 h 44"/>
                    <a:gd name="T8" fmla="*/ 44 w 56"/>
                    <a:gd name="T9" fmla="*/ 1 h 44"/>
                    <a:gd name="T10" fmla="*/ 40 w 56"/>
                    <a:gd name="T11" fmla="*/ 0 h 44"/>
                    <a:gd name="T12" fmla="*/ 37 w 56"/>
                    <a:gd name="T13" fmla="*/ 0 h 44"/>
                    <a:gd name="T14" fmla="*/ 33 w 56"/>
                    <a:gd name="T15" fmla="*/ 0 h 44"/>
                    <a:gd name="T16" fmla="*/ 27 w 56"/>
                    <a:gd name="T17" fmla="*/ 0 h 44"/>
                    <a:gd name="T18" fmla="*/ 22 w 56"/>
                    <a:gd name="T19" fmla="*/ 1 h 44"/>
                    <a:gd name="T20" fmla="*/ 18 w 56"/>
                    <a:gd name="T21" fmla="*/ 2 h 44"/>
                    <a:gd name="T22" fmla="*/ 14 w 56"/>
                    <a:gd name="T23" fmla="*/ 5 h 44"/>
                    <a:gd name="T24" fmla="*/ 9 w 56"/>
                    <a:gd name="T25" fmla="*/ 7 h 44"/>
                    <a:gd name="T26" fmla="*/ 7 w 56"/>
                    <a:gd name="T27" fmla="*/ 10 h 44"/>
                    <a:gd name="T28" fmla="*/ 5 w 56"/>
                    <a:gd name="T29" fmla="*/ 13 h 44"/>
                    <a:gd name="T30" fmla="*/ 2 w 56"/>
                    <a:gd name="T31" fmla="*/ 17 h 44"/>
                    <a:gd name="T32" fmla="*/ 0 w 56"/>
                    <a:gd name="T33" fmla="*/ 22 h 44"/>
                    <a:gd name="T34" fmla="*/ 0 w 56"/>
                    <a:gd name="T35" fmla="*/ 26 h 44"/>
                    <a:gd name="T36" fmla="*/ 1 w 56"/>
                    <a:gd name="T37" fmla="*/ 29 h 44"/>
                    <a:gd name="T38" fmla="*/ 2 w 56"/>
                    <a:gd name="T39" fmla="*/ 33 h 44"/>
                    <a:gd name="T40" fmla="*/ 5 w 56"/>
                    <a:gd name="T41" fmla="*/ 37 h 44"/>
                    <a:gd name="T42" fmla="*/ 7 w 56"/>
                    <a:gd name="T43" fmla="*/ 39 h 44"/>
                    <a:gd name="T44" fmla="*/ 12 w 56"/>
                    <a:gd name="T45" fmla="*/ 43 h 44"/>
                    <a:gd name="T46" fmla="*/ 16 w 56"/>
                    <a:gd name="T47" fmla="*/ 44 h 44"/>
                    <a:gd name="T48" fmla="*/ 19 w 56"/>
                    <a:gd name="T49" fmla="*/ 44 h 44"/>
                    <a:gd name="T50" fmla="*/ 23 w 56"/>
                    <a:gd name="T51" fmla="*/ 44 h 44"/>
                    <a:gd name="T52" fmla="*/ 29 w 56"/>
                    <a:gd name="T53" fmla="*/ 44 h 44"/>
                    <a:gd name="T54" fmla="*/ 34 w 56"/>
                    <a:gd name="T55" fmla="*/ 43 h 44"/>
                    <a:gd name="T56" fmla="*/ 39 w 56"/>
                    <a:gd name="T57" fmla="*/ 42 h 44"/>
                    <a:gd name="T58" fmla="*/ 42 w 56"/>
                    <a:gd name="T59" fmla="*/ 39 h 44"/>
                    <a:gd name="T60" fmla="*/ 47 w 56"/>
                    <a:gd name="T61" fmla="*/ 37 h 44"/>
                    <a:gd name="T62" fmla="*/ 49 w 56"/>
                    <a:gd name="T63" fmla="*/ 34 h 44"/>
                    <a:gd name="T64" fmla="*/ 51 w 56"/>
                    <a:gd name="T65" fmla="*/ 31 h 44"/>
                    <a:gd name="T66" fmla="*/ 54 w 56"/>
                    <a:gd name="T67" fmla="*/ 27 h 44"/>
                    <a:gd name="T68" fmla="*/ 56 w 56"/>
                    <a:gd name="T69" fmla="*/ 22 h 44"/>
                    <a:gd name="T70" fmla="*/ 56 w 56"/>
                    <a:gd name="T71" fmla="*/ 18 h 44"/>
                    <a:gd name="T72" fmla="*/ 55 w 56"/>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6" h="44">
                      <a:moveTo>
                        <a:pt x="55" y="15"/>
                      </a:moveTo>
                      <a:lnTo>
                        <a:pt x="54" y="11"/>
                      </a:lnTo>
                      <a:lnTo>
                        <a:pt x="51" y="7"/>
                      </a:lnTo>
                      <a:lnTo>
                        <a:pt x="49" y="5"/>
                      </a:lnTo>
                      <a:lnTo>
                        <a:pt x="44" y="1"/>
                      </a:lnTo>
                      <a:lnTo>
                        <a:pt x="40" y="0"/>
                      </a:lnTo>
                      <a:lnTo>
                        <a:pt x="37" y="0"/>
                      </a:lnTo>
                      <a:lnTo>
                        <a:pt x="33" y="0"/>
                      </a:lnTo>
                      <a:lnTo>
                        <a:pt x="27" y="0"/>
                      </a:lnTo>
                      <a:lnTo>
                        <a:pt x="22" y="1"/>
                      </a:lnTo>
                      <a:lnTo>
                        <a:pt x="18" y="2"/>
                      </a:lnTo>
                      <a:lnTo>
                        <a:pt x="14" y="5"/>
                      </a:lnTo>
                      <a:lnTo>
                        <a:pt x="9" y="7"/>
                      </a:lnTo>
                      <a:lnTo>
                        <a:pt x="7" y="10"/>
                      </a:lnTo>
                      <a:lnTo>
                        <a:pt x="5" y="13"/>
                      </a:lnTo>
                      <a:lnTo>
                        <a:pt x="2" y="17"/>
                      </a:lnTo>
                      <a:lnTo>
                        <a:pt x="0" y="22"/>
                      </a:lnTo>
                      <a:lnTo>
                        <a:pt x="0" y="26"/>
                      </a:lnTo>
                      <a:lnTo>
                        <a:pt x="1" y="29"/>
                      </a:lnTo>
                      <a:lnTo>
                        <a:pt x="2" y="33"/>
                      </a:lnTo>
                      <a:lnTo>
                        <a:pt x="5" y="37"/>
                      </a:lnTo>
                      <a:lnTo>
                        <a:pt x="7" y="39"/>
                      </a:lnTo>
                      <a:lnTo>
                        <a:pt x="12" y="43"/>
                      </a:lnTo>
                      <a:lnTo>
                        <a:pt x="16" y="44"/>
                      </a:lnTo>
                      <a:lnTo>
                        <a:pt x="19" y="44"/>
                      </a:lnTo>
                      <a:lnTo>
                        <a:pt x="23" y="44"/>
                      </a:lnTo>
                      <a:lnTo>
                        <a:pt x="29" y="44"/>
                      </a:lnTo>
                      <a:lnTo>
                        <a:pt x="34" y="43"/>
                      </a:lnTo>
                      <a:lnTo>
                        <a:pt x="39" y="42"/>
                      </a:lnTo>
                      <a:lnTo>
                        <a:pt x="42" y="39"/>
                      </a:lnTo>
                      <a:lnTo>
                        <a:pt x="47" y="37"/>
                      </a:lnTo>
                      <a:lnTo>
                        <a:pt x="49" y="34"/>
                      </a:lnTo>
                      <a:lnTo>
                        <a:pt x="51" y="31"/>
                      </a:lnTo>
                      <a:lnTo>
                        <a:pt x="54" y="27"/>
                      </a:lnTo>
                      <a:lnTo>
                        <a:pt x="56" y="22"/>
                      </a:lnTo>
                      <a:lnTo>
                        <a:pt x="56" y="18"/>
                      </a:lnTo>
                      <a:lnTo>
                        <a:pt x="55"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4" name="Freeform 69"/>
                <p:cNvSpPr>
                  <a:spLocks/>
                </p:cNvSpPr>
                <p:nvPr/>
              </p:nvSpPr>
              <p:spPr bwMode="auto">
                <a:xfrm>
                  <a:off x="945" y="1359"/>
                  <a:ext cx="54" cy="44"/>
                </a:xfrm>
                <a:custGeom>
                  <a:avLst/>
                  <a:gdLst>
                    <a:gd name="T0" fmla="*/ 53 w 54"/>
                    <a:gd name="T1" fmla="*/ 15 h 44"/>
                    <a:gd name="T2" fmla="*/ 52 w 54"/>
                    <a:gd name="T3" fmla="*/ 11 h 44"/>
                    <a:gd name="T4" fmla="*/ 49 w 54"/>
                    <a:gd name="T5" fmla="*/ 7 h 44"/>
                    <a:gd name="T6" fmla="*/ 47 w 54"/>
                    <a:gd name="T7" fmla="*/ 5 h 44"/>
                    <a:gd name="T8" fmla="*/ 43 w 54"/>
                    <a:gd name="T9" fmla="*/ 1 h 44"/>
                    <a:gd name="T10" fmla="*/ 39 w 54"/>
                    <a:gd name="T11" fmla="*/ 0 h 44"/>
                    <a:gd name="T12" fmla="*/ 35 w 54"/>
                    <a:gd name="T13" fmla="*/ 0 h 44"/>
                    <a:gd name="T14" fmla="*/ 32 w 54"/>
                    <a:gd name="T15" fmla="*/ 0 h 44"/>
                    <a:gd name="T16" fmla="*/ 26 w 54"/>
                    <a:gd name="T17" fmla="*/ 0 h 44"/>
                    <a:gd name="T18" fmla="*/ 21 w 54"/>
                    <a:gd name="T19" fmla="*/ 1 h 44"/>
                    <a:gd name="T20" fmla="*/ 16 w 54"/>
                    <a:gd name="T21" fmla="*/ 2 h 44"/>
                    <a:gd name="T22" fmla="*/ 13 w 54"/>
                    <a:gd name="T23" fmla="*/ 5 h 44"/>
                    <a:gd name="T24" fmla="*/ 9 w 54"/>
                    <a:gd name="T25" fmla="*/ 7 h 44"/>
                    <a:gd name="T26" fmla="*/ 6 w 54"/>
                    <a:gd name="T27" fmla="*/ 10 h 44"/>
                    <a:gd name="T28" fmla="*/ 4 w 54"/>
                    <a:gd name="T29" fmla="*/ 13 h 44"/>
                    <a:gd name="T30" fmla="*/ 2 w 54"/>
                    <a:gd name="T31" fmla="*/ 17 h 44"/>
                    <a:gd name="T32" fmla="*/ 0 w 54"/>
                    <a:gd name="T33" fmla="*/ 22 h 44"/>
                    <a:gd name="T34" fmla="*/ 0 w 54"/>
                    <a:gd name="T35" fmla="*/ 26 h 44"/>
                    <a:gd name="T36" fmla="*/ 1 w 54"/>
                    <a:gd name="T37" fmla="*/ 29 h 44"/>
                    <a:gd name="T38" fmla="*/ 2 w 54"/>
                    <a:gd name="T39" fmla="*/ 33 h 44"/>
                    <a:gd name="T40" fmla="*/ 5 w 54"/>
                    <a:gd name="T41" fmla="*/ 37 h 44"/>
                    <a:gd name="T42" fmla="*/ 7 w 54"/>
                    <a:gd name="T43" fmla="*/ 39 h 44"/>
                    <a:gd name="T44" fmla="*/ 11 w 54"/>
                    <a:gd name="T45" fmla="*/ 43 h 44"/>
                    <a:gd name="T46" fmla="*/ 15 w 54"/>
                    <a:gd name="T47" fmla="*/ 44 h 44"/>
                    <a:gd name="T48" fmla="*/ 19 w 54"/>
                    <a:gd name="T49" fmla="*/ 44 h 44"/>
                    <a:gd name="T50" fmla="*/ 22 w 54"/>
                    <a:gd name="T51" fmla="*/ 44 h 44"/>
                    <a:gd name="T52" fmla="*/ 28 w 54"/>
                    <a:gd name="T53" fmla="*/ 44 h 44"/>
                    <a:gd name="T54" fmla="*/ 33 w 54"/>
                    <a:gd name="T55" fmla="*/ 43 h 44"/>
                    <a:gd name="T56" fmla="*/ 38 w 54"/>
                    <a:gd name="T57" fmla="*/ 42 h 44"/>
                    <a:gd name="T58" fmla="*/ 41 w 54"/>
                    <a:gd name="T59" fmla="*/ 39 h 44"/>
                    <a:gd name="T60" fmla="*/ 45 w 54"/>
                    <a:gd name="T61" fmla="*/ 37 h 44"/>
                    <a:gd name="T62" fmla="*/ 48 w 54"/>
                    <a:gd name="T63" fmla="*/ 34 h 44"/>
                    <a:gd name="T64" fmla="*/ 50 w 54"/>
                    <a:gd name="T65" fmla="*/ 31 h 44"/>
                    <a:gd name="T66" fmla="*/ 52 w 54"/>
                    <a:gd name="T67" fmla="*/ 27 h 44"/>
                    <a:gd name="T68" fmla="*/ 54 w 54"/>
                    <a:gd name="T69" fmla="*/ 22 h 44"/>
                    <a:gd name="T70" fmla="*/ 54 w 54"/>
                    <a:gd name="T71" fmla="*/ 18 h 44"/>
                    <a:gd name="T72" fmla="*/ 53 w 54"/>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4" h="44">
                      <a:moveTo>
                        <a:pt x="53" y="15"/>
                      </a:moveTo>
                      <a:lnTo>
                        <a:pt x="52" y="11"/>
                      </a:lnTo>
                      <a:lnTo>
                        <a:pt x="49" y="7"/>
                      </a:lnTo>
                      <a:lnTo>
                        <a:pt x="47" y="5"/>
                      </a:lnTo>
                      <a:lnTo>
                        <a:pt x="43" y="1"/>
                      </a:lnTo>
                      <a:lnTo>
                        <a:pt x="39" y="0"/>
                      </a:lnTo>
                      <a:lnTo>
                        <a:pt x="35" y="0"/>
                      </a:lnTo>
                      <a:lnTo>
                        <a:pt x="32" y="0"/>
                      </a:lnTo>
                      <a:lnTo>
                        <a:pt x="26" y="0"/>
                      </a:lnTo>
                      <a:lnTo>
                        <a:pt x="21" y="1"/>
                      </a:lnTo>
                      <a:lnTo>
                        <a:pt x="16" y="2"/>
                      </a:lnTo>
                      <a:lnTo>
                        <a:pt x="13" y="5"/>
                      </a:lnTo>
                      <a:lnTo>
                        <a:pt x="9" y="7"/>
                      </a:lnTo>
                      <a:lnTo>
                        <a:pt x="6" y="10"/>
                      </a:lnTo>
                      <a:lnTo>
                        <a:pt x="4" y="13"/>
                      </a:lnTo>
                      <a:lnTo>
                        <a:pt x="2" y="17"/>
                      </a:lnTo>
                      <a:lnTo>
                        <a:pt x="0" y="22"/>
                      </a:lnTo>
                      <a:lnTo>
                        <a:pt x="0" y="26"/>
                      </a:lnTo>
                      <a:lnTo>
                        <a:pt x="1" y="29"/>
                      </a:lnTo>
                      <a:lnTo>
                        <a:pt x="2" y="33"/>
                      </a:lnTo>
                      <a:lnTo>
                        <a:pt x="5" y="37"/>
                      </a:lnTo>
                      <a:lnTo>
                        <a:pt x="7" y="39"/>
                      </a:lnTo>
                      <a:lnTo>
                        <a:pt x="11" y="43"/>
                      </a:lnTo>
                      <a:lnTo>
                        <a:pt x="15" y="44"/>
                      </a:lnTo>
                      <a:lnTo>
                        <a:pt x="19" y="44"/>
                      </a:lnTo>
                      <a:lnTo>
                        <a:pt x="22" y="44"/>
                      </a:lnTo>
                      <a:lnTo>
                        <a:pt x="28" y="44"/>
                      </a:lnTo>
                      <a:lnTo>
                        <a:pt x="33" y="43"/>
                      </a:lnTo>
                      <a:lnTo>
                        <a:pt x="38" y="42"/>
                      </a:lnTo>
                      <a:lnTo>
                        <a:pt x="41" y="39"/>
                      </a:lnTo>
                      <a:lnTo>
                        <a:pt x="45" y="37"/>
                      </a:lnTo>
                      <a:lnTo>
                        <a:pt x="48" y="34"/>
                      </a:lnTo>
                      <a:lnTo>
                        <a:pt x="50" y="31"/>
                      </a:lnTo>
                      <a:lnTo>
                        <a:pt x="52" y="27"/>
                      </a:lnTo>
                      <a:lnTo>
                        <a:pt x="54" y="22"/>
                      </a:lnTo>
                      <a:lnTo>
                        <a:pt x="54" y="18"/>
                      </a:lnTo>
                      <a:lnTo>
                        <a:pt x="53"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5" name="Freeform 70"/>
                <p:cNvSpPr>
                  <a:spLocks/>
                </p:cNvSpPr>
                <p:nvPr/>
              </p:nvSpPr>
              <p:spPr bwMode="auto">
                <a:xfrm>
                  <a:off x="1091" y="1319"/>
                  <a:ext cx="54" cy="44"/>
                </a:xfrm>
                <a:custGeom>
                  <a:avLst/>
                  <a:gdLst>
                    <a:gd name="T0" fmla="*/ 53 w 54"/>
                    <a:gd name="T1" fmla="*/ 15 h 44"/>
                    <a:gd name="T2" fmla="*/ 52 w 54"/>
                    <a:gd name="T3" fmla="*/ 11 h 44"/>
                    <a:gd name="T4" fmla="*/ 49 w 54"/>
                    <a:gd name="T5" fmla="*/ 7 h 44"/>
                    <a:gd name="T6" fmla="*/ 47 w 54"/>
                    <a:gd name="T7" fmla="*/ 5 h 44"/>
                    <a:gd name="T8" fmla="*/ 43 w 54"/>
                    <a:gd name="T9" fmla="*/ 1 h 44"/>
                    <a:gd name="T10" fmla="*/ 39 w 54"/>
                    <a:gd name="T11" fmla="*/ 0 h 44"/>
                    <a:gd name="T12" fmla="*/ 35 w 54"/>
                    <a:gd name="T13" fmla="*/ 0 h 44"/>
                    <a:gd name="T14" fmla="*/ 32 w 54"/>
                    <a:gd name="T15" fmla="*/ 0 h 44"/>
                    <a:gd name="T16" fmla="*/ 26 w 54"/>
                    <a:gd name="T17" fmla="*/ 0 h 44"/>
                    <a:gd name="T18" fmla="*/ 21 w 54"/>
                    <a:gd name="T19" fmla="*/ 1 h 44"/>
                    <a:gd name="T20" fmla="*/ 16 w 54"/>
                    <a:gd name="T21" fmla="*/ 2 h 44"/>
                    <a:gd name="T22" fmla="*/ 13 w 54"/>
                    <a:gd name="T23" fmla="*/ 5 h 44"/>
                    <a:gd name="T24" fmla="*/ 9 w 54"/>
                    <a:gd name="T25" fmla="*/ 7 h 44"/>
                    <a:gd name="T26" fmla="*/ 6 w 54"/>
                    <a:gd name="T27" fmla="*/ 10 h 44"/>
                    <a:gd name="T28" fmla="*/ 4 w 54"/>
                    <a:gd name="T29" fmla="*/ 13 h 44"/>
                    <a:gd name="T30" fmla="*/ 2 w 54"/>
                    <a:gd name="T31" fmla="*/ 17 h 44"/>
                    <a:gd name="T32" fmla="*/ 0 w 54"/>
                    <a:gd name="T33" fmla="*/ 22 h 44"/>
                    <a:gd name="T34" fmla="*/ 0 w 54"/>
                    <a:gd name="T35" fmla="*/ 26 h 44"/>
                    <a:gd name="T36" fmla="*/ 1 w 54"/>
                    <a:gd name="T37" fmla="*/ 29 h 44"/>
                    <a:gd name="T38" fmla="*/ 2 w 54"/>
                    <a:gd name="T39" fmla="*/ 33 h 44"/>
                    <a:gd name="T40" fmla="*/ 5 w 54"/>
                    <a:gd name="T41" fmla="*/ 37 h 44"/>
                    <a:gd name="T42" fmla="*/ 7 w 54"/>
                    <a:gd name="T43" fmla="*/ 39 h 44"/>
                    <a:gd name="T44" fmla="*/ 11 w 54"/>
                    <a:gd name="T45" fmla="*/ 43 h 44"/>
                    <a:gd name="T46" fmla="*/ 15 w 54"/>
                    <a:gd name="T47" fmla="*/ 44 h 44"/>
                    <a:gd name="T48" fmla="*/ 19 w 54"/>
                    <a:gd name="T49" fmla="*/ 44 h 44"/>
                    <a:gd name="T50" fmla="*/ 22 w 54"/>
                    <a:gd name="T51" fmla="*/ 44 h 44"/>
                    <a:gd name="T52" fmla="*/ 28 w 54"/>
                    <a:gd name="T53" fmla="*/ 44 h 44"/>
                    <a:gd name="T54" fmla="*/ 33 w 54"/>
                    <a:gd name="T55" fmla="*/ 43 h 44"/>
                    <a:gd name="T56" fmla="*/ 38 w 54"/>
                    <a:gd name="T57" fmla="*/ 42 h 44"/>
                    <a:gd name="T58" fmla="*/ 41 w 54"/>
                    <a:gd name="T59" fmla="*/ 39 h 44"/>
                    <a:gd name="T60" fmla="*/ 45 w 54"/>
                    <a:gd name="T61" fmla="*/ 37 h 44"/>
                    <a:gd name="T62" fmla="*/ 48 w 54"/>
                    <a:gd name="T63" fmla="*/ 34 h 44"/>
                    <a:gd name="T64" fmla="*/ 50 w 54"/>
                    <a:gd name="T65" fmla="*/ 31 h 44"/>
                    <a:gd name="T66" fmla="*/ 52 w 54"/>
                    <a:gd name="T67" fmla="*/ 27 h 44"/>
                    <a:gd name="T68" fmla="*/ 54 w 54"/>
                    <a:gd name="T69" fmla="*/ 22 h 44"/>
                    <a:gd name="T70" fmla="*/ 54 w 54"/>
                    <a:gd name="T71" fmla="*/ 18 h 44"/>
                    <a:gd name="T72" fmla="*/ 53 w 54"/>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4" h="44">
                      <a:moveTo>
                        <a:pt x="53" y="15"/>
                      </a:moveTo>
                      <a:lnTo>
                        <a:pt x="52" y="11"/>
                      </a:lnTo>
                      <a:lnTo>
                        <a:pt x="49" y="7"/>
                      </a:lnTo>
                      <a:lnTo>
                        <a:pt x="47" y="5"/>
                      </a:lnTo>
                      <a:lnTo>
                        <a:pt x="43" y="1"/>
                      </a:lnTo>
                      <a:lnTo>
                        <a:pt x="39" y="0"/>
                      </a:lnTo>
                      <a:lnTo>
                        <a:pt x="35" y="0"/>
                      </a:lnTo>
                      <a:lnTo>
                        <a:pt x="32" y="0"/>
                      </a:lnTo>
                      <a:lnTo>
                        <a:pt x="26" y="0"/>
                      </a:lnTo>
                      <a:lnTo>
                        <a:pt x="21" y="1"/>
                      </a:lnTo>
                      <a:lnTo>
                        <a:pt x="16" y="2"/>
                      </a:lnTo>
                      <a:lnTo>
                        <a:pt x="13" y="5"/>
                      </a:lnTo>
                      <a:lnTo>
                        <a:pt x="9" y="7"/>
                      </a:lnTo>
                      <a:lnTo>
                        <a:pt x="6" y="10"/>
                      </a:lnTo>
                      <a:lnTo>
                        <a:pt x="4" y="13"/>
                      </a:lnTo>
                      <a:lnTo>
                        <a:pt x="2" y="17"/>
                      </a:lnTo>
                      <a:lnTo>
                        <a:pt x="0" y="22"/>
                      </a:lnTo>
                      <a:lnTo>
                        <a:pt x="0" y="26"/>
                      </a:lnTo>
                      <a:lnTo>
                        <a:pt x="1" y="29"/>
                      </a:lnTo>
                      <a:lnTo>
                        <a:pt x="2" y="33"/>
                      </a:lnTo>
                      <a:lnTo>
                        <a:pt x="5" y="37"/>
                      </a:lnTo>
                      <a:lnTo>
                        <a:pt x="7" y="39"/>
                      </a:lnTo>
                      <a:lnTo>
                        <a:pt x="11" y="43"/>
                      </a:lnTo>
                      <a:lnTo>
                        <a:pt x="15" y="44"/>
                      </a:lnTo>
                      <a:lnTo>
                        <a:pt x="19" y="44"/>
                      </a:lnTo>
                      <a:lnTo>
                        <a:pt x="22" y="44"/>
                      </a:lnTo>
                      <a:lnTo>
                        <a:pt x="28" y="44"/>
                      </a:lnTo>
                      <a:lnTo>
                        <a:pt x="33" y="43"/>
                      </a:lnTo>
                      <a:lnTo>
                        <a:pt x="38" y="42"/>
                      </a:lnTo>
                      <a:lnTo>
                        <a:pt x="41" y="39"/>
                      </a:lnTo>
                      <a:lnTo>
                        <a:pt x="45" y="37"/>
                      </a:lnTo>
                      <a:lnTo>
                        <a:pt x="48" y="34"/>
                      </a:lnTo>
                      <a:lnTo>
                        <a:pt x="50" y="31"/>
                      </a:lnTo>
                      <a:lnTo>
                        <a:pt x="52" y="27"/>
                      </a:lnTo>
                      <a:lnTo>
                        <a:pt x="54" y="22"/>
                      </a:lnTo>
                      <a:lnTo>
                        <a:pt x="54" y="18"/>
                      </a:lnTo>
                      <a:lnTo>
                        <a:pt x="53"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6" name="Freeform 71"/>
                <p:cNvSpPr>
                  <a:spLocks/>
                </p:cNvSpPr>
                <p:nvPr/>
              </p:nvSpPr>
              <p:spPr bwMode="auto">
                <a:xfrm>
                  <a:off x="650" y="1442"/>
                  <a:ext cx="565" cy="162"/>
                </a:xfrm>
                <a:custGeom>
                  <a:avLst/>
                  <a:gdLst>
                    <a:gd name="T0" fmla="*/ 17 w 565"/>
                    <a:gd name="T1" fmla="*/ 120 h 162"/>
                    <a:gd name="T2" fmla="*/ 145 w 565"/>
                    <a:gd name="T3" fmla="*/ 102 h 162"/>
                    <a:gd name="T4" fmla="*/ 283 w 565"/>
                    <a:gd name="T5" fmla="*/ 68 h 162"/>
                    <a:gd name="T6" fmla="*/ 405 w 565"/>
                    <a:gd name="T7" fmla="*/ 36 h 162"/>
                    <a:gd name="T8" fmla="*/ 542 w 565"/>
                    <a:gd name="T9" fmla="*/ 0 h 162"/>
                    <a:gd name="T10" fmla="*/ 565 w 565"/>
                    <a:gd name="T11" fmla="*/ 8 h 162"/>
                    <a:gd name="T12" fmla="*/ 555 w 565"/>
                    <a:gd name="T13" fmla="*/ 26 h 162"/>
                    <a:gd name="T14" fmla="*/ 498 w 565"/>
                    <a:gd name="T15" fmla="*/ 38 h 162"/>
                    <a:gd name="T16" fmla="*/ 380 w 565"/>
                    <a:gd name="T17" fmla="*/ 66 h 162"/>
                    <a:gd name="T18" fmla="*/ 233 w 565"/>
                    <a:gd name="T19" fmla="*/ 104 h 162"/>
                    <a:gd name="T20" fmla="*/ 118 w 565"/>
                    <a:gd name="T21" fmla="*/ 134 h 162"/>
                    <a:gd name="T22" fmla="*/ 35 w 565"/>
                    <a:gd name="T23" fmla="*/ 162 h 162"/>
                    <a:gd name="T24" fmla="*/ 0 w 565"/>
                    <a:gd name="T25" fmla="*/ 152 h 162"/>
                    <a:gd name="T26" fmla="*/ 17 w 565"/>
                    <a:gd name="T27" fmla="*/ 120 h 1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65" h="162">
                      <a:moveTo>
                        <a:pt x="17" y="120"/>
                      </a:moveTo>
                      <a:lnTo>
                        <a:pt x="145" y="102"/>
                      </a:lnTo>
                      <a:lnTo>
                        <a:pt x="283" y="68"/>
                      </a:lnTo>
                      <a:lnTo>
                        <a:pt x="405" y="36"/>
                      </a:lnTo>
                      <a:lnTo>
                        <a:pt x="542" y="0"/>
                      </a:lnTo>
                      <a:lnTo>
                        <a:pt x="565" y="8"/>
                      </a:lnTo>
                      <a:lnTo>
                        <a:pt x="555" y="26"/>
                      </a:lnTo>
                      <a:lnTo>
                        <a:pt x="498" y="38"/>
                      </a:lnTo>
                      <a:lnTo>
                        <a:pt x="380" y="66"/>
                      </a:lnTo>
                      <a:lnTo>
                        <a:pt x="233" y="104"/>
                      </a:lnTo>
                      <a:lnTo>
                        <a:pt x="118" y="134"/>
                      </a:lnTo>
                      <a:lnTo>
                        <a:pt x="35" y="162"/>
                      </a:lnTo>
                      <a:lnTo>
                        <a:pt x="0" y="152"/>
                      </a:lnTo>
                      <a:lnTo>
                        <a:pt x="17"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7" name="Freeform 72"/>
                <p:cNvSpPr>
                  <a:spLocks/>
                </p:cNvSpPr>
                <p:nvPr/>
              </p:nvSpPr>
              <p:spPr bwMode="auto">
                <a:xfrm>
                  <a:off x="605" y="1539"/>
                  <a:ext cx="606" cy="259"/>
                </a:xfrm>
                <a:custGeom>
                  <a:avLst/>
                  <a:gdLst>
                    <a:gd name="T0" fmla="*/ 117 w 606"/>
                    <a:gd name="T1" fmla="*/ 131 h 259"/>
                    <a:gd name="T2" fmla="*/ 271 w 606"/>
                    <a:gd name="T3" fmla="*/ 88 h 259"/>
                    <a:gd name="T4" fmla="*/ 408 w 606"/>
                    <a:gd name="T5" fmla="*/ 49 h 259"/>
                    <a:gd name="T6" fmla="*/ 525 w 606"/>
                    <a:gd name="T7" fmla="*/ 20 h 259"/>
                    <a:gd name="T8" fmla="*/ 598 w 606"/>
                    <a:gd name="T9" fmla="*/ 0 h 259"/>
                    <a:gd name="T10" fmla="*/ 606 w 606"/>
                    <a:gd name="T11" fmla="*/ 26 h 259"/>
                    <a:gd name="T12" fmla="*/ 594 w 606"/>
                    <a:gd name="T13" fmla="*/ 77 h 259"/>
                    <a:gd name="T14" fmla="*/ 473 w 606"/>
                    <a:gd name="T15" fmla="*/ 112 h 259"/>
                    <a:gd name="T16" fmla="*/ 273 w 606"/>
                    <a:gd name="T17" fmla="*/ 161 h 259"/>
                    <a:gd name="T18" fmla="*/ 117 w 606"/>
                    <a:gd name="T19" fmla="*/ 218 h 259"/>
                    <a:gd name="T20" fmla="*/ 23 w 606"/>
                    <a:gd name="T21" fmla="*/ 259 h 259"/>
                    <a:gd name="T22" fmla="*/ 0 w 606"/>
                    <a:gd name="T23" fmla="*/ 249 h 259"/>
                    <a:gd name="T24" fmla="*/ 0 w 606"/>
                    <a:gd name="T25" fmla="*/ 208 h 259"/>
                    <a:gd name="T26" fmla="*/ 23 w 606"/>
                    <a:gd name="T27" fmla="*/ 137 h 259"/>
                    <a:gd name="T28" fmla="*/ 60 w 606"/>
                    <a:gd name="T29" fmla="*/ 141 h 259"/>
                    <a:gd name="T30" fmla="*/ 35 w 606"/>
                    <a:gd name="T31" fmla="*/ 173 h 259"/>
                    <a:gd name="T32" fmla="*/ 29 w 606"/>
                    <a:gd name="T33" fmla="*/ 220 h 259"/>
                    <a:gd name="T34" fmla="*/ 52 w 606"/>
                    <a:gd name="T35" fmla="*/ 218 h 259"/>
                    <a:gd name="T36" fmla="*/ 158 w 606"/>
                    <a:gd name="T37" fmla="*/ 182 h 259"/>
                    <a:gd name="T38" fmla="*/ 319 w 606"/>
                    <a:gd name="T39" fmla="*/ 130 h 259"/>
                    <a:gd name="T40" fmla="*/ 456 w 606"/>
                    <a:gd name="T41" fmla="*/ 94 h 259"/>
                    <a:gd name="T42" fmla="*/ 543 w 606"/>
                    <a:gd name="T43" fmla="*/ 65 h 259"/>
                    <a:gd name="T44" fmla="*/ 575 w 606"/>
                    <a:gd name="T45" fmla="*/ 59 h 259"/>
                    <a:gd name="T46" fmla="*/ 581 w 606"/>
                    <a:gd name="T47" fmla="*/ 24 h 259"/>
                    <a:gd name="T48" fmla="*/ 473 w 606"/>
                    <a:gd name="T49" fmla="*/ 55 h 259"/>
                    <a:gd name="T50" fmla="*/ 317 w 606"/>
                    <a:gd name="T51" fmla="*/ 90 h 259"/>
                    <a:gd name="T52" fmla="*/ 185 w 606"/>
                    <a:gd name="T53" fmla="*/ 131 h 259"/>
                    <a:gd name="T54" fmla="*/ 71 w 606"/>
                    <a:gd name="T55" fmla="*/ 165 h 259"/>
                    <a:gd name="T56" fmla="*/ 83 w 606"/>
                    <a:gd name="T57" fmla="*/ 137 h 259"/>
                    <a:gd name="T58" fmla="*/ 117 w 606"/>
                    <a:gd name="T59" fmla="*/ 131 h 25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6" h="259">
                      <a:moveTo>
                        <a:pt x="117" y="131"/>
                      </a:moveTo>
                      <a:lnTo>
                        <a:pt x="271" y="88"/>
                      </a:lnTo>
                      <a:lnTo>
                        <a:pt x="408" y="49"/>
                      </a:lnTo>
                      <a:lnTo>
                        <a:pt x="525" y="20"/>
                      </a:lnTo>
                      <a:lnTo>
                        <a:pt x="598" y="0"/>
                      </a:lnTo>
                      <a:lnTo>
                        <a:pt x="606" y="26"/>
                      </a:lnTo>
                      <a:lnTo>
                        <a:pt x="594" y="77"/>
                      </a:lnTo>
                      <a:lnTo>
                        <a:pt x="473" y="112"/>
                      </a:lnTo>
                      <a:lnTo>
                        <a:pt x="273" y="161"/>
                      </a:lnTo>
                      <a:lnTo>
                        <a:pt x="117" y="218"/>
                      </a:lnTo>
                      <a:lnTo>
                        <a:pt x="23" y="259"/>
                      </a:lnTo>
                      <a:lnTo>
                        <a:pt x="0" y="249"/>
                      </a:lnTo>
                      <a:lnTo>
                        <a:pt x="0" y="208"/>
                      </a:lnTo>
                      <a:lnTo>
                        <a:pt x="23" y="137"/>
                      </a:lnTo>
                      <a:lnTo>
                        <a:pt x="60" y="141"/>
                      </a:lnTo>
                      <a:lnTo>
                        <a:pt x="35" y="173"/>
                      </a:lnTo>
                      <a:lnTo>
                        <a:pt x="29" y="220"/>
                      </a:lnTo>
                      <a:lnTo>
                        <a:pt x="52" y="218"/>
                      </a:lnTo>
                      <a:lnTo>
                        <a:pt x="158" y="182"/>
                      </a:lnTo>
                      <a:lnTo>
                        <a:pt x="319" y="130"/>
                      </a:lnTo>
                      <a:lnTo>
                        <a:pt x="456" y="94"/>
                      </a:lnTo>
                      <a:lnTo>
                        <a:pt x="543" y="65"/>
                      </a:lnTo>
                      <a:lnTo>
                        <a:pt x="575" y="59"/>
                      </a:lnTo>
                      <a:lnTo>
                        <a:pt x="581" y="24"/>
                      </a:lnTo>
                      <a:lnTo>
                        <a:pt x="473" y="55"/>
                      </a:lnTo>
                      <a:lnTo>
                        <a:pt x="317" y="90"/>
                      </a:lnTo>
                      <a:lnTo>
                        <a:pt x="185" y="131"/>
                      </a:lnTo>
                      <a:lnTo>
                        <a:pt x="71" y="165"/>
                      </a:lnTo>
                      <a:lnTo>
                        <a:pt x="83" y="137"/>
                      </a:lnTo>
                      <a:lnTo>
                        <a:pt x="117" y="1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278" name="Group 73"/>
                <p:cNvGrpSpPr>
                  <a:grpSpLocks/>
                </p:cNvGrpSpPr>
                <p:nvPr/>
              </p:nvGrpSpPr>
              <p:grpSpPr bwMode="auto">
                <a:xfrm>
                  <a:off x="1081" y="1154"/>
                  <a:ext cx="105" cy="108"/>
                  <a:chOff x="1081" y="1154"/>
                  <a:chExt cx="105" cy="108"/>
                </a:xfrm>
              </p:grpSpPr>
              <p:sp>
                <p:nvSpPr>
                  <p:cNvPr id="6287" name="Freeform 74"/>
                  <p:cNvSpPr>
                    <a:spLocks/>
                  </p:cNvSpPr>
                  <p:nvPr/>
                </p:nvSpPr>
                <p:spPr bwMode="auto">
                  <a:xfrm>
                    <a:off x="1093" y="1154"/>
                    <a:ext cx="93" cy="108"/>
                  </a:xfrm>
                  <a:custGeom>
                    <a:avLst/>
                    <a:gdLst>
                      <a:gd name="T0" fmla="*/ 2 w 93"/>
                      <a:gd name="T1" fmla="*/ 53 h 108"/>
                      <a:gd name="T2" fmla="*/ 14 w 93"/>
                      <a:gd name="T3" fmla="*/ 31 h 108"/>
                      <a:gd name="T4" fmla="*/ 37 w 93"/>
                      <a:gd name="T5" fmla="*/ 29 h 108"/>
                      <a:gd name="T6" fmla="*/ 64 w 93"/>
                      <a:gd name="T7" fmla="*/ 31 h 108"/>
                      <a:gd name="T8" fmla="*/ 70 w 93"/>
                      <a:gd name="T9" fmla="*/ 49 h 108"/>
                      <a:gd name="T10" fmla="*/ 58 w 93"/>
                      <a:gd name="T11" fmla="*/ 73 h 108"/>
                      <a:gd name="T12" fmla="*/ 37 w 93"/>
                      <a:gd name="T13" fmla="*/ 79 h 108"/>
                      <a:gd name="T14" fmla="*/ 6 w 93"/>
                      <a:gd name="T15" fmla="*/ 84 h 108"/>
                      <a:gd name="T16" fmla="*/ 8 w 93"/>
                      <a:gd name="T17" fmla="*/ 98 h 108"/>
                      <a:gd name="T18" fmla="*/ 27 w 93"/>
                      <a:gd name="T19" fmla="*/ 108 h 108"/>
                      <a:gd name="T20" fmla="*/ 62 w 93"/>
                      <a:gd name="T21" fmla="*/ 96 h 108"/>
                      <a:gd name="T22" fmla="*/ 83 w 93"/>
                      <a:gd name="T23" fmla="*/ 77 h 108"/>
                      <a:gd name="T24" fmla="*/ 93 w 93"/>
                      <a:gd name="T25" fmla="*/ 59 h 108"/>
                      <a:gd name="T26" fmla="*/ 89 w 93"/>
                      <a:gd name="T27" fmla="*/ 29 h 108"/>
                      <a:gd name="T28" fmla="*/ 70 w 93"/>
                      <a:gd name="T29" fmla="*/ 16 h 108"/>
                      <a:gd name="T30" fmla="*/ 37 w 93"/>
                      <a:gd name="T31" fmla="*/ 0 h 108"/>
                      <a:gd name="T32" fmla="*/ 12 w 93"/>
                      <a:gd name="T33" fmla="*/ 6 h 108"/>
                      <a:gd name="T34" fmla="*/ 0 w 93"/>
                      <a:gd name="T35" fmla="*/ 35 h 108"/>
                      <a:gd name="T36" fmla="*/ 2 w 93"/>
                      <a:gd name="T37" fmla="*/ 53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3" h="108">
                        <a:moveTo>
                          <a:pt x="2" y="53"/>
                        </a:moveTo>
                        <a:lnTo>
                          <a:pt x="14" y="31"/>
                        </a:lnTo>
                        <a:lnTo>
                          <a:pt x="37" y="29"/>
                        </a:lnTo>
                        <a:lnTo>
                          <a:pt x="64" y="31"/>
                        </a:lnTo>
                        <a:lnTo>
                          <a:pt x="70" y="49"/>
                        </a:lnTo>
                        <a:lnTo>
                          <a:pt x="58" y="73"/>
                        </a:lnTo>
                        <a:lnTo>
                          <a:pt x="37" y="79"/>
                        </a:lnTo>
                        <a:lnTo>
                          <a:pt x="6" y="84"/>
                        </a:lnTo>
                        <a:lnTo>
                          <a:pt x="8" y="98"/>
                        </a:lnTo>
                        <a:lnTo>
                          <a:pt x="27" y="108"/>
                        </a:lnTo>
                        <a:lnTo>
                          <a:pt x="62" y="96"/>
                        </a:lnTo>
                        <a:lnTo>
                          <a:pt x="83" y="77"/>
                        </a:lnTo>
                        <a:lnTo>
                          <a:pt x="93" y="59"/>
                        </a:lnTo>
                        <a:lnTo>
                          <a:pt x="89" y="29"/>
                        </a:lnTo>
                        <a:lnTo>
                          <a:pt x="70" y="16"/>
                        </a:lnTo>
                        <a:lnTo>
                          <a:pt x="37" y="0"/>
                        </a:lnTo>
                        <a:lnTo>
                          <a:pt x="12" y="6"/>
                        </a:lnTo>
                        <a:lnTo>
                          <a:pt x="0" y="35"/>
                        </a:lnTo>
                        <a:lnTo>
                          <a:pt x="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8" name="Freeform 75"/>
                  <p:cNvSpPr>
                    <a:spLocks/>
                  </p:cNvSpPr>
                  <p:nvPr/>
                </p:nvSpPr>
                <p:spPr bwMode="auto">
                  <a:xfrm>
                    <a:off x="1081" y="1180"/>
                    <a:ext cx="54" cy="73"/>
                  </a:xfrm>
                  <a:custGeom>
                    <a:avLst/>
                    <a:gdLst>
                      <a:gd name="T0" fmla="*/ 41 w 54"/>
                      <a:gd name="T1" fmla="*/ 0 h 73"/>
                      <a:gd name="T2" fmla="*/ 16 w 54"/>
                      <a:gd name="T3" fmla="*/ 15 h 73"/>
                      <a:gd name="T4" fmla="*/ 20 w 54"/>
                      <a:gd name="T5" fmla="*/ 39 h 73"/>
                      <a:gd name="T6" fmla="*/ 27 w 54"/>
                      <a:gd name="T7" fmla="*/ 58 h 73"/>
                      <a:gd name="T8" fmla="*/ 54 w 54"/>
                      <a:gd name="T9" fmla="*/ 67 h 73"/>
                      <a:gd name="T10" fmla="*/ 27 w 54"/>
                      <a:gd name="T11" fmla="*/ 73 h 73"/>
                      <a:gd name="T12" fmla="*/ 2 w 54"/>
                      <a:gd name="T13" fmla="*/ 58 h 73"/>
                      <a:gd name="T14" fmla="*/ 0 w 54"/>
                      <a:gd name="T15" fmla="*/ 34 h 73"/>
                      <a:gd name="T16" fmla="*/ 2 w 54"/>
                      <a:gd name="T17" fmla="*/ 6 h 73"/>
                      <a:gd name="T18" fmla="*/ 41 w 54"/>
                      <a:gd name="T19" fmla="*/ 0 h 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73">
                        <a:moveTo>
                          <a:pt x="41" y="0"/>
                        </a:moveTo>
                        <a:lnTo>
                          <a:pt x="16" y="15"/>
                        </a:lnTo>
                        <a:lnTo>
                          <a:pt x="20" y="39"/>
                        </a:lnTo>
                        <a:lnTo>
                          <a:pt x="27" y="58"/>
                        </a:lnTo>
                        <a:lnTo>
                          <a:pt x="54" y="67"/>
                        </a:lnTo>
                        <a:lnTo>
                          <a:pt x="27" y="73"/>
                        </a:lnTo>
                        <a:lnTo>
                          <a:pt x="2" y="58"/>
                        </a:lnTo>
                        <a:lnTo>
                          <a:pt x="0" y="34"/>
                        </a:lnTo>
                        <a:lnTo>
                          <a:pt x="2" y="6"/>
                        </a:lnTo>
                        <a:lnTo>
                          <a:pt x="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279" name="Group 76"/>
                <p:cNvGrpSpPr>
                  <a:grpSpLocks/>
                </p:cNvGrpSpPr>
                <p:nvPr/>
              </p:nvGrpSpPr>
              <p:grpSpPr bwMode="auto">
                <a:xfrm>
                  <a:off x="888" y="1194"/>
                  <a:ext cx="104" cy="108"/>
                  <a:chOff x="888" y="1194"/>
                  <a:chExt cx="104" cy="108"/>
                </a:xfrm>
              </p:grpSpPr>
              <p:sp>
                <p:nvSpPr>
                  <p:cNvPr id="6285" name="Freeform 77"/>
                  <p:cNvSpPr>
                    <a:spLocks/>
                  </p:cNvSpPr>
                  <p:nvPr/>
                </p:nvSpPr>
                <p:spPr bwMode="auto">
                  <a:xfrm>
                    <a:off x="899" y="1194"/>
                    <a:ext cx="93" cy="108"/>
                  </a:xfrm>
                  <a:custGeom>
                    <a:avLst/>
                    <a:gdLst>
                      <a:gd name="T0" fmla="*/ 2 w 93"/>
                      <a:gd name="T1" fmla="*/ 53 h 108"/>
                      <a:gd name="T2" fmla="*/ 14 w 93"/>
                      <a:gd name="T3" fmla="*/ 31 h 108"/>
                      <a:gd name="T4" fmla="*/ 37 w 93"/>
                      <a:gd name="T5" fmla="*/ 29 h 108"/>
                      <a:gd name="T6" fmla="*/ 64 w 93"/>
                      <a:gd name="T7" fmla="*/ 31 h 108"/>
                      <a:gd name="T8" fmla="*/ 70 w 93"/>
                      <a:gd name="T9" fmla="*/ 49 h 108"/>
                      <a:gd name="T10" fmla="*/ 58 w 93"/>
                      <a:gd name="T11" fmla="*/ 73 h 108"/>
                      <a:gd name="T12" fmla="*/ 37 w 93"/>
                      <a:gd name="T13" fmla="*/ 79 h 108"/>
                      <a:gd name="T14" fmla="*/ 6 w 93"/>
                      <a:gd name="T15" fmla="*/ 84 h 108"/>
                      <a:gd name="T16" fmla="*/ 8 w 93"/>
                      <a:gd name="T17" fmla="*/ 98 h 108"/>
                      <a:gd name="T18" fmla="*/ 27 w 93"/>
                      <a:gd name="T19" fmla="*/ 108 h 108"/>
                      <a:gd name="T20" fmla="*/ 62 w 93"/>
                      <a:gd name="T21" fmla="*/ 96 h 108"/>
                      <a:gd name="T22" fmla="*/ 83 w 93"/>
                      <a:gd name="T23" fmla="*/ 77 h 108"/>
                      <a:gd name="T24" fmla="*/ 93 w 93"/>
                      <a:gd name="T25" fmla="*/ 59 h 108"/>
                      <a:gd name="T26" fmla="*/ 89 w 93"/>
                      <a:gd name="T27" fmla="*/ 29 h 108"/>
                      <a:gd name="T28" fmla="*/ 70 w 93"/>
                      <a:gd name="T29" fmla="*/ 16 h 108"/>
                      <a:gd name="T30" fmla="*/ 37 w 93"/>
                      <a:gd name="T31" fmla="*/ 0 h 108"/>
                      <a:gd name="T32" fmla="*/ 12 w 93"/>
                      <a:gd name="T33" fmla="*/ 6 h 108"/>
                      <a:gd name="T34" fmla="*/ 0 w 93"/>
                      <a:gd name="T35" fmla="*/ 35 h 108"/>
                      <a:gd name="T36" fmla="*/ 2 w 93"/>
                      <a:gd name="T37" fmla="*/ 53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3" h="108">
                        <a:moveTo>
                          <a:pt x="2" y="53"/>
                        </a:moveTo>
                        <a:lnTo>
                          <a:pt x="14" y="31"/>
                        </a:lnTo>
                        <a:lnTo>
                          <a:pt x="37" y="29"/>
                        </a:lnTo>
                        <a:lnTo>
                          <a:pt x="64" y="31"/>
                        </a:lnTo>
                        <a:lnTo>
                          <a:pt x="70" y="49"/>
                        </a:lnTo>
                        <a:lnTo>
                          <a:pt x="58" y="73"/>
                        </a:lnTo>
                        <a:lnTo>
                          <a:pt x="37" y="79"/>
                        </a:lnTo>
                        <a:lnTo>
                          <a:pt x="6" y="84"/>
                        </a:lnTo>
                        <a:lnTo>
                          <a:pt x="8" y="98"/>
                        </a:lnTo>
                        <a:lnTo>
                          <a:pt x="27" y="108"/>
                        </a:lnTo>
                        <a:lnTo>
                          <a:pt x="62" y="96"/>
                        </a:lnTo>
                        <a:lnTo>
                          <a:pt x="83" y="77"/>
                        </a:lnTo>
                        <a:lnTo>
                          <a:pt x="93" y="59"/>
                        </a:lnTo>
                        <a:lnTo>
                          <a:pt x="89" y="29"/>
                        </a:lnTo>
                        <a:lnTo>
                          <a:pt x="70" y="16"/>
                        </a:lnTo>
                        <a:lnTo>
                          <a:pt x="37" y="0"/>
                        </a:lnTo>
                        <a:lnTo>
                          <a:pt x="12" y="6"/>
                        </a:lnTo>
                        <a:lnTo>
                          <a:pt x="0" y="35"/>
                        </a:lnTo>
                        <a:lnTo>
                          <a:pt x="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6" name="Freeform 78"/>
                  <p:cNvSpPr>
                    <a:spLocks/>
                  </p:cNvSpPr>
                  <p:nvPr/>
                </p:nvSpPr>
                <p:spPr bwMode="auto">
                  <a:xfrm>
                    <a:off x="888" y="1220"/>
                    <a:ext cx="53" cy="73"/>
                  </a:xfrm>
                  <a:custGeom>
                    <a:avLst/>
                    <a:gdLst>
                      <a:gd name="T0" fmla="*/ 40 w 53"/>
                      <a:gd name="T1" fmla="*/ 0 h 73"/>
                      <a:gd name="T2" fmla="*/ 15 w 53"/>
                      <a:gd name="T3" fmla="*/ 15 h 73"/>
                      <a:gd name="T4" fmla="*/ 20 w 53"/>
                      <a:gd name="T5" fmla="*/ 39 h 73"/>
                      <a:gd name="T6" fmla="*/ 27 w 53"/>
                      <a:gd name="T7" fmla="*/ 58 h 73"/>
                      <a:gd name="T8" fmla="*/ 53 w 53"/>
                      <a:gd name="T9" fmla="*/ 67 h 73"/>
                      <a:gd name="T10" fmla="*/ 27 w 53"/>
                      <a:gd name="T11" fmla="*/ 73 h 73"/>
                      <a:gd name="T12" fmla="*/ 2 w 53"/>
                      <a:gd name="T13" fmla="*/ 58 h 73"/>
                      <a:gd name="T14" fmla="*/ 0 w 53"/>
                      <a:gd name="T15" fmla="*/ 34 h 73"/>
                      <a:gd name="T16" fmla="*/ 2 w 53"/>
                      <a:gd name="T17" fmla="*/ 6 h 73"/>
                      <a:gd name="T18" fmla="*/ 40 w 53"/>
                      <a:gd name="T19" fmla="*/ 0 h 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3" h="73">
                        <a:moveTo>
                          <a:pt x="40" y="0"/>
                        </a:moveTo>
                        <a:lnTo>
                          <a:pt x="15" y="15"/>
                        </a:lnTo>
                        <a:lnTo>
                          <a:pt x="20" y="39"/>
                        </a:lnTo>
                        <a:lnTo>
                          <a:pt x="27" y="58"/>
                        </a:lnTo>
                        <a:lnTo>
                          <a:pt x="53" y="67"/>
                        </a:lnTo>
                        <a:lnTo>
                          <a:pt x="27" y="73"/>
                        </a:lnTo>
                        <a:lnTo>
                          <a:pt x="2" y="58"/>
                        </a:lnTo>
                        <a:lnTo>
                          <a:pt x="0" y="34"/>
                        </a:lnTo>
                        <a:lnTo>
                          <a:pt x="2" y="6"/>
                        </a:lnTo>
                        <a:lnTo>
                          <a:pt x="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280" name="Group 79"/>
                <p:cNvGrpSpPr>
                  <a:grpSpLocks/>
                </p:cNvGrpSpPr>
                <p:nvPr/>
              </p:nvGrpSpPr>
              <p:grpSpPr bwMode="auto">
                <a:xfrm>
                  <a:off x="690" y="1243"/>
                  <a:ext cx="105" cy="109"/>
                  <a:chOff x="690" y="1243"/>
                  <a:chExt cx="105" cy="109"/>
                </a:xfrm>
              </p:grpSpPr>
              <p:sp>
                <p:nvSpPr>
                  <p:cNvPr id="6283" name="Freeform 80"/>
                  <p:cNvSpPr>
                    <a:spLocks/>
                  </p:cNvSpPr>
                  <p:nvPr/>
                </p:nvSpPr>
                <p:spPr bwMode="auto">
                  <a:xfrm>
                    <a:off x="702" y="1243"/>
                    <a:ext cx="93" cy="109"/>
                  </a:xfrm>
                  <a:custGeom>
                    <a:avLst/>
                    <a:gdLst>
                      <a:gd name="T0" fmla="*/ 2 w 93"/>
                      <a:gd name="T1" fmla="*/ 53 h 109"/>
                      <a:gd name="T2" fmla="*/ 14 w 93"/>
                      <a:gd name="T3" fmla="*/ 31 h 109"/>
                      <a:gd name="T4" fmla="*/ 37 w 93"/>
                      <a:gd name="T5" fmla="*/ 29 h 109"/>
                      <a:gd name="T6" fmla="*/ 64 w 93"/>
                      <a:gd name="T7" fmla="*/ 31 h 109"/>
                      <a:gd name="T8" fmla="*/ 70 w 93"/>
                      <a:gd name="T9" fmla="*/ 49 h 109"/>
                      <a:gd name="T10" fmla="*/ 58 w 93"/>
                      <a:gd name="T11" fmla="*/ 74 h 109"/>
                      <a:gd name="T12" fmla="*/ 37 w 93"/>
                      <a:gd name="T13" fmla="*/ 80 h 109"/>
                      <a:gd name="T14" fmla="*/ 6 w 93"/>
                      <a:gd name="T15" fmla="*/ 84 h 109"/>
                      <a:gd name="T16" fmla="*/ 8 w 93"/>
                      <a:gd name="T17" fmla="*/ 99 h 109"/>
                      <a:gd name="T18" fmla="*/ 27 w 93"/>
                      <a:gd name="T19" fmla="*/ 109 h 109"/>
                      <a:gd name="T20" fmla="*/ 62 w 93"/>
                      <a:gd name="T21" fmla="*/ 97 h 109"/>
                      <a:gd name="T22" fmla="*/ 83 w 93"/>
                      <a:gd name="T23" fmla="*/ 78 h 109"/>
                      <a:gd name="T24" fmla="*/ 93 w 93"/>
                      <a:gd name="T25" fmla="*/ 60 h 109"/>
                      <a:gd name="T26" fmla="*/ 89 w 93"/>
                      <a:gd name="T27" fmla="*/ 29 h 109"/>
                      <a:gd name="T28" fmla="*/ 70 w 93"/>
                      <a:gd name="T29" fmla="*/ 16 h 109"/>
                      <a:gd name="T30" fmla="*/ 37 w 93"/>
                      <a:gd name="T31" fmla="*/ 0 h 109"/>
                      <a:gd name="T32" fmla="*/ 12 w 93"/>
                      <a:gd name="T33" fmla="*/ 6 h 109"/>
                      <a:gd name="T34" fmla="*/ 0 w 93"/>
                      <a:gd name="T35" fmla="*/ 35 h 109"/>
                      <a:gd name="T36" fmla="*/ 2 w 93"/>
                      <a:gd name="T37" fmla="*/ 53 h 1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3" h="109">
                        <a:moveTo>
                          <a:pt x="2" y="53"/>
                        </a:moveTo>
                        <a:lnTo>
                          <a:pt x="14" y="31"/>
                        </a:lnTo>
                        <a:lnTo>
                          <a:pt x="37" y="29"/>
                        </a:lnTo>
                        <a:lnTo>
                          <a:pt x="64" y="31"/>
                        </a:lnTo>
                        <a:lnTo>
                          <a:pt x="70" y="49"/>
                        </a:lnTo>
                        <a:lnTo>
                          <a:pt x="58" y="74"/>
                        </a:lnTo>
                        <a:lnTo>
                          <a:pt x="37" y="80"/>
                        </a:lnTo>
                        <a:lnTo>
                          <a:pt x="6" y="84"/>
                        </a:lnTo>
                        <a:lnTo>
                          <a:pt x="8" y="99"/>
                        </a:lnTo>
                        <a:lnTo>
                          <a:pt x="27" y="109"/>
                        </a:lnTo>
                        <a:lnTo>
                          <a:pt x="62" y="97"/>
                        </a:lnTo>
                        <a:lnTo>
                          <a:pt x="83" y="78"/>
                        </a:lnTo>
                        <a:lnTo>
                          <a:pt x="93" y="60"/>
                        </a:lnTo>
                        <a:lnTo>
                          <a:pt x="89" y="29"/>
                        </a:lnTo>
                        <a:lnTo>
                          <a:pt x="70" y="16"/>
                        </a:lnTo>
                        <a:lnTo>
                          <a:pt x="37" y="0"/>
                        </a:lnTo>
                        <a:lnTo>
                          <a:pt x="12" y="6"/>
                        </a:lnTo>
                        <a:lnTo>
                          <a:pt x="0" y="35"/>
                        </a:lnTo>
                        <a:lnTo>
                          <a:pt x="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4" name="Freeform 81"/>
                  <p:cNvSpPr>
                    <a:spLocks/>
                  </p:cNvSpPr>
                  <p:nvPr/>
                </p:nvSpPr>
                <p:spPr bwMode="auto">
                  <a:xfrm>
                    <a:off x="690" y="1270"/>
                    <a:ext cx="54" cy="72"/>
                  </a:xfrm>
                  <a:custGeom>
                    <a:avLst/>
                    <a:gdLst>
                      <a:gd name="T0" fmla="*/ 41 w 54"/>
                      <a:gd name="T1" fmla="*/ 0 h 72"/>
                      <a:gd name="T2" fmla="*/ 16 w 54"/>
                      <a:gd name="T3" fmla="*/ 15 h 72"/>
                      <a:gd name="T4" fmla="*/ 20 w 54"/>
                      <a:gd name="T5" fmla="*/ 38 h 72"/>
                      <a:gd name="T6" fmla="*/ 27 w 54"/>
                      <a:gd name="T7" fmla="*/ 57 h 72"/>
                      <a:gd name="T8" fmla="*/ 54 w 54"/>
                      <a:gd name="T9" fmla="*/ 66 h 72"/>
                      <a:gd name="T10" fmla="*/ 27 w 54"/>
                      <a:gd name="T11" fmla="*/ 72 h 72"/>
                      <a:gd name="T12" fmla="*/ 2 w 54"/>
                      <a:gd name="T13" fmla="*/ 57 h 72"/>
                      <a:gd name="T14" fmla="*/ 0 w 54"/>
                      <a:gd name="T15" fmla="*/ 34 h 72"/>
                      <a:gd name="T16" fmla="*/ 2 w 54"/>
                      <a:gd name="T17" fmla="*/ 6 h 72"/>
                      <a:gd name="T18" fmla="*/ 41 w 54"/>
                      <a:gd name="T19" fmla="*/ 0 h 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72">
                        <a:moveTo>
                          <a:pt x="41" y="0"/>
                        </a:moveTo>
                        <a:lnTo>
                          <a:pt x="16" y="15"/>
                        </a:lnTo>
                        <a:lnTo>
                          <a:pt x="20" y="38"/>
                        </a:lnTo>
                        <a:lnTo>
                          <a:pt x="27" y="57"/>
                        </a:lnTo>
                        <a:lnTo>
                          <a:pt x="54" y="66"/>
                        </a:lnTo>
                        <a:lnTo>
                          <a:pt x="27" y="72"/>
                        </a:lnTo>
                        <a:lnTo>
                          <a:pt x="2" y="57"/>
                        </a:lnTo>
                        <a:lnTo>
                          <a:pt x="0" y="34"/>
                        </a:lnTo>
                        <a:lnTo>
                          <a:pt x="2" y="6"/>
                        </a:lnTo>
                        <a:lnTo>
                          <a:pt x="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281" name="Freeform 82"/>
                <p:cNvSpPr>
                  <a:spLocks/>
                </p:cNvSpPr>
                <p:nvPr/>
              </p:nvSpPr>
              <p:spPr bwMode="auto">
                <a:xfrm>
                  <a:off x="3" y="780"/>
                  <a:ext cx="1316" cy="1196"/>
                </a:xfrm>
                <a:custGeom>
                  <a:avLst/>
                  <a:gdLst>
                    <a:gd name="T0" fmla="*/ 29 w 1316"/>
                    <a:gd name="T1" fmla="*/ 42 h 1196"/>
                    <a:gd name="T2" fmla="*/ 52 w 1316"/>
                    <a:gd name="T3" fmla="*/ 130 h 1196"/>
                    <a:gd name="T4" fmla="*/ 40 w 1316"/>
                    <a:gd name="T5" fmla="*/ 340 h 1196"/>
                    <a:gd name="T6" fmla="*/ 38 w 1316"/>
                    <a:gd name="T7" fmla="*/ 569 h 1196"/>
                    <a:gd name="T8" fmla="*/ 55 w 1316"/>
                    <a:gd name="T9" fmla="*/ 730 h 1196"/>
                    <a:gd name="T10" fmla="*/ 120 w 1316"/>
                    <a:gd name="T11" fmla="*/ 806 h 1196"/>
                    <a:gd name="T12" fmla="*/ 222 w 1316"/>
                    <a:gd name="T13" fmla="*/ 908 h 1196"/>
                    <a:gd name="T14" fmla="*/ 304 w 1316"/>
                    <a:gd name="T15" fmla="*/ 1005 h 1196"/>
                    <a:gd name="T16" fmla="*/ 378 w 1316"/>
                    <a:gd name="T17" fmla="*/ 1108 h 1196"/>
                    <a:gd name="T18" fmla="*/ 447 w 1316"/>
                    <a:gd name="T19" fmla="*/ 1167 h 1196"/>
                    <a:gd name="T20" fmla="*/ 453 w 1316"/>
                    <a:gd name="T21" fmla="*/ 1057 h 1196"/>
                    <a:gd name="T22" fmla="*/ 453 w 1316"/>
                    <a:gd name="T23" fmla="*/ 730 h 1196"/>
                    <a:gd name="T24" fmla="*/ 453 w 1316"/>
                    <a:gd name="T25" fmla="*/ 462 h 1196"/>
                    <a:gd name="T26" fmla="*/ 458 w 1316"/>
                    <a:gd name="T27" fmla="*/ 266 h 1196"/>
                    <a:gd name="T28" fmla="*/ 481 w 1316"/>
                    <a:gd name="T29" fmla="*/ 0 h 1196"/>
                    <a:gd name="T30" fmla="*/ 485 w 1316"/>
                    <a:gd name="T31" fmla="*/ 174 h 1196"/>
                    <a:gd name="T32" fmla="*/ 485 w 1316"/>
                    <a:gd name="T33" fmla="*/ 334 h 1196"/>
                    <a:gd name="T34" fmla="*/ 479 w 1316"/>
                    <a:gd name="T35" fmla="*/ 531 h 1196"/>
                    <a:gd name="T36" fmla="*/ 479 w 1316"/>
                    <a:gd name="T37" fmla="*/ 736 h 1196"/>
                    <a:gd name="T38" fmla="*/ 476 w 1316"/>
                    <a:gd name="T39" fmla="*/ 925 h 1196"/>
                    <a:gd name="T40" fmla="*/ 476 w 1316"/>
                    <a:gd name="T41" fmla="*/ 1143 h 1196"/>
                    <a:gd name="T42" fmla="*/ 567 w 1316"/>
                    <a:gd name="T43" fmla="*/ 1131 h 1196"/>
                    <a:gd name="T44" fmla="*/ 762 w 1316"/>
                    <a:gd name="T45" fmla="*/ 1064 h 1196"/>
                    <a:gd name="T46" fmla="*/ 881 w 1316"/>
                    <a:gd name="T47" fmla="*/ 1018 h 1196"/>
                    <a:gd name="T48" fmla="*/ 1010 w 1316"/>
                    <a:gd name="T49" fmla="*/ 971 h 1196"/>
                    <a:gd name="T50" fmla="*/ 1148 w 1316"/>
                    <a:gd name="T51" fmla="*/ 909 h 1196"/>
                    <a:gd name="T52" fmla="*/ 1253 w 1316"/>
                    <a:gd name="T53" fmla="*/ 875 h 1196"/>
                    <a:gd name="T54" fmla="*/ 1270 w 1316"/>
                    <a:gd name="T55" fmla="*/ 844 h 1196"/>
                    <a:gd name="T56" fmla="*/ 1285 w 1316"/>
                    <a:gd name="T57" fmla="*/ 818 h 1196"/>
                    <a:gd name="T58" fmla="*/ 1293 w 1316"/>
                    <a:gd name="T59" fmla="*/ 646 h 1196"/>
                    <a:gd name="T60" fmla="*/ 1291 w 1316"/>
                    <a:gd name="T61" fmla="*/ 443 h 1196"/>
                    <a:gd name="T62" fmla="*/ 1291 w 1316"/>
                    <a:gd name="T63" fmla="*/ 311 h 1196"/>
                    <a:gd name="T64" fmla="*/ 1293 w 1316"/>
                    <a:gd name="T65" fmla="*/ 197 h 1196"/>
                    <a:gd name="T66" fmla="*/ 1316 w 1316"/>
                    <a:gd name="T67" fmla="*/ 4 h 1196"/>
                    <a:gd name="T68" fmla="*/ 1316 w 1316"/>
                    <a:gd name="T69" fmla="*/ 220 h 1196"/>
                    <a:gd name="T70" fmla="*/ 1316 w 1316"/>
                    <a:gd name="T71" fmla="*/ 376 h 1196"/>
                    <a:gd name="T72" fmla="*/ 1316 w 1316"/>
                    <a:gd name="T73" fmla="*/ 598 h 1196"/>
                    <a:gd name="T74" fmla="*/ 1316 w 1316"/>
                    <a:gd name="T75" fmla="*/ 829 h 1196"/>
                    <a:gd name="T76" fmla="*/ 1303 w 1316"/>
                    <a:gd name="T77" fmla="*/ 885 h 1196"/>
                    <a:gd name="T78" fmla="*/ 1274 w 1316"/>
                    <a:gd name="T79" fmla="*/ 904 h 1196"/>
                    <a:gd name="T80" fmla="*/ 1190 w 1316"/>
                    <a:gd name="T81" fmla="*/ 925 h 1196"/>
                    <a:gd name="T82" fmla="*/ 1064 w 1316"/>
                    <a:gd name="T83" fmla="*/ 976 h 1196"/>
                    <a:gd name="T84" fmla="*/ 921 w 1316"/>
                    <a:gd name="T85" fmla="*/ 1036 h 1196"/>
                    <a:gd name="T86" fmla="*/ 777 w 1316"/>
                    <a:gd name="T87" fmla="*/ 1091 h 1196"/>
                    <a:gd name="T88" fmla="*/ 600 w 1316"/>
                    <a:gd name="T89" fmla="*/ 1150 h 1196"/>
                    <a:gd name="T90" fmla="*/ 479 w 1316"/>
                    <a:gd name="T91" fmla="*/ 1194 h 1196"/>
                    <a:gd name="T92" fmla="*/ 434 w 1316"/>
                    <a:gd name="T93" fmla="*/ 1196 h 1196"/>
                    <a:gd name="T94" fmla="*/ 390 w 1316"/>
                    <a:gd name="T95" fmla="*/ 1154 h 1196"/>
                    <a:gd name="T96" fmla="*/ 321 w 1316"/>
                    <a:gd name="T97" fmla="*/ 1081 h 1196"/>
                    <a:gd name="T98" fmla="*/ 256 w 1316"/>
                    <a:gd name="T99" fmla="*/ 984 h 1196"/>
                    <a:gd name="T100" fmla="*/ 187 w 1316"/>
                    <a:gd name="T101" fmla="*/ 908 h 1196"/>
                    <a:gd name="T102" fmla="*/ 97 w 1316"/>
                    <a:gd name="T103" fmla="*/ 823 h 1196"/>
                    <a:gd name="T104" fmla="*/ 44 w 1316"/>
                    <a:gd name="T105" fmla="*/ 770 h 1196"/>
                    <a:gd name="T106" fmla="*/ 6 w 1316"/>
                    <a:gd name="T107" fmla="*/ 730 h 1196"/>
                    <a:gd name="T108" fmla="*/ 0 w 1316"/>
                    <a:gd name="T109" fmla="*/ 674 h 1196"/>
                    <a:gd name="T110" fmla="*/ 17 w 1316"/>
                    <a:gd name="T111" fmla="*/ 520 h 1196"/>
                    <a:gd name="T112" fmla="*/ 29 w 1316"/>
                    <a:gd name="T113" fmla="*/ 216 h 1196"/>
                    <a:gd name="T114" fmla="*/ 29 w 1316"/>
                    <a:gd name="T115" fmla="*/ 42 h 119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316" h="1196">
                      <a:moveTo>
                        <a:pt x="29" y="42"/>
                      </a:moveTo>
                      <a:lnTo>
                        <a:pt x="52" y="130"/>
                      </a:lnTo>
                      <a:lnTo>
                        <a:pt x="40" y="340"/>
                      </a:lnTo>
                      <a:lnTo>
                        <a:pt x="38" y="569"/>
                      </a:lnTo>
                      <a:lnTo>
                        <a:pt x="55" y="730"/>
                      </a:lnTo>
                      <a:lnTo>
                        <a:pt x="120" y="806"/>
                      </a:lnTo>
                      <a:lnTo>
                        <a:pt x="222" y="908"/>
                      </a:lnTo>
                      <a:lnTo>
                        <a:pt x="304" y="1005"/>
                      </a:lnTo>
                      <a:lnTo>
                        <a:pt x="378" y="1108"/>
                      </a:lnTo>
                      <a:lnTo>
                        <a:pt x="447" y="1167"/>
                      </a:lnTo>
                      <a:lnTo>
                        <a:pt x="453" y="1057"/>
                      </a:lnTo>
                      <a:lnTo>
                        <a:pt x="453" y="730"/>
                      </a:lnTo>
                      <a:lnTo>
                        <a:pt x="453" y="462"/>
                      </a:lnTo>
                      <a:lnTo>
                        <a:pt x="458" y="266"/>
                      </a:lnTo>
                      <a:lnTo>
                        <a:pt x="481" y="0"/>
                      </a:lnTo>
                      <a:lnTo>
                        <a:pt x="485" y="174"/>
                      </a:lnTo>
                      <a:lnTo>
                        <a:pt x="485" y="334"/>
                      </a:lnTo>
                      <a:lnTo>
                        <a:pt x="479" y="531"/>
                      </a:lnTo>
                      <a:lnTo>
                        <a:pt x="479" y="736"/>
                      </a:lnTo>
                      <a:lnTo>
                        <a:pt x="476" y="925"/>
                      </a:lnTo>
                      <a:lnTo>
                        <a:pt x="476" y="1143"/>
                      </a:lnTo>
                      <a:lnTo>
                        <a:pt x="567" y="1131"/>
                      </a:lnTo>
                      <a:lnTo>
                        <a:pt x="762" y="1064"/>
                      </a:lnTo>
                      <a:lnTo>
                        <a:pt x="881" y="1018"/>
                      </a:lnTo>
                      <a:lnTo>
                        <a:pt x="1010" y="971"/>
                      </a:lnTo>
                      <a:lnTo>
                        <a:pt x="1148" y="909"/>
                      </a:lnTo>
                      <a:lnTo>
                        <a:pt x="1253" y="875"/>
                      </a:lnTo>
                      <a:lnTo>
                        <a:pt x="1270" y="844"/>
                      </a:lnTo>
                      <a:lnTo>
                        <a:pt x="1285" y="818"/>
                      </a:lnTo>
                      <a:lnTo>
                        <a:pt x="1293" y="646"/>
                      </a:lnTo>
                      <a:lnTo>
                        <a:pt x="1291" y="443"/>
                      </a:lnTo>
                      <a:lnTo>
                        <a:pt x="1291" y="311"/>
                      </a:lnTo>
                      <a:lnTo>
                        <a:pt x="1293" y="197"/>
                      </a:lnTo>
                      <a:lnTo>
                        <a:pt x="1316" y="4"/>
                      </a:lnTo>
                      <a:lnTo>
                        <a:pt x="1316" y="220"/>
                      </a:lnTo>
                      <a:lnTo>
                        <a:pt x="1316" y="376"/>
                      </a:lnTo>
                      <a:lnTo>
                        <a:pt x="1316" y="598"/>
                      </a:lnTo>
                      <a:lnTo>
                        <a:pt x="1316" y="829"/>
                      </a:lnTo>
                      <a:lnTo>
                        <a:pt x="1303" y="885"/>
                      </a:lnTo>
                      <a:lnTo>
                        <a:pt x="1274" y="904"/>
                      </a:lnTo>
                      <a:lnTo>
                        <a:pt x="1190" y="925"/>
                      </a:lnTo>
                      <a:lnTo>
                        <a:pt x="1064" y="976"/>
                      </a:lnTo>
                      <a:lnTo>
                        <a:pt x="921" y="1036"/>
                      </a:lnTo>
                      <a:lnTo>
                        <a:pt x="777" y="1091"/>
                      </a:lnTo>
                      <a:lnTo>
                        <a:pt x="600" y="1150"/>
                      </a:lnTo>
                      <a:lnTo>
                        <a:pt x="479" y="1194"/>
                      </a:lnTo>
                      <a:lnTo>
                        <a:pt x="434" y="1196"/>
                      </a:lnTo>
                      <a:lnTo>
                        <a:pt x="390" y="1154"/>
                      </a:lnTo>
                      <a:lnTo>
                        <a:pt x="321" y="1081"/>
                      </a:lnTo>
                      <a:lnTo>
                        <a:pt x="256" y="984"/>
                      </a:lnTo>
                      <a:lnTo>
                        <a:pt x="187" y="908"/>
                      </a:lnTo>
                      <a:lnTo>
                        <a:pt x="97" y="823"/>
                      </a:lnTo>
                      <a:lnTo>
                        <a:pt x="44" y="770"/>
                      </a:lnTo>
                      <a:lnTo>
                        <a:pt x="6" y="730"/>
                      </a:lnTo>
                      <a:lnTo>
                        <a:pt x="0" y="674"/>
                      </a:lnTo>
                      <a:lnTo>
                        <a:pt x="17" y="520"/>
                      </a:lnTo>
                      <a:lnTo>
                        <a:pt x="29" y="216"/>
                      </a:lnTo>
                      <a:lnTo>
                        <a:pt x="29"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2" name="Freeform 83"/>
                <p:cNvSpPr>
                  <a:spLocks/>
                </p:cNvSpPr>
                <p:nvPr/>
              </p:nvSpPr>
              <p:spPr bwMode="auto">
                <a:xfrm>
                  <a:off x="31" y="0"/>
                  <a:ext cx="1320" cy="1122"/>
                </a:xfrm>
                <a:custGeom>
                  <a:avLst/>
                  <a:gdLst>
                    <a:gd name="T0" fmla="*/ 0 w 1320"/>
                    <a:gd name="T1" fmla="*/ 891 h 1122"/>
                    <a:gd name="T2" fmla="*/ 0 w 1320"/>
                    <a:gd name="T3" fmla="*/ 648 h 1122"/>
                    <a:gd name="T4" fmla="*/ 11 w 1320"/>
                    <a:gd name="T5" fmla="*/ 442 h 1122"/>
                    <a:gd name="T6" fmla="*/ 21 w 1320"/>
                    <a:gd name="T7" fmla="*/ 172 h 1122"/>
                    <a:gd name="T8" fmla="*/ 34 w 1320"/>
                    <a:gd name="T9" fmla="*/ 86 h 1122"/>
                    <a:gd name="T10" fmla="*/ 413 w 1320"/>
                    <a:gd name="T11" fmla="*/ 32 h 1122"/>
                    <a:gd name="T12" fmla="*/ 663 w 1320"/>
                    <a:gd name="T13" fmla="*/ 0 h 1122"/>
                    <a:gd name="T14" fmla="*/ 686 w 1320"/>
                    <a:gd name="T15" fmla="*/ 0 h 1122"/>
                    <a:gd name="T16" fmla="*/ 858 w 1320"/>
                    <a:gd name="T17" fmla="*/ 38 h 1122"/>
                    <a:gd name="T18" fmla="*/ 1074 w 1320"/>
                    <a:gd name="T19" fmla="*/ 96 h 1122"/>
                    <a:gd name="T20" fmla="*/ 1291 w 1320"/>
                    <a:gd name="T21" fmla="*/ 178 h 1122"/>
                    <a:gd name="T22" fmla="*/ 1310 w 1320"/>
                    <a:gd name="T23" fmla="*/ 199 h 1122"/>
                    <a:gd name="T24" fmla="*/ 1320 w 1320"/>
                    <a:gd name="T25" fmla="*/ 394 h 1122"/>
                    <a:gd name="T26" fmla="*/ 1310 w 1320"/>
                    <a:gd name="T27" fmla="*/ 637 h 1122"/>
                    <a:gd name="T28" fmla="*/ 1280 w 1320"/>
                    <a:gd name="T29" fmla="*/ 1122 h 1122"/>
                    <a:gd name="T30" fmla="*/ 1268 w 1320"/>
                    <a:gd name="T31" fmla="*/ 961 h 1122"/>
                    <a:gd name="T32" fmla="*/ 1276 w 1320"/>
                    <a:gd name="T33" fmla="*/ 700 h 1122"/>
                    <a:gd name="T34" fmla="*/ 1293 w 1320"/>
                    <a:gd name="T35" fmla="*/ 514 h 1122"/>
                    <a:gd name="T36" fmla="*/ 1293 w 1320"/>
                    <a:gd name="T37" fmla="*/ 262 h 1122"/>
                    <a:gd name="T38" fmla="*/ 1282 w 1320"/>
                    <a:gd name="T39" fmla="*/ 212 h 1122"/>
                    <a:gd name="T40" fmla="*/ 1104 w 1320"/>
                    <a:gd name="T41" fmla="*/ 256 h 1122"/>
                    <a:gd name="T42" fmla="*/ 886 w 1320"/>
                    <a:gd name="T43" fmla="*/ 331 h 1122"/>
                    <a:gd name="T44" fmla="*/ 665 w 1320"/>
                    <a:gd name="T45" fmla="*/ 401 h 1122"/>
                    <a:gd name="T46" fmla="*/ 502 w 1320"/>
                    <a:gd name="T47" fmla="*/ 451 h 1122"/>
                    <a:gd name="T48" fmla="*/ 491 w 1320"/>
                    <a:gd name="T49" fmla="*/ 497 h 1122"/>
                    <a:gd name="T50" fmla="*/ 468 w 1320"/>
                    <a:gd name="T51" fmla="*/ 694 h 1122"/>
                    <a:gd name="T52" fmla="*/ 457 w 1320"/>
                    <a:gd name="T53" fmla="*/ 870 h 1122"/>
                    <a:gd name="T54" fmla="*/ 447 w 1320"/>
                    <a:gd name="T55" fmla="*/ 1091 h 1122"/>
                    <a:gd name="T56" fmla="*/ 436 w 1320"/>
                    <a:gd name="T57" fmla="*/ 967 h 1122"/>
                    <a:gd name="T58" fmla="*/ 441 w 1320"/>
                    <a:gd name="T59" fmla="*/ 700 h 1122"/>
                    <a:gd name="T60" fmla="*/ 447 w 1320"/>
                    <a:gd name="T61" fmla="*/ 499 h 1122"/>
                    <a:gd name="T62" fmla="*/ 439 w 1320"/>
                    <a:gd name="T63" fmla="*/ 442 h 1122"/>
                    <a:gd name="T64" fmla="*/ 399 w 1320"/>
                    <a:gd name="T65" fmla="*/ 401 h 1122"/>
                    <a:gd name="T66" fmla="*/ 250 w 1320"/>
                    <a:gd name="T67" fmla="*/ 287 h 1122"/>
                    <a:gd name="T68" fmla="*/ 136 w 1320"/>
                    <a:gd name="T69" fmla="*/ 210 h 1122"/>
                    <a:gd name="T70" fmla="*/ 55 w 1320"/>
                    <a:gd name="T71" fmla="*/ 143 h 1122"/>
                    <a:gd name="T72" fmla="*/ 75 w 1320"/>
                    <a:gd name="T73" fmla="*/ 138 h 1122"/>
                    <a:gd name="T74" fmla="*/ 107 w 1320"/>
                    <a:gd name="T75" fmla="*/ 149 h 1122"/>
                    <a:gd name="T76" fmla="*/ 218 w 1320"/>
                    <a:gd name="T77" fmla="*/ 233 h 1122"/>
                    <a:gd name="T78" fmla="*/ 313 w 1320"/>
                    <a:gd name="T79" fmla="*/ 302 h 1122"/>
                    <a:gd name="T80" fmla="*/ 428 w 1320"/>
                    <a:gd name="T81" fmla="*/ 390 h 1122"/>
                    <a:gd name="T82" fmla="*/ 491 w 1320"/>
                    <a:gd name="T83" fmla="*/ 419 h 1122"/>
                    <a:gd name="T84" fmla="*/ 527 w 1320"/>
                    <a:gd name="T85" fmla="*/ 417 h 1122"/>
                    <a:gd name="T86" fmla="*/ 779 w 1320"/>
                    <a:gd name="T87" fmla="*/ 333 h 1122"/>
                    <a:gd name="T88" fmla="*/ 970 w 1320"/>
                    <a:gd name="T89" fmla="*/ 279 h 1122"/>
                    <a:gd name="T90" fmla="*/ 1171 w 1320"/>
                    <a:gd name="T91" fmla="*/ 212 h 1122"/>
                    <a:gd name="T92" fmla="*/ 1251 w 1320"/>
                    <a:gd name="T93" fmla="*/ 189 h 1122"/>
                    <a:gd name="T94" fmla="*/ 1068 w 1320"/>
                    <a:gd name="T95" fmla="*/ 113 h 1122"/>
                    <a:gd name="T96" fmla="*/ 869 w 1320"/>
                    <a:gd name="T97" fmla="*/ 63 h 1122"/>
                    <a:gd name="T98" fmla="*/ 674 w 1320"/>
                    <a:gd name="T99" fmla="*/ 23 h 1122"/>
                    <a:gd name="T100" fmla="*/ 441 w 1320"/>
                    <a:gd name="T101" fmla="*/ 44 h 1122"/>
                    <a:gd name="T102" fmla="*/ 222 w 1320"/>
                    <a:gd name="T103" fmla="*/ 78 h 1122"/>
                    <a:gd name="T104" fmla="*/ 52 w 1320"/>
                    <a:gd name="T105" fmla="*/ 115 h 1122"/>
                    <a:gd name="T106" fmla="*/ 46 w 1320"/>
                    <a:gd name="T107" fmla="*/ 229 h 1122"/>
                    <a:gd name="T108" fmla="*/ 34 w 1320"/>
                    <a:gd name="T109" fmla="*/ 407 h 1122"/>
                    <a:gd name="T110" fmla="*/ 29 w 1320"/>
                    <a:gd name="T111" fmla="*/ 617 h 1122"/>
                    <a:gd name="T112" fmla="*/ 15 w 1320"/>
                    <a:gd name="T113" fmla="*/ 763 h 1122"/>
                    <a:gd name="T114" fmla="*/ 17 w 1320"/>
                    <a:gd name="T115" fmla="*/ 933 h 1122"/>
                    <a:gd name="T116" fmla="*/ 0 w 1320"/>
                    <a:gd name="T117" fmla="*/ 891 h 112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320" h="1122">
                      <a:moveTo>
                        <a:pt x="0" y="891"/>
                      </a:moveTo>
                      <a:lnTo>
                        <a:pt x="0" y="648"/>
                      </a:lnTo>
                      <a:lnTo>
                        <a:pt x="11" y="442"/>
                      </a:lnTo>
                      <a:lnTo>
                        <a:pt x="21" y="172"/>
                      </a:lnTo>
                      <a:lnTo>
                        <a:pt x="34" y="86"/>
                      </a:lnTo>
                      <a:lnTo>
                        <a:pt x="413" y="32"/>
                      </a:lnTo>
                      <a:lnTo>
                        <a:pt x="663" y="0"/>
                      </a:lnTo>
                      <a:lnTo>
                        <a:pt x="686" y="0"/>
                      </a:lnTo>
                      <a:lnTo>
                        <a:pt x="858" y="38"/>
                      </a:lnTo>
                      <a:lnTo>
                        <a:pt x="1074" y="96"/>
                      </a:lnTo>
                      <a:lnTo>
                        <a:pt x="1291" y="178"/>
                      </a:lnTo>
                      <a:lnTo>
                        <a:pt x="1310" y="199"/>
                      </a:lnTo>
                      <a:lnTo>
                        <a:pt x="1320" y="394"/>
                      </a:lnTo>
                      <a:lnTo>
                        <a:pt x="1310" y="637"/>
                      </a:lnTo>
                      <a:lnTo>
                        <a:pt x="1280" y="1122"/>
                      </a:lnTo>
                      <a:lnTo>
                        <a:pt x="1268" y="961"/>
                      </a:lnTo>
                      <a:lnTo>
                        <a:pt x="1276" y="700"/>
                      </a:lnTo>
                      <a:lnTo>
                        <a:pt x="1293" y="514"/>
                      </a:lnTo>
                      <a:lnTo>
                        <a:pt x="1293" y="262"/>
                      </a:lnTo>
                      <a:lnTo>
                        <a:pt x="1282" y="212"/>
                      </a:lnTo>
                      <a:lnTo>
                        <a:pt x="1104" y="256"/>
                      </a:lnTo>
                      <a:lnTo>
                        <a:pt x="886" y="331"/>
                      </a:lnTo>
                      <a:lnTo>
                        <a:pt x="665" y="401"/>
                      </a:lnTo>
                      <a:lnTo>
                        <a:pt x="502" y="451"/>
                      </a:lnTo>
                      <a:lnTo>
                        <a:pt x="491" y="497"/>
                      </a:lnTo>
                      <a:lnTo>
                        <a:pt x="468" y="694"/>
                      </a:lnTo>
                      <a:lnTo>
                        <a:pt x="457" y="870"/>
                      </a:lnTo>
                      <a:lnTo>
                        <a:pt x="447" y="1091"/>
                      </a:lnTo>
                      <a:lnTo>
                        <a:pt x="436" y="967"/>
                      </a:lnTo>
                      <a:lnTo>
                        <a:pt x="441" y="700"/>
                      </a:lnTo>
                      <a:lnTo>
                        <a:pt x="447" y="499"/>
                      </a:lnTo>
                      <a:lnTo>
                        <a:pt x="439" y="442"/>
                      </a:lnTo>
                      <a:lnTo>
                        <a:pt x="399" y="401"/>
                      </a:lnTo>
                      <a:lnTo>
                        <a:pt x="250" y="287"/>
                      </a:lnTo>
                      <a:lnTo>
                        <a:pt x="136" y="210"/>
                      </a:lnTo>
                      <a:lnTo>
                        <a:pt x="55" y="143"/>
                      </a:lnTo>
                      <a:lnTo>
                        <a:pt x="75" y="138"/>
                      </a:lnTo>
                      <a:lnTo>
                        <a:pt x="107" y="149"/>
                      </a:lnTo>
                      <a:lnTo>
                        <a:pt x="218" y="233"/>
                      </a:lnTo>
                      <a:lnTo>
                        <a:pt x="313" y="302"/>
                      </a:lnTo>
                      <a:lnTo>
                        <a:pt x="428" y="390"/>
                      </a:lnTo>
                      <a:lnTo>
                        <a:pt x="491" y="419"/>
                      </a:lnTo>
                      <a:lnTo>
                        <a:pt x="527" y="417"/>
                      </a:lnTo>
                      <a:lnTo>
                        <a:pt x="779" y="333"/>
                      </a:lnTo>
                      <a:lnTo>
                        <a:pt x="970" y="279"/>
                      </a:lnTo>
                      <a:lnTo>
                        <a:pt x="1171" y="212"/>
                      </a:lnTo>
                      <a:lnTo>
                        <a:pt x="1251" y="189"/>
                      </a:lnTo>
                      <a:lnTo>
                        <a:pt x="1068" y="113"/>
                      </a:lnTo>
                      <a:lnTo>
                        <a:pt x="869" y="63"/>
                      </a:lnTo>
                      <a:lnTo>
                        <a:pt x="674" y="23"/>
                      </a:lnTo>
                      <a:lnTo>
                        <a:pt x="441" y="44"/>
                      </a:lnTo>
                      <a:lnTo>
                        <a:pt x="222" y="78"/>
                      </a:lnTo>
                      <a:lnTo>
                        <a:pt x="52" y="115"/>
                      </a:lnTo>
                      <a:lnTo>
                        <a:pt x="46" y="229"/>
                      </a:lnTo>
                      <a:lnTo>
                        <a:pt x="34" y="407"/>
                      </a:lnTo>
                      <a:lnTo>
                        <a:pt x="29" y="617"/>
                      </a:lnTo>
                      <a:lnTo>
                        <a:pt x="15" y="763"/>
                      </a:lnTo>
                      <a:lnTo>
                        <a:pt x="17" y="933"/>
                      </a:lnTo>
                      <a:lnTo>
                        <a:pt x="0" y="8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grpSp>
        <p:nvGrpSpPr>
          <p:cNvPr id="47188" name="Group 84"/>
          <p:cNvGrpSpPr>
            <a:grpSpLocks/>
          </p:cNvGrpSpPr>
          <p:nvPr/>
        </p:nvGrpSpPr>
        <p:grpSpPr bwMode="auto">
          <a:xfrm>
            <a:off x="7353300" y="3367088"/>
            <a:ext cx="649288" cy="1136650"/>
            <a:chOff x="3672" y="2050"/>
            <a:chExt cx="409" cy="692"/>
          </a:xfrm>
        </p:grpSpPr>
        <p:sp>
          <p:nvSpPr>
            <p:cNvPr id="6227" name="Freeform 85"/>
            <p:cNvSpPr>
              <a:spLocks/>
            </p:cNvSpPr>
            <p:nvPr/>
          </p:nvSpPr>
          <p:spPr bwMode="auto">
            <a:xfrm>
              <a:off x="3903" y="2050"/>
              <a:ext cx="178" cy="140"/>
            </a:xfrm>
            <a:custGeom>
              <a:avLst/>
              <a:gdLst>
                <a:gd name="T0" fmla="*/ 112 w 342"/>
                <a:gd name="T1" fmla="*/ 66 h 270"/>
                <a:gd name="T2" fmla="*/ 112 w 342"/>
                <a:gd name="T3" fmla="*/ 51 h 270"/>
                <a:gd name="T4" fmla="*/ 110 w 342"/>
                <a:gd name="T5" fmla="*/ 33 h 270"/>
                <a:gd name="T6" fmla="*/ 101 w 342"/>
                <a:gd name="T7" fmla="*/ 16 h 270"/>
                <a:gd name="T8" fmla="*/ 92 w 342"/>
                <a:gd name="T9" fmla="*/ 7 h 270"/>
                <a:gd name="T10" fmla="*/ 83 w 342"/>
                <a:gd name="T11" fmla="*/ 2 h 270"/>
                <a:gd name="T12" fmla="*/ 66 w 342"/>
                <a:gd name="T13" fmla="*/ 0 h 270"/>
                <a:gd name="T14" fmla="*/ 49 w 342"/>
                <a:gd name="T15" fmla="*/ 3 h 270"/>
                <a:gd name="T16" fmla="*/ 33 w 342"/>
                <a:gd name="T17" fmla="*/ 12 h 270"/>
                <a:gd name="T18" fmla="*/ 21 w 342"/>
                <a:gd name="T19" fmla="*/ 23 h 270"/>
                <a:gd name="T20" fmla="*/ 12 w 342"/>
                <a:gd name="T21" fmla="*/ 40 h 270"/>
                <a:gd name="T22" fmla="*/ 5 w 342"/>
                <a:gd name="T23" fmla="*/ 60 h 270"/>
                <a:gd name="T24" fmla="*/ 2 w 342"/>
                <a:gd name="T25" fmla="*/ 88 h 270"/>
                <a:gd name="T26" fmla="*/ 0 w 342"/>
                <a:gd name="T27" fmla="*/ 106 h 270"/>
                <a:gd name="T28" fmla="*/ 7 w 342"/>
                <a:gd name="T29" fmla="*/ 124 h 270"/>
                <a:gd name="T30" fmla="*/ 16 w 342"/>
                <a:gd name="T31" fmla="*/ 133 h 270"/>
                <a:gd name="T32" fmla="*/ 28 w 342"/>
                <a:gd name="T33" fmla="*/ 140 h 270"/>
                <a:gd name="T34" fmla="*/ 48 w 342"/>
                <a:gd name="T35" fmla="*/ 139 h 270"/>
                <a:gd name="T36" fmla="*/ 69 w 342"/>
                <a:gd name="T37" fmla="*/ 135 h 270"/>
                <a:gd name="T38" fmla="*/ 87 w 342"/>
                <a:gd name="T39" fmla="*/ 123 h 270"/>
                <a:gd name="T40" fmla="*/ 99 w 342"/>
                <a:gd name="T41" fmla="*/ 107 h 270"/>
                <a:gd name="T42" fmla="*/ 107 w 342"/>
                <a:gd name="T43" fmla="*/ 91 h 270"/>
                <a:gd name="T44" fmla="*/ 120 w 342"/>
                <a:gd name="T45" fmla="*/ 85 h 270"/>
                <a:gd name="T46" fmla="*/ 137 w 342"/>
                <a:gd name="T47" fmla="*/ 86 h 270"/>
                <a:gd name="T48" fmla="*/ 162 w 342"/>
                <a:gd name="T49" fmla="*/ 87 h 270"/>
                <a:gd name="T50" fmla="*/ 172 w 342"/>
                <a:gd name="T51" fmla="*/ 86 h 270"/>
                <a:gd name="T52" fmla="*/ 178 w 342"/>
                <a:gd name="T53" fmla="*/ 75 h 270"/>
                <a:gd name="T54" fmla="*/ 173 w 342"/>
                <a:gd name="T55" fmla="*/ 64 h 270"/>
                <a:gd name="T56" fmla="*/ 158 w 342"/>
                <a:gd name="T57" fmla="*/ 64 h 270"/>
                <a:gd name="T58" fmla="*/ 142 w 342"/>
                <a:gd name="T59" fmla="*/ 69 h 270"/>
                <a:gd name="T60" fmla="*/ 124 w 342"/>
                <a:gd name="T61" fmla="*/ 72 h 270"/>
                <a:gd name="T62" fmla="*/ 112 w 342"/>
                <a:gd name="T63" fmla="*/ 66 h 27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42" h="270">
                  <a:moveTo>
                    <a:pt x="215" y="127"/>
                  </a:moveTo>
                  <a:lnTo>
                    <a:pt x="215" y="99"/>
                  </a:lnTo>
                  <a:lnTo>
                    <a:pt x="212" y="63"/>
                  </a:lnTo>
                  <a:lnTo>
                    <a:pt x="195" y="30"/>
                  </a:lnTo>
                  <a:lnTo>
                    <a:pt x="177" y="13"/>
                  </a:lnTo>
                  <a:lnTo>
                    <a:pt x="160" y="3"/>
                  </a:lnTo>
                  <a:lnTo>
                    <a:pt x="127" y="0"/>
                  </a:lnTo>
                  <a:lnTo>
                    <a:pt x="95" y="5"/>
                  </a:lnTo>
                  <a:lnTo>
                    <a:pt x="63" y="23"/>
                  </a:lnTo>
                  <a:lnTo>
                    <a:pt x="40" y="45"/>
                  </a:lnTo>
                  <a:lnTo>
                    <a:pt x="24" y="78"/>
                  </a:lnTo>
                  <a:lnTo>
                    <a:pt x="10" y="116"/>
                  </a:lnTo>
                  <a:lnTo>
                    <a:pt x="3" y="170"/>
                  </a:lnTo>
                  <a:lnTo>
                    <a:pt x="0" y="204"/>
                  </a:lnTo>
                  <a:lnTo>
                    <a:pt x="13" y="239"/>
                  </a:lnTo>
                  <a:lnTo>
                    <a:pt x="30" y="256"/>
                  </a:lnTo>
                  <a:lnTo>
                    <a:pt x="53" y="270"/>
                  </a:lnTo>
                  <a:lnTo>
                    <a:pt x="93" y="269"/>
                  </a:lnTo>
                  <a:lnTo>
                    <a:pt x="132" y="261"/>
                  </a:lnTo>
                  <a:lnTo>
                    <a:pt x="168" y="237"/>
                  </a:lnTo>
                  <a:lnTo>
                    <a:pt x="191" y="207"/>
                  </a:lnTo>
                  <a:lnTo>
                    <a:pt x="206" y="175"/>
                  </a:lnTo>
                  <a:lnTo>
                    <a:pt x="230" y="164"/>
                  </a:lnTo>
                  <a:lnTo>
                    <a:pt x="264" y="166"/>
                  </a:lnTo>
                  <a:lnTo>
                    <a:pt x="311" y="168"/>
                  </a:lnTo>
                  <a:lnTo>
                    <a:pt x="331" y="165"/>
                  </a:lnTo>
                  <a:lnTo>
                    <a:pt x="342" y="145"/>
                  </a:lnTo>
                  <a:lnTo>
                    <a:pt x="333" y="124"/>
                  </a:lnTo>
                  <a:lnTo>
                    <a:pt x="304" y="124"/>
                  </a:lnTo>
                  <a:lnTo>
                    <a:pt x="273" y="134"/>
                  </a:lnTo>
                  <a:lnTo>
                    <a:pt x="239" y="139"/>
                  </a:lnTo>
                  <a:lnTo>
                    <a:pt x="215" y="1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8" name="Freeform 86"/>
            <p:cNvSpPr>
              <a:spLocks/>
            </p:cNvSpPr>
            <p:nvPr/>
          </p:nvSpPr>
          <p:spPr bwMode="auto">
            <a:xfrm>
              <a:off x="3672" y="2204"/>
              <a:ext cx="270" cy="155"/>
            </a:xfrm>
            <a:custGeom>
              <a:avLst/>
              <a:gdLst>
                <a:gd name="T0" fmla="*/ 233 w 520"/>
                <a:gd name="T1" fmla="*/ 15 h 299"/>
                <a:gd name="T2" fmla="*/ 249 w 520"/>
                <a:gd name="T3" fmla="*/ 5 h 299"/>
                <a:gd name="T4" fmla="*/ 263 w 520"/>
                <a:gd name="T5" fmla="*/ 0 h 299"/>
                <a:gd name="T6" fmla="*/ 270 w 520"/>
                <a:gd name="T7" fmla="*/ 5 h 299"/>
                <a:gd name="T8" fmla="*/ 270 w 520"/>
                <a:gd name="T9" fmla="*/ 21 h 299"/>
                <a:gd name="T10" fmla="*/ 258 w 520"/>
                <a:gd name="T11" fmla="*/ 42 h 299"/>
                <a:gd name="T12" fmla="*/ 234 w 520"/>
                <a:gd name="T13" fmla="*/ 55 h 299"/>
                <a:gd name="T14" fmla="*/ 216 w 520"/>
                <a:gd name="T15" fmla="*/ 63 h 299"/>
                <a:gd name="T16" fmla="*/ 180 w 520"/>
                <a:gd name="T17" fmla="*/ 65 h 299"/>
                <a:gd name="T18" fmla="*/ 139 w 520"/>
                <a:gd name="T19" fmla="*/ 67 h 299"/>
                <a:gd name="T20" fmla="*/ 97 w 520"/>
                <a:gd name="T21" fmla="*/ 76 h 299"/>
                <a:gd name="T22" fmla="*/ 73 w 520"/>
                <a:gd name="T23" fmla="*/ 94 h 299"/>
                <a:gd name="T24" fmla="*/ 61 w 520"/>
                <a:gd name="T25" fmla="*/ 110 h 299"/>
                <a:gd name="T26" fmla="*/ 60 w 520"/>
                <a:gd name="T27" fmla="*/ 126 h 299"/>
                <a:gd name="T28" fmla="*/ 66 w 520"/>
                <a:gd name="T29" fmla="*/ 135 h 299"/>
                <a:gd name="T30" fmla="*/ 79 w 520"/>
                <a:gd name="T31" fmla="*/ 137 h 299"/>
                <a:gd name="T32" fmla="*/ 93 w 520"/>
                <a:gd name="T33" fmla="*/ 138 h 299"/>
                <a:gd name="T34" fmla="*/ 93 w 520"/>
                <a:gd name="T35" fmla="*/ 145 h 299"/>
                <a:gd name="T36" fmla="*/ 79 w 520"/>
                <a:gd name="T37" fmla="*/ 150 h 299"/>
                <a:gd name="T38" fmla="*/ 63 w 520"/>
                <a:gd name="T39" fmla="*/ 150 h 299"/>
                <a:gd name="T40" fmla="*/ 56 w 520"/>
                <a:gd name="T41" fmla="*/ 140 h 299"/>
                <a:gd name="T42" fmla="*/ 43 w 520"/>
                <a:gd name="T43" fmla="*/ 146 h 299"/>
                <a:gd name="T44" fmla="*/ 30 w 520"/>
                <a:gd name="T45" fmla="*/ 152 h 299"/>
                <a:gd name="T46" fmla="*/ 12 w 520"/>
                <a:gd name="T47" fmla="*/ 155 h 299"/>
                <a:gd name="T48" fmla="*/ 5 w 520"/>
                <a:gd name="T49" fmla="*/ 153 h 299"/>
                <a:gd name="T50" fmla="*/ 0 w 520"/>
                <a:gd name="T51" fmla="*/ 143 h 299"/>
                <a:gd name="T52" fmla="*/ 9 w 520"/>
                <a:gd name="T53" fmla="*/ 134 h 299"/>
                <a:gd name="T54" fmla="*/ 19 w 520"/>
                <a:gd name="T55" fmla="*/ 128 h 299"/>
                <a:gd name="T56" fmla="*/ 42 w 520"/>
                <a:gd name="T57" fmla="*/ 115 h 299"/>
                <a:gd name="T58" fmla="*/ 54 w 520"/>
                <a:gd name="T59" fmla="*/ 97 h 299"/>
                <a:gd name="T60" fmla="*/ 64 w 520"/>
                <a:gd name="T61" fmla="*/ 83 h 299"/>
                <a:gd name="T62" fmla="*/ 87 w 520"/>
                <a:gd name="T63" fmla="*/ 67 h 299"/>
                <a:gd name="T64" fmla="*/ 125 w 520"/>
                <a:gd name="T65" fmla="*/ 56 h 299"/>
                <a:gd name="T66" fmla="*/ 158 w 520"/>
                <a:gd name="T67" fmla="*/ 49 h 299"/>
                <a:gd name="T68" fmla="*/ 192 w 520"/>
                <a:gd name="T69" fmla="*/ 37 h 299"/>
                <a:gd name="T70" fmla="*/ 221 w 520"/>
                <a:gd name="T71" fmla="*/ 24 h 299"/>
                <a:gd name="T72" fmla="*/ 233 w 520"/>
                <a:gd name="T73" fmla="*/ 15 h 29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20" h="299">
                  <a:moveTo>
                    <a:pt x="448" y="29"/>
                  </a:moveTo>
                  <a:lnTo>
                    <a:pt x="480" y="9"/>
                  </a:lnTo>
                  <a:lnTo>
                    <a:pt x="506" y="0"/>
                  </a:lnTo>
                  <a:lnTo>
                    <a:pt x="520" y="9"/>
                  </a:lnTo>
                  <a:lnTo>
                    <a:pt x="520" y="40"/>
                  </a:lnTo>
                  <a:lnTo>
                    <a:pt x="496" y="81"/>
                  </a:lnTo>
                  <a:lnTo>
                    <a:pt x="451" y="106"/>
                  </a:lnTo>
                  <a:lnTo>
                    <a:pt x="416" y="121"/>
                  </a:lnTo>
                  <a:lnTo>
                    <a:pt x="346" y="126"/>
                  </a:lnTo>
                  <a:lnTo>
                    <a:pt x="267" y="130"/>
                  </a:lnTo>
                  <a:lnTo>
                    <a:pt x="186" y="146"/>
                  </a:lnTo>
                  <a:lnTo>
                    <a:pt x="140" y="181"/>
                  </a:lnTo>
                  <a:lnTo>
                    <a:pt x="118" y="213"/>
                  </a:lnTo>
                  <a:lnTo>
                    <a:pt x="116" y="244"/>
                  </a:lnTo>
                  <a:lnTo>
                    <a:pt x="128" y="261"/>
                  </a:lnTo>
                  <a:lnTo>
                    <a:pt x="152" y="265"/>
                  </a:lnTo>
                  <a:lnTo>
                    <a:pt x="180" y="267"/>
                  </a:lnTo>
                  <a:lnTo>
                    <a:pt x="180" y="279"/>
                  </a:lnTo>
                  <a:lnTo>
                    <a:pt x="152" y="289"/>
                  </a:lnTo>
                  <a:lnTo>
                    <a:pt x="121" y="289"/>
                  </a:lnTo>
                  <a:lnTo>
                    <a:pt x="107" y="271"/>
                  </a:lnTo>
                  <a:lnTo>
                    <a:pt x="82" y="281"/>
                  </a:lnTo>
                  <a:lnTo>
                    <a:pt x="58" y="293"/>
                  </a:lnTo>
                  <a:lnTo>
                    <a:pt x="24" y="299"/>
                  </a:lnTo>
                  <a:lnTo>
                    <a:pt x="9" y="295"/>
                  </a:lnTo>
                  <a:lnTo>
                    <a:pt x="0" y="276"/>
                  </a:lnTo>
                  <a:lnTo>
                    <a:pt x="17" y="259"/>
                  </a:lnTo>
                  <a:lnTo>
                    <a:pt x="37" y="246"/>
                  </a:lnTo>
                  <a:lnTo>
                    <a:pt x="81" y="222"/>
                  </a:lnTo>
                  <a:lnTo>
                    <a:pt x="104" y="188"/>
                  </a:lnTo>
                  <a:lnTo>
                    <a:pt x="124" y="160"/>
                  </a:lnTo>
                  <a:lnTo>
                    <a:pt x="168" y="130"/>
                  </a:lnTo>
                  <a:lnTo>
                    <a:pt x="240" y="108"/>
                  </a:lnTo>
                  <a:lnTo>
                    <a:pt x="305" y="94"/>
                  </a:lnTo>
                  <a:lnTo>
                    <a:pt x="369" y="71"/>
                  </a:lnTo>
                  <a:lnTo>
                    <a:pt x="426" y="47"/>
                  </a:lnTo>
                  <a:lnTo>
                    <a:pt x="448"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9" name="Freeform 87"/>
            <p:cNvSpPr>
              <a:spLocks/>
            </p:cNvSpPr>
            <p:nvPr/>
          </p:nvSpPr>
          <p:spPr bwMode="auto">
            <a:xfrm>
              <a:off x="3856" y="2197"/>
              <a:ext cx="134" cy="244"/>
            </a:xfrm>
            <a:custGeom>
              <a:avLst/>
              <a:gdLst>
                <a:gd name="T0" fmla="*/ 23 w 257"/>
                <a:gd name="T1" fmla="*/ 85 h 469"/>
                <a:gd name="T2" fmla="*/ 33 w 257"/>
                <a:gd name="T3" fmla="*/ 60 h 469"/>
                <a:gd name="T4" fmla="*/ 46 w 257"/>
                <a:gd name="T5" fmla="*/ 41 h 469"/>
                <a:gd name="T6" fmla="*/ 60 w 257"/>
                <a:gd name="T7" fmla="*/ 21 h 469"/>
                <a:gd name="T8" fmla="*/ 74 w 257"/>
                <a:gd name="T9" fmla="*/ 9 h 469"/>
                <a:gd name="T10" fmla="*/ 90 w 257"/>
                <a:gd name="T11" fmla="*/ 2 h 469"/>
                <a:gd name="T12" fmla="*/ 101 w 257"/>
                <a:gd name="T13" fmla="*/ 0 h 469"/>
                <a:gd name="T14" fmla="*/ 114 w 257"/>
                <a:gd name="T15" fmla="*/ 2 h 469"/>
                <a:gd name="T16" fmla="*/ 125 w 257"/>
                <a:gd name="T17" fmla="*/ 9 h 469"/>
                <a:gd name="T18" fmla="*/ 133 w 257"/>
                <a:gd name="T19" fmla="*/ 20 h 469"/>
                <a:gd name="T20" fmla="*/ 134 w 257"/>
                <a:gd name="T21" fmla="*/ 32 h 469"/>
                <a:gd name="T22" fmla="*/ 132 w 257"/>
                <a:gd name="T23" fmla="*/ 52 h 469"/>
                <a:gd name="T24" fmla="*/ 123 w 257"/>
                <a:gd name="T25" fmla="*/ 70 h 469"/>
                <a:gd name="T26" fmla="*/ 111 w 257"/>
                <a:gd name="T27" fmla="*/ 92 h 469"/>
                <a:gd name="T28" fmla="*/ 109 w 257"/>
                <a:gd name="T29" fmla="*/ 109 h 469"/>
                <a:gd name="T30" fmla="*/ 106 w 257"/>
                <a:gd name="T31" fmla="*/ 124 h 469"/>
                <a:gd name="T32" fmla="*/ 107 w 257"/>
                <a:gd name="T33" fmla="*/ 145 h 469"/>
                <a:gd name="T34" fmla="*/ 114 w 257"/>
                <a:gd name="T35" fmla="*/ 165 h 469"/>
                <a:gd name="T36" fmla="*/ 114 w 257"/>
                <a:gd name="T37" fmla="*/ 183 h 469"/>
                <a:gd name="T38" fmla="*/ 111 w 257"/>
                <a:gd name="T39" fmla="*/ 201 h 469"/>
                <a:gd name="T40" fmla="*/ 103 w 257"/>
                <a:gd name="T41" fmla="*/ 218 h 469"/>
                <a:gd name="T42" fmla="*/ 94 w 257"/>
                <a:gd name="T43" fmla="*/ 231 h 469"/>
                <a:gd name="T44" fmla="*/ 79 w 257"/>
                <a:gd name="T45" fmla="*/ 242 h 469"/>
                <a:gd name="T46" fmla="*/ 60 w 257"/>
                <a:gd name="T47" fmla="*/ 244 h 469"/>
                <a:gd name="T48" fmla="*/ 45 w 257"/>
                <a:gd name="T49" fmla="*/ 242 h 469"/>
                <a:gd name="T50" fmla="*/ 33 w 257"/>
                <a:gd name="T51" fmla="*/ 236 h 469"/>
                <a:gd name="T52" fmla="*/ 16 w 257"/>
                <a:gd name="T53" fmla="*/ 223 h 469"/>
                <a:gd name="T54" fmla="*/ 4 w 257"/>
                <a:gd name="T55" fmla="*/ 209 h 469"/>
                <a:gd name="T56" fmla="*/ 0 w 257"/>
                <a:gd name="T57" fmla="*/ 192 h 469"/>
                <a:gd name="T58" fmla="*/ 2 w 257"/>
                <a:gd name="T59" fmla="*/ 178 h 469"/>
                <a:gd name="T60" fmla="*/ 8 w 257"/>
                <a:gd name="T61" fmla="*/ 157 h 469"/>
                <a:gd name="T62" fmla="*/ 20 w 257"/>
                <a:gd name="T63" fmla="*/ 130 h 469"/>
                <a:gd name="T64" fmla="*/ 22 w 257"/>
                <a:gd name="T65" fmla="*/ 108 h 469"/>
                <a:gd name="T66" fmla="*/ 23 w 257"/>
                <a:gd name="T67" fmla="*/ 85 h 46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57" h="469">
                  <a:moveTo>
                    <a:pt x="45" y="164"/>
                  </a:moveTo>
                  <a:lnTo>
                    <a:pt x="64" y="116"/>
                  </a:lnTo>
                  <a:lnTo>
                    <a:pt x="89" y="79"/>
                  </a:lnTo>
                  <a:lnTo>
                    <a:pt x="116" y="41"/>
                  </a:lnTo>
                  <a:lnTo>
                    <a:pt x="141" y="18"/>
                  </a:lnTo>
                  <a:lnTo>
                    <a:pt x="173" y="3"/>
                  </a:lnTo>
                  <a:lnTo>
                    <a:pt x="193" y="0"/>
                  </a:lnTo>
                  <a:lnTo>
                    <a:pt x="219" y="4"/>
                  </a:lnTo>
                  <a:lnTo>
                    <a:pt x="239" y="17"/>
                  </a:lnTo>
                  <a:lnTo>
                    <a:pt x="255" y="38"/>
                  </a:lnTo>
                  <a:lnTo>
                    <a:pt x="257" y="62"/>
                  </a:lnTo>
                  <a:lnTo>
                    <a:pt x="253" y="99"/>
                  </a:lnTo>
                  <a:lnTo>
                    <a:pt x="236" y="135"/>
                  </a:lnTo>
                  <a:lnTo>
                    <a:pt x="213" y="176"/>
                  </a:lnTo>
                  <a:lnTo>
                    <a:pt x="210" y="209"/>
                  </a:lnTo>
                  <a:lnTo>
                    <a:pt x="203" y="239"/>
                  </a:lnTo>
                  <a:lnTo>
                    <a:pt x="206" y="279"/>
                  </a:lnTo>
                  <a:lnTo>
                    <a:pt x="219" y="318"/>
                  </a:lnTo>
                  <a:lnTo>
                    <a:pt x="219" y="351"/>
                  </a:lnTo>
                  <a:lnTo>
                    <a:pt x="212" y="387"/>
                  </a:lnTo>
                  <a:lnTo>
                    <a:pt x="197" y="419"/>
                  </a:lnTo>
                  <a:lnTo>
                    <a:pt x="180" y="444"/>
                  </a:lnTo>
                  <a:lnTo>
                    <a:pt x="151" y="465"/>
                  </a:lnTo>
                  <a:lnTo>
                    <a:pt x="116" y="469"/>
                  </a:lnTo>
                  <a:lnTo>
                    <a:pt x="87" y="465"/>
                  </a:lnTo>
                  <a:lnTo>
                    <a:pt x="63" y="453"/>
                  </a:lnTo>
                  <a:lnTo>
                    <a:pt x="30" y="428"/>
                  </a:lnTo>
                  <a:lnTo>
                    <a:pt x="8" y="402"/>
                  </a:lnTo>
                  <a:lnTo>
                    <a:pt x="0" y="369"/>
                  </a:lnTo>
                  <a:lnTo>
                    <a:pt x="4" y="342"/>
                  </a:lnTo>
                  <a:lnTo>
                    <a:pt x="15" y="302"/>
                  </a:lnTo>
                  <a:lnTo>
                    <a:pt x="38" y="249"/>
                  </a:lnTo>
                  <a:lnTo>
                    <a:pt x="43" y="207"/>
                  </a:lnTo>
                  <a:lnTo>
                    <a:pt x="45" y="1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0" name="Freeform 88"/>
            <p:cNvSpPr>
              <a:spLocks/>
            </p:cNvSpPr>
            <p:nvPr/>
          </p:nvSpPr>
          <p:spPr bwMode="auto">
            <a:xfrm>
              <a:off x="3895" y="2399"/>
              <a:ext cx="133" cy="307"/>
            </a:xfrm>
            <a:custGeom>
              <a:avLst/>
              <a:gdLst>
                <a:gd name="T0" fmla="*/ 13 w 255"/>
                <a:gd name="T1" fmla="*/ 0 h 592"/>
                <a:gd name="T2" fmla="*/ 30 w 255"/>
                <a:gd name="T3" fmla="*/ 0 h 592"/>
                <a:gd name="T4" fmla="*/ 45 w 255"/>
                <a:gd name="T5" fmla="*/ 16 h 592"/>
                <a:gd name="T6" fmla="*/ 61 w 255"/>
                <a:gd name="T7" fmla="*/ 54 h 592"/>
                <a:gd name="T8" fmla="*/ 76 w 255"/>
                <a:gd name="T9" fmla="*/ 89 h 592"/>
                <a:gd name="T10" fmla="*/ 84 w 255"/>
                <a:gd name="T11" fmla="*/ 120 h 592"/>
                <a:gd name="T12" fmla="*/ 84 w 255"/>
                <a:gd name="T13" fmla="*/ 138 h 592"/>
                <a:gd name="T14" fmla="*/ 76 w 255"/>
                <a:gd name="T15" fmla="*/ 157 h 592"/>
                <a:gd name="T16" fmla="*/ 57 w 255"/>
                <a:gd name="T17" fmla="*/ 192 h 592"/>
                <a:gd name="T18" fmla="*/ 39 w 255"/>
                <a:gd name="T19" fmla="*/ 230 h 592"/>
                <a:gd name="T20" fmla="*/ 35 w 255"/>
                <a:gd name="T21" fmla="*/ 249 h 592"/>
                <a:gd name="T22" fmla="*/ 39 w 255"/>
                <a:gd name="T23" fmla="*/ 263 h 592"/>
                <a:gd name="T24" fmla="*/ 44 w 255"/>
                <a:gd name="T25" fmla="*/ 266 h 592"/>
                <a:gd name="T26" fmla="*/ 64 w 255"/>
                <a:gd name="T27" fmla="*/ 268 h 592"/>
                <a:gd name="T28" fmla="*/ 103 w 255"/>
                <a:gd name="T29" fmla="*/ 275 h 592"/>
                <a:gd name="T30" fmla="*/ 125 w 255"/>
                <a:gd name="T31" fmla="*/ 283 h 592"/>
                <a:gd name="T32" fmla="*/ 133 w 255"/>
                <a:gd name="T33" fmla="*/ 289 h 592"/>
                <a:gd name="T34" fmla="*/ 128 w 255"/>
                <a:gd name="T35" fmla="*/ 296 h 592"/>
                <a:gd name="T36" fmla="*/ 108 w 255"/>
                <a:gd name="T37" fmla="*/ 306 h 592"/>
                <a:gd name="T38" fmla="*/ 96 w 255"/>
                <a:gd name="T39" fmla="*/ 307 h 592"/>
                <a:gd name="T40" fmla="*/ 84 w 255"/>
                <a:gd name="T41" fmla="*/ 303 h 592"/>
                <a:gd name="T42" fmla="*/ 66 w 255"/>
                <a:gd name="T43" fmla="*/ 289 h 592"/>
                <a:gd name="T44" fmla="*/ 42 w 255"/>
                <a:gd name="T45" fmla="*/ 283 h 592"/>
                <a:gd name="T46" fmla="*/ 22 w 255"/>
                <a:gd name="T47" fmla="*/ 286 h 592"/>
                <a:gd name="T48" fmla="*/ 9 w 255"/>
                <a:gd name="T49" fmla="*/ 284 h 592"/>
                <a:gd name="T50" fmla="*/ 3 w 255"/>
                <a:gd name="T51" fmla="*/ 278 h 592"/>
                <a:gd name="T52" fmla="*/ 5 w 255"/>
                <a:gd name="T53" fmla="*/ 265 h 592"/>
                <a:gd name="T54" fmla="*/ 9 w 255"/>
                <a:gd name="T55" fmla="*/ 248 h 592"/>
                <a:gd name="T56" fmla="*/ 18 w 255"/>
                <a:gd name="T57" fmla="*/ 229 h 592"/>
                <a:gd name="T58" fmla="*/ 23 w 255"/>
                <a:gd name="T59" fmla="*/ 214 h 592"/>
                <a:gd name="T60" fmla="*/ 32 w 255"/>
                <a:gd name="T61" fmla="*/ 186 h 592"/>
                <a:gd name="T62" fmla="*/ 43 w 255"/>
                <a:gd name="T63" fmla="*/ 162 h 592"/>
                <a:gd name="T64" fmla="*/ 51 w 255"/>
                <a:gd name="T65" fmla="*/ 144 h 592"/>
                <a:gd name="T66" fmla="*/ 57 w 255"/>
                <a:gd name="T67" fmla="*/ 128 h 592"/>
                <a:gd name="T68" fmla="*/ 55 w 255"/>
                <a:gd name="T69" fmla="*/ 116 h 592"/>
                <a:gd name="T70" fmla="*/ 44 w 255"/>
                <a:gd name="T71" fmla="*/ 103 h 592"/>
                <a:gd name="T72" fmla="*/ 27 w 255"/>
                <a:gd name="T73" fmla="*/ 75 h 592"/>
                <a:gd name="T74" fmla="*/ 8 w 255"/>
                <a:gd name="T75" fmla="*/ 51 h 592"/>
                <a:gd name="T76" fmla="*/ 0 w 255"/>
                <a:gd name="T77" fmla="*/ 27 h 592"/>
                <a:gd name="T78" fmla="*/ 5 w 255"/>
                <a:gd name="T79" fmla="*/ 9 h 592"/>
                <a:gd name="T80" fmla="*/ 13 w 255"/>
                <a:gd name="T81" fmla="*/ 0 h 5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55" h="592">
                  <a:moveTo>
                    <a:pt x="25" y="0"/>
                  </a:moveTo>
                  <a:lnTo>
                    <a:pt x="57" y="0"/>
                  </a:lnTo>
                  <a:lnTo>
                    <a:pt x="87" y="30"/>
                  </a:lnTo>
                  <a:lnTo>
                    <a:pt x="117" y="104"/>
                  </a:lnTo>
                  <a:lnTo>
                    <a:pt x="145" y="172"/>
                  </a:lnTo>
                  <a:lnTo>
                    <a:pt x="162" y="232"/>
                  </a:lnTo>
                  <a:lnTo>
                    <a:pt x="162" y="267"/>
                  </a:lnTo>
                  <a:lnTo>
                    <a:pt x="145" y="303"/>
                  </a:lnTo>
                  <a:lnTo>
                    <a:pt x="110" y="371"/>
                  </a:lnTo>
                  <a:lnTo>
                    <a:pt x="75" y="443"/>
                  </a:lnTo>
                  <a:lnTo>
                    <a:pt x="67" y="481"/>
                  </a:lnTo>
                  <a:lnTo>
                    <a:pt x="75" y="507"/>
                  </a:lnTo>
                  <a:lnTo>
                    <a:pt x="85" y="512"/>
                  </a:lnTo>
                  <a:lnTo>
                    <a:pt x="122" y="517"/>
                  </a:lnTo>
                  <a:lnTo>
                    <a:pt x="197" y="531"/>
                  </a:lnTo>
                  <a:lnTo>
                    <a:pt x="240" y="546"/>
                  </a:lnTo>
                  <a:lnTo>
                    <a:pt x="255" y="557"/>
                  </a:lnTo>
                  <a:lnTo>
                    <a:pt x="245" y="570"/>
                  </a:lnTo>
                  <a:lnTo>
                    <a:pt x="207" y="590"/>
                  </a:lnTo>
                  <a:lnTo>
                    <a:pt x="185" y="592"/>
                  </a:lnTo>
                  <a:lnTo>
                    <a:pt x="162" y="585"/>
                  </a:lnTo>
                  <a:lnTo>
                    <a:pt x="127" y="557"/>
                  </a:lnTo>
                  <a:lnTo>
                    <a:pt x="80" y="546"/>
                  </a:lnTo>
                  <a:lnTo>
                    <a:pt x="42" y="552"/>
                  </a:lnTo>
                  <a:lnTo>
                    <a:pt x="17" y="547"/>
                  </a:lnTo>
                  <a:lnTo>
                    <a:pt x="5" y="537"/>
                  </a:lnTo>
                  <a:lnTo>
                    <a:pt x="10" y="511"/>
                  </a:lnTo>
                  <a:lnTo>
                    <a:pt x="17" y="478"/>
                  </a:lnTo>
                  <a:lnTo>
                    <a:pt x="35" y="441"/>
                  </a:lnTo>
                  <a:lnTo>
                    <a:pt x="45" y="413"/>
                  </a:lnTo>
                  <a:lnTo>
                    <a:pt x="62" y="358"/>
                  </a:lnTo>
                  <a:lnTo>
                    <a:pt x="82" y="312"/>
                  </a:lnTo>
                  <a:lnTo>
                    <a:pt x="97" y="277"/>
                  </a:lnTo>
                  <a:lnTo>
                    <a:pt x="110" y="247"/>
                  </a:lnTo>
                  <a:lnTo>
                    <a:pt x="105" y="224"/>
                  </a:lnTo>
                  <a:lnTo>
                    <a:pt x="85" y="199"/>
                  </a:lnTo>
                  <a:lnTo>
                    <a:pt x="52" y="144"/>
                  </a:lnTo>
                  <a:lnTo>
                    <a:pt x="15" y="98"/>
                  </a:lnTo>
                  <a:lnTo>
                    <a:pt x="0" y="53"/>
                  </a:lnTo>
                  <a:lnTo>
                    <a:pt x="10" y="18"/>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1" name="Freeform 89"/>
            <p:cNvSpPr>
              <a:spLocks/>
            </p:cNvSpPr>
            <p:nvPr/>
          </p:nvSpPr>
          <p:spPr bwMode="auto">
            <a:xfrm>
              <a:off x="3806" y="2386"/>
              <a:ext cx="95" cy="356"/>
            </a:xfrm>
            <a:custGeom>
              <a:avLst/>
              <a:gdLst>
                <a:gd name="T0" fmla="*/ 42 w 182"/>
                <a:gd name="T1" fmla="*/ 40 h 687"/>
                <a:gd name="T2" fmla="*/ 51 w 182"/>
                <a:gd name="T3" fmla="*/ 19 h 687"/>
                <a:gd name="T4" fmla="*/ 62 w 182"/>
                <a:gd name="T5" fmla="*/ 0 h 687"/>
                <a:gd name="T6" fmla="*/ 72 w 182"/>
                <a:gd name="T7" fmla="*/ 0 h 687"/>
                <a:gd name="T8" fmla="*/ 85 w 182"/>
                <a:gd name="T9" fmla="*/ 5 h 687"/>
                <a:gd name="T10" fmla="*/ 95 w 182"/>
                <a:gd name="T11" fmla="*/ 24 h 687"/>
                <a:gd name="T12" fmla="*/ 87 w 182"/>
                <a:gd name="T13" fmla="*/ 45 h 687"/>
                <a:gd name="T14" fmla="*/ 78 w 182"/>
                <a:gd name="T15" fmla="*/ 71 h 687"/>
                <a:gd name="T16" fmla="*/ 67 w 182"/>
                <a:gd name="T17" fmla="*/ 109 h 687"/>
                <a:gd name="T18" fmla="*/ 62 w 182"/>
                <a:gd name="T19" fmla="*/ 141 h 687"/>
                <a:gd name="T20" fmla="*/ 60 w 182"/>
                <a:gd name="T21" fmla="*/ 172 h 687"/>
                <a:gd name="T22" fmla="*/ 65 w 182"/>
                <a:gd name="T23" fmla="*/ 213 h 687"/>
                <a:gd name="T24" fmla="*/ 63 w 182"/>
                <a:gd name="T25" fmla="*/ 236 h 687"/>
                <a:gd name="T26" fmla="*/ 60 w 182"/>
                <a:gd name="T27" fmla="*/ 252 h 687"/>
                <a:gd name="T28" fmla="*/ 58 w 182"/>
                <a:gd name="T29" fmla="*/ 270 h 687"/>
                <a:gd name="T30" fmla="*/ 64 w 182"/>
                <a:gd name="T31" fmla="*/ 288 h 687"/>
                <a:gd name="T32" fmla="*/ 67 w 182"/>
                <a:gd name="T33" fmla="*/ 302 h 687"/>
                <a:gd name="T34" fmla="*/ 61 w 182"/>
                <a:gd name="T35" fmla="*/ 309 h 687"/>
                <a:gd name="T36" fmla="*/ 47 w 182"/>
                <a:gd name="T37" fmla="*/ 323 h 687"/>
                <a:gd name="T38" fmla="*/ 42 w 182"/>
                <a:gd name="T39" fmla="*/ 339 h 687"/>
                <a:gd name="T40" fmla="*/ 35 w 182"/>
                <a:gd name="T41" fmla="*/ 352 h 687"/>
                <a:gd name="T42" fmla="*/ 25 w 182"/>
                <a:gd name="T43" fmla="*/ 356 h 687"/>
                <a:gd name="T44" fmla="*/ 6 w 182"/>
                <a:gd name="T45" fmla="*/ 345 h 687"/>
                <a:gd name="T46" fmla="*/ 0 w 182"/>
                <a:gd name="T47" fmla="*/ 339 h 687"/>
                <a:gd name="T48" fmla="*/ 3 w 182"/>
                <a:gd name="T49" fmla="*/ 326 h 687"/>
                <a:gd name="T50" fmla="*/ 13 w 182"/>
                <a:gd name="T51" fmla="*/ 321 h 687"/>
                <a:gd name="T52" fmla="*/ 28 w 182"/>
                <a:gd name="T53" fmla="*/ 308 h 687"/>
                <a:gd name="T54" fmla="*/ 37 w 182"/>
                <a:gd name="T55" fmla="*/ 292 h 687"/>
                <a:gd name="T56" fmla="*/ 40 w 182"/>
                <a:gd name="T57" fmla="*/ 270 h 687"/>
                <a:gd name="T58" fmla="*/ 37 w 182"/>
                <a:gd name="T59" fmla="*/ 249 h 687"/>
                <a:gd name="T60" fmla="*/ 35 w 182"/>
                <a:gd name="T61" fmla="*/ 219 h 687"/>
                <a:gd name="T62" fmla="*/ 33 w 182"/>
                <a:gd name="T63" fmla="*/ 180 h 687"/>
                <a:gd name="T64" fmla="*/ 32 w 182"/>
                <a:gd name="T65" fmla="*/ 147 h 687"/>
                <a:gd name="T66" fmla="*/ 34 w 182"/>
                <a:gd name="T67" fmla="*/ 111 h 687"/>
                <a:gd name="T68" fmla="*/ 34 w 182"/>
                <a:gd name="T69" fmla="*/ 83 h 687"/>
                <a:gd name="T70" fmla="*/ 38 w 182"/>
                <a:gd name="T71" fmla="*/ 62 h 687"/>
                <a:gd name="T72" fmla="*/ 42 w 182"/>
                <a:gd name="T73" fmla="*/ 40 h 68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82" h="687">
                  <a:moveTo>
                    <a:pt x="81" y="78"/>
                  </a:moveTo>
                  <a:lnTo>
                    <a:pt x="97" y="37"/>
                  </a:lnTo>
                  <a:lnTo>
                    <a:pt x="119" y="0"/>
                  </a:lnTo>
                  <a:lnTo>
                    <a:pt x="138" y="0"/>
                  </a:lnTo>
                  <a:lnTo>
                    <a:pt x="163" y="9"/>
                  </a:lnTo>
                  <a:lnTo>
                    <a:pt x="182" y="46"/>
                  </a:lnTo>
                  <a:lnTo>
                    <a:pt x="166" y="87"/>
                  </a:lnTo>
                  <a:lnTo>
                    <a:pt x="149" y="137"/>
                  </a:lnTo>
                  <a:lnTo>
                    <a:pt x="128" y="211"/>
                  </a:lnTo>
                  <a:lnTo>
                    <a:pt x="119" y="272"/>
                  </a:lnTo>
                  <a:lnTo>
                    <a:pt x="114" y="331"/>
                  </a:lnTo>
                  <a:lnTo>
                    <a:pt x="125" y="412"/>
                  </a:lnTo>
                  <a:lnTo>
                    <a:pt x="120" y="455"/>
                  </a:lnTo>
                  <a:lnTo>
                    <a:pt x="114" y="487"/>
                  </a:lnTo>
                  <a:lnTo>
                    <a:pt x="111" y="522"/>
                  </a:lnTo>
                  <a:lnTo>
                    <a:pt x="123" y="556"/>
                  </a:lnTo>
                  <a:lnTo>
                    <a:pt x="128" y="582"/>
                  </a:lnTo>
                  <a:lnTo>
                    <a:pt x="116" y="597"/>
                  </a:lnTo>
                  <a:lnTo>
                    <a:pt x="90" y="623"/>
                  </a:lnTo>
                  <a:lnTo>
                    <a:pt x="81" y="655"/>
                  </a:lnTo>
                  <a:lnTo>
                    <a:pt x="68" y="679"/>
                  </a:lnTo>
                  <a:lnTo>
                    <a:pt x="47" y="687"/>
                  </a:lnTo>
                  <a:lnTo>
                    <a:pt x="11" y="666"/>
                  </a:lnTo>
                  <a:lnTo>
                    <a:pt x="0" y="655"/>
                  </a:lnTo>
                  <a:lnTo>
                    <a:pt x="5" y="629"/>
                  </a:lnTo>
                  <a:lnTo>
                    <a:pt x="25" y="620"/>
                  </a:lnTo>
                  <a:lnTo>
                    <a:pt x="54" y="595"/>
                  </a:lnTo>
                  <a:lnTo>
                    <a:pt x="71" y="563"/>
                  </a:lnTo>
                  <a:lnTo>
                    <a:pt x="76" y="522"/>
                  </a:lnTo>
                  <a:lnTo>
                    <a:pt x="71" y="481"/>
                  </a:lnTo>
                  <a:lnTo>
                    <a:pt x="68" y="423"/>
                  </a:lnTo>
                  <a:lnTo>
                    <a:pt x="63" y="348"/>
                  </a:lnTo>
                  <a:lnTo>
                    <a:pt x="62" y="284"/>
                  </a:lnTo>
                  <a:lnTo>
                    <a:pt x="66" y="215"/>
                  </a:lnTo>
                  <a:lnTo>
                    <a:pt x="66" y="160"/>
                  </a:lnTo>
                  <a:lnTo>
                    <a:pt x="73" y="119"/>
                  </a:lnTo>
                  <a:lnTo>
                    <a:pt x="81"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232" name="Group 90"/>
            <p:cNvGrpSpPr>
              <a:grpSpLocks/>
            </p:cNvGrpSpPr>
            <p:nvPr/>
          </p:nvGrpSpPr>
          <p:grpSpPr bwMode="auto">
            <a:xfrm>
              <a:off x="3704" y="2226"/>
              <a:ext cx="224" cy="197"/>
              <a:chOff x="4133" y="-96"/>
              <a:chExt cx="598" cy="1341"/>
            </a:xfrm>
          </p:grpSpPr>
          <p:sp>
            <p:nvSpPr>
              <p:cNvPr id="6234" name="Freeform 91"/>
              <p:cNvSpPr>
                <a:spLocks/>
              </p:cNvSpPr>
              <p:nvPr/>
            </p:nvSpPr>
            <p:spPr bwMode="auto">
              <a:xfrm>
                <a:off x="4144" y="-37"/>
                <a:ext cx="318" cy="1264"/>
              </a:xfrm>
              <a:custGeom>
                <a:avLst/>
                <a:gdLst>
                  <a:gd name="T0" fmla="*/ 312 w 318"/>
                  <a:gd name="T1" fmla="*/ 226 h 1264"/>
                  <a:gd name="T2" fmla="*/ 318 w 318"/>
                  <a:gd name="T3" fmla="*/ 274 h 1264"/>
                  <a:gd name="T4" fmla="*/ 318 w 318"/>
                  <a:gd name="T5" fmla="*/ 524 h 1264"/>
                  <a:gd name="T6" fmla="*/ 295 w 318"/>
                  <a:gd name="T7" fmla="*/ 859 h 1264"/>
                  <a:gd name="T8" fmla="*/ 297 w 318"/>
                  <a:gd name="T9" fmla="*/ 1074 h 1264"/>
                  <a:gd name="T10" fmla="*/ 309 w 318"/>
                  <a:gd name="T11" fmla="*/ 1222 h 1264"/>
                  <a:gd name="T12" fmla="*/ 297 w 318"/>
                  <a:gd name="T13" fmla="*/ 1264 h 1264"/>
                  <a:gd name="T14" fmla="*/ 279 w 318"/>
                  <a:gd name="T15" fmla="*/ 1255 h 1264"/>
                  <a:gd name="T16" fmla="*/ 170 w 318"/>
                  <a:gd name="T17" fmla="*/ 1173 h 1264"/>
                  <a:gd name="T18" fmla="*/ 143 w 318"/>
                  <a:gd name="T19" fmla="*/ 1157 h 1264"/>
                  <a:gd name="T20" fmla="*/ 126 w 318"/>
                  <a:gd name="T21" fmla="*/ 1133 h 1264"/>
                  <a:gd name="T22" fmla="*/ 98 w 318"/>
                  <a:gd name="T23" fmla="*/ 1103 h 1264"/>
                  <a:gd name="T24" fmla="*/ 62 w 318"/>
                  <a:gd name="T25" fmla="*/ 1071 h 1264"/>
                  <a:gd name="T26" fmla="*/ 44 w 318"/>
                  <a:gd name="T27" fmla="*/ 1028 h 1264"/>
                  <a:gd name="T28" fmla="*/ 0 w 318"/>
                  <a:gd name="T29" fmla="*/ 989 h 1264"/>
                  <a:gd name="T30" fmla="*/ 0 w 318"/>
                  <a:gd name="T31" fmla="*/ 968 h 1264"/>
                  <a:gd name="T32" fmla="*/ 24 w 318"/>
                  <a:gd name="T33" fmla="*/ 939 h 1264"/>
                  <a:gd name="T34" fmla="*/ 33 w 318"/>
                  <a:gd name="T35" fmla="*/ 901 h 1264"/>
                  <a:gd name="T36" fmla="*/ 27 w 318"/>
                  <a:gd name="T37" fmla="*/ 882 h 1264"/>
                  <a:gd name="T38" fmla="*/ 16 w 318"/>
                  <a:gd name="T39" fmla="*/ 848 h 1264"/>
                  <a:gd name="T40" fmla="*/ 12 w 318"/>
                  <a:gd name="T41" fmla="*/ 825 h 1264"/>
                  <a:gd name="T42" fmla="*/ 29 w 318"/>
                  <a:gd name="T43" fmla="*/ 789 h 1264"/>
                  <a:gd name="T44" fmla="*/ 29 w 318"/>
                  <a:gd name="T45" fmla="*/ 766 h 1264"/>
                  <a:gd name="T46" fmla="*/ 10 w 318"/>
                  <a:gd name="T47" fmla="*/ 718 h 1264"/>
                  <a:gd name="T48" fmla="*/ 10 w 318"/>
                  <a:gd name="T49" fmla="*/ 690 h 1264"/>
                  <a:gd name="T50" fmla="*/ 22 w 318"/>
                  <a:gd name="T51" fmla="*/ 668 h 1264"/>
                  <a:gd name="T52" fmla="*/ 40 w 318"/>
                  <a:gd name="T53" fmla="*/ 643 h 1264"/>
                  <a:gd name="T54" fmla="*/ 38 w 318"/>
                  <a:gd name="T55" fmla="*/ 600 h 1264"/>
                  <a:gd name="T56" fmla="*/ 27 w 318"/>
                  <a:gd name="T57" fmla="*/ 566 h 1264"/>
                  <a:gd name="T58" fmla="*/ 38 w 318"/>
                  <a:gd name="T59" fmla="*/ 524 h 1264"/>
                  <a:gd name="T60" fmla="*/ 49 w 318"/>
                  <a:gd name="T61" fmla="*/ 513 h 1264"/>
                  <a:gd name="T62" fmla="*/ 40 w 318"/>
                  <a:gd name="T63" fmla="*/ 476 h 1264"/>
                  <a:gd name="T64" fmla="*/ 16 w 318"/>
                  <a:gd name="T65" fmla="*/ 436 h 1264"/>
                  <a:gd name="T66" fmla="*/ 10 w 318"/>
                  <a:gd name="T67" fmla="*/ 409 h 1264"/>
                  <a:gd name="T68" fmla="*/ 16 w 318"/>
                  <a:gd name="T69" fmla="*/ 383 h 1264"/>
                  <a:gd name="T70" fmla="*/ 45 w 318"/>
                  <a:gd name="T71" fmla="*/ 362 h 1264"/>
                  <a:gd name="T72" fmla="*/ 44 w 318"/>
                  <a:gd name="T73" fmla="*/ 344 h 1264"/>
                  <a:gd name="T74" fmla="*/ 12 w 318"/>
                  <a:gd name="T75" fmla="*/ 286 h 1264"/>
                  <a:gd name="T76" fmla="*/ 1 w 318"/>
                  <a:gd name="T77" fmla="*/ 242 h 1264"/>
                  <a:gd name="T78" fmla="*/ 10 w 318"/>
                  <a:gd name="T79" fmla="*/ 216 h 1264"/>
                  <a:gd name="T80" fmla="*/ 40 w 318"/>
                  <a:gd name="T81" fmla="*/ 192 h 1264"/>
                  <a:gd name="T82" fmla="*/ 33 w 318"/>
                  <a:gd name="T83" fmla="*/ 173 h 1264"/>
                  <a:gd name="T84" fmla="*/ 12 w 318"/>
                  <a:gd name="T85" fmla="*/ 149 h 1264"/>
                  <a:gd name="T86" fmla="*/ 12 w 318"/>
                  <a:gd name="T87" fmla="*/ 124 h 1264"/>
                  <a:gd name="T88" fmla="*/ 45 w 318"/>
                  <a:gd name="T89" fmla="*/ 108 h 1264"/>
                  <a:gd name="T90" fmla="*/ 61 w 318"/>
                  <a:gd name="T91" fmla="*/ 90 h 1264"/>
                  <a:gd name="T92" fmla="*/ 33 w 318"/>
                  <a:gd name="T93" fmla="*/ 51 h 1264"/>
                  <a:gd name="T94" fmla="*/ 33 w 318"/>
                  <a:gd name="T95" fmla="*/ 32 h 1264"/>
                  <a:gd name="T96" fmla="*/ 66 w 318"/>
                  <a:gd name="T97" fmla="*/ 19 h 1264"/>
                  <a:gd name="T98" fmla="*/ 68 w 318"/>
                  <a:gd name="T99" fmla="*/ 0 h 1264"/>
                  <a:gd name="T100" fmla="*/ 105 w 318"/>
                  <a:gd name="T101" fmla="*/ 51 h 1264"/>
                  <a:gd name="T102" fmla="*/ 149 w 318"/>
                  <a:gd name="T103" fmla="*/ 106 h 1264"/>
                  <a:gd name="T104" fmla="*/ 203 w 318"/>
                  <a:gd name="T105" fmla="*/ 149 h 1264"/>
                  <a:gd name="T106" fmla="*/ 247 w 318"/>
                  <a:gd name="T107" fmla="*/ 183 h 1264"/>
                  <a:gd name="T108" fmla="*/ 295 w 318"/>
                  <a:gd name="T109" fmla="*/ 210 h 1264"/>
                  <a:gd name="T110" fmla="*/ 312 w 318"/>
                  <a:gd name="T111" fmla="*/ 226 h 126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318" h="1264">
                    <a:moveTo>
                      <a:pt x="312" y="226"/>
                    </a:moveTo>
                    <a:lnTo>
                      <a:pt x="318" y="274"/>
                    </a:lnTo>
                    <a:lnTo>
                      <a:pt x="318" y="524"/>
                    </a:lnTo>
                    <a:lnTo>
                      <a:pt x="295" y="859"/>
                    </a:lnTo>
                    <a:lnTo>
                      <a:pt x="297" y="1074"/>
                    </a:lnTo>
                    <a:lnTo>
                      <a:pt x="309" y="1222"/>
                    </a:lnTo>
                    <a:lnTo>
                      <a:pt x="297" y="1264"/>
                    </a:lnTo>
                    <a:lnTo>
                      <a:pt x="279" y="1255"/>
                    </a:lnTo>
                    <a:lnTo>
                      <a:pt x="170" y="1173"/>
                    </a:lnTo>
                    <a:lnTo>
                      <a:pt x="143" y="1157"/>
                    </a:lnTo>
                    <a:lnTo>
                      <a:pt x="126" y="1133"/>
                    </a:lnTo>
                    <a:lnTo>
                      <a:pt x="98" y="1103"/>
                    </a:lnTo>
                    <a:lnTo>
                      <a:pt x="62" y="1071"/>
                    </a:lnTo>
                    <a:lnTo>
                      <a:pt x="44" y="1028"/>
                    </a:lnTo>
                    <a:lnTo>
                      <a:pt x="0" y="989"/>
                    </a:lnTo>
                    <a:lnTo>
                      <a:pt x="0" y="968"/>
                    </a:lnTo>
                    <a:lnTo>
                      <a:pt x="24" y="939"/>
                    </a:lnTo>
                    <a:lnTo>
                      <a:pt x="33" y="901"/>
                    </a:lnTo>
                    <a:lnTo>
                      <a:pt x="27" y="882"/>
                    </a:lnTo>
                    <a:lnTo>
                      <a:pt x="16" y="848"/>
                    </a:lnTo>
                    <a:lnTo>
                      <a:pt x="12" y="825"/>
                    </a:lnTo>
                    <a:lnTo>
                      <a:pt x="29" y="789"/>
                    </a:lnTo>
                    <a:lnTo>
                      <a:pt x="29" y="766"/>
                    </a:lnTo>
                    <a:lnTo>
                      <a:pt x="10" y="718"/>
                    </a:lnTo>
                    <a:lnTo>
                      <a:pt x="10" y="690"/>
                    </a:lnTo>
                    <a:lnTo>
                      <a:pt x="22" y="668"/>
                    </a:lnTo>
                    <a:lnTo>
                      <a:pt x="40" y="643"/>
                    </a:lnTo>
                    <a:lnTo>
                      <a:pt x="38" y="600"/>
                    </a:lnTo>
                    <a:lnTo>
                      <a:pt x="27" y="566"/>
                    </a:lnTo>
                    <a:lnTo>
                      <a:pt x="38" y="524"/>
                    </a:lnTo>
                    <a:lnTo>
                      <a:pt x="49" y="513"/>
                    </a:lnTo>
                    <a:lnTo>
                      <a:pt x="40" y="476"/>
                    </a:lnTo>
                    <a:lnTo>
                      <a:pt x="16" y="436"/>
                    </a:lnTo>
                    <a:lnTo>
                      <a:pt x="10" y="409"/>
                    </a:lnTo>
                    <a:lnTo>
                      <a:pt x="16" y="383"/>
                    </a:lnTo>
                    <a:lnTo>
                      <a:pt x="45" y="362"/>
                    </a:lnTo>
                    <a:lnTo>
                      <a:pt x="44" y="344"/>
                    </a:lnTo>
                    <a:lnTo>
                      <a:pt x="12" y="286"/>
                    </a:lnTo>
                    <a:lnTo>
                      <a:pt x="1" y="242"/>
                    </a:lnTo>
                    <a:lnTo>
                      <a:pt x="10" y="216"/>
                    </a:lnTo>
                    <a:lnTo>
                      <a:pt x="40" y="192"/>
                    </a:lnTo>
                    <a:lnTo>
                      <a:pt x="33" y="173"/>
                    </a:lnTo>
                    <a:lnTo>
                      <a:pt x="12" y="149"/>
                    </a:lnTo>
                    <a:lnTo>
                      <a:pt x="12" y="124"/>
                    </a:lnTo>
                    <a:lnTo>
                      <a:pt x="45" y="108"/>
                    </a:lnTo>
                    <a:lnTo>
                      <a:pt x="61" y="90"/>
                    </a:lnTo>
                    <a:lnTo>
                      <a:pt x="33" y="51"/>
                    </a:lnTo>
                    <a:lnTo>
                      <a:pt x="33" y="32"/>
                    </a:lnTo>
                    <a:lnTo>
                      <a:pt x="66" y="19"/>
                    </a:lnTo>
                    <a:lnTo>
                      <a:pt x="68" y="0"/>
                    </a:lnTo>
                    <a:lnTo>
                      <a:pt x="105" y="51"/>
                    </a:lnTo>
                    <a:lnTo>
                      <a:pt x="149" y="106"/>
                    </a:lnTo>
                    <a:lnTo>
                      <a:pt x="203" y="149"/>
                    </a:lnTo>
                    <a:lnTo>
                      <a:pt x="247" y="183"/>
                    </a:lnTo>
                    <a:lnTo>
                      <a:pt x="295" y="210"/>
                    </a:lnTo>
                    <a:lnTo>
                      <a:pt x="312" y="226"/>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5" name="Freeform 92"/>
              <p:cNvSpPr>
                <a:spLocks/>
              </p:cNvSpPr>
              <p:nvPr/>
            </p:nvSpPr>
            <p:spPr bwMode="auto">
              <a:xfrm>
                <a:off x="4133" y="-17"/>
                <a:ext cx="98" cy="965"/>
              </a:xfrm>
              <a:custGeom>
                <a:avLst/>
                <a:gdLst>
                  <a:gd name="T0" fmla="*/ 66 w 98"/>
                  <a:gd name="T1" fmla="*/ 32 h 965"/>
                  <a:gd name="T2" fmla="*/ 98 w 98"/>
                  <a:gd name="T3" fmla="*/ 67 h 965"/>
                  <a:gd name="T4" fmla="*/ 78 w 98"/>
                  <a:gd name="T5" fmla="*/ 94 h 965"/>
                  <a:gd name="T6" fmla="*/ 37 w 98"/>
                  <a:gd name="T7" fmla="*/ 113 h 965"/>
                  <a:gd name="T8" fmla="*/ 52 w 98"/>
                  <a:gd name="T9" fmla="*/ 140 h 965"/>
                  <a:gd name="T10" fmla="*/ 72 w 98"/>
                  <a:gd name="T11" fmla="*/ 174 h 965"/>
                  <a:gd name="T12" fmla="*/ 49 w 98"/>
                  <a:gd name="T13" fmla="*/ 197 h 965"/>
                  <a:gd name="T14" fmla="*/ 29 w 98"/>
                  <a:gd name="T15" fmla="*/ 224 h 965"/>
                  <a:gd name="T16" fmla="*/ 49 w 98"/>
                  <a:gd name="T17" fmla="*/ 272 h 965"/>
                  <a:gd name="T18" fmla="*/ 72 w 98"/>
                  <a:gd name="T19" fmla="*/ 316 h 965"/>
                  <a:gd name="T20" fmla="*/ 66 w 98"/>
                  <a:gd name="T21" fmla="*/ 354 h 965"/>
                  <a:gd name="T22" fmla="*/ 37 w 98"/>
                  <a:gd name="T23" fmla="*/ 386 h 965"/>
                  <a:gd name="T24" fmla="*/ 70 w 98"/>
                  <a:gd name="T25" fmla="*/ 455 h 965"/>
                  <a:gd name="T26" fmla="*/ 84 w 98"/>
                  <a:gd name="T27" fmla="*/ 498 h 965"/>
                  <a:gd name="T28" fmla="*/ 59 w 98"/>
                  <a:gd name="T29" fmla="*/ 530 h 965"/>
                  <a:gd name="T30" fmla="*/ 64 w 98"/>
                  <a:gd name="T31" fmla="*/ 580 h 965"/>
                  <a:gd name="T32" fmla="*/ 82 w 98"/>
                  <a:gd name="T33" fmla="*/ 628 h 965"/>
                  <a:gd name="T34" fmla="*/ 60 w 98"/>
                  <a:gd name="T35" fmla="*/ 655 h 965"/>
                  <a:gd name="T36" fmla="*/ 30 w 98"/>
                  <a:gd name="T37" fmla="*/ 688 h 965"/>
                  <a:gd name="T38" fmla="*/ 60 w 98"/>
                  <a:gd name="T39" fmla="*/ 747 h 965"/>
                  <a:gd name="T40" fmla="*/ 72 w 98"/>
                  <a:gd name="T41" fmla="*/ 788 h 965"/>
                  <a:gd name="T42" fmla="*/ 47 w 98"/>
                  <a:gd name="T43" fmla="*/ 797 h 965"/>
                  <a:gd name="T44" fmla="*/ 52 w 98"/>
                  <a:gd name="T45" fmla="*/ 861 h 965"/>
                  <a:gd name="T46" fmla="*/ 66 w 98"/>
                  <a:gd name="T47" fmla="*/ 895 h 965"/>
                  <a:gd name="T48" fmla="*/ 47 w 98"/>
                  <a:gd name="T49" fmla="*/ 934 h 965"/>
                  <a:gd name="T50" fmla="*/ 1 w 98"/>
                  <a:gd name="T51" fmla="*/ 954 h 965"/>
                  <a:gd name="T52" fmla="*/ 35 w 98"/>
                  <a:gd name="T53" fmla="*/ 888 h 965"/>
                  <a:gd name="T54" fmla="*/ 20 w 98"/>
                  <a:gd name="T55" fmla="*/ 834 h 965"/>
                  <a:gd name="T56" fmla="*/ 23 w 98"/>
                  <a:gd name="T57" fmla="*/ 788 h 965"/>
                  <a:gd name="T58" fmla="*/ 37 w 98"/>
                  <a:gd name="T59" fmla="*/ 764 h 965"/>
                  <a:gd name="T60" fmla="*/ 8 w 98"/>
                  <a:gd name="T61" fmla="*/ 706 h 965"/>
                  <a:gd name="T62" fmla="*/ 8 w 98"/>
                  <a:gd name="T63" fmla="*/ 646 h 965"/>
                  <a:gd name="T64" fmla="*/ 42 w 98"/>
                  <a:gd name="T65" fmla="*/ 619 h 965"/>
                  <a:gd name="T66" fmla="*/ 35 w 98"/>
                  <a:gd name="T67" fmla="*/ 576 h 965"/>
                  <a:gd name="T68" fmla="*/ 25 w 98"/>
                  <a:gd name="T69" fmla="*/ 525 h 965"/>
                  <a:gd name="T70" fmla="*/ 52 w 98"/>
                  <a:gd name="T71" fmla="*/ 493 h 965"/>
                  <a:gd name="T72" fmla="*/ 40 w 98"/>
                  <a:gd name="T73" fmla="*/ 457 h 965"/>
                  <a:gd name="T74" fmla="*/ 8 w 98"/>
                  <a:gd name="T75" fmla="*/ 400 h 965"/>
                  <a:gd name="T76" fmla="*/ 13 w 98"/>
                  <a:gd name="T77" fmla="*/ 363 h 965"/>
                  <a:gd name="T78" fmla="*/ 42 w 98"/>
                  <a:gd name="T79" fmla="*/ 332 h 965"/>
                  <a:gd name="T80" fmla="*/ 11 w 98"/>
                  <a:gd name="T81" fmla="*/ 260 h 965"/>
                  <a:gd name="T82" fmla="*/ 0 w 98"/>
                  <a:gd name="T83" fmla="*/ 218 h 965"/>
                  <a:gd name="T84" fmla="*/ 25 w 98"/>
                  <a:gd name="T85" fmla="*/ 186 h 965"/>
                  <a:gd name="T86" fmla="*/ 37 w 98"/>
                  <a:gd name="T87" fmla="*/ 164 h 965"/>
                  <a:gd name="T88" fmla="*/ 8 w 98"/>
                  <a:gd name="T89" fmla="*/ 130 h 965"/>
                  <a:gd name="T90" fmla="*/ 20 w 98"/>
                  <a:gd name="T91" fmla="*/ 97 h 965"/>
                  <a:gd name="T92" fmla="*/ 52 w 98"/>
                  <a:gd name="T93" fmla="*/ 76 h 965"/>
                  <a:gd name="T94" fmla="*/ 54 w 98"/>
                  <a:gd name="T95" fmla="*/ 50 h 965"/>
                  <a:gd name="T96" fmla="*/ 37 w 98"/>
                  <a:gd name="T97" fmla="*/ 17 h 96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98" h="965">
                    <a:moveTo>
                      <a:pt x="49" y="0"/>
                    </a:moveTo>
                    <a:lnTo>
                      <a:pt x="66" y="32"/>
                    </a:lnTo>
                    <a:lnTo>
                      <a:pt x="82" y="53"/>
                    </a:lnTo>
                    <a:lnTo>
                      <a:pt x="98" y="67"/>
                    </a:lnTo>
                    <a:lnTo>
                      <a:pt x="94" y="83"/>
                    </a:lnTo>
                    <a:lnTo>
                      <a:pt x="78" y="94"/>
                    </a:lnTo>
                    <a:lnTo>
                      <a:pt x="54" y="99"/>
                    </a:lnTo>
                    <a:lnTo>
                      <a:pt x="37" y="113"/>
                    </a:lnTo>
                    <a:lnTo>
                      <a:pt x="40" y="130"/>
                    </a:lnTo>
                    <a:lnTo>
                      <a:pt x="52" y="140"/>
                    </a:lnTo>
                    <a:lnTo>
                      <a:pt x="72" y="162"/>
                    </a:lnTo>
                    <a:lnTo>
                      <a:pt x="72" y="174"/>
                    </a:lnTo>
                    <a:lnTo>
                      <a:pt x="66" y="186"/>
                    </a:lnTo>
                    <a:lnTo>
                      <a:pt x="49" y="197"/>
                    </a:lnTo>
                    <a:lnTo>
                      <a:pt x="30" y="208"/>
                    </a:lnTo>
                    <a:lnTo>
                      <a:pt x="29" y="224"/>
                    </a:lnTo>
                    <a:lnTo>
                      <a:pt x="35" y="240"/>
                    </a:lnTo>
                    <a:lnTo>
                      <a:pt x="49" y="272"/>
                    </a:lnTo>
                    <a:lnTo>
                      <a:pt x="60" y="297"/>
                    </a:lnTo>
                    <a:lnTo>
                      <a:pt x="72" y="316"/>
                    </a:lnTo>
                    <a:lnTo>
                      <a:pt x="72" y="336"/>
                    </a:lnTo>
                    <a:lnTo>
                      <a:pt x="66" y="354"/>
                    </a:lnTo>
                    <a:lnTo>
                      <a:pt x="49" y="370"/>
                    </a:lnTo>
                    <a:lnTo>
                      <a:pt x="37" y="386"/>
                    </a:lnTo>
                    <a:lnTo>
                      <a:pt x="40" y="413"/>
                    </a:lnTo>
                    <a:lnTo>
                      <a:pt x="70" y="455"/>
                    </a:lnTo>
                    <a:lnTo>
                      <a:pt x="82" y="477"/>
                    </a:lnTo>
                    <a:lnTo>
                      <a:pt x="84" y="498"/>
                    </a:lnTo>
                    <a:lnTo>
                      <a:pt x="72" y="514"/>
                    </a:lnTo>
                    <a:lnTo>
                      <a:pt x="59" y="530"/>
                    </a:lnTo>
                    <a:lnTo>
                      <a:pt x="54" y="553"/>
                    </a:lnTo>
                    <a:lnTo>
                      <a:pt x="64" y="580"/>
                    </a:lnTo>
                    <a:lnTo>
                      <a:pt x="76" y="608"/>
                    </a:lnTo>
                    <a:lnTo>
                      <a:pt x="82" y="628"/>
                    </a:lnTo>
                    <a:lnTo>
                      <a:pt x="76" y="641"/>
                    </a:lnTo>
                    <a:lnTo>
                      <a:pt x="60" y="655"/>
                    </a:lnTo>
                    <a:lnTo>
                      <a:pt x="40" y="672"/>
                    </a:lnTo>
                    <a:lnTo>
                      <a:pt x="30" y="688"/>
                    </a:lnTo>
                    <a:lnTo>
                      <a:pt x="40" y="717"/>
                    </a:lnTo>
                    <a:lnTo>
                      <a:pt x="60" y="747"/>
                    </a:lnTo>
                    <a:lnTo>
                      <a:pt x="70" y="769"/>
                    </a:lnTo>
                    <a:lnTo>
                      <a:pt x="72" y="788"/>
                    </a:lnTo>
                    <a:lnTo>
                      <a:pt x="66" y="797"/>
                    </a:lnTo>
                    <a:lnTo>
                      <a:pt x="47" y="797"/>
                    </a:lnTo>
                    <a:lnTo>
                      <a:pt x="40" y="836"/>
                    </a:lnTo>
                    <a:lnTo>
                      <a:pt x="52" y="861"/>
                    </a:lnTo>
                    <a:lnTo>
                      <a:pt x="64" y="879"/>
                    </a:lnTo>
                    <a:lnTo>
                      <a:pt x="66" y="895"/>
                    </a:lnTo>
                    <a:lnTo>
                      <a:pt x="66" y="911"/>
                    </a:lnTo>
                    <a:lnTo>
                      <a:pt x="47" y="934"/>
                    </a:lnTo>
                    <a:lnTo>
                      <a:pt x="20" y="965"/>
                    </a:lnTo>
                    <a:lnTo>
                      <a:pt x="1" y="954"/>
                    </a:lnTo>
                    <a:lnTo>
                      <a:pt x="8" y="929"/>
                    </a:lnTo>
                    <a:lnTo>
                      <a:pt x="35" y="888"/>
                    </a:lnTo>
                    <a:lnTo>
                      <a:pt x="30" y="863"/>
                    </a:lnTo>
                    <a:lnTo>
                      <a:pt x="20" y="834"/>
                    </a:lnTo>
                    <a:lnTo>
                      <a:pt x="11" y="809"/>
                    </a:lnTo>
                    <a:lnTo>
                      <a:pt x="23" y="788"/>
                    </a:lnTo>
                    <a:lnTo>
                      <a:pt x="35" y="780"/>
                    </a:lnTo>
                    <a:lnTo>
                      <a:pt x="37" y="764"/>
                    </a:lnTo>
                    <a:lnTo>
                      <a:pt x="23" y="733"/>
                    </a:lnTo>
                    <a:lnTo>
                      <a:pt x="8" y="706"/>
                    </a:lnTo>
                    <a:lnTo>
                      <a:pt x="0" y="679"/>
                    </a:lnTo>
                    <a:lnTo>
                      <a:pt x="8" y="646"/>
                    </a:lnTo>
                    <a:lnTo>
                      <a:pt x="35" y="634"/>
                    </a:lnTo>
                    <a:lnTo>
                      <a:pt x="42" y="619"/>
                    </a:lnTo>
                    <a:lnTo>
                      <a:pt x="40" y="598"/>
                    </a:lnTo>
                    <a:lnTo>
                      <a:pt x="35" y="576"/>
                    </a:lnTo>
                    <a:lnTo>
                      <a:pt x="25" y="548"/>
                    </a:lnTo>
                    <a:lnTo>
                      <a:pt x="25" y="525"/>
                    </a:lnTo>
                    <a:lnTo>
                      <a:pt x="37" y="511"/>
                    </a:lnTo>
                    <a:lnTo>
                      <a:pt x="52" y="493"/>
                    </a:lnTo>
                    <a:lnTo>
                      <a:pt x="52" y="482"/>
                    </a:lnTo>
                    <a:lnTo>
                      <a:pt x="40" y="457"/>
                    </a:lnTo>
                    <a:lnTo>
                      <a:pt x="17" y="425"/>
                    </a:lnTo>
                    <a:lnTo>
                      <a:pt x="8" y="400"/>
                    </a:lnTo>
                    <a:lnTo>
                      <a:pt x="8" y="381"/>
                    </a:lnTo>
                    <a:lnTo>
                      <a:pt x="13" y="363"/>
                    </a:lnTo>
                    <a:lnTo>
                      <a:pt x="29" y="348"/>
                    </a:lnTo>
                    <a:lnTo>
                      <a:pt x="42" y="332"/>
                    </a:lnTo>
                    <a:lnTo>
                      <a:pt x="42" y="320"/>
                    </a:lnTo>
                    <a:lnTo>
                      <a:pt x="11" y="260"/>
                    </a:lnTo>
                    <a:lnTo>
                      <a:pt x="5" y="238"/>
                    </a:lnTo>
                    <a:lnTo>
                      <a:pt x="0" y="218"/>
                    </a:lnTo>
                    <a:lnTo>
                      <a:pt x="11" y="200"/>
                    </a:lnTo>
                    <a:lnTo>
                      <a:pt x="25" y="186"/>
                    </a:lnTo>
                    <a:lnTo>
                      <a:pt x="37" y="174"/>
                    </a:lnTo>
                    <a:lnTo>
                      <a:pt x="37" y="164"/>
                    </a:lnTo>
                    <a:lnTo>
                      <a:pt x="25" y="147"/>
                    </a:lnTo>
                    <a:lnTo>
                      <a:pt x="8" y="130"/>
                    </a:lnTo>
                    <a:lnTo>
                      <a:pt x="8" y="113"/>
                    </a:lnTo>
                    <a:lnTo>
                      <a:pt x="20" y="97"/>
                    </a:lnTo>
                    <a:lnTo>
                      <a:pt x="37" y="83"/>
                    </a:lnTo>
                    <a:lnTo>
                      <a:pt x="52" y="76"/>
                    </a:lnTo>
                    <a:lnTo>
                      <a:pt x="60" y="65"/>
                    </a:lnTo>
                    <a:lnTo>
                      <a:pt x="54" y="50"/>
                    </a:lnTo>
                    <a:lnTo>
                      <a:pt x="42" y="34"/>
                    </a:lnTo>
                    <a:lnTo>
                      <a:pt x="37" y="17"/>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6" name="Freeform 93"/>
              <p:cNvSpPr>
                <a:spLocks/>
              </p:cNvSpPr>
              <p:nvPr/>
            </p:nvSpPr>
            <p:spPr bwMode="auto">
              <a:xfrm>
                <a:off x="4375" y="216"/>
                <a:ext cx="92" cy="782"/>
              </a:xfrm>
              <a:custGeom>
                <a:avLst/>
                <a:gdLst>
                  <a:gd name="T0" fmla="*/ 82 w 92"/>
                  <a:gd name="T1" fmla="*/ 21 h 782"/>
                  <a:gd name="T2" fmla="*/ 85 w 92"/>
                  <a:gd name="T3" fmla="*/ 76 h 782"/>
                  <a:gd name="T4" fmla="*/ 46 w 92"/>
                  <a:gd name="T5" fmla="*/ 97 h 782"/>
                  <a:gd name="T6" fmla="*/ 58 w 92"/>
                  <a:gd name="T7" fmla="*/ 157 h 782"/>
                  <a:gd name="T8" fmla="*/ 76 w 92"/>
                  <a:gd name="T9" fmla="*/ 215 h 782"/>
                  <a:gd name="T10" fmla="*/ 53 w 92"/>
                  <a:gd name="T11" fmla="*/ 243 h 782"/>
                  <a:gd name="T12" fmla="*/ 58 w 92"/>
                  <a:gd name="T13" fmla="*/ 293 h 782"/>
                  <a:gd name="T14" fmla="*/ 76 w 92"/>
                  <a:gd name="T15" fmla="*/ 346 h 782"/>
                  <a:gd name="T16" fmla="*/ 64 w 92"/>
                  <a:gd name="T17" fmla="*/ 383 h 782"/>
                  <a:gd name="T18" fmla="*/ 45 w 92"/>
                  <a:gd name="T19" fmla="*/ 417 h 782"/>
                  <a:gd name="T20" fmla="*/ 70 w 92"/>
                  <a:gd name="T21" fmla="*/ 486 h 782"/>
                  <a:gd name="T22" fmla="*/ 76 w 92"/>
                  <a:gd name="T23" fmla="*/ 531 h 782"/>
                  <a:gd name="T24" fmla="*/ 33 w 92"/>
                  <a:gd name="T25" fmla="*/ 565 h 782"/>
                  <a:gd name="T26" fmla="*/ 45 w 92"/>
                  <a:gd name="T27" fmla="*/ 633 h 782"/>
                  <a:gd name="T28" fmla="*/ 56 w 92"/>
                  <a:gd name="T29" fmla="*/ 693 h 782"/>
                  <a:gd name="T30" fmla="*/ 33 w 92"/>
                  <a:gd name="T31" fmla="*/ 727 h 782"/>
                  <a:gd name="T32" fmla="*/ 21 w 92"/>
                  <a:gd name="T33" fmla="*/ 774 h 782"/>
                  <a:gd name="T34" fmla="*/ 9 w 92"/>
                  <a:gd name="T35" fmla="*/ 755 h 782"/>
                  <a:gd name="T36" fmla="*/ 33 w 92"/>
                  <a:gd name="T37" fmla="*/ 700 h 782"/>
                  <a:gd name="T38" fmla="*/ 21 w 92"/>
                  <a:gd name="T39" fmla="*/ 618 h 782"/>
                  <a:gd name="T40" fmla="*/ 15 w 92"/>
                  <a:gd name="T41" fmla="*/ 559 h 782"/>
                  <a:gd name="T42" fmla="*/ 46 w 92"/>
                  <a:gd name="T43" fmla="*/ 519 h 782"/>
                  <a:gd name="T44" fmla="*/ 21 w 92"/>
                  <a:gd name="T45" fmla="*/ 461 h 782"/>
                  <a:gd name="T46" fmla="*/ 15 w 92"/>
                  <a:gd name="T47" fmla="*/ 407 h 782"/>
                  <a:gd name="T48" fmla="*/ 38 w 92"/>
                  <a:gd name="T49" fmla="*/ 364 h 782"/>
                  <a:gd name="T50" fmla="*/ 50 w 92"/>
                  <a:gd name="T51" fmla="*/ 330 h 782"/>
                  <a:gd name="T52" fmla="*/ 27 w 92"/>
                  <a:gd name="T53" fmla="*/ 277 h 782"/>
                  <a:gd name="T54" fmla="*/ 33 w 92"/>
                  <a:gd name="T55" fmla="*/ 231 h 782"/>
                  <a:gd name="T56" fmla="*/ 46 w 92"/>
                  <a:gd name="T57" fmla="*/ 199 h 782"/>
                  <a:gd name="T58" fmla="*/ 28 w 92"/>
                  <a:gd name="T59" fmla="*/ 150 h 782"/>
                  <a:gd name="T60" fmla="*/ 23 w 92"/>
                  <a:gd name="T61" fmla="*/ 95 h 782"/>
                  <a:gd name="T62" fmla="*/ 50 w 92"/>
                  <a:gd name="T63" fmla="*/ 60 h 782"/>
                  <a:gd name="T64" fmla="*/ 53 w 92"/>
                  <a:gd name="T65" fmla="*/ 25 h 782"/>
                  <a:gd name="T66" fmla="*/ 70 w 92"/>
                  <a:gd name="T67" fmla="*/ 0 h 78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2" h="782">
                    <a:moveTo>
                      <a:pt x="70" y="0"/>
                    </a:moveTo>
                    <a:lnTo>
                      <a:pt x="82" y="21"/>
                    </a:lnTo>
                    <a:lnTo>
                      <a:pt x="92" y="60"/>
                    </a:lnTo>
                    <a:lnTo>
                      <a:pt x="85" y="76"/>
                    </a:lnTo>
                    <a:lnTo>
                      <a:pt x="62" y="87"/>
                    </a:lnTo>
                    <a:lnTo>
                      <a:pt x="46" y="97"/>
                    </a:lnTo>
                    <a:lnTo>
                      <a:pt x="46" y="128"/>
                    </a:lnTo>
                    <a:lnTo>
                      <a:pt x="58" y="157"/>
                    </a:lnTo>
                    <a:lnTo>
                      <a:pt x="73" y="177"/>
                    </a:lnTo>
                    <a:lnTo>
                      <a:pt x="76" y="215"/>
                    </a:lnTo>
                    <a:lnTo>
                      <a:pt x="68" y="227"/>
                    </a:lnTo>
                    <a:lnTo>
                      <a:pt x="53" y="243"/>
                    </a:lnTo>
                    <a:lnTo>
                      <a:pt x="50" y="269"/>
                    </a:lnTo>
                    <a:lnTo>
                      <a:pt x="58" y="293"/>
                    </a:lnTo>
                    <a:lnTo>
                      <a:pt x="70" y="312"/>
                    </a:lnTo>
                    <a:lnTo>
                      <a:pt x="76" y="346"/>
                    </a:lnTo>
                    <a:lnTo>
                      <a:pt x="76" y="364"/>
                    </a:lnTo>
                    <a:lnTo>
                      <a:pt x="64" y="383"/>
                    </a:lnTo>
                    <a:lnTo>
                      <a:pt x="45" y="401"/>
                    </a:lnTo>
                    <a:lnTo>
                      <a:pt x="45" y="417"/>
                    </a:lnTo>
                    <a:lnTo>
                      <a:pt x="50" y="467"/>
                    </a:lnTo>
                    <a:lnTo>
                      <a:pt x="70" y="486"/>
                    </a:lnTo>
                    <a:lnTo>
                      <a:pt x="82" y="508"/>
                    </a:lnTo>
                    <a:lnTo>
                      <a:pt x="76" y="531"/>
                    </a:lnTo>
                    <a:lnTo>
                      <a:pt x="46" y="548"/>
                    </a:lnTo>
                    <a:lnTo>
                      <a:pt x="33" y="565"/>
                    </a:lnTo>
                    <a:lnTo>
                      <a:pt x="28" y="595"/>
                    </a:lnTo>
                    <a:lnTo>
                      <a:pt x="45" y="633"/>
                    </a:lnTo>
                    <a:lnTo>
                      <a:pt x="56" y="671"/>
                    </a:lnTo>
                    <a:lnTo>
                      <a:pt x="56" y="693"/>
                    </a:lnTo>
                    <a:lnTo>
                      <a:pt x="50" y="721"/>
                    </a:lnTo>
                    <a:lnTo>
                      <a:pt x="33" y="727"/>
                    </a:lnTo>
                    <a:lnTo>
                      <a:pt x="21" y="749"/>
                    </a:lnTo>
                    <a:lnTo>
                      <a:pt x="21" y="774"/>
                    </a:lnTo>
                    <a:lnTo>
                      <a:pt x="0" y="782"/>
                    </a:lnTo>
                    <a:lnTo>
                      <a:pt x="9" y="755"/>
                    </a:lnTo>
                    <a:lnTo>
                      <a:pt x="27" y="721"/>
                    </a:lnTo>
                    <a:lnTo>
                      <a:pt x="33" y="700"/>
                    </a:lnTo>
                    <a:lnTo>
                      <a:pt x="33" y="657"/>
                    </a:lnTo>
                    <a:lnTo>
                      <a:pt x="21" y="618"/>
                    </a:lnTo>
                    <a:lnTo>
                      <a:pt x="18" y="590"/>
                    </a:lnTo>
                    <a:lnTo>
                      <a:pt x="15" y="559"/>
                    </a:lnTo>
                    <a:lnTo>
                      <a:pt x="35" y="535"/>
                    </a:lnTo>
                    <a:lnTo>
                      <a:pt x="46" y="519"/>
                    </a:lnTo>
                    <a:lnTo>
                      <a:pt x="38" y="486"/>
                    </a:lnTo>
                    <a:lnTo>
                      <a:pt x="21" y="461"/>
                    </a:lnTo>
                    <a:lnTo>
                      <a:pt x="18" y="439"/>
                    </a:lnTo>
                    <a:lnTo>
                      <a:pt x="15" y="407"/>
                    </a:lnTo>
                    <a:lnTo>
                      <a:pt x="23" y="385"/>
                    </a:lnTo>
                    <a:lnTo>
                      <a:pt x="38" y="364"/>
                    </a:lnTo>
                    <a:lnTo>
                      <a:pt x="50" y="348"/>
                    </a:lnTo>
                    <a:lnTo>
                      <a:pt x="50" y="330"/>
                    </a:lnTo>
                    <a:lnTo>
                      <a:pt x="38" y="312"/>
                    </a:lnTo>
                    <a:lnTo>
                      <a:pt x="27" y="277"/>
                    </a:lnTo>
                    <a:lnTo>
                      <a:pt x="27" y="253"/>
                    </a:lnTo>
                    <a:lnTo>
                      <a:pt x="33" y="231"/>
                    </a:lnTo>
                    <a:lnTo>
                      <a:pt x="45" y="215"/>
                    </a:lnTo>
                    <a:lnTo>
                      <a:pt x="46" y="199"/>
                    </a:lnTo>
                    <a:lnTo>
                      <a:pt x="45" y="179"/>
                    </a:lnTo>
                    <a:lnTo>
                      <a:pt x="28" y="150"/>
                    </a:lnTo>
                    <a:lnTo>
                      <a:pt x="21" y="130"/>
                    </a:lnTo>
                    <a:lnTo>
                      <a:pt x="23" y="95"/>
                    </a:lnTo>
                    <a:lnTo>
                      <a:pt x="35" y="81"/>
                    </a:lnTo>
                    <a:lnTo>
                      <a:pt x="50" y="60"/>
                    </a:lnTo>
                    <a:lnTo>
                      <a:pt x="58" y="41"/>
                    </a:lnTo>
                    <a:lnTo>
                      <a:pt x="53" y="25"/>
                    </a:lnTo>
                    <a:lnTo>
                      <a:pt x="56" y="8"/>
                    </a:lnTo>
                    <a:lnTo>
                      <a:pt x="7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7" name="Freeform 94"/>
              <p:cNvSpPr>
                <a:spLocks/>
              </p:cNvSpPr>
              <p:nvPr/>
            </p:nvSpPr>
            <p:spPr bwMode="auto">
              <a:xfrm>
                <a:off x="4241" y="123"/>
                <a:ext cx="201" cy="174"/>
              </a:xfrm>
              <a:custGeom>
                <a:avLst/>
                <a:gdLst>
                  <a:gd name="T0" fmla="*/ 201 w 201"/>
                  <a:gd name="T1" fmla="*/ 139 h 174"/>
                  <a:gd name="T2" fmla="*/ 140 w 201"/>
                  <a:gd name="T3" fmla="*/ 89 h 174"/>
                  <a:gd name="T4" fmla="*/ 89 w 201"/>
                  <a:gd name="T5" fmla="*/ 44 h 174"/>
                  <a:gd name="T6" fmla="*/ 43 w 201"/>
                  <a:gd name="T7" fmla="*/ 0 h 174"/>
                  <a:gd name="T8" fmla="*/ 0 w 201"/>
                  <a:gd name="T9" fmla="*/ 0 h 174"/>
                  <a:gd name="T10" fmla="*/ 100 w 201"/>
                  <a:gd name="T11" fmla="*/ 72 h 174"/>
                  <a:gd name="T12" fmla="*/ 148 w 201"/>
                  <a:gd name="T13" fmla="*/ 117 h 174"/>
                  <a:gd name="T14" fmla="*/ 190 w 201"/>
                  <a:gd name="T15" fmla="*/ 174 h 174"/>
                  <a:gd name="T16" fmla="*/ 201 w 201"/>
                  <a:gd name="T17" fmla="*/ 139 h 17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1" h="174">
                    <a:moveTo>
                      <a:pt x="201" y="139"/>
                    </a:moveTo>
                    <a:lnTo>
                      <a:pt x="140" y="89"/>
                    </a:lnTo>
                    <a:lnTo>
                      <a:pt x="89" y="44"/>
                    </a:lnTo>
                    <a:lnTo>
                      <a:pt x="43" y="0"/>
                    </a:lnTo>
                    <a:lnTo>
                      <a:pt x="0" y="0"/>
                    </a:lnTo>
                    <a:lnTo>
                      <a:pt x="100" y="72"/>
                    </a:lnTo>
                    <a:lnTo>
                      <a:pt x="148" y="117"/>
                    </a:lnTo>
                    <a:lnTo>
                      <a:pt x="190" y="174"/>
                    </a:lnTo>
                    <a:lnTo>
                      <a:pt x="201" y="1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8" name="Freeform 95"/>
              <p:cNvSpPr>
                <a:spLocks/>
              </p:cNvSpPr>
              <p:nvPr/>
            </p:nvSpPr>
            <p:spPr bwMode="auto">
              <a:xfrm>
                <a:off x="4239" y="219"/>
                <a:ext cx="175" cy="145"/>
              </a:xfrm>
              <a:custGeom>
                <a:avLst/>
                <a:gdLst>
                  <a:gd name="T0" fmla="*/ 175 w 175"/>
                  <a:gd name="T1" fmla="*/ 91 h 145"/>
                  <a:gd name="T2" fmla="*/ 129 w 175"/>
                  <a:gd name="T3" fmla="*/ 74 h 145"/>
                  <a:gd name="T4" fmla="*/ 95 w 175"/>
                  <a:gd name="T5" fmla="*/ 46 h 145"/>
                  <a:gd name="T6" fmla="*/ 34 w 175"/>
                  <a:gd name="T7" fmla="*/ 0 h 145"/>
                  <a:gd name="T8" fmla="*/ 0 w 175"/>
                  <a:gd name="T9" fmla="*/ 0 h 145"/>
                  <a:gd name="T10" fmla="*/ 79 w 175"/>
                  <a:gd name="T11" fmla="*/ 46 h 145"/>
                  <a:gd name="T12" fmla="*/ 109 w 175"/>
                  <a:gd name="T13" fmla="*/ 76 h 145"/>
                  <a:gd name="T14" fmla="*/ 175 w 175"/>
                  <a:gd name="T15" fmla="*/ 145 h 145"/>
                  <a:gd name="T16" fmla="*/ 171 w 175"/>
                  <a:gd name="T17" fmla="*/ 103 h 145"/>
                  <a:gd name="T18" fmla="*/ 175 w 175"/>
                  <a:gd name="T19" fmla="*/ 91 h 1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5" h="145">
                    <a:moveTo>
                      <a:pt x="175" y="91"/>
                    </a:moveTo>
                    <a:lnTo>
                      <a:pt x="129" y="74"/>
                    </a:lnTo>
                    <a:lnTo>
                      <a:pt x="95" y="46"/>
                    </a:lnTo>
                    <a:lnTo>
                      <a:pt x="34" y="0"/>
                    </a:lnTo>
                    <a:lnTo>
                      <a:pt x="0" y="0"/>
                    </a:lnTo>
                    <a:lnTo>
                      <a:pt x="79" y="46"/>
                    </a:lnTo>
                    <a:lnTo>
                      <a:pt x="109" y="76"/>
                    </a:lnTo>
                    <a:lnTo>
                      <a:pt x="175" y="145"/>
                    </a:lnTo>
                    <a:lnTo>
                      <a:pt x="171" y="103"/>
                    </a:lnTo>
                    <a:lnTo>
                      <a:pt x="175"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9" name="Freeform 96"/>
              <p:cNvSpPr>
                <a:spLocks/>
              </p:cNvSpPr>
              <p:nvPr/>
            </p:nvSpPr>
            <p:spPr bwMode="auto">
              <a:xfrm>
                <a:off x="4214" y="300"/>
                <a:ext cx="205" cy="220"/>
              </a:xfrm>
              <a:custGeom>
                <a:avLst/>
                <a:gdLst>
                  <a:gd name="T0" fmla="*/ 201 w 205"/>
                  <a:gd name="T1" fmla="*/ 164 h 220"/>
                  <a:gd name="T2" fmla="*/ 145 w 205"/>
                  <a:gd name="T3" fmla="*/ 113 h 220"/>
                  <a:gd name="T4" fmla="*/ 123 w 205"/>
                  <a:gd name="T5" fmla="*/ 80 h 220"/>
                  <a:gd name="T6" fmla="*/ 78 w 205"/>
                  <a:gd name="T7" fmla="*/ 46 h 220"/>
                  <a:gd name="T8" fmla="*/ 39 w 205"/>
                  <a:gd name="T9" fmla="*/ 17 h 220"/>
                  <a:gd name="T10" fmla="*/ 10 w 205"/>
                  <a:gd name="T11" fmla="*/ 0 h 220"/>
                  <a:gd name="T12" fmla="*/ 0 w 205"/>
                  <a:gd name="T13" fmla="*/ 0 h 220"/>
                  <a:gd name="T14" fmla="*/ 0 w 205"/>
                  <a:gd name="T15" fmla="*/ 17 h 220"/>
                  <a:gd name="T16" fmla="*/ 33 w 205"/>
                  <a:gd name="T17" fmla="*/ 38 h 220"/>
                  <a:gd name="T18" fmla="*/ 95 w 205"/>
                  <a:gd name="T19" fmla="*/ 78 h 220"/>
                  <a:gd name="T20" fmla="*/ 139 w 205"/>
                  <a:gd name="T21" fmla="*/ 122 h 220"/>
                  <a:gd name="T22" fmla="*/ 171 w 205"/>
                  <a:gd name="T23" fmla="*/ 173 h 220"/>
                  <a:gd name="T24" fmla="*/ 205 w 205"/>
                  <a:gd name="T25" fmla="*/ 220 h 220"/>
                  <a:gd name="T26" fmla="*/ 201 w 205"/>
                  <a:gd name="T27" fmla="*/ 164 h 2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5" h="220">
                    <a:moveTo>
                      <a:pt x="201" y="164"/>
                    </a:moveTo>
                    <a:lnTo>
                      <a:pt x="145" y="113"/>
                    </a:lnTo>
                    <a:lnTo>
                      <a:pt x="123" y="80"/>
                    </a:lnTo>
                    <a:lnTo>
                      <a:pt x="78" y="46"/>
                    </a:lnTo>
                    <a:lnTo>
                      <a:pt x="39" y="17"/>
                    </a:lnTo>
                    <a:lnTo>
                      <a:pt x="10" y="0"/>
                    </a:lnTo>
                    <a:lnTo>
                      <a:pt x="0" y="0"/>
                    </a:lnTo>
                    <a:lnTo>
                      <a:pt x="0" y="17"/>
                    </a:lnTo>
                    <a:lnTo>
                      <a:pt x="33" y="38"/>
                    </a:lnTo>
                    <a:lnTo>
                      <a:pt x="95" y="78"/>
                    </a:lnTo>
                    <a:lnTo>
                      <a:pt x="139" y="122"/>
                    </a:lnTo>
                    <a:lnTo>
                      <a:pt x="171" y="173"/>
                    </a:lnTo>
                    <a:lnTo>
                      <a:pt x="205" y="220"/>
                    </a:lnTo>
                    <a:lnTo>
                      <a:pt x="201" y="1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0" name="Freeform 97"/>
              <p:cNvSpPr>
                <a:spLocks/>
              </p:cNvSpPr>
              <p:nvPr/>
            </p:nvSpPr>
            <p:spPr bwMode="auto">
              <a:xfrm>
                <a:off x="4233" y="472"/>
                <a:ext cx="161" cy="132"/>
              </a:xfrm>
              <a:custGeom>
                <a:avLst/>
                <a:gdLst>
                  <a:gd name="T0" fmla="*/ 161 w 161"/>
                  <a:gd name="T1" fmla="*/ 109 h 132"/>
                  <a:gd name="T2" fmla="*/ 115 w 161"/>
                  <a:gd name="T3" fmla="*/ 59 h 132"/>
                  <a:gd name="T4" fmla="*/ 67 w 161"/>
                  <a:gd name="T5" fmla="*/ 28 h 132"/>
                  <a:gd name="T6" fmla="*/ 28 w 161"/>
                  <a:gd name="T7" fmla="*/ 7 h 132"/>
                  <a:gd name="T8" fmla="*/ 0 w 161"/>
                  <a:gd name="T9" fmla="*/ 0 h 132"/>
                  <a:gd name="T10" fmla="*/ 17 w 161"/>
                  <a:gd name="T11" fmla="*/ 28 h 132"/>
                  <a:gd name="T12" fmla="*/ 67 w 161"/>
                  <a:gd name="T13" fmla="*/ 56 h 132"/>
                  <a:gd name="T14" fmla="*/ 107 w 161"/>
                  <a:gd name="T15" fmla="*/ 99 h 132"/>
                  <a:gd name="T16" fmla="*/ 126 w 161"/>
                  <a:gd name="T17" fmla="*/ 126 h 132"/>
                  <a:gd name="T18" fmla="*/ 143 w 161"/>
                  <a:gd name="T19" fmla="*/ 132 h 132"/>
                  <a:gd name="T20" fmla="*/ 159 w 161"/>
                  <a:gd name="T21" fmla="*/ 122 h 132"/>
                  <a:gd name="T22" fmla="*/ 161 w 161"/>
                  <a:gd name="T23" fmla="*/ 109 h 1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61" h="132">
                    <a:moveTo>
                      <a:pt x="161" y="109"/>
                    </a:moveTo>
                    <a:lnTo>
                      <a:pt x="115" y="59"/>
                    </a:lnTo>
                    <a:lnTo>
                      <a:pt x="67" y="28"/>
                    </a:lnTo>
                    <a:lnTo>
                      <a:pt x="28" y="7"/>
                    </a:lnTo>
                    <a:lnTo>
                      <a:pt x="0" y="0"/>
                    </a:lnTo>
                    <a:lnTo>
                      <a:pt x="17" y="28"/>
                    </a:lnTo>
                    <a:lnTo>
                      <a:pt x="67" y="56"/>
                    </a:lnTo>
                    <a:lnTo>
                      <a:pt x="107" y="99"/>
                    </a:lnTo>
                    <a:lnTo>
                      <a:pt x="126" y="126"/>
                    </a:lnTo>
                    <a:lnTo>
                      <a:pt x="143" y="132"/>
                    </a:lnTo>
                    <a:lnTo>
                      <a:pt x="159" y="122"/>
                    </a:lnTo>
                    <a:lnTo>
                      <a:pt x="161"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1" name="Freeform 98"/>
              <p:cNvSpPr>
                <a:spLocks/>
              </p:cNvSpPr>
              <p:nvPr/>
            </p:nvSpPr>
            <p:spPr bwMode="auto">
              <a:xfrm>
                <a:off x="4215" y="560"/>
                <a:ext cx="177" cy="162"/>
              </a:xfrm>
              <a:custGeom>
                <a:avLst/>
                <a:gdLst>
                  <a:gd name="T0" fmla="*/ 177 w 177"/>
                  <a:gd name="T1" fmla="*/ 150 h 162"/>
                  <a:gd name="T2" fmla="*/ 131 w 177"/>
                  <a:gd name="T3" fmla="*/ 101 h 162"/>
                  <a:gd name="T4" fmla="*/ 74 w 177"/>
                  <a:gd name="T5" fmla="*/ 43 h 162"/>
                  <a:gd name="T6" fmla="*/ 41 w 177"/>
                  <a:gd name="T7" fmla="*/ 15 h 162"/>
                  <a:gd name="T8" fmla="*/ 15 w 177"/>
                  <a:gd name="T9" fmla="*/ 0 h 162"/>
                  <a:gd name="T10" fmla="*/ 0 w 177"/>
                  <a:gd name="T11" fmla="*/ 8 h 162"/>
                  <a:gd name="T12" fmla="*/ 29 w 177"/>
                  <a:gd name="T13" fmla="*/ 34 h 162"/>
                  <a:gd name="T14" fmla="*/ 81 w 177"/>
                  <a:gd name="T15" fmla="*/ 84 h 162"/>
                  <a:gd name="T16" fmla="*/ 128 w 177"/>
                  <a:gd name="T17" fmla="*/ 135 h 162"/>
                  <a:gd name="T18" fmla="*/ 159 w 177"/>
                  <a:gd name="T19" fmla="*/ 162 h 162"/>
                  <a:gd name="T20" fmla="*/ 168 w 177"/>
                  <a:gd name="T21" fmla="*/ 162 h 162"/>
                  <a:gd name="T22" fmla="*/ 177 w 177"/>
                  <a:gd name="T23" fmla="*/ 150 h 1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7" h="162">
                    <a:moveTo>
                      <a:pt x="177" y="150"/>
                    </a:moveTo>
                    <a:lnTo>
                      <a:pt x="131" y="101"/>
                    </a:lnTo>
                    <a:lnTo>
                      <a:pt x="74" y="43"/>
                    </a:lnTo>
                    <a:lnTo>
                      <a:pt x="41" y="15"/>
                    </a:lnTo>
                    <a:lnTo>
                      <a:pt x="15" y="0"/>
                    </a:lnTo>
                    <a:lnTo>
                      <a:pt x="0" y="8"/>
                    </a:lnTo>
                    <a:lnTo>
                      <a:pt x="29" y="34"/>
                    </a:lnTo>
                    <a:lnTo>
                      <a:pt x="81" y="84"/>
                    </a:lnTo>
                    <a:lnTo>
                      <a:pt x="128" y="135"/>
                    </a:lnTo>
                    <a:lnTo>
                      <a:pt x="159" y="162"/>
                    </a:lnTo>
                    <a:lnTo>
                      <a:pt x="168" y="162"/>
                    </a:lnTo>
                    <a:lnTo>
                      <a:pt x="177" y="1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2" name="Freeform 99"/>
              <p:cNvSpPr>
                <a:spLocks/>
              </p:cNvSpPr>
              <p:nvPr/>
            </p:nvSpPr>
            <p:spPr bwMode="auto">
              <a:xfrm>
                <a:off x="4235" y="689"/>
                <a:ext cx="127" cy="130"/>
              </a:xfrm>
              <a:custGeom>
                <a:avLst/>
                <a:gdLst>
                  <a:gd name="T0" fmla="*/ 125 w 127"/>
                  <a:gd name="T1" fmla="*/ 109 h 130"/>
                  <a:gd name="T2" fmla="*/ 73 w 127"/>
                  <a:gd name="T3" fmla="*/ 32 h 130"/>
                  <a:gd name="T4" fmla="*/ 22 w 127"/>
                  <a:gd name="T5" fmla="*/ 3 h 130"/>
                  <a:gd name="T6" fmla="*/ 0 w 127"/>
                  <a:gd name="T7" fmla="*/ 0 h 130"/>
                  <a:gd name="T8" fmla="*/ 5 w 127"/>
                  <a:gd name="T9" fmla="*/ 15 h 130"/>
                  <a:gd name="T10" fmla="*/ 63 w 127"/>
                  <a:gd name="T11" fmla="*/ 56 h 130"/>
                  <a:gd name="T12" fmla="*/ 118 w 127"/>
                  <a:gd name="T13" fmla="*/ 124 h 130"/>
                  <a:gd name="T14" fmla="*/ 127 w 127"/>
                  <a:gd name="T15" fmla="*/ 130 h 130"/>
                  <a:gd name="T16" fmla="*/ 125 w 127"/>
                  <a:gd name="T17" fmla="*/ 109 h 1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7" h="130">
                    <a:moveTo>
                      <a:pt x="125" y="109"/>
                    </a:moveTo>
                    <a:lnTo>
                      <a:pt x="73" y="32"/>
                    </a:lnTo>
                    <a:lnTo>
                      <a:pt x="22" y="3"/>
                    </a:lnTo>
                    <a:lnTo>
                      <a:pt x="0" y="0"/>
                    </a:lnTo>
                    <a:lnTo>
                      <a:pt x="5" y="15"/>
                    </a:lnTo>
                    <a:lnTo>
                      <a:pt x="63" y="56"/>
                    </a:lnTo>
                    <a:lnTo>
                      <a:pt x="118" y="124"/>
                    </a:lnTo>
                    <a:lnTo>
                      <a:pt x="127" y="130"/>
                    </a:lnTo>
                    <a:lnTo>
                      <a:pt x="125"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3" name="Freeform 100"/>
              <p:cNvSpPr>
                <a:spLocks/>
              </p:cNvSpPr>
              <p:nvPr/>
            </p:nvSpPr>
            <p:spPr bwMode="auto">
              <a:xfrm>
                <a:off x="4239" y="807"/>
                <a:ext cx="88" cy="100"/>
              </a:xfrm>
              <a:custGeom>
                <a:avLst/>
                <a:gdLst>
                  <a:gd name="T0" fmla="*/ 84 w 88"/>
                  <a:gd name="T1" fmla="*/ 76 h 100"/>
                  <a:gd name="T2" fmla="*/ 41 w 88"/>
                  <a:gd name="T3" fmla="*/ 17 h 100"/>
                  <a:gd name="T4" fmla="*/ 1 w 88"/>
                  <a:gd name="T5" fmla="*/ 0 h 100"/>
                  <a:gd name="T6" fmla="*/ 0 w 88"/>
                  <a:gd name="T7" fmla="*/ 17 h 100"/>
                  <a:gd name="T8" fmla="*/ 18 w 88"/>
                  <a:gd name="T9" fmla="*/ 47 h 100"/>
                  <a:gd name="T10" fmla="*/ 64 w 88"/>
                  <a:gd name="T11" fmla="*/ 86 h 100"/>
                  <a:gd name="T12" fmla="*/ 78 w 88"/>
                  <a:gd name="T13" fmla="*/ 100 h 100"/>
                  <a:gd name="T14" fmla="*/ 88 w 88"/>
                  <a:gd name="T15" fmla="*/ 93 h 100"/>
                  <a:gd name="T16" fmla="*/ 84 w 88"/>
                  <a:gd name="T17" fmla="*/ 76 h 1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8" h="100">
                    <a:moveTo>
                      <a:pt x="84" y="76"/>
                    </a:moveTo>
                    <a:lnTo>
                      <a:pt x="41" y="17"/>
                    </a:lnTo>
                    <a:lnTo>
                      <a:pt x="1" y="0"/>
                    </a:lnTo>
                    <a:lnTo>
                      <a:pt x="0" y="17"/>
                    </a:lnTo>
                    <a:lnTo>
                      <a:pt x="18" y="47"/>
                    </a:lnTo>
                    <a:lnTo>
                      <a:pt x="64" y="86"/>
                    </a:lnTo>
                    <a:lnTo>
                      <a:pt x="78" y="100"/>
                    </a:lnTo>
                    <a:lnTo>
                      <a:pt x="88" y="93"/>
                    </a:lnTo>
                    <a:lnTo>
                      <a:pt x="84"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4" name="Freeform 101"/>
              <p:cNvSpPr>
                <a:spLocks/>
              </p:cNvSpPr>
              <p:nvPr/>
            </p:nvSpPr>
            <p:spPr bwMode="auto">
              <a:xfrm>
                <a:off x="4244" y="929"/>
                <a:ext cx="110" cy="112"/>
              </a:xfrm>
              <a:custGeom>
                <a:avLst/>
                <a:gdLst>
                  <a:gd name="T0" fmla="*/ 110 w 110"/>
                  <a:gd name="T1" fmla="*/ 112 h 112"/>
                  <a:gd name="T2" fmla="*/ 94 w 110"/>
                  <a:gd name="T3" fmla="*/ 94 h 112"/>
                  <a:gd name="T4" fmla="*/ 64 w 110"/>
                  <a:gd name="T5" fmla="*/ 47 h 112"/>
                  <a:gd name="T6" fmla="*/ 18 w 110"/>
                  <a:gd name="T7" fmla="*/ 0 h 112"/>
                  <a:gd name="T8" fmla="*/ 0 w 110"/>
                  <a:gd name="T9" fmla="*/ 0 h 112"/>
                  <a:gd name="T10" fmla="*/ 8 w 110"/>
                  <a:gd name="T11" fmla="*/ 17 h 112"/>
                  <a:gd name="T12" fmla="*/ 42 w 110"/>
                  <a:gd name="T13" fmla="*/ 64 h 112"/>
                  <a:gd name="T14" fmla="*/ 77 w 110"/>
                  <a:gd name="T15" fmla="*/ 110 h 112"/>
                  <a:gd name="T16" fmla="*/ 110 w 110"/>
                  <a:gd name="T17" fmla="*/ 112 h 1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0" h="112">
                    <a:moveTo>
                      <a:pt x="110" y="112"/>
                    </a:moveTo>
                    <a:lnTo>
                      <a:pt x="94" y="94"/>
                    </a:lnTo>
                    <a:lnTo>
                      <a:pt x="64" y="47"/>
                    </a:lnTo>
                    <a:lnTo>
                      <a:pt x="18" y="0"/>
                    </a:lnTo>
                    <a:lnTo>
                      <a:pt x="0" y="0"/>
                    </a:lnTo>
                    <a:lnTo>
                      <a:pt x="8" y="17"/>
                    </a:lnTo>
                    <a:lnTo>
                      <a:pt x="42" y="64"/>
                    </a:lnTo>
                    <a:lnTo>
                      <a:pt x="77" y="110"/>
                    </a:lnTo>
                    <a:lnTo>
                      <a:pt x="110" y="1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5" name="Freeform 102"/>
              <p:cNvSpPr>
                <a:spLocks/>
              </p:cNvSpPr>
              <p:nvPr/>
            </p:nvSpPr>
            <p:spPr bwMode="auto">
              <a:xfrm>
                <a:off x="4384" y="64"/>
                <a:ext cx="320" cy="1165"/>
              </a:xfrm>
              <a:custGeom>
                <a:avLst/>
                <a:gdLst>
                  <a:gd name="T0" fmla="*/ 45 w 320"/>
                  <a:gd name="T1" fmla="*/ 142 h 1165"/>
                  <a:gd name="T2" fmla="*/ 56 w 320"/>
                  <a:gd name="T3" fmla="*/ 206 h 1165"/>
                  <a:gd name="T4" fmla="*/ 29 w 320"/>
                  <a:gd name="T5" fmla="*/ 250 h 1165"/>
                  <a:gd name="T6" fmla="*/ 33 w 320"/>
                  <a:gd name="T7" fmla="*/ 310 h 1165"/>
                  <a:gd name="T8" fmla="*/ 49 w 320"/>
                  <a:gd name="T9" fmla="*/ 358 h 1165"/>
                  <a:gd name="T10" fmla="*/ 24 w 320"/>
                  <a:gd name="T11" fmla="*/ 407 h 1165"/>
                  <a:gd name="T12" fmla="*/ 51 w 320"/>
                  <a:gd name="T13" fmla="*/ 491 h 1165"/>
                  <a:gd name="T14" fmla="*/ 17 w 320"/>
                  <a:gd name="T15" fmla="*/ 562 h 1165"/>
                  <a:gd name="T16" fmla="*/ 35 w 320"/>
                  <a:gd name="T17" fmla="*/ 632 h 1165"/>
                  <a:gd name="T18" fmla="*/ 44 w 320"/>
                  <a:gd name="T19" fmla="*/ 683 h 1165"/>
                  <a:gd name="T20" fmla="*/ 10 w 320"/>
                  <a:gd name="T21" fmla="*/ 726 h 1165"/>
                  <a:gd name="T22" fmla="*/ 29 w 320"/>
                  <a:gd name="T23" fmla="*/ 817 h 1165"/>
                  <a:gd name="T24" fmla="*/ 27 w 320"/>
                  <a:gd name="T25" fmla="*/ 865 h 1165"/>
                  <a:gd name="T26" fmla="*/ 0 w 320"/>
                  <a:gd name="T27" fmla="*/ 924 h 1165"/>
                  <a:gd name="T28" fmla="*/ 16 w 320"/>
                  <a:gd name="T29" fmla="*/ 975 h 1165"/>
                  <a:gd name="T30" fmla="*/ 17 w 320"/>
                  <a:gd name="T31" fmla="*/ 1022 h 1165"/>
                  <a:gd name="T32" fmla="*/ 24 w 320"/>
                  <a:gd name="T33" fmla="*/ 1070 h 1165"/>
                  <a:gd name="T34" fmla="*/ 45 w 320"/>
                  <a:gd name="T35" fmla="*/ 1114 h 1165"/>
                  <a:gd name="T36" fmla="*/ 49 w 320"/>
                  <a:gd name="T37" fmla="*/ 1165 h 1165"/>
                  <a:gd name="T38" fmla="*/ 121 w 320"/>
                  <a:gd name="T39" fmla="*/ 1122 h 1165"/>
                  <a:gd name="T40" fmla="*/ 205 w 320"/>
                  <a:gd name="T41" fmla="*/ 1111 h 1165"/>
                  <a:gd name="T42" fmla="*/ 265 w 320"/>
                  <a:gd name="T43" fmla="*/ 1086 h 1165"/>
                  <a:gd name="T44" fmla="*/ 283 w 320"/>
                  <a:gd name="T45" fmla="*/ 1054 h 1165"/>
                  <a:gd name="T46" fmla="*/ 288 w 320"/>
                  <a:gd name="T47" fmla="*/ 990 h 1165"/>
                  <a:gd name="T48" fmla="*/ 275 w 320"/>
                  <a:gd name="T49" fmla="*/ 905 h 1165"/>
                  <a:gd name="T50" fmla="*/ 261 w 320"/>
                  <a:gd name="T51" fmla="*/ 860 h 1165"/>
                  <a:gd name="T52" fmla="*/ 270 w 320"/>
                  <a:gd name="T53" fmla="*/ 806 h 1165"/>
                  <a:gd name="T54" fmla="*/ 244 w 320"/>
                  <a:gd name="T55" fmla="*/ 746 h 1165"/>
                  <a:gd name="T56" fmla="*/ 281 w 320"/>
                  <a:gd name="T57" fmla="*/ 699 h 1165"/>
                  <a:gd name="T58" fmla="*/ 253 w 320"/>
                  <a:gd name="T59" fmla="*/ 632 h 1165"/>
                  <a:gd name="T60" fmla="*/ 239 w 320"/>
                  <a:gd name="T61" fmla="*/ 569 h 1165"/>
                  <a:gd name="T62" fmla="*/ 293 w 320"/>
                  <a:gd name="T63" fmla="*/ 521 h 1165"/>
                  <a:gd name="T64" fmla="*/ 275 w 320"/>
                  <a:gd name="T65" fmla="*/ 486 h 1165"/>
                  <a:gd name="T66" fmla="*/ 275 w 320"/>
                  <a:gd name="T67" fmla="*/ 427 h 1165"/>
                  <a:gd name="T68" fmla="*/ 249 w 320"/>
                  <a:gd name="T69" fmla="*/ 389 h 1165"/>
                  <a:gd name="T70" fmla="*/ 270 w 320"/>
                  <a:gd name="T71" fmla="*/ 342 h 1165"/>
                  <a:gd name="T72" fmla="*/ 253 w 320"/>
                  <a:gd name="T73" fmla="*/ 304 h 1165"/>
                  <a:gd name="T74" fmla="*/ 253 w 320"/>
                  <a:gd name="T75" fmla="*/ 272 h 1165"/>
                  <a:gd name="T76" fmla="*/ 272 w 320"/>
                  <a:gd name="T77" fmla="*/ 243 h 1165"/>
                  <a:gd name="T78" fmla="*/ 248 w 320"/>
                  <a:gd name="T79" fmla="*/ 205 h 1165"/>
                  <a:gd name="T80" fmla="*/ 244 w 320"/>
                  <a:gd name="T81" fmla="*/ 151 h 1165"/>
                  <a:gd name="T82" fmla="*/ 305 w 320"/>
                  <a:gd name="T83" fmla="*/ 83 h 1165"/>
                  <a:gd name="T84" fmla="*/ 320 w 320"/>
                  <a:gd name="T85" fmla="*/ 10 h 1165"/>
                  <a:gd name="T86" fmla="*/ 283 w 320"/>
                  <a:gd name="T87" fmla="*/ 10 h 1165"/>
                  <a:gd name="T88" fmla="*/ 176 w 320"/>
                  <a:gd name="T89" fmla="*/ 66 h 1165"/>
                  <a:gd name="T90" fmla="*/ 88 w 320"/>
                  <a:gd name="T91" fmla="*/ 99 h 116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20" h="1165">
                    <a:moveTo>
                      <a:pt x="56" y="110"/>
                    </a:moveTo>
                    <a:lnTo>
                      <a:pt x="45" y="142"/>
                    </a:lnTo>
                    <a:lnTo>
                      <a:pt x="54" y="174"/>
                    </a:lnTo>
                    <a:lnTo>
                      <a:pt x="56" y="206"/>
                    </a:lnTo>
                    <a:lnTo>
                      <a:pt x="45" y="227"/>
                    </a:lnTo>
                    <a:lnTo>
                      <a:pt x="29" y="250"/>
                    </a:lnTo>
                    <a:lnTo>
                      <a:pt x="22" y="286"/>
                    </a:lnTo>
                    <a:lnTo>
                      <a:pt x="33" y="310"/>
                    </a:lnTo>
                    <a:lnTo>
                      <a:pt x="49" y="336"/>
                    </a:lnTo>
                    <a:lnTo>
                      <a:pt x="49" y="358"/>
                    </a:lnTo>
                    <a:lnTo>
                      <a:pt x="38" y="380"/>
                    </a:lnTo>
                    <a:lnTo>
                      <a:pt x="24" y="407"/>
                    </a:lnTo>
                    <a:lnTo>
                      <a:pt x="29" y="434"/>
                    </a:lnTo>
                    <a:lnTo>
                      <a:pt x="51" y="491"/>
                    </a:lnTo>
                    <a:lnTo>
                      <a:pt x="49" y="516"/>
                    </a:lnTo>
                    <a:lnTo>
                      <a:pt x="17" y="562"/>
                    </a:lnTo>
                    <a:lnTo>
                      <a:pt x="17" y="602"/>
                    </a:lnTo>
                    <a:lnTo>
                      <a:pt x="35" y="632"/>
                    </a:lnTo>
                    <a:lnTo>
                      <a:pt x="45" y="660"/>
                    </a:lnTo>
                    <a:lnTo>
                      <a:pt x="44" y="683"/>
                    </a:lnTo>
                    <a:lnTo>
                      <a:pt x="16" y="708"/>
                    </a:lnTo>
                    <a:lnTo>
                      <a:pt x="10" y="726"/>
                    </a:lnTo>
                    <a:lnTo>
                      <a:pt x="16" y="769"/>
                    </a:lnTo>
                    <a:lnTo>
                      <a:pt x="29" y="817"/>
                    </a:lnTo>
                    <a:lnTo>
                      <a:pt x="29" y="844"/>
                    </a:lnTo>
                    <a:lnTo>
                      <a:pt x="27" y="865"/>
                    </a:lnTo>
                    <a:lnTo>
                      <a:pt x="7" y="897"/>
                    </a:lnTo>
                    <a:lnTo>
                      <a:pt x="0" y="924"/>
                    </a:lnTo>
                    <a:lnTo>
                      <a:pt x="1" y="954"/>
                    </a:lnTo>
                    <a:lnTo>
                      <a:pt x="16" y="975"/>
                    </a:lnTo>
                    <a:lnTo>
                      <a:pt x="33" y="995"/>
                    </a:lnTo>
                    <a:lnTo>
                      <a:pt x="17" y="1022"/>
                    </a:lnTo>
                    <a:lnTo>
                      <a:pt x="10" y="1049"/>
                    </a:lnTo>
                    <a:lnTo>
                      <a:pt x="24" y="1070"/>
                    </a:lnTo>
                    <a:lnTo>
                      <a:pt x="44" y="1086"/>
                    </a:lnTo>
                    <a:lnTo>
                      <a:pt x="45" y="1114"/>
                    </a:lnTo>
                    <a:lnTo>
                      <a:pt x="45" y="1136"/>
                    </a:lnTo>
                    <a:lnTo>
                      <a:pt x="49" y="1165"/>
                    </a:lnTo>
                    <a:lnTo>
                      <a:pt x="84" y="1141"/>
                    </a:lnTo>
                    <a:lnTo>
                      <a:pt x="121" y="1122"/>
                    </a:lnTo>
                    <a:lnTo>
                      <a:pt x="154" y="1111"/>
                    </a:lnTo>
                    <a:lnTo>
                      <a:pt x="205" y="1111"/>
                    </a:lnTo>
                    <a:lnTo>
                      <a:pt x="242" y="1105"/>
                    </a:lnTo>
                    <a:lnTo>
                      <a:pt x="265" y="1086"/>
                    </a:lnTo>
                    <a:lnTo>
                      <a:pt x="303" y="1076"/>
                    </a:lnTo>
                    <a:lnTo>
                      <a:pt x="283" y="1054"/>
                    </a:lnTo>
                    <a:lnTo>
                      <a:pt x="275" y="1024"/>
                    </a:lnTo>
                    <a:lnTo>
                      <a:pt x="288" y="990"/>
                    </a:lnTo>
                    <a:lnTo>
                      <a:pt x="286" y="940"/>
                    </a:lnTo>
                    <a:lnTo>
                      <a:pt x="275" y="905"/>
                    </a:lnTo>
                    <a:lnTo>
                      <a:pt x="265" y="887"/>
                    </a:lnTo>
                    <a:lnTo>
                      <a:pt x="261" y="860"/>
                    </a:lnTo>
                    <a:lnTo>
                      <a:pt x="275" y="828"/>
                    </a:lnTo>
                    <a:lnTo>
                      <a:pt x="270" y="806"/>
                    </a:lnTo>
                    <a:lnTo>
                      <a:pt x="242" y="767"/>
                    </a:lnTo>
                    <a:lnTo>
                      <a:pt x="244" y="746"/>
                    </a:lnTo>
                    <a:lnTo>
                      <a:pt x="255" y="726"/>
                    </a:lnTo>
                    <a:lnTo>
                      <a:pt x="281" y="699"/>
                    </a:lnTo>
                    <a:lnTo>
                      <a:pt x="272" y="678"/>
                    </a:lnTo>
                    <a:lnTo>
                      <a:pt x="253" y="632"/>
                    </a:lnTo>
                    <a:lnTo>
                      <a:pt x="239" y="602"/>
                    </a:lnTo>
                    <a:lnTo>
                      <a:pt x="239" y="569"/>
                    </a:lnTo>
                    <a:lnTo>
                      <a:pt x="288" y="552"/>
                    </a:lnTo>
                    <a:lnTo>
                      <a:pt x="293" y="521"/>
                    </a:lnTo>
                    <a:lnTo>
                      <a:pt x="288" y="502"/>
                    </a:lnTo>
                    <a:lnTo>
                      <a:pt x="275" y="486"/>
                    </a:lnTo>
                    <a:lnTo>
                      <a:pt x="277" y="459"/>
                    </a:lnTo>
                    <a:lnTo>
                      <a:pt x="275" y="427"/>
                    </a:lnTo>
                    <a:lnTo>
                      <a:pt x="261" y="411"/>
                    </a:lnTo>
                    <a:lnTo>
                      <a:pt x="249" y="389"/>
                    </a:lnTo>
                    <a:lnTo>
                      <a:pt x="258" y="368"/>
                    </a:lnTo>
                    <a:lnTo>
                      <a:pt x="270" y="342"/>
                    </a:lnTo>
                    <a:lnTo>
                      <a:pt x="270" y="326"/>
                    </a:lnTo>
                    <a:lnTo>
                      <a:pt x="253" y="304"/>
                    </a:lnTo>
                    <a:lnTo>
                      <a:pt x="248" y="286"/>
                    </a:lnTo>
                    <a:lnTo>
                      <a:pt x="253" y="272"/>
                    </a:lnTo>
                    <a:lnTo>
                      <a:pt x="270" y="261"/>
                    </a:lnTo>
                    <a:lnTo>
                      <a:pt x="272" y="243"/>
                    </a:lnTo>
                    <a:lnTo>
                      <a:pt x="267" y="233"/>
                    </a:lnTo>
                    <a:lnTo>
                      <a:pt x="248" y="205"/>
                    </a:lnTo>
                    <a:lnTo>
                      <a:pt x="242" y="174"/>
                    </a:lnTo>
                    <a:lnTo>
                      <a:pt x="244" y="151"/>
                    </a:lnTo>
                    <a:lnTo>
                      <a:pt x="261" y="129"/>
                    </a:lnTo>
                    <a:lnTo>
                      <a:pt x="305" y="83"/>
                    </a:lnTo>
                    <a:lnTo>
                      <a:pt x="320" y="42"/>
                    </a:lnTo>
                    <a:lnTo>
                      <a:pt x="320" y="10"/>
                    </a:lnTo>
                    <a:lnTo>
                      <a:pt x="305" y="0"/>
                    </a:lnTo>
                    <a:lnTo>
                      <a:pt x="283" y="10"/>
                    </a:lnTo>
                    <a:lnTo>
                      <a:pt x="228" y="44"/>
                    </a:lnTo>
                    <a:lnTo>
                      <a:pt x="176" y="66"/>
                    </a:lnTo>
                    <a:lnTo>
                      <a:pt x="123" y="88"/>
                    </a:lnTo>
                    <a:lnTo>
                      <a:pt x="88" y="99"/>
                    </a:lnTo>
                    <a:lnTo>
                      <a:pt x="56" y="11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6" name="Freeform 103"/>
              <p:cNvSpPr>
                <a:spLocks/>
              </p:cNvSpPr>
              <p:nvPr/>
            </p:nvSpPr>
            <p:spPr bwMode="auto">
              <a:xfrm>
                <a:off x="4165" y="53"/>
                <a:ext cx="566" cy="1192"/>
              </a:xfrm>
              <a:custGeom>
                <a:avLst/>
                <a:gdLst>
                  <a:gd name="T0" fmla="*/ 369 w 566"/>
                  <a:gd name="T1" fmla="*/ 1120 h 1192"/>
                  <a:gd name="T2" fmla="*/ 260 w 566"/>
                  <a:gd name="T3" fmla="*/ 1157 h 1192"/>
                  <a:gd name="T4" fmla="*/ 45 w 566"/>
                  <a:gd name="T5" fmla="*/ 964 h 1192"/>
                  <a:gd name="T6" fmla="*/ 34 w 566"/>
                  <a:gd name="T7" fmla="*/ 997 h 1192"/>
                  <a:gd name="T8" fmla="*/ 267 w 566"/>
                  <a:gd name="T9" fmla="*/ 1192 h 1192"/>
                  <a:gd name="T10" fmla="*/ 379 w 566"/>
                  <a:gd name="T11" fmla="*/ 1132 h 1192"/>
                  <a:gd name="T12" fmla="*/ 535 w 566"/>
                  <a:gd name="T13" fmla="*/ 1081 h 1192"/>
                  <a:gd name="T14" fmla="*/ 527 w 566"/>
                  <a:gd name="T15" fmla="*/ 997 h 1192"/>
                  <a:gd name="T16" fmla="*/ 496 w 566"/>
                  <a:gd name="T17" fmla="*/ 903 h 1192"/>
                  <a:gd name="T18" fmla="*/ 511 w 566"/>
                  <a:gd name="T19" fmla="*/ 828 h 1192"/>
                  <a:gd name="T20" fmla="*/ 478 w 566"/>
                  <a:gd name="T21" fmla="*/ 753 h 1192"/>
                  <a:gd name="T22" fmla="*/ 495 w 566"/>
                  <a:gd name="T23" fmla="*/ 666 h 1192"/>
                  <a:gd name="T24" fmla="*/ 507 w 566"/>
                  <a:gd name="T25" fmla="*/ 580 h 1192"/>
                  <a:gd name="T26" fmla="*/ 511 w 566"/>
                  <a:gd name="T27" fmla="*/ 472 h 1192"/>
                  <a:gd name="T28" fmla="*/ 489 w 566"/>
                  <a:gd name="T29" fmla="*/ 380 h 1192"/>
                  <a:gd name="T30" fmla="*/ 478 w 566"/>
                  <a:gd name="T31" fmla="*/ 308 h 1192"/>
                  <a:gd name="T32" fmla="*/ 505 w 566"/>
                  <a:gd name="T33" fmla="*/ 245 h 1192"/>
                  <a:gd name="T34" fmla="*/ 491 w 566"/>
                  <a:gd name="T35" fmla="*/ 140 h 1192"/>
                  <a:gd name="T36" fmla="*/ 560 w 566"/>
                  <a:gd name="T37" fmla="*/ 12 h 1192"/>
                  <a:gd name="T38" fmla="*/ 529 w 566"/>
                  <a:gd name="T39" fmla="*/ 39 h 1192"/>
                  <a:gd name="T40" fmla="*/ 458 w 566"/>
                  <a:gd name="T41" fmla="*/ 156 h 1192"/>
                  <a:gd name="T42" fmla="*/ 354 w 566"/>
                  <a:gd name="T43" fmla="*/ 254 h 1192"/>
                  <a:gd name="T44" fmla="*/ 462 w 566"/>
                  <a:gd name="T45" fmla="*/ 217 h 1192"/>
                  <a:gd name="T46" fmla="*/ 452 w 566"/>
                  <a:gd name="T47" fmla="*/ 286 h 1192"/>
                  <a:gd name="T48" fmla="*/ 402 w 566"/>
                  <a:gd name="T49" fmla="*/ 358 h 1192"/>
                  <a:gd name="T50" fmla="*/ 475 w 566"/>
                  <a:gd name="T51" fmla="*/ 342 h 1192"/>
                  <a:gd name="T52" fmla="*/ 456 w 566"/>
                  <a:gd name="T53" fmla="*/ 397 h 1192"/>
                  <a:gd name="T54" fmla="*/ 450 w 566"/>
                  <a:gd name="T55" fmla="*/ 456 h 1192"/>
                  <a:gd name="T56" fmla="*/ 344 w 566"/>
                  <a:gd name="T57" fmla="*/ 535 h 1192"/>
                  <a:gd name="T58" fmla="*/ 464 w 566"/>
                  <a:gd name="T59" fmla="*/ 481 h 1192"/>
                  <a:gd name="T60" fmla="*/ 507 w 566"/>
                  <a:gd name="T61" fmla="*/ 535 h 1192"/>
                  <a:gd name="T62" fmla="*/ 434 w 566"/>
                  <a:gd name="T63" fmla="*/ 586 h 1192"/>
                  <a:gd name="T64" fmla="*/ 300 w 566"/>
                  <a:gd name="T65" fmla="*/ 650 h 1192"/>
                  <a:gd name="T66" fmla="*/ 452 w 566"/>
                  <a:gd name="T67" fmla="*/ 623 h 1192"/>
                  <a:gd name="T68" fmla="*/ 484 w 566"/>
                  <a:gd name="T69" fmla="*/ 725 h 1192"/>
                  <a:gd name="T70" fmla="*/ 303 w 566"/>
                  <a:gd name="T71" fmla="*/ 773 h 1192"/>
                  <a:gd name="T72" fmla="*/ 402 w 566"/>
                  <a:gd name="T73" fmla="*/ 769 h 1192"/>
                  <a:gd name="T74" fmla="*/ 464 w 566"/>
                  <a:gd name="T75" fmla="*/ 800 h 1192"/>
                  <a:gd name="T76" fmla="*/ 462 w 566"/>
                  <a:gd name="T77" fmla="*/ 860 h 1192"/>
                  <a:gd name="T78" fmla="*/ 289 w 566"/>
                  <a:gd name="T79" fmla="*/ 894 h 1192"/>
                  <a:gd name="T80" fmla="*/ 374 w 566"/>
                  <a:gd name="T81" fmla="*/ 894 h 1192"/>
                  <a:gd name="T82" fmla="*/ 473 w 566"/>
                  <a:gd name="T83" fmla="*/ 878 h 1192"/>
                  <a:gd name="T84" fmla="*/ 387 w 566"/>
                  <a:gd name="T85" fmla="*/ 958 h 1192"/>
                  <a:gd name="T86" fmla="*/ 289 w 566"/>
                  <a:gd name="T87" fmla="*/ 1006 h 1192"/>
                  <a:gd name="T88" fmla="*/ 413 w 566"/>
                  <a:gd name="T89" fmla="*/ 962 h 1192"/>
                  <a:gd name="T90" fmla="*/ 486 w 566"/>
                  <a:gd name="T91" fmla="*/ 946 h 1192"/>
                  <a:gd name="T92" fmla="*/ 484 w 566"/>
                  <a:gd name="T93" fmla="*/ 1017 h 1192"/>
                  <a:gd name="T94" fmla="*/ 495 w 566"/>
                  <a:gd name="T95" fmla="*/ 1076 h 119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66" h="1192">
                    <a:moveTo>
                      <a:pt x="480" y="1078"/>
                    </a:moveTo>
                    <a:lnTo>
                      <a:pt x="456" y="1105"/>
                    </a:lnTo>
                    <a:lnTo>
                      <a:pt x="418" y="1113"/>
                    </a:lnTo>
                    <a:lnTo>
                      <a:pt x="369" y="1120"/>
                    </a:lnTo>
                    <a:lnTo>
                      <a:pt x="316" y="1131"/>
                    </a:lnTo>
                    <a:lnTo>
                      <a:pt x="282" y="1152"/>
                    </a:lnTo>
                    <a:lnTo>
                      <a:pt x="271" y="1163"/>
                    </a:lnTo>
                    <a:lnTo>
                      <a:pt x="260" y="1157"/>
                    </a:lnTo>
                    <a:lnTo>
                      <a:pt x="196" y="1110"/>
                    </a:lnTo>
                    <a:lnTo>
                      <a:pt x="115" y="1045"/>
                    </a:lnTo>
                    <a:lnTo>
                      <a:pt x="87" y="1006"/>
                    </a:lnTo>
                    <a:lnTo>
                      <a:pt x="45" y="964"/>
                    </a:lnTo>
                    <a:lnTo>
                      <a:pt x="32" y="932"/>
                    </a:lnTo>
                    <a:lnTo>
                      <a:pt x="0" y="926"/>
                    </a:lnTo>
                    <a:lnTo>
                      <a:pt x="16" y="962"/>
                    </a:lnTo>
                    <a:lnTo>
                      <a:pt x="34" y="997"/>
                    </a:lnTo>
                    <a:lnTo>
                      <a:pt x="87" y="1035"/>
                    </a:lnTo>
                    <a:lnTo>
                      <a:pt x="124" y="1081"/>
                    </a:lnTo>
                    <a:lnTo>
                      <a:pt x="212" y="1138"/>
                    </a:lnTo>
                    <a:lnTo>
                      <a:pt x="267" y="1192"/>
                    </a:lnTo>
                    <a:lnTo>
                      <a:pt x="289" y="1186"/>
                    </a:lnTo>
                    <a:lnTo>
                      <a:pt x="310" y="1159"/>
                    </a:lnTo>
                    <a:lnTo>
                      <a:pt x="342" y="1143"/>
                    </a:lnTo>
                    <a:lnTo>
                      <a:pt x="379" y="1132"/>
                    </a:lnTo>
                    <a:lnTo>
                      <a:pt x="462" y="1125"/>
                    </a:lnTo>
                    <a:lnTo>
                      <a:pt x="486" y="1110"/>
                    </a:lnTo>
                    <a:lnTo>
                      <a:pt x="527" y="1099"/>
                    </a:lnTo>
                    <a:lnTo>
                      <a:pt x="535" y="1081"/>
                    </a:lnTo>
                    <a:lnTo>
                      <a:pt x="521" y="1060"/>
                    </a:lnTo>
                    <a:lnTo>
                      <a:pt x="507" y="1038"/>
                    </a:lnTo>
                    <a:lnTo>
                      <a:pt x="516" y="1011"/>
                    </a:lnTo>
                    <a:lnTo>
                      <a:pt x="527" y="997"/>
                    </a:lnTo>
                    <a:lnTo>
                      <a:pt x="527" y="974"/>
                    </a:lnTo>
                    <a:lnTo>
                      <a:pt x="516" y="937"/>
                    </a:lnTo>
                    <a:lnTo>
                      <a:pt x="511" y="919"/>
                    </a:lnTo>
                    <a:lnTo>
                      <a:pt x="496" y="903"/>
                    </a:lnTo>
                    <a:lnTo>
                      <a:pt x="489" y="883"/>
                    </a:lnTo>
                    <a:lnTo>
                      <a:pt x="496" y="865"/>
                    </a:lnTo>
                    <a:lnTo>
                      <a:pt x="512" y="851"/>
                    </a:lnTo>
                    <a:lnTo>
                      <a:pt x="511" y="828"/>
                    </a:lnTo>
                    <a:lnTo>
                      <a:pt x="502" y="811"/>
                    </a:lnTo>
                    <a:lnTo>
                      <a:pt x="484" y="785"/>
                    </a:lnTo>
                    <a:lnTo>
                      <a:pt x="473" y="773"/>
                    </a:lnTo>
                    <a:lnTo>
                      <a:pt x="478" y="753"/>
                    </a:lnTo>
                    <a:lnTo>
                      <a:pt x="505" y="737"/>
                    </a:lnTo>
                    <a:lnTo>
                      <a:pt x="516" y="716"/>
                    </a:lnTo>
                    <a:lnTo>
                      <a:pt x="512" y="698"/>
                    </a:lnTo>
                    <a:lnTo>
                      <a:pt x="495" y="666"/>
                    </a:lnTo>
                    <a:lnTo>
                      <a:pt x="475" y="629"/>
                    </a:lnTo>
                    <a:lnTo>
                      <a:pt x="468" y="602"/>
                    </a:lnTo>
                    <a:lnTo>
                      <a:pt x="478" y="591"/>
                    </a:lnTo>
                    <a:lnTo>
                      <a:pt x="507" y="580"/>
                    </a:lnTo>
                    <a:lnTo>
                      <a:pt x="523" y="570"/>
                    </a:lnTo>
                    <a:lnTo>
                      <a:pt x="527" y="535"/>
                    </a:lnTo>
                    <a:lnTo>
                      <a:pt x="507" y="497"/>
                    </a:lnTo>
                    <a:lnTo>
                      <a:pt x="511" y="472"/>
                    </a:lnTo>
                    <a:lnTo>
                      <a:pt x="518" y="449"/>
                    </a:lnTo>
                    <a:lnTo>
                      <a:pt x="500" y="422"/>
                    </a:lnTo>
                    <a:lnTo>
                      <a:pt x="484" y="397"/>
                    </a:lnTo>
                    <a:lnTo>
                      <a:pt x="489" y="380"/>
                    </a:lnTo>
                    <a:lnTo>
                      <a:pt x="500" y="363"/>
                    </a:lnTo>
                    <a:lnTo>
                      <a:pt x="500" y="336"/>
                    </a:lnTo>
                    <a:lnTo>
                      <a:pt x="489" y="320"/>
                    </a:lnTo>
                    <a:lnTo>
                      <a:pt x="478" y="308"/>
                    </a:lnTo>
                    <a:lnTo>
                      <a:pt x="480" y="288"/>
                    </a:lnTo>
                    <a:lnTo>
                      <a:pt x="500" y="277"/>
                    </a:lnTo>
                    <a:lnTo>
                      <a:pt x="511" y="267"/>
                    </a:lnTo>
                    <a:lnTo>
                      <a:pt x="505" y="245"/>
                    </a:lnTo>
                    <a:lnTo>
                      <a:pt x="484" y="217"/>
                    </a:lnTo>
                    <a:lnTo>
                      <a:pt x="475" y="194"/>
                    </a:lnTo>
                    <a:lnTo>
                      <a:pt x="473" y="167"/>
                    </a:lnTo>
                    <a:lnTo>
                      <a:pt x="491" y="140"/>
                    </a:lnTo>
                    <a:lnTo>
                      <a:pt x="529" y="99"/>
                    </a:lnTo>
                    <a:lnTo>
                      <a:pt x="549" y="66"/>
                    </a:lnTo>
                    <a:lnTo>
                      <a:pt x="566" y="39"/>
                    </a:lnTo>
                    <a:lnTo>
                      <a:pt x="560" y="12"/>
                    </a:lnTo>
                    <a:lnTo>
                      <a:pt x="546" y="0"/>
                    </a:lnTo>
                    <a:lnTo>
                      <a:pt x="535" y="1"/>
                    </a:lnTo>
                    <a:lnTo>
                      <a:pt x="516" y="23"/>
                    </a:lnTo>
                    <a:lnTo>
                      <a:pt x="529" y="39"/>
                    </a:lnTo>
                    <a:lnTo>
                      <a:pt x="527" y="66"/>
                    </a:lnTo>
                    <a:lnTo>
                      <a:pt x="502" y="113"/>
                    </a:lnTo>
                    <a:lnTo>
                      <a:pt x="469" y="140"/>
                    </a:lnTo>
                    <a:lnTo>
                      <a:pt x="458" y="156"/>
                    </a:lnTo>
                    <a:lnTo>
                      <a:pt x="450" y="178"/>
                    </a:lnTo>
                    <a:lnTo>
                      <a:pt x="447" y="190"/>
                    </a:lnTo>
                    <a:lnTo>
                      <a:pt x="398" y="229"/>
                    </a:lnTo>
                    <a:lnTo>
                      <a:pt x="354" y="254"/>
                    </a:lnTo>
                    <a:lnTo>
                      <a:pt x="349" y="272"/>
                    </a:lnTo>
                    <a:lnTo>
                      <a:pt x="363" y="276"/>
                    </a:lnTo>
                    <a:lnTo>
                      <a:pt x="429" y="229"/>
                    </a:lnTo>
                    <a:lnTo>
                      <a:pt x="462" y="217"/>
                    </a:lnTo>
                    <a:lnTo>
                      <a:pt x="478" y="249"/>
                    </a:lnTo>
                    <a:lnTo>
                      <a:pt x="484" y="261"/>
                    </a:lnTo>
                    <a:lnTo>
                      <a:pt x="468" y="276"/>
                    </a:lnTo>
                    <a:lnTo>
                      <a:pt x="452" y="286"/>
                    </a:lnTo>
                    <a:lnTo>
                      <a:pt x="450" y="304"/>
                    </a:lnTo>
                    <a:lnTo>
                      <a:pt x="456" y="324"/>
                    </a:lnTo>
                    <a:lnTo>
                      <a:pt x="441" y="340"/>
                    </a:lnTo>
                    <a:lnTo>
                      <a:pt x="402" y="358"/>
                    </a:lnTo>
                    <a:lnTo>
                      <a:pt x="342" y="384"/>
                    </a:lnTo>
                    <a:lnTo>
                      <a:pt x="363" y="391"/>
                    </a:lnTo>
                    <a:lnTo>
                      <a:pt x="425" y="367"/>
                    </a:lnTo>
                    <a:lnTo>
                      <a:pt x="475" y="342"/>
                    </a:lnTo>
                    <a:lnTo>
                      <a:pt x="484" y="347"/>
                    </a:lnTo>
                    <a:lnTo>
                      <a:pt x="478" y="363"/>
                    </a:lnTo>
                    <a:lnTo>
                      <a:pt x="462" y="380"/>
                    </a:lnTo>
                    <a:lnTo>
                      <a:pt x="456" y="397"/>
                    </a:lnTo>
                    <a:lnTo>
                      <a:pt x="464" y="418"/>
                    </a:lnTo>
                    <a:lnTo>
                      <a:pt x="484" y="434"/>
                    </a:lnTo>
                    <a:lnTo>
                      <a:pt x="484" y="449"/>
                    </a:lnTo>
                    <a:lnTo>
                      <a:pt x="450" y="456"/>
                    </a:lnTo>
                    <a:lnTo>
                      <a:pt x="424" y="492"/>
                    </a:lnTo>
                    <a:lnTo>
                      <a:pt x="391" y="513"/>
                    </a:lnTo>
                    <a:lnTo>
                      <a:pt x="347" y="525"/>
                    </a:lnTo>
                    <a:lnTo>
                      <a:pt x="344" y="535"/>
                    </a:lnTo>
                    <a:lnTo>
                      <a:pt x="371" y="532"/>
                    </a:lnTo>
                    <a:lnTo>
                      <a:pt x="429" y="513"/>
                    </a:lnTo>
                    <a:lnTo>
                      <a:pt x="450" y="497"/>
                    </a:lnTo>
                    <a:lnTo>
                      <a:pt x="464" y="481"/>
                    </a:lnTo>
                    <a:lnTo>
                      <a:pt x="484" y="477"/>
                    </a:lnTo>
                    <a:lnTo>
                      <a:pt x="484" y="497"/>
                    </a:lnTo>
                    <a:lnTo>
                      <a:pt x="496" y="515"/>
                    </a:lnTo>
                    <a:lnTo>
                      <a:pt x="507" y="535"/>
                    </a:lnTo>
                    <a:lnTo>
                      <a:pt x="500" y="552"/>
                    </a:lnTo>
                    <a:lnTo>
                      <a:pt x="475" y="562"/>
                    </a:lnTo>
                    <a:lnTo>
                      <a:pt x="450" y="570"/>
                    </a:lnTo>
                    <a:lnTo>
                      <a:pt x="434" y="586"/>
                    </a:lnTo>
                    <a:lnTo>
                      <a:pt x="360" y="607"/>
                    </a:lnTo>
                    <a:lnTo>
                      <a:pt x="305" y="627"/>
                    </a:lnTo>
                    <a:lnTo>
                      <a:pt x="283" y="638"/>
                    </a:lnTo>
                    <a:lnTo>
                      <a:pt x="300" y="650"/>
                    </a:lnTo>
                    <a:lnTo>
                      <a:pt x="333" y="643"/>
                    </a:lnTo>
                    <a:lnTo>
                      <a:pt x="398" y="618"/>
                    </a:lnTo>
                    <a:lnTo>
                      <a:pt x="441" y="605"/>
                    </a:lnTo>
                    <a:lnTo>
                      <a:pt x="452" y="623"/>
                    </a:lnTo>
                    <a:lnTo>
                      <a:pt x="464" y="656"/>
                    </a:lnTo>
                    <a:lnTo>
                      <a:pt x="484" y="683"/>
                    </a:lnTo>
                    <a:lnTo>
                      <a:pt x="486" y="705"/>
                    </a:lnTo>
                    <a:lnTo>
                      <a:pt x="484" y="725"/>
                    </a:lnTo>
                    <a:lnTo>
                      <a:pt x="462" y="732"/>
                    </a:lnTo>
                    <a:lnTo>
                      <a:pt x="424" y="741"/>
                    </a:lnTo>
                    <a:lnTo>
                      <a:pt x="374" y="762"/>
                    </a:lnTo>
                    <a:lnTo>
                      <a:pt x="303" y="773"/>
                    </a:lnTo>
                    <a:lnTo>
                      <a:pt x="276" y="785"/>
                    </a:lnTo>
                    <a:lnTo>
                      <a:pt x="294" y="794"/>
                    </a:lnTo>
                    <a:lnTo>
                      <a:pt x="358" y="785"/>
                    </a:lnTo>
                    <a:lnTo>
                      <a:pt x="402" y="769"/>
                    </a:lnTo>
                    <a:lnTo>
                      <a:pt x="431" y="759"/>
                    </a:lnTo>
                    <a:lnTo>
                      <a:pt x="456" y="753"/>
                    </a:lnTo>
                    <a:lnTo>
                      <a:pt x="452" y="773"/>
                    </a:lnTo>
                    <a:lnTo>
                      <a:pt x="464" y="800"/>
                    </a:lnTo>
                    <a:lnTo>
                      <a:pt x="480" y="816"/>
                    </a:lnTo>
                    <a:lnTo>
                      <a:pt x="484" y="835"/>
                    </a:lnTo>
                    <a:lnTo>
                      <a:pt x="484" y="851"/>
                    </a:lnTo>
                    <a:lnTo>
                      <a:pt x="462" y="860"/>
                    </a:lnTo>
                    <a:lnTo>
                      <a:pt x="420" y="862"/>
                    </a:lnTo>
                    <a:lnTo>
                      <a:pt x="391" y="871"/>
                    </a:lnTo>
                    <a:lnTo>
                      <a:pt x="326" y="892"/>
                    </a:lnTo>
                    <a:lnTo>
                      <a:pt x="289" y="894"/>
                    </a:lnTo>
                    <a:lnTo>
                      <a:pt x="276" y="910"/>
                    </a:lnTo>
                    <a:lnTo>
                      <a:pt x="292" y="915"/>
                    </a:lnTo>
                    <a:lnTo>
                      <a:pt x="326" y="908"/>
                    </a:lnTo>
                    <a:lnTo>
                      <a:pt x="374" y="894"/>
                    </a:lnTo>
                    <a:lnTo>
                      <a:pt x="402" y="883"/>
                    </a:lnTo>
                    <a:lnTo>
                      <a:pt x="436" y="876"/>
                    </a:lnTo>
                    <a:lnTo>
                      <a:pt x="464" y="878"/>
                    </a:lnTo>
                    <a:lnTo>
                      <a:pt x="473" y="878"/>
                    </a:lnTo>
                    <a:lnTo>
                      <a:pt x="473" y="903"/>
                    </a:lnTo>
                    <a:lnTo>
                      <a:pt x="480" y="915"/>
                    </a:lnTo>
                    <a:lnTo>
                      <a:pt x="431" y="926"/>
                    </a:lnTo>
                    <a:lnTo>
                      <a:pt x="387" y="958"/>
                    </a:lnTo>
                    <a:lnTo>
                      <a:pt x="338" y="976"/>
                    </a:lnTo>
                    <a:lnTo>
                      <a:pt x="305" y="981"/>
                    </a:lnTo>
                    <a:lnTo>
                      <a:pt x="278" y="995"/>
                    </a:lnTo>
                    <a:lnTo>
                      <a:pt x="289" y="1006"/>
                    </a:lnTo>
                    <a:lnTo>
                      <a:pt x="316" y="997"/>
                    </a:lnTo>
                    <a:lnTo>
                      <a:pt x="347" y="986"/>
                    </a:lnTo>
                    <a:lnTo>
                      <a:pt x="381" y="981"/>
                    </a:lnTo>
                    <a:lnTo>
                      <a:pt x="413" y="962"/>
                    </a:lnTo>
                    <a:lnTo>
                      <a:pt x="429" y="946"/>
                    </a:lnTo>
                    <a:lnTo>
                      <a:pt x="450" y="942"/>
                    </a:lnTo>
                    <a:lnTo>
                      <a:pt x="478" y="942"/>
                    </a:lnTo>
                    <a:lnTo>
                      <a:pt x="486" y="946"/>
                    </a:lnTo>
                    <a:lnTo>
                      <a:pt x="495" y="964"/>
                    </a:lnTo>
                    <a:lnTo>
                      <a:pt x="500" y="986"/>
                    </a:lnTo>
                    <a:lnTo>
                      <a:pt x="495" y="1006"/>
                    </a:lnTo>
                    <a:lnTo>
                      <a:pt x="484" y="1017"/>
                    </a:lnTo>
                    <a:lnTo>
                      <a:pt x="475" y="1044"/>
                    </a:lnTo>
                    <a:lnTo>
                      <a:pt x="484" y="1054"/>
                    </a:lnTo>
                    <a:lnTo>
                      <a:pt x="495" y="1065"/>
                    </a:lnTo>
                    <a:lnTo>
                      <a:pt x="495" y="1076"/>
                    </a:lnTo>
                    <a:lnTo>
                      <a:pt x="480" y="10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7" name="Freeform 104"/>
              <p:cNvSpPr>
                <a:spLocks/>
              </p:cNvSpPr>
              <p:nvPr/>
            </p:nvSpPr>
            <p:spPr bwMode="auto">
              <a:xfrm>
                <a:off x="4461" y="1071"/>
                <a:ext cx="169" cy="61"/>
              </a:xfrm>
              <a:custGeom>
                <a:avLst/>
                <a:gdLst>
                  <a:gd name="T0" fmla="*/ 0 w 169"/>
                  <a:gd name="T1" fmla="*/ 48 h 61"/>
                  <a:gd name="T2" fmla="*/ 67 w 169"/>
                  <a:gd name="T3" fmla="*/ 46 h 61"/>
                  <a:gd name="T4" fmla="*/ 93 w 169"/>
                  <a:gd name="T5" fmla="*/ 30 h 61"/>
                  <a:gd name="T6" fmla="*/ 115 w 169"/>
                  <a:gd name="T7" fmla="*/ 12 h 61"/>
                  <a:gd name="T8" fmla="*/ 157 w 169"/>
                  <a:gd name="T9" fmla="*/ 0 h 61"/>
                  <a:gd name="T10" fmla="*/ 169 w 169"/>
                  <a:gd name="T11" fmla="*/ 12 h 61"/>
                  <a:gd name="T12" fmla="*/ 151 w 169"/>
                  <a:gd name="T13" fmla="*/ 17 h 61"/>
                  <a:gd name="T14" fmla="*/ 122 w 169"/>
                  <a:gd name="T15" fmla="*/ 35 h 61"/>
                  <a:gd name="T16" fmla="*/ 106 w 169"/>
                  <a:gd name="T17" fmla="*/ 46 h 61"/>
                  <a:gd name="T18" fmla="*/ 79 w 169"/>
                  <a:gd name="T19" fmla="*/ 54 h 61"/>
                  <a:gd name="T20" fmla="*/ 37 w 169"/>
                  <a:gd name="T21" fmla="*/ 59 h 61"/>
                  <a:gd name="T22" fmla="*/ 3 w 169"/>
                  <a:gd name="T23" fmla="*/ 61 h 61"/>
                  <a:gd name="T24" fmla="*/ 0 w 169"/>
                  <a:gd name="T25" fmla="*/ 48 h 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 h="61">
                    <a:moveTo>
                      <a:pt x="0" y="48"/>
                    </a:moveTo>
                    <a:lnTo>
                      <a:pt x="67" y="46"/>
                    </a:lnTo>
                    <a:lnTo>
                      <a:pt x="93" y="30"/>
                    </a:lnTo>
                    <a:lnTo>
                      <a:pt x="115" y="12"/>
                    </a:lnTo>
                    <a:lnTo>
                      <a:pt x="157" y="0"/>
                    </a:lnTo>
                    <a:lnTo>
                      <a:pt x="169" y="12"/>
                    </a:lnTo>
                    <a:lnTo>
                      <a:pt x="151" y="17"/>
                    </a:lnTo>
                    <a:lnTo>
                      <a:pt x="122" y="35"/>
                    </a:lnTo>
                    <a:lnTo>
                      <a:pt x="106" y="46"/>
                    </a:lnTo>
                    <a:lnTo>
                      <a:pt x="79" y="54"/>
                    </a:lnTo>
                    <a:lnTo>
                      <a:pt x="37" y="59"/>
                    </a:lnTo>
                    <a:lnTo>
                      <a:pt x="3" y="61"/>
                    </a:lnTo>
                    <a:lnTo>
                      <a:pt x="0"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8" name="Freeform 105"/>
              <p:cNvSpPr>
                <a:spLocks/>
              </p:cNvSpPr>
              <p:nvPr/>
            </p:nvSpPr>
            <p:spPr bwMode="auto">
              <a:xfrm>
                <a:off x="4214" y="-87"/>
                <a:ext cx="476" cy="262"/>
              </a:xfrm>
              <a:custGeom>
                <a:avLst/>
                <a:gdLst>
                  <a:gd name="T0" fmla="*/ 14 w 476"/>
                  <a:gd name="T1" fmla="*/ 29 h 262"/>
                  <a:gd name="T2" fmla="*/ 70 w 476"/>
                  <a:gd name="T3" fmla="*/ 33 h 262"/>
                  <a:gd name="T4" fmla="*/ 131 w 476"/>
                  <a:gd name="T5" fmla="*/ 34 h 262"/>
                  <a:gd name="T6" fmla="*/ 169 w 476"/>
                  <a:gd name="T7" fmla="*/ 34 h 262"/>
                  <a:gd name="T8" fmla="*/ 200 w 476"/>
                  <a:gd name="T9" fmla="*/ 27 h 262"/>
                  <a:gd name="T10" fmla="*/ 249 w 476"/>
                  <a:gd name="T11" fmla="*/ 12 h 262"/>
                  <a:gd name="T12" fmla="*/ 273 w 476"/>
                  <a:gd name="T13" fmla="*/ 0 h 262"/>
                  <a:gd name="T14" fmla="*/ 306 w 476"/>
                  <a:gd name="T15" fmla="*/ 18 h 262"/>
                  <a:gd name="T16" fmla="*/ 359 w 476"/>
                  <a:gd name="T17" fmla="*/ 55 h 262"/>
                  <a:gd name="T18" fmla="*/ 397 w 476"/>
                  <a:gd name="T19" fmla="*/ 83 h 262"/>
                  <a:gd name="T20" fmla="*/ 447 w 476"/>
                  <a:gd name="T21" fmla="*/ 118 h 262"/>
                  <a:gd name="T22" fmla="*/ 476 w 476"/>
                  <a:gd name="T23" fmla="*/ 143 h 262"/>
                  <a:gd name="T24" fmla="*/ 449 w 476"/>
                  <a:gd name="T25" fmla="*/ 167 h 262"/>
                  <a:gd name="T26" fmla="*/ 421 w 476"/>
                  <a:gd name="T27" fmla="*/ 193 h 262"/>
                  <a:gd name="T28" fmla="*/ 377 w 476"/>
                  <a:gd name="T29" fmla="*/ 211 h 262"/>
                  <a:gd name="T30" fmla="*/ 332 w 476"/>
                  <a:gd name="T31" fmla="*/ 232 h 262"/>
                  <a:gd name="T32" fmla="*/ 290 w 476"/>
                  <a:gd name="T33" fmla="*/ 249 h 262"/>
                  <a:gd name="T34" fmla="*/ 251 w 476"/>
                  <a:gd name="T35" fmla="*/ 254 h 262"/>
                  <a:gd name="T36" fmla="*/ 212 w 476"/>
                  <a:gd name="T37" fmla="*/ 262 h 262"/>
                  <a:gd name="T38" fmla="*/ 162 w 476"/>
                  <a:gd name="T39" fmla="*/ 227 h 262"/>
                  <a:gd name="T40" fmla="*/ 123 w 476"/>
                  <a:gd name="T41" fmla="*/ 195 h 262"/>
                  <a:gd name="T42" fmla="*/ 79 w 476"/>
                  <a:gd name="T43" fmla="*/ 157 h 262"/>
                  <a:gd name="T44" fmla="*/ 44 w 476"/>
                  <a:gd name="T45" fmla="*/ 118 h 262"/>
                  <a:gd name="T46" fmla="*/ 16 w 476"/>
                  <a:gd name="T47" fmla="*/ 90 h 262"/>
                  <a:gd name="T48" fmla="*/ 0 w 476"/>
                  <a:gd name="T49" fmla="*/ 52 h 262"/>
                  <a:gd name="T50" fmla="*/ 14 w 476"/>
                  <a:gd name="T51" fmla="*/ 29 h 26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476" h="262">
                    <a:moveTo>
                      <a:pt x="14" y="29"/>
                    </a:moveTo>
                    <a:lnTo>
                      <a:pt x="70" y="33"/>
                    </a:lnTo>
                    <a:lnTo>
                      <a:pt x="131" y="34"/>
                    </a:lnTo>
                    <a:lnTo>
                      <a:pt x="169" y="34"/>
                    </a:lnTo>
                    <a:lnTo>
                      <a:pt x="200" y="27"/>
                    </a:lnTo>
                    <a:lnTo>
                      <a:pt x="249" y="12"/>
                    </a:lnTo>
                    <a:lnTo>
                      <a:pt x="273" y="0"/>
                    </a:lnTo>
                    <a:lnTo>
                      <a:pt x="306" y="18"/>
                    </a:lnTo>
                    <a:lnTo>
                      <a:pt x="359" y="55"/>
                    </a:lnTo>
                    <a:lnTo>
                      <a:pt x="397" y="83"/>
                    </a:lnTo>
                    <a:lnTo>
                      <a:pt x="447" y="118"/>
                    </a:lnTo>
                    <a:lnTo>
                      <a:pt x="476" y="143"/>
                    </a:lnTo>
                    <a:lnTo>
                      <a:pt x="449" y="167"/>
                    </a:lnTo>
                    <a:lnTo>
                      <a:pt x="421" y="193"/>
                    </a:lnTo>
                    <a:lnTo>
                      <a:pt x="377" y="211"/>
                    </a:lnTo>
                    <a:lnTo>
                      <a:pt x="332" y="232"/>
                    </a:lnTo>
                    <a:lnTo>
                      <a:pt x="290" y="249"/>
                    </a:lnTo>
                    <a:lnTo>
                      <a:pt x="251" y="254"/>
                    </a:lnTo>
                    <a:lnTo>
                      <a:pt x="212" y="262"/>
                    </a:lnTo>
                    <a:lnTo>
                      <a:pt x="162" y="227"/>
                    </a:lnTo>
                    <a:lnTo>
                      <a:pt x="123" y="195"/>
                    </a:lnTo>
                    <a:lnTo>
                      <a:pt x="79" y="157"/>
                    </a:lnTo>
                    <a:lnTo>
                      <a:pt x="44" y="118"/>
                    </a:lnTo>
                    <a:lnTo>
                      <a:pt x="16" y="90"/>
                    </a:lnTo>
                    <a:lnTo>
                      <a:pt x="0" y="52"/>
                    </a:lnTo>
                    <a:lnTo>
                      <a:pt x="14" y="29"/>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9" name="Freeform 106"/>
              <p:cNvSpPr>
                <a:spLocks/>
              </p:cNvSpPr>
              <p:nvPr/>
            </p:nvSpPr>
            <p:spPr bwMode="auto">
              <a:xfrm>
                <a:off x="4203" y="-96"/>
                <a:ext cx="513" cy="304"/>
              </a:xfrm>
              <a:custGeom>
                <a:avLst/>
                <a:gdLst>
                  <a:gd name="T0" fmla="*/ 251 w 513"/>
                  <a:gd name="T1" fmla="*/ 259 h 304"/>
                  <a:gd name="T2" fmla="*/ 332 w 513"/>
                  <a:gd name="T3" fmla="*/ 237 h 304"/>
                  <a:gd name="T4" fmla="*/ 398 w 513"/>
                  <a:gd name="T5" fmla="*/ 207 h 304"/>
                  <a:gd name="T6" fmla="*/ 445 w 513"/>
                  <a:gd name="T7" fmla="*/ 175 h 304"/>
                  <a:gd name="T8" fmla="*/ 463 w 513"/>
                  <a:gd name="T9" fmla="*/ 154 h 304"/>
                  <a:gd name="T10" fmla="*/ 396 w 513"/>
                  <a:gd name="T11" fmla="*/ 91 h 304"/>
                  <a:gd name="T12" fmla="*/ 341 w 513"/>
                  <a:gd name="T13" fmla="*/ 59 h 304"/>
                  <a:gd name="T14" fmla="*/ 288 w 513"/>
                  <a:gd name="T15" fmla="*/ 26 h 304"/>
                  <a:gd name="T16" fmla="*/ 277 w 513"/>
                  <a:gd name="T17" fmla="*/ 26 h 304"/>
                  <a:gd name="T18" fmla="*/ 245 w 513"/>
                  <a:gd name="T19" fmla="*/ 36 h 304"/>
                  <a:gd name="T20" fmla="*/ 201 w 513"/>
                  <a:gd name="T21" fmla="*/ 49 h 304"/>
                  <a:gd name="T22" fmla="*/ 123 w 513"/>
                  <a:gd name="T23" fmla="*/ 54 h 304"/>
                  <a:gd name="T24" fmla="*/ 47 w 513"/>
                  <a:gd name="T25" fmla="*/ 53 h 304"/>
                  <a:gd name="T26" fmla="*/ 26 w 513"/>
                  <a:gd name="T27" fmla="*/ 54 h 304"/>
                  <a:gd name="T28" fmla="*/ 26 w 513"/>
                  <a:gd name="T29" fmla="*/ 70 h 304"/>
                  <a:gd name="T30" fmla="*/ 43 w 513"/>
                  <a:gd name="T31" fmla="*/ 91 h 304"/>
                  <a:gd name="T32" fmla="*/ 74 w 513"/>
                  <a:gd name="T33" fmla="*/ 132 h 304"/>
                  <a:gd name="T34" fmla="*/ 114 w 513"/>
                  <a:gd name="T35" fmla="*/ 165 h 304"/>
                  <a:gd name="T36" fmla="*/ 164 w 513"/>
                  <a:gd name="T37" fmla="*/ 214 h 304"/>
                  <a:gd name="T38" fmla="*/ 210 w 513"/>
                  <a:gd name="T39" fmla="*/ 249 h 304"/>
                  <a:gd name="T40" fmla="*/ 240 w 513"/>
                  <a:gd name="T41" fmla="*/ 268 h 304"/>
                  <a:gd name="T42" fmla="*/ 249 w 513"/>
                  <a:gd name="T43" fmla="*/ 291 h 304"/>
                  <a:gd name="T44" fmla="*/ 238 w 513"/>
                  <a:gd name="T45" fmla="*/ 304 h 304"/>
                  <a:gd name="T46" fmla="*/ 221 w 513"/>
                  <a:gd name="T47" fmla="*/ 296 h 304"/>
                  <a:gd name="T48" fmla="*/ 174 w 513"/>
                  <a:gd name="T49" fmla="*/ 252 h 304"/>
                  <a:gd name="T50" fmla="*/ 114 w 513"/>
                  <a:gd name="T51" fmla="*/ 202 h 304"/>
                  <a:gd name="T52" fmla="*/ 70 w 513"/>
                  <a:gd name="T53" fmla="*/ 165 h 304"/>
                  <a:gd name="T54" fmla="*/ 42 w 513"/>
                  <a:gd name="T55" fmla="*/ 132 h 304"/>
                  <a:gd name="T56" fmla="*/ 16 w 513"/>
                  <a:gd name="T57" fmla="*/ 98 h 304"/>
                  <a:gd name="T58" fmla="*/ 5 w 513"/>
                  <a:gd name="T59" fmla="*/ 75 h 304"/>
                  <a:gd name="T60" fmla="*/ 0 w 513"/>
                  <a:gd name="T61" fmla="*/ 49 h 304"/>
                  <a:gd name="T62" fmla="*/ 7 w 513"/>
                  <a:gd name="T63" fmla="*/ 33 h 304"/>
                  <a:gd name="T64" fmla="*/ 25 w 513"/>
                  <a:gd name="T65" fmla="*/ 26 h 304"/>
                  <a:gd name="T66" fmla="*/ 58 w 513"/>
                  <a:gd name="T67" fmla="*/ 27 h 304"/>
                  <a:gd name="T68" fmla="*/ 120 w 513"/>
                  <a:gd name="T69" fmla="*/ 36 h 304"/>
                  <a:gd name="T70" fmla="*/ 173 w 513"/>
                  <a:gd name="T71" fmla="*/ 36 h 304"/>
                  <a:gd name="T72" fmla="*/ 210 w 513"/>
                  <a:gd name="T73" fmla="*/ 26 h 304"/>
                  <a:gd name="T74" fmla="*/ 254 w 513"/>
                  <a:gd name="T75" fmla="*/ 16 h 304"/>
                  <a:gd name="T76" fmla="*/ 272 w 513"/>
                  <a:gd name="T77" fmla="*/ 0 h 304"/>
                  <a:gd name="T78" fmla="*/ 293 w 513"/>
                  <a:gd name="T79" fmla="*/ 0 h 304"/>
                  <a:gd name="T80" fmla="*/ 338 w 513"/>
                  <a:gd name="T81" fmla="*/ 27 h 304"/>
                  <a:gd name="T82" fmla="*/ 387 w 513"/>
                  <a:gd name="T83" fmla="*/ 66 h 304"/>
                  <a:gd name="T84" fmla="*/ 440 w 513"/>
                  <a:gd name="T85" fmla="*/ 99 h 304"/>
                  <a:gd name="T86" fmla="*/ 469 w 513"/>
                  <a:gd name="T87" fmla="*/ 121 h 304"/>
                  <a:gd name="T88" fmla="*/ 500 w 513"/>
                  <a:gd name="T89" fmla="*/ 142 h 304"/>
                  <a:gd name="T90" fmla="*/ 513 w 513"/>
                  <a:gd name="T91" fmla="*/ 149 h 304"/>
                  <a:gd name="T92" fmla="*/ 505 w 513"/>
                  <a:gd name="T93" fmla="*/ 163 h 304"/>
                  <a:gd name="T94" fmla="*/ 484 w 513"/>
                  <a:gd name="T95" fmla="*/ 177 h 304"/>
                  <a:gd name="T96" fmla="*/ 458 w 513"/>
                  <a:gd name="T97" fmla="*/ 198 h 304"/>
                  <a:gd name="T98" fmla="*/ 434 w 513"/>
                  <a:gd name="T99" fmla="*/ 207 h 304"/>
                  <a:gd name="T100" fmla="*/ 391 w 513"/>
                  <a:gd name="T101" fmla="*/ 226 h 304"/>
                  <a:gd name="T102" fmla="*/ 360 w 513"/>
                  <a:gd name="T103" fmla="*/ 241 h 304"/>
                  <a:gd name="T104" fmla="*/ 325 w 513"/>
                  <a:gd name="T105" fmla="*/ 263 h 304"/>
                  <a:gd name="T106" fmla="*/ 288 w 513"/>
                  <a:gd name="T107" fmla="*/ 268 h 304"/>
                  <a:gd name="T108" fmla="*/ 260 w 513"/>
                  <a:gd name="T109" fmla="*/ 270 h 304"/>
                  <a:gd name="T110" fmla="*/ 251 w 513"/>
                  <a:gd name="T111" fmla="*/ 259 h 30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13" h="304">
                    <a:moveTo>
                      <a:pt x="251" y="259"/>
                    </a:moveTo>
                    <a:lnTo>
                      <a:pt x="332" y="237"/>
                    </a:lnTo>
                    <a:lnTo>
                      <a:pt x="398" y="207"/>
                    </a:lnTo>
                    <a:lnTo>
                      <a:pt x="445" y="175"/>
                    </a:lnTo>
                    <a:lnTo>
                      <a:pt x="463" y="154"/>
                    </a:lnTo>
                    <a:lnTo>
                      <a:pt x="396" y="91"/>
                    </a:lnTo>
                    <a:lnTo>
                      <a:pt x="341" y="59"/>
                    </a:lnTo>
                    <a:lnTo>
                      <a:pt x="288" y="26"/>
                    </a:lnTo>
                    <a:lnTo>
                      <a:pt x="277" y="26"/>
                    </a:lnTo>
                    <a:lnTo>
                      <a:pt x="245" y="36"/>
                    </a:lnTo>
                    <a:lnTo>
                      <a:pt x="201" y="49"/>
                    </a:lnTo>
                    <a:lnTo>
                      <a:pt x="123" y="54"/>
                    </a:lnTo>
                    <a:lnTo>
                      <a:pt x="47" y="53"/>
                    </a:lnTo>
                    <a:lnTo>
                      <a:pt x="26" y="54"/>
                    </a:lnTo>
                    <a:lnTo>
                      <a:pt x="26" y="70"/>
                    </a:lnTo>
                    <a:lnTo>
                      <a:pt x="43" y="91"/>
                    </a:lnTo>
                    <a:lnTo>
                      <a:pt x="74" y="132"/>
                    </a:lnTo>
                    <a:lnTo>
                      <a:pt x="114" y="165"/>
                    </a:lnTo>
                    <a:lnTo>
                      <a:pt x="164" y="214"/>
                    </a:lnTo>
                    <a:lnTo>
                      <a:pt x="210" y="249"/>
                    </a:lnTo>
                    <a:lnTo>
                      <a:pt x="240" y="268"/>
                    </a:lnTo>
                    <a:lnTo>
                      <a:pt x="249" y="291"/>
                    </a:lnTo>
                    <a:lnTo>
                      <a:pt x="238" y="304"/>
                    </a:lnTo>
                    <a:lnTo>
                      <a:pt x="221" y="296"/>
                    </a:lnTo>
                    <a:lnTo>
                      <a:pt x="174" y="252"/>
                    </a:lnTo>
                    <a:lnTo>
                      <a:pt x="114" y="202"/>
                    </a:lnTo>
                    <a:lnTo>
                      <a:pt x="70" y="165"/>
                    </a:lnTo>
                    <a:lnTo>
                      <a:pt x="42" y="132"/>
                    </a:lnTo>
                    <a:lnTo>
                      <a:pt x="16" y="98"/>
                    </a:lnTo>
                    <a:lnTo>
                      <a:pt x="5" y="75"/>
                    </a:lnTo>
                    <a:lnTo>
                      <a:pt x="0" y="49"/>
                    </a:lnTo>
                    <a:lnTo>
                      <a:pt x="7" y="33"/>
                    </a:lnTo>
                    <a:lnTo>
                      <a:pt x="25" y="26"/>
                    </a:lnTo>
                    <a:lnTo>
                      <a:pt x="58" y="27"/>
                    </a:lnTo>
                    <a:lnTo>
                      <a:pt x="120" y="36"/>
                    </a:lnTo>
                    <a:lnTo>
                      <a:pt x="173" y="36"/>
                    </a:lnTo>
                    <a:lnTo>
                      <a:pt x="210" y="26"/>
                    </a:lnTo>
                    <a:lnTo>
                      <a:pt x="254" y="16"/>
                    </a:lnTo>
                    <a:lnTo>
                      <a:pt x="272" y="0"/>
                    </a:lnTo>
                    <a:lnTo>
                      <a:pt x="293" y="0"/>
                    </a:lnTo>
                    <a:lnTo>
                      <a:pt x="338" y="27"/>
                    </a:lnTo>
                    <a:lnTo>
                      <a:pt x="387" y="66"/>
                    </a:lnTo>
                    <a:lnTo>
                      <a:pt x="440" y="99"/>
                    </a:lnTo>
                    <a:lnTo>
                      <a:pt x="469" y="121"/>
                    </a:lnTo>
                    <a:lnTo>
                      <a:pt x="500" y="142"/>
                    </a:lnTo>
                    <a:lnTo>
                      <a:pt x="513" y="149"/>
                    </a:lnTo>
                    <a:lnTo>
                      <a:pt x="505" y="163"/>
                    </a:lnTo>
                    <a:lnTo>
                      <a:pt x="484" y="177"/>
                    </a:lnTo>
                    <a:lnTo>
                      <a:pt x="458" y="198"/>
                    </a:lnTo>
                    <a:lnTo>
                      <a:pt x="434" y="207"/>
                    </a:lnTo>
                    <a:lnTo>
                      <a:pt x="391" y="226"/>
                    </a:lnTo>
                    <a:lnTo>
                      <a:pt x="360" y="241"/>
                    </a:lnTo>
                    <a:lnTo>
                      <a:pt x="325" y="263"/>
                    </a:lnTo>
                    <a:lnTo>
                      <a:pt x="288" y="268"/>
                    </a:lnTo>
                    <a:lnTo>
                      <a:pt x="260" y="270"/>
                    </a:lnTo>
                    <a:lnTo>
                      <a:pt x="251" y="2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0" name="Freeform 107"/>
              <p:cNvSpPr>
                <a:spLocks/>
              </p:cNvSpPr>
              <p:nvPr/>
            </p:nvSpPr>
            <p:spPr bwMode="auto">
              <a:xfrm>
                <a:off x="4488" y="128"/>
                <a:ext cx="168" cy="110"/>
              </a:xfrm>
              <a:custGeom>
                <a:avLst/>
                <a:gdLst>
                  <a:gd name="T0" fmla="*/ 141 w 168"/>
                  <a:gd name="T1" fmla="*/ 13 h 110"/>
                  <a:gd name="T2" fmla="*/ 105 w 168"/>
                  <a:gd name="T3" fmla="*/ 42 h 110"/>
                  <a:gd name="T4" fmla="*/ 74 w 168"/>
                  <a:gd name="T5" fmla="*/ 69 h 110"/>
                  <a:gd name="T6" fmla="*/ 26 w 168"/>
                  <a:gd name="T7" fmla="*/ 86 h 110"/>
                  <a:gd name="T8" fmla="*/ 0 w 168"/>
                  <a:gd name="T9" fmla="*/ 94 h 110"/>
                  <a:gd name="T10" fmla="*/ 20 w 168"/>
                  <a:gd name="T11" fmla="*/ 110 h 110"/>
                  <a:gd name="T12" fmla="*/ 55 w 168"/>
                  <a:gd name="T13" fmla="*/ 104 h 110"/>
                  <a:gd name="T14" fmla="*/ 107 w 168"/>
                  <a:gd name="T15" fmla="*/ 69 h 110"/>
                  <a:gd name="T16" fmla="*/ 168 w 168"/>
                  <a:gd name="T17" fmla="*/ 0 h 110"/>
                  <a:gd name="T18" fmla="*/ 141 w 168"/>
                  <a:gd name="T19" fmla="*/ 13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8" h="110">
                    <a:moveTo>
                      <a:pt x="141" y="13"/>
                    </a:moveTo>
                    <a:lnTo>
                      <a:pt x="105" y="42"/>
                    </a:lnTo>
                    <a:lnTo>
                      <a:pt x="74" y="69"/>
                    </a:lnTo>
                    <a:lnTo>
                      <a:pt x="26" y="86"/>
                    </a:lnTo>
                    <a:lnTo>
                      <a:pt x="0" y="94"/>
                    </a:lnTo>
                    <a:lnTo>
                      <a:pt x="20" y="110"/>
                    </a:lnTo>
                    <a:lnTo>
                      <a:pt x="55" y="104"/>
                    </a:lnTo>
                    <a:lnTo>
                      <a:pt x="107" y="69"/>
                    </a:lnTo>
                    <a:lnTo>
                      <a:pt x="168" y="0"/>
                    </a:lnTo>
                    <a:lnTo>
                      <a:pt x="141"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233" name="Freeform 108"/>
            <p:cNvSpPr>
              <a:spLocks/>
            </p:cNvSpPr>
            <p:nvPr/>
          </p:nvSpPr>
          <p:spPr bwMode="auto">
            <a:xfrm>
              <a:off x="3696" y="2211"/>
              <a:ext cx="296" cy="256"/>
            </a:xfrm>
            <a:custGeom>
              <a:avLst/>
              <a:gdLst>
                <a:gd name="T0" fmla="*/ 265 w 571"/>
                <a:gd name="T1" fmla="*/ 4 h 494"/>
                <a:gd name="T2" fmla="*/ 278 w 571"/>
                <a:gd name="T3" fmla="*/ 0 h 494"/>
                <a:gd name="T4" fmla="*/ 292 w 571"/>
                <a:gd name="T5" fmla="*/ 10 h 494"/>
                <a:gd name="T6" fmla="*/ 296 w 571"/>
                <a:gd name="T7" fmla="*/ 32 h 494"/>
                <a:gd name="T8" fmla="*/ 291 w 571"/>
                <a:gd name="T9" fmla="*/ 52 h 494"/>
                <a:gd name="T10" fmla="*/ 265 w 571"/>
                <a:gd name="T11" fmla="*/ 93 h 494"/>
                <a:gd name="T12" fmla="*/ 229 w 571"/>
                <a:gd name="T13" fmla="*/ 134 h 494"/>
                <a:gd name="T14" fmla="*/ 188 w 571"/>
                <a:gd name="T15" fmla="*/ 166 h 494"/>
                <a:gd name="T16" fmla="*/ 172 w 571"/>
                <a:gd name="T17" fmla="*/ 178 h 494"/>
                <a:gd name="T18" fmla="*/ 158 w 571"/>
                <a:gd name="T19" fmla="*/ 180 h 494"/>
                <a:gd name="T20" fmla="*/ 131 w 571"/>
                <a:gd name="T21" fmla="*/ 188 h 494"/>
                <a:gd name="T22" fmla="*/ 95 w 571"/>
                <a:gd name="T23" fmla="*/ 194 h 494"/>
                <a:gd name="T24" fmla="*/ 65 w 571"/>
                <a:gd name="T25" fmla="*/ 210 h 494"/>
                <a:gd name="T26" fmla="*/ 47 w 571"/>
                <a:gd name="T27" fmla="*/ 219 h 494"/>
                <a:gd name="T28" fmla="*/ 38 w 571"/>
                <a:gd name="T29" fmla="*/ 230 h 494"/>
                <a:gd name="T30" fmla="*/ 32 w 571"/>
                <a:gd name="T31" fmla="*/ 241 h 494"/>
                <a:gd name="T32" fmla="*/ 23 w 571"/>
                <a:gd name="T33" fmla="*/ 253 h 494"/>
                <a:gd name="T34" fmla="*/ 12 w 571"/>
                <a:gd name="T35" fmla="*/ 256 h 494"/>
                <a:gd name="T36" fmla="*/ 6 w 571"/>
                <a:gd name="T37" fmla="*/ 246 h 494"/>
                <a:gd name="T38" fmla="*/ 6 w 571"/>
                <a:gd name="T39" fmla="*/ 233 h 494"/>
                <a:gd name="T40" fmla="*/ 0 w 571"/>
                <a:gd name="T41" fmla="*/ 227 h 494"/>
                <a:gd name="T42" fmla="*/ 1 w 571"/>
                <a:gd name="T43" fmla="*/ 214 h 494"/>
                <a:gd name="T44" fmla="*/ 15 w 571"/>
                <a:gd name="T45" fmla="*/ 203 h 494"/>
                <a:gd name="T46" fmla="*/ 21 w 571"/>
                <a:gd name="T47" fmla="*/ 200 h 494"/>
                <a:gd name="T48" fmla="*/ 33 w 571"/>
                <a:gd name="T49" fmla="*/ 196 h 494"/>
                <a:gd name="T50" fmla="*/ 39 w 571"/>
                <a:gd name="T51" fmla="*/ 184 h 494"/>
                <a:gd name="T52" fmla="*/ 34 w 571"/>
                <a:gd name="T53" fmla="*/ 166 h 494"/>
                <a:gd name="T54" fmla="*/ 26 w 571"/>
                <a:gd name="T55" fmla="*/ 153 h 494"/>
                <a:gd name="T56" fmla="*/ 32 w 571"/>
                <a:gd name="T57" fmla="*/ 142 h 494"/>
                <a:gd name="T58" fmla="*/ 48 w 571"/>
                <a:gd name="T59" fmla="*/ 145 h 494"/>
                <a:gd name="T60" fmla="*/ 48 w 571"/>
                <a:gd name="T61" fmla="*/ 156 h 494"/>
                <a:gd name="T62" fmla="*/ 48 w 571"/>
                <a:gd name="T63" fmla="*/ 172 h 494"/>
                <a:gd name="T64" fmla="*/ 51 w 571"/>
                <a:gd name="T65" fmla="*/ 186 h 494"/>
                <a:gd name="T66" fmla="*/ 57 w 571"/>
                <a:gd name="T67" fmla="*/ 191 h 494"/>
                <a:gd name="T68" fmla="*/ 73 w 571"/>
                <a:gd name="T69" fmla="*/ 188 h 494"/>
                <a:gd name="T70" fmla="*/ 89 w 571"/>
                <a:gd name="T71" fmla="*/ 179 h 494"/>
                <a:gd name="T72" fmla="*/ 121 w 571"/>
                <a:gd name="T73" fmla="*/ 166 h 494"/>
                <a:gd name="T74" fmla="*/ 145 w 571"/>
                <a:gd name="T75" fmla="*/ 157 h 494"/>
                <a:gd name="T76" fmla="*/ 162 w 571"/>
                <a:gd name="T77" fmla="*/ 153 h 494"/>
                <a:gd name="T78" fmla="*/ 188 w 571"/>
                <a:gd name="T79" fmla="*/ 129 h 494"/>
                <a:gd name="T80" fmla="*/ 216 w 571"/>
                <a:gd name="T81" fmla="*/ 97 h 494"/>
                <a:gd name="T82" fmla="*/ 234 w 571"/>
                <a:gd name="T83" fmla="*/ 74 h 494"/>
                <a:gd name="T84" fmla="*/ 251 w 571"/>
                <a:gd name="T85" fmla="*/ 38 h 494"/>
                <a:gd name="T86" fmla="*/ 265 w 571"/>
                <a:gd name="T87" fmla="*/ 4 h 49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71" h="494">
                  <a:moveTo>
                    <a:pt x="512" y="8"/>
                  </a:moveTo>
                  <a:lnTo>
                    <a:pt x="536" y="0"/>
                  </a:lnTo>
                  <a:lnTo>
                    <a:pt x="564" y="20"/>
                  </a:lnTo>
                  <a:lnTo>
                    <a:pt x="571" y="61"/>
                  </a:lnTo>
                  <a:lnTo>
                    <a:pt x="562" y="100"/>
                  </a:lnTo>
                  <a:lnTo>
                    <a:pt x="512" y="179"/>
                  </a:lnTo>
                  <a:lnTo>
                    <a:pt x="441" y="259"/>
                  </a:lnTo>
                  <a:lnTo>
                    <a:pt x="362" y="320"/>
                  </a:lnTo>
                  <a:lnTo>
                    <a:pt x="332" y="343"/>
                  </a:lnTo>
                  <a:lnTo>
                    <a:pt x="304" y="347"/>
                  </a:lnTo>
                  <a:lnTo>
                    <a:pt x="252" y="362"/>
                  </a:lnTo>
                  <a:lnTo>
                    <a:pt x="184" y="375"/>
                  </a:lnTo>
                  <a:lnTo>
                    <a:pt x="125" y="405"/>
                  </a:lnTo>
                  <a:lnTo>
                    <a:pt x="90" y="423"/>
                  </a:lnTo>
                  <a:lnTo>
                    <a:pt x="74" y="444"/>
                  </a:lnTo>
                  <a:lnTo>
                    <a:pt x="62" y="466"/>
                  </a:lnTo>
                  <a:lnTo>
                    <a:pt x="44" y="489"/>
                  </a:lnTo>
                  <a:lnTo>
                    <a:pt x="23" y="494"/>
                  </a:lnTo>
                  <a:lnTo>
                    <a:pt x="12" y="475"/>
                  </a:lnTo>
                  <a:lnTo>
                    <a:pt x="12" y="450"/>
                  </a:lnTo>
                  <a:lnTo>
                    <a:pt x="0" y="439"/>
                  </a:lnTo>
                  <a:lnTo>
                    <a:pt x="1" y="413"/>
                  </a:lnTo>
                  <a:lnTo>
                    <a:pt x="28" y="392"/>
                  </a:lnTo>
                  <a:lnTo>
                    <a:pt x="40" y="385"/>
                  </a:lnTo>
                  <a:lnTo>
                    <a:pt x="64" y="378"/>
                  </a:lnTo>
                  <a:lnTo>
                    <a:pt x="75" y="355"/>
                  </a:lnTo>
                  <a:lnTo>
                    <a:pt x="66" y="321"/>
                  </a:lnTo>
                  <a:lnTo>
                    <a:pt x="50" y="295"/>
                  </a:lnTo>
                  <a:lnTo>
                    <a:pt x="62" y="274"/>
                  </a:lnTo>
                  <a:lnTo>
                    <a:pt x="92" y="279"/>
                  </a:lnTo>
                  <a:lnTo>
                    <a:pt x="93" y="301"/>
                  </a:lnTo>
                  <a:lnTo>
                    <a:pt x="93" y="331"/>
                  </a:lnTo>
                  <a:lnTo>
                    <a:pt x="99" y="359"/>
                  </a:lnTo>
                  <a:lnTo>
                    <a:pt x="110" y="368"/>
                  </a:lnTo>
                  <a:lnTo>
                    <a:pt x="141" y="362"/>
                  </a:lnTo>
                  <a:lnTo>
                    <a:pt x="172" y="345"/>
                  </a:lnTo>
                  <a:lnTo>
                    <a:pt x="233" y="321"/>
                  </a:lnTo>
                  <a:lnTo>
                    <a:pt x="280" y="303"/>
                  </a:lnTo>
                  <a:lnTo>
                    <a:pt x="313" y="296"/>
                  </a:lnTo>
                  <a:lnTo>
                    <a:pt x="362" y="249"/>
                  </a:lnTo>
                  <a:lnTo>
                    <a:pt x="417" y="188"/>
                  </a:lnTo>
                  <a:lnTo>
                    <a:pt x="452" y="143"/>
                  </a:lnTo>
                  <a:lnTo>
                    <a:pt x="485" y="73"/>
                  </a:lnTo>
                  <a:lnTo>
                    <a:pt x="51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7213" name="Group 109"/>
          <p:cNvGrpSpPr>
            <a:grpSpLocks/>
          </p:cNvGrpSpPr>
          <p:nvPr/>
        </p:nvGrpSpPr>
        <p:grpSpPr bwMode="auto">
          <a:xfrm>
            <a:off x="8201025" y="2916238"/>
            <a:ext cx="1087438" cy="2055812"/>
            <a:chOff x="4206" y="1776"/>
            <a:chExt cx="685" cy="1252"/>
          </a:xfrm>
        </p:grpSpPr>
        <p:grpSp>
          <p:nvGrpSpPr>
            <p:cNvPr id="6153" name="Group 110"/>
            <p:cNvGrpSpPr>
              <a:grpSpLocks/>
            </p:cNvGrpSpPr>
            <p:nvPr/>
          </p:nvGrpSpPr>
          <p:grpSpPr bwMode="auto">
            <a:xfrm>
              <a:off x="4206" y="1776"/>
              <a:ext cx="310" cy="696"/>
              <a:chOff x="2962" y="173"/>
              <a:chExt cx="597" cy="1341"/>
            </a:xfrm>
          </p:grpSpPr>
          <p:sp>
            <p:nvSpPr>
              <p:cNvPr id="6210" name="Freeform 111"/>
              <p:cNvSpPr>
                <a:spLocks/>
              </p:cNvSpPr>
              <p:nvPr/>
            </p:nvSpPr>
            <p:spPr bwMode="auto">
              <a:xfrm>
                <a:off x="2972" y="232"/>
                <a:ext cx="318" cy="1264"/>
              </a:xfrm>
              <a:custGeom>
                <a:avLst/>
                <a:gdLst>
                  <a:gd name="T0" fmla="*/ 312 w 318"/>
                  <a:gd name="T1" fmla="*/ 226 h 1264"/>
                  <a:gd name="T2" fmla="*/ 318 w 318"/>
                  <a:gd name="T3" fmla="*/ 274 h 1264"/>
                  <a:gd name="T4" fmla="*/ 318 w 318"/>
                  <a:gd name="T5" fmla="*/ 524 h 1264"/>
                  <a:gd name="T6" fmla="*/ 295 w 318"/>
                  <a:gd name="T7" fmla="*/ 859 h 1264"/>
                  <a:gd name="T8" fmla="*/ 297 w 318"/>
                  <a:gd name="T9" fmla="*/ 1074 h 1264"/>
                  <a:gd name="T10" fmla="*/ 309 w 318"/>
                  <a:gd name="T11" fmla="*/ 1222 h 1264"/>
                  <a:gd name="T12" fmla="*/ 297 w 318"/>
                  <a:gd name="T13" fmla="*/ 1264 h 1264"/>
                  <a:gd name="T14" fmla="*/ 279 w 318"/>
                  <a:gd name="T15" fmla="*/ 1255 h 1264"/>
                  <a:gd name="T16" fmla="*/ 170 w 318"/>
                  <a:gd name="T17" fmla="*/ 1173 h 1264"/>
                  <a:gd name="T18" fmla="*/ 143 w 318"/>
                  <a:gd name="T19" fmla="*/ 1157 h 1264"/>
                  <a:gd name="T20" fmla="*/ 126 w 318"/>
                  <a:gd name="T21" fmla="*/ 1133 h 1264"/>
                  <a:gd name="T22" fmla="*/ 98 w 318"/>
                  <a:gd name="T23" fmla="*/ 1103 h 1264"/>
                  <a:gd name="T24" fmla="*/ 62 w 318"/>
                  <a:gd name="T25" fmla="*/ 1071 h 1264"/>
                  <a:gd name="T26" fmla="*/ 44 w 318"/>
                  <a:gd name="T27" fmla="*/ 1028 h 1264"/>
                  <a:gd name="T28" fmla="*/ 0 w 318"/>
                  <a:gd name="T29" fmla="*/ 989 h 1264"/>
                  <a:gd name="T30" fmla="*/ 0 w 318"/>
                  <a:gd name="T31" fmla="*/ 968 h 1264"/>
                  <a:gd name="T32" fmla="*/ 24 w 318"/>
                  <a:gd name="T33" fmla="*/ 939 h 1264"/>
                  <a:gd name="T34" fmla="*/ 33 w 318"/>
                  <a:gd name="T35" fmla="*/ 901 h 1264"/>
                  <a:gd name="T36" fmla="*/ 27 w 318"/>
                  <a:gd name="T37" fmla="*/ 882 h 1264"/>
                  <a:gd name="T38" fmla="*/ 16 w 318"/>
                  <a:gd name="T39" fmla="*/ 848 h 1264"/>
                  <a:gd name="T40" fmla="*/ 12 w 318"/>
                  <a:gd name="T41" fmla="*/ 825 h 1264"/>
                  <a:gd name="T42" fmla="*/ 29 w 318"/>
                  <a:gd name="T43" fmla="*/ 789 h 1264"/>
                  <a:gd name="T44" fmla="*/ 29 w 318"/>
                  <a:gd name="T45" fmla="*/ 766 h 1264"/>
                  <a:gd name="T46" fmla="*/ 10 w 318"/>
                  <a:gd name="T47" fmla="*/ 718 h 1264"/>
                  <a:gd name="T48" fmla="*/ 10 w 318"/>
                  <a:gd name="T49" fmla="*/ 690 h 1264"/>
                  <a:gd name="T50" fmla="*/ 22 w 318"/>
                  <a:gd name="T51" fmla="*/ 668 h 1264"/>
                  <a:gd name="T52" fmla="*/ 40 w 318"/>
                  <a:gd name="T53" fmla="*/ 643 h 1264"/>
                  <a:gd name="T54" fmla="*/ 38 w 318"/>
                  <a:gd name="T55" fmla="*/ 600 h 1264"/>
                  <a:gd name="T56" fmla="*/ 27 w 318"/>
                  <a:gd name="T57" fmla="*/ 566 h 1264"/>
                  <a:gd name="T58" fmla="*/ 38 w 318"/>
                  <a:gd name="T59" fmla="*/ 524 h 1264"/>
                  <a:gd name="T60" fmla="*/ 49 w 318"/>
                  <a:gd name="T61" fmla="*/ 513 h 1264"/>
                  <a:gd name="T62" fmla="*/ 40 w 318"/>
                  <a:gd name="T63" fmla="*/ 476 h 1264"/>
                  <a:gd name="T64" fmla="*/ 16 w 318"/>
                  <a:gd name="T65" fmla="*/ 436 h 1264"/>
                  <a:gd name="T66" fmla="*/ 10 w 318"/>
                  <a:gd name="T67" fmla="*/ 409 h 1264"/>
                  <a:gd name="T68" fmla="*/ 16 w 318"/>
                  <a:gd name="T69" fmla="*/ 383 h 1264"/>
                  <a:gd name="T70" fmla="*/ 45 w 318"/>
                  <a:gd name="T71" fmla="*/ 362 h 1264"/>
                  <a:gd name="T72" fmla="*/ 44 w 318"/>
                  <a:gd name="T73" fmla="*/ 344 h 1264"/>
                  <a:gd name="T74" fmla="*/ 12 w 318"/>
                  <a:gd name="T75" fmla="*/ 286 h 1264"/>
                  <a:gd name="T76" fmla="*/ 1 w 318"/>
                  <a:gd name="T77" fmla="*/ 242 h 1264"/>
                  <a:gd name="T78" fmla="*/ 10 w 318"/>
                  <a:gd name="T79" fmla="*/ 216 h 1264"/>
                  <a:gd name="T80" fmla="*/ 40 w 318"/>
                  <a:gd name="T81" fmla="*/ 192 h 1264"/>
                  <a:gd name="T82" fmla="*/ 33 w 318"/>
                  <a:gd name="T83" fmla="*/ 173 h 1264"/>
                  <a:gd name="T84" fmla="*/ 12 w 318"/>
                  <a:gd name="T85" fmla="*/ 149 h 1264"/>
                  <a:gd name="T86" fmla="*/ 12 w 318"/>
                  <a:gd name="T87" fmla="*/ 124 h 1264"/>
                  <a:gd name="T88" fmla="*/ 45 w 318"/>
                  <a:gd name="T89" fmla="*/ 108 h 1264"/>
                  <a:gd name="T90" fmla="*/ 61 w 318"/>
                  <a:gd name="T91" fmla="*/ 90 h 1264"/>
                  <a:gd name="T92" fmla="*/ 33 w 318"/>
                  <a:gd name="T93" fmla="*/ 51 h 1264"/>
                  <a:gd name="T94" fmla="*/ 33 w 318"/>
                  <a:gd name="T95" fmla="*/ 32 h 1264"/>
                  <a:gd name="T96" fmla="*/ 66 w 318"/>
                  <a:gd name="T97" fmla="*/ 19 h 1264"/>
                  <a:gd name="T98" fmla="*/ 68 w 318"/>
                  <a:gd name="T99" fmla="*/ 0 h 1264"/>
                  <a:gd name="T100" fmla="*/ 105 w 318"/>
                  <a:gd name="T101" fmla="*/ 51 h 1264"/>
                  <a:gd name="T102" fmla="*/ 149 w 318"/>
                  <a:gd name="T103" fmla="*/ 106 h 1264"/>
                  <a:gd name="T104" fmla="*/ 203 w 318"/>
                  <a:gd name="T105" fmla="*/ 149 h 1264"/>
                  <a:gd name="T106" fmla="*/ 247 w 318"/>
                  <a:gd name="T107" fmla="*/ 183 h 1264"/>
                  <a:gd name="T108" fmla="*/ 295 w 318"/>
                  <a:gd name="T109" fmla="*/ 210 h 1264"/>
                  <a:gd name="T110" fmla="*/ 312 w 318"/>
                  <a:gd name="T111" fmla="*/ 226 h 126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318" h="1264">
                    <a:moveTo>
                      <a:pt x="312" y="226"/>
                    </a:moveTo>
                    <a:lnTo>
                      <a:pt x="318" y="274"/>
                    </a:lnTo>
                    <a:lnTo>
                      <a:pt x="318" y="524"/>
                    </a:lnTo>
                    <a:lnTo>
                      <a:pt x="295" y="859"/>
                    </a:lnTo>
                    <a:lnTo>
                      <a:pt x="297" y="1074"/>
                    </a:lnTo>
                    <a:lnTo>
                      <a:pt x="309" y="1222"/>
                    </a:lnTo>
                    <a:lnTo>
                      <a:pt x="297" y="1264"/>
                    </a:lnTo>
                    <a:lnTo>
                      <a:pt x="279" y="1255"/>
                    </a:lnTo>
                    <a:lnTo>
                      <a:pt x="170" y="1173"/>
                    </a:lnTo>
                    <a:lnTo>
                      <a:pt x="143" y="1157"/>
                    </a:lnTo>
                    <a:lnTo>
                      <a:pt x="126" y="1133"/>
                    </a:lnTo>
                    <a:lnTo>
                      <a:pt x="98" y="1103"/>
                    </a:lnTo>
                    <a:lnTo>
                      <a:pt x="62" y="1071"/>
                    </a:lnTo>
                    <a:lnTo>
                      <a:pt x="44" y="1028"/>
                    </a:lnTo>
                    <a:lnTo>
                      <a:pt x="0" y="989"/>
                    </a:lnTo>
                    <a:lnTo>
                      <a:pt x="0" y="968"/>
                    </a:lnTo>
                    <a:lnTo>
                      <a:pt x="24" y="939"/>
                    </a:lnTo>
                    <a:lnTo>
                      <a:pt x="33" y="901"/>
                    </a:lnTo>
                    <a:lnTo>
                      <a:pt x="27" y="882"/>
                    </a:lnTo>
                    <a:lnTo>
                      <a:pt x="16" y="848"/>
                    </a:lnTo>
                    <a:lnTo>
                      <a:pt x="12" y="825"/>
                    </a:lnTo>
                    <a:lnTo>
                      <a:pt x="29" y="789"/>
                    </a:lnTo>
                    <a:lnTo>
                      <a:pt x="29" y="766"/>
                    </a:lnTo>
                    <a:lnTo>
                      <a:pt x="10" y="718"/>
                    </a:lnTo>
                    <a:lnTo>
                      <a:pt x="10" y="690"/>
                    </a:lnTo>
                    <a:lnTo>
                      <a:pt x="22" y="668"/>
                    </a:lnTo>
                    <a:lnTo>
                      <a:pt x="40" y="643"/>
                    </a:lnTo>
                    <a:lnTo>
                      <a:pt x="38" y="600"/>
                    </a:lnTo>
                    <a:lnTo>
                      <a:pt x="27" y="566"/>
                    </a:lnTo>
                    <a:lnTo>
                      <a:pt x="38" y="524"/>
                    </a:lnTo>
                    <a:lnTo>
                      <a:pt x="49" y="513"/>
                    </a:lnTo>
                    <a:lnTo>
                      <a:pt x="40" y="476"/>
                    </a:lnTo>
                    <a:lnTo>
                      <a:pt x="16" y="436"/>
                    </a:lnTo>
                    <a:lnTo>
                      <a:pt x="10" y="409"/>
                    </a:lnTo>
                    <a:lnTo>
                      <a:pt x="16" y="383"/>
                    </a:lnTo>
                    <a:lnTo>
                      <a:pt x="45" y="362"/>
                    </a:lnTo>
                    <a:lnTo>
                      <a:pt x="44" y="344"/>
                    </a:lnTo>
                    <a:lnTo>
                      <a:pt x="12" y="286"/>
                    </a:lnTo>
                    <a:lnTo>
                      <a:pt x="1" y="242"/>
                    </a:lnTo>
                    <a:lnTo>
                      <a:pt x="10" y="216"/>
                    </a:lnTo>
                    <a:lnTo>
                      <a:pt x="40" y="192"/>
                    </a:lnTo>
                    <a:lnTo>
                      <a:pt x="33" y="173"/>
                    </a:lnTo>
                    <a:lnTo>
                      <a:pt x="12" y="149"/>
                    </a:lnTo>
                    <a:lnTo>
                      <a:pt x="12" y="124"/>
                    </a:lnTo>
                    <a:lnTo>
                      <a:pt x="45" y="108"/>
                    </a:lnTo>
                    <a:lnTo>
                      <a:pt x="61" y="90"/>
                    </a:lnTo>
                    <a:lnTo>
                      <a:pt x="33" y="51"/>
                    </a:lnTo>
                    <a:lnTo>
                      <a:pt x="33" y="32"/>
                    </a:lnTo>
                    <a:lnTo>
                      <a:pt x="66" y="19"/>
                    </a:lnTo>
                    <a:lnTo>
                      <a:pt x="68" y="0"/>
                    </a:lnTo>
                    <a:lnTo>
                      <a:pt x="105" y="51"/>
                    </a:lnTo>
                    <a:lnTo>
                      <a:pt x="149" y="106"/>
                    </a:lnTo>
                    <a:lnTo>
                      <a:pt x="203" y="149"/>
                    </a:lnTo>
                    <a:lnTo>
                      <a:pt x="247" y="183"/>
                    </a:lnTo>
                    <a:lnTo>
                      <a:pt x="295" y="210"/>
                    </a:lnTo>
                    <a:lnTo>
                      <a:pt x="312" y="226"/>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1" name="Freeform 112"/>
              <p:cNvSpPr>
                <a:spLocks/>
              </p:cNvSpPr>
              <p:nvPr/>
            </p:nvSpPr>
            <p:spPr bwMode="auto">
              <a:xfrm>
                <a:off x="2962" y="252"/>
                <a:ext cx="97" cy="965"/>
              </a:xfrm>
              <a:custGeom>
                <a:avLst/>
                <a:gdLst>
                  <a:gd name="T0" fmla="*/ 65 w 97"/>
                  <a:gd name="T1" fmla="*/ 32 h 965"/>
                  <a:gd name="T2" fmla="*/ 97 w 97"/>
                  <a:gd name="T3" fmla="*/ 67 h 965"/>
                  <a:gd name="T4" fmla="*/ 77 w 97"/>
                  <a:gd name="T5" fmla="*/ 94 h 965"/>
                  <a:gd name="T6" fmla="*/ 36 w 97"/>
                  <a:gd name="T7" fmla="*/ 113 h 965"/>
                  <a:gd name="T8" fmla="*/ 52 w 97"/>
                  <a:gd name="T9" fmla="*/ 140 h 965"/>
                  <a:gd name="T10" fmla="*/ 71 w 97"/>
                  <a:gd name="T11" fmla="*/ 174 h 965"/>
                  <a:gd name="T12" fmla="*/ 48 w 97"/>
                  <a:gd name="T13" fmla="*/ 197 h 965"/>
                  <a:gd name="T14" fmla="*/ 28 w 97"/>
                  <a:gd name="T15" fmla="*/ 224 h 965"/>
                  <a:gd name="T16" fmla="*/ 48 w 97"/>
                  <a:gd name="T17" fmla="*/ 272 h 965"/>
                  <a:gd name="T18" fmla="*/ 71 w 97"/>
                  <a:gd name="T19" fmla="*/ 316 h 965"/>
                  <a:gd name="T20" fmla="*/ 65 w 97"/>
                  <a:gd name="T21" fmla="*/ 354 h 965"/>
                  <a:gd name="T22" fmla="*/ 36 w 97"/>
                  <a:gd name="T23" fmla="*/ 386 h 965"/>
                  <a:gd name="T24" fmla="*/ 70 w 97"/>
                  <a:gd name="T25" fmla="*/ 455 h 965"/>
                  <a:gd name="T26" fmla="*/ 83 w 97"/>
                  <a:gd name="T27" fmla="*/ 498 h 965"/>
                  <a:gd name="T28" fmla="*/ 58 w 97"/>
                  <a:gd name="T29" fmla="*/ 530 h 965"/>
                  <a:gd name="T30" fmla="*/ 63 w 97"/>
                  <a:gd name="T31" fmla="*/ 580 h 965"/>
                  <a:gd name="T32" fmla="*/ 81 w 97"/>
                  <a:gd name="T33" fmla="*/ 628 h 965"/>
                  <a:gd name="T34" fmla="*/ 60 w 97"/>
                  <a:gd name="T35" fmla="*/ 655 h 965"/>
                  <a:gd name="T36" fmla="*/ 31 w 97"/>
                  <a:gd name="T37" fmla="*/ 688 h 965"/>
                  <a:gd name="T38" fmla="*/ 60 w 97"/>
                  <a:gd name="T39" fmla="*/ 747 h 965"/>
                  <a:gd name="T40" fmla="*/ 71 w 97"/>
                  <a:gd name="T41" fmla="*/ 788 h 965"/>
                  <a:gd name="T42" fmla="*/ 46 w 97"/>
                  <a:gd name="T43" fmla="*/ 797 h 965"/>
                  <a:gd name="T44" fmla="*/ 52 w 97"/>
                  <a:gd name="T45" fmla="*/ 861 h 965"/>
                  <a:gd name="T46" fmla="*/ 65 w 97"/>
                  <a:gd name="T47" fmla="*/ 895 h 965"/>
                  <a:gd name="T48" fmla="*/ 46 w 97"/>
                  <a:gd name="T49" fmla="*/ 934 h 965"/>
                  <a:gd name="T50" fmla="*/ 1 w 97"/>
                  <a:gd name="T51" fmla="*/ 954 h 965"/>
                  <a:gd name="T52" fmla="*/ 35 w 97"/>
                  <a:gd name="T53" fmla="*/ 888 h 965"/>
                  <a:gd name="T54" fmla="*/ 19 w 97"/>
                  <a:gd name="T55" fmla="*/ 834 h 965"/>
                  <a:gd name="T56" fmla="*/ 23 w 97"/>
                  <a:gd name="T57" fmla="*/ 788 h 965"/>
                  <a:gd name="T58" fmla="*/ 36 w 97"/>
                  <a:gd name="T59" fmla="*/ 764 h 965"/>
                  <a:gd name="T60" fmla="*/ 8 w 97"/>
                  <a:gd name="T61" fmla="*/ 706 h 965"/>
                  <a:gd name="T62" fmla="*/ 8 w 97"/>
                  <a:gd name="T63" fmla="*/ 646 h 965"/>
                  <a:gd name="T64" fmla="*/ 43 w 97"/>
                  <a:gd name="T65" fmla="*/ 619 h 965"/>
                  <a:gd name="T66" fmla="*/ 35 w 97"/>
                  <a:gd name="T67" fmla="*/ 576 h 965"/>
                  <a:gd name="T68" fmla="*/ 25 w 97"/>
                  <a:gd name="T69" fmla="*/ 525 h 965"/>
                  <a:gd name="T70" fmla="*/ 52 w 97"/>
                  <a:gd name="T71" fmla="*/ 493 h 965"/>
                  <a:gd name="T72" fmla="*/ 40 w 97"/>
                  <a:gd name="T73" fmla="*/ 457 h 965"/>
                  <a:gd name="T74" fmla="*/ 8 w 97"/>
                  <a:gd name="T75" fmla="*/ 400 h 965"/>
                  <a:gd name="T76" fmla="*/ 13 w 97"/>
                  <a:gd name="T77" fmla="*/ 363 h 965"/>
                  <a:gd name="T78" fmla="*/ 43 w 97"/>
                  <a:gd name="T79" fmla="*/ 332 h 965"/>
                  <a:gd name="T80" fmla="*/ 11 w 97"/>
                  <a:gd name="T81" fmla="*/ 260 h 965"/>
                  <a:gd name="T82" fmla="*/ 0 w 97"/>
                  <a:gd name="T83" fmla="*/ 218 h 965"/>
                  <a:gd name="T84" fmla="*/ 25 w 97"/>
                  <a:gd name="T85" fmla="*/ 186 h 965"/>
                  <a:gd name="T86" fmla="*/ 36 w 97"/>
                  <a:gd name="T87" fmla="*/ 164 h 965"/>
                  <a:gd name="T88" fmla="*/ 8 w 97"/>
                  <a:gd name="T89" fmla="*/ 130 h 965"/>
                  <a:gd name="T90" fmla="*/ 19 w 97"/>
                  <a:gd name="T91" fmla="*/ 97 h 965"/>
                  <a:gd name="T92" fmla="*/ 52 w 97"/>
                  <a:gd name="T93" fmla="*/ 76 h 965"/>
                  <a:gd name="T94" fmla="*/ 53 w 97"/>
                  <a:gd name="T95" fmla="*/ 50 h 965"/>
                  <a:gd name="T96" fmla="*/ 36 w 97"/>
                  <a:gd name="T97" fmla="*/ 17 h 96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97" h="965">
                    <a:moveTo>
                      <a:pt x="48" y="0"/>
                    </a:moveTo>
                    <a:lnTo>
                      <a:pt x="65" y="32"/>
                    </a:lnTo>
                    <a:lnTo>
                      <a:pt x="81" y="53"/>
                    </a:lnTo>
                    <a:lnTo>
                      <a:pt x="97" y="67"/>
                    </a:lnTo>
                    <a:lnTo>
                      <a:pt x="93" y="83"/>
                    </a:lnTo>
                    <a:lnTo>
                      <a:pt x="77" y="94"/>
                    </a:lnTo>
                    <a:lnTo>
                      <a:pt x="53" y="99"/>
                    </a:lnTo>
                    <a:lnTo>
                      <a:pt x="36" y="113"/>
                    </a:lnTo>
                    <a:lnTo>
                      <a:pt x="40" y="130"/>
                    </a:lnTo>
                    <a:lnTo>
                      <a:pt x="52" y="140"/>
                    </a:lnTo>
                    <a:lnTo>
                      <a:pt x="71" y="162"/>
                    </a:lnTo>
                    <a:lnTo>
                      <a:pt x="71" y="174"/>
                    </a:lnTo>
                    <a:lnTo>
                      <a:pt x="65" y="186"/>
                    </a:lnTo>
                    <a:lnTo>
                      <a:pt x="48" y="197"/>
                    </a:lnTo>
                    <a:lnTo>
                      <a:pt x="31" y="208"/>
                    </a:lnTo>
                    <a:lnTo>
                      <a:pt x="28" y="224"/>
                    </a:lnTo>
                    <a:lnTo>
                      <a:pt x="35" y="240"/>
                    </a:lnTo>
                    <a:lnTo>
                      <a:pt x="48" y="272"/>
                    </a:lnTo>
                    <a:lnTo>
                      <a:pt x="60" y="297"/>
                    </a:lnTo>
                    <a:lnTo>
                      <a:pt x="71" y="316"/>
                    </a:lnTo>
                    <a:lnTo>
                      <a:pt x="71" y="336"/>
                    </a:lnTo>
                    <a:lnTo>
                      <a:pt x="65" y="354"/>
                    </a:lnTo>
                    <a:lnTo>
                      <a:pt x="48" y="370"/>
                    </a:lnTo>
                    <a:lnTo>
                      <a:pt x="36" y="386"/>
                    </a:lnTo>
                    <a:lnTo>
                      <a:pt x="40" y="413"/>
                    </a:lnTo>
                    <a:lnTo>
                      <a:pt x="70" y="455"/>
                    </a:lnTo>
                    <a:lnTo>
                      <a:pt x="81" y="477"/>
                    </a:lnTo>
                    <a:lnTo>
                      <a:pt x="83" y="498"/>
                    </a:lnTo>
                    <a:lnTo>
                      <a:pt x="71" y="514"/>
                    </a:lnTo>
                    <a:lnTo>
                      <a:pt x="58" y="530"/>
                    </a:lnTo>
                    <a:lnTo>
                      <a:pt x="53" y="553"/>
                    </a:lnTo>
                    <a:lnTo>
                      <a:pt x="63" y="580"/>
                    </a:lnTo>
                    <a:lnTo>
                      <a:pt x="75" y="608"/>
                    </a:lnTo>
                    <a:lnTo>
                      <a:pt x="81" y="628"/>
                    </a:lnTo>
                    <a:lnTo>
                      <a:pt x="75" y="641"/>
                    </a:lnTo>
                    <a:lnTo>
                      <a:pt x="60" y="655"/>
                    </a:lnTo>
                    <a:lnTo>
                      <a:pt x="40" y="672"/>
                    </a:lnTo>
                    <a:lnTo>
                      <a:pt x="31" y="688"/>
                    </a:lnTo>
                    <a:lnTo>
                      <a:pt x="40" y="717"/>
                    </a:lnTo>
                    <a:lnTo>
                      <a:pt x="60" y="747"/>
                    </a:lnTo>
                    <a:lnTo>
                      <a:pt x="70" y="769"/>
                    </a:lnTo>
                    <a:lnTo>
                      <a:pt x="71" y="788"/>
                    </a:lnTo>
                    <a:lnTo>
                      <a:pt x="65" y="797"/>
                    </a:lnTo>
                    <a:lnTo>
                      <a:pt x="46" y="797"/>
                    </a:lnTo>
                    <a:lnTo>
                      <a:pt x="40" y="836"/>
                    </a:lnTo>
                    <a:lnTo>
                      <a:pt x="52" y="861"/>
                    </a:lnTo>
                    <a:lnTo>
                      <a:pt x="63" y="879"/>
                    </a:lnTo>
                    <a:lnTo>
                      <a:pt x="65" y="895"/>
                    </a:lnTo>
                    <a:lnTo>
                      <a:pt x="65" y="911"/>
                    </a:lnTo>
                    <a:lnTo>
                      <a:pt x="46" y="934"/>
                    </a:lnTo>
                    <a:lnTo>
                      <a:pt x="19" y="965"/>
                    </a:lnTo>
                    <a:lnTo>
                      <a:pt x="1" y="954"/>
                    </a:lnTo>
                    <a:lnTo>
                      <a:pt x="8" y="929"/>
                    </a:lnTo>
                    <a:lnTo>
                      <a:pt x="35" y="888"/>
                    </a:lnTo>
                    <a:lnTo>
                      <a:pt x="31" y="863"/>
                    </a:lnTo>
                    <a:lnTo>
                      <a:pt x="19" y="834"/>
                    </a:lnTo>
                    <a:lnTo>
                      <a:pt x="11" y="809"/>
                    </a:lnTo>
                    <a:lnTo>
                      <a:pt x="23" y="788"/>
                    </a:lnTo>
                    <a:lnTo>
                      <a:pt x="35" y="780"/>
                    </a:lnTo>
                    <a:lnTo>
                      <a:pt x="36" y="764"/>
                    </a:lnTo>
                    <a:lnTo>
                      <a:pt x="23" y="733"/>
                    </a:lnTo>
                    <a:lnTo>
                      <a:pt x="8" y="706"/>
                    </a:lnTo>
                    <a:lnTo>
                      <a:pt x="0" y="679"/>
                    </a:lnTo>
                    <a:lnTo>
                      <a:pt x="8" y="646"/>
                    </a:lnTo>
                    <a:lnTo>
                      <a:pt x="35" y="634"/>
                    </a:lnTo>
                    <a:lnTo>
                      <a:pt x="43" y="619"/>
                    </a:lnTo>
                    <a:lnTo>
                      <a:pt x="40" y="598"/>
                    </a:lnTo>
                    <a:lnTo>
                      <a:pt x="35" y="576"/>
                    </a:lnTo>
                    <a:lnTo>
                      <a:pt x="25" y="548"/>
                    </a:lnTo>
                    <a:lnTo>
                      <a:pt x="25" y="525"/>
                    </a:lnTo>
                    <a:lnTo>
                      <a:pt x="36" y="511"/>
                    </a:lnTo>
                    <a:lnTo>
                      <a:pt x="52" y="493"/>
                    </a:lnTo>
                    <a:lnTo>
                      <a:pt x="52" y="482"/>
                    </a:lnTo>
                    <a:lnTo>
                      <a:pt x="40" y="457"/>
                    </a:lnTo>
                    <a:lnTo>
                      <a:pt x="17" y="425"/>
                    </a:lnTo>
                    <a:lnTo>
                      <a:pt x="8" y="400"/>
                    </a:lnTo>
                    <a:lnTo>
                      <a:pt x="8" y="381"/>
                    </a:lnTo>
                    <a:lnTo>
                      <a:pt x="13" y="363"/>
                    </a:lnTo>
                    <a:lnTo>
                      <a:pt x="28" y="348"/>
                    </a:lnTo>
                    <a:lnTo>
                      <a:pt x="43" y="332"/>
                    </a:lnTo>
                    <a:lnTo>
                      <a:pt x="43" y="320"/>
                    </a:lnTo>
                    <a:lnTo>
                      <a:pt x="11" y="260"/>
                    </a:lnTo>
                    <a:lnTo>
                      <a:pt x="5" y="238"/>
                    </a:lnTo>
                    <a:lnTo>
                      <a:pt x="0" y="218"/>
                    </a:lnTo>
                    <a:lnTo>
                      <a:pt x="11" y="200"/>
                    </a:lnTo>
                    <a:lnTo>
                      <a:pt x="25" y="186"/>
                    </a:lnTo>
                    <a:lnTo>
                      <a:pt x="36" y="174"/>
                    </a:lnTo>
                    <a:lnTo>
                      <a:pt x="36" y="164"/>
                    </a:lnTo>
                    <a:lnTo>
                      <a:pt x="25" y="147"/>
                    </a:lnTo>
                    <a:lnTo>
                      <a:pt x="8" y="130"/>
                    </a:lnTo>
                    <a:lnTo>
                      <a:pt x="8" y="113"/>
                    </a:lnTo>
                    <a:lnTo>
                      <a:pt x="19" y="97"/>
                    </a:lnTo>
                    <a:lnTo>
                      <a:pt x="36" y="83"/>
                    </a:lnTo>
                    <a:lnTo>
                      <a:pt x="52" y="76"/>
                    </a:lnTo>
                    <a:lnTo>
                      <a:pt x="60" y="65"/>
                    </a:lnTo>
                    <a:lnTo>
                      <a:pt x="53" y="50"/>
                    </a:lnTo>
                    <a:lnTo>
                      <a:pt x="43" y="34"/>
                    </a:lnTo>
                    <a:lnTo>
                      <a:pt x="36" y="17"/>
                    </a:lnTo>
                    <a:lnTo>
                      <a:pt x="4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2" name="Freeform 113"/>
              <p:cNvSpPr>
                <a:spLocks/>
              </p:cNvSpPr>
              <p:nvPr/>
            </p:nvSpPr>
            <p:spPr bwMode="auto">
              <a:xfrm>
                <a:off x="3203" y="485"/>
                <a:ext cx="93" cy="782"/>
              </a:xfrm>
              <a:custGeom>
                <a:avLst/>
                <a:gdLst>
                  <a:gd name="T0" fmla="*/ 82 w 93"/>
                  <a:gd name="T1" fmla="*/ 21 h 782"/>
                  <a:gd name="T2" fmla="*/ 86 w 93"/>
                  <a:gd name="T3" fmla="*/ 76 h 782"/>
                  <a:gd name="T4" fmla="*/ 47 w 93"/>
                  <a:gd name="T5" fmla="*/ 97 h 782"/>
                  <a:gd name="T6" fmla="*/ 59 w 93"/>
                  <a:gd name="T7" fmla="*/ 157 h 782"/>
                  <a:gd name="T8" fmla="*/ 77 w 93"/>
                  <a:gd name="T9" fmla="*/ 215 h 782"/>
                  <a:gd name="T10" fmla="*/ 53 w 93"/>
                  <a:gd name="T11" fmla="*/ 243 h 782"/>
                  <a:gd name="T12" fmla="*/ 59 w 93"/>
                  <a:gd name="T13" fmla="*/ 293 h 782"/>
                  <a:gd name="T14" fmla="*/ 77 w 93"/>
                  <a:gd name="T15" fmla="*/ 346 h 782"/>
                  <a:gd name="T16" fmla="*/ 65 w 93"/>
                  <a:gd name="T17" fmla="*/ 383 h 782"/>
                  <a:gd name="T18" fmla="*/ 45 w 93"/>
                  <a:gd name="T19" fmla="*/ 417 h 782"/>
                  <a:gd name="T20" fmla="*/ 71 w 93"/>
                  <a:gd name="T21" fmla="*/ 486 h 782"/>
                  <a:gd name="T22" fmla="*/ 77 w 93"/>
                  <a:gd name="T23" fmla="*/ 531 h 782"/>
                  <a:gd name="T24" fmla="*/ 33 w 93"/>
                  <a:gd name="T25" fmla="*/ 565 h 782"/>
                  <a:gd name="T26" fmla="*/ 45 w 93"/>
                  <a:gd name="T27" fmla="*/ 633 h 782"/>
                  <a:gd name="T28" fmla="*/ 57 w 93"/>
                  <a:gd name="T29" fmla="*/ 693 h 782"/>
                  <a:gd name="T30" fmla="*/ 33 w 93"/>
                  <a:gd name="T31" fmla="*/ 727 h 782"/>
                  <a:gd name="T32" fmla="*/ 21 w 93"/>
                  <a:gd name="T33" fmla="*/ 774 h 782"/>
                  <a:gd name="T34" fmla="*/ 10 w 93"/>
                  <a:gd name="T35" fmla="*/ 755 h 782"/>
                  <a:gd name="T36" fmla="*/ 33 w 93"/>
                  <a:gd name="T37" fmla="*/ 700 h 782"/>
                  <a:gd name="T38" fmla="*/ 21 w 93"/>
                  <a:gd name="T39" fmla="*/ 618 h 782"/>
                  <a:gd name="T40" fmla="*/ 15 w 93"/>
                  <a:gd name="T41" fmla="*/ 559 h 782"/>
                  <a:gd name="T42" fmla="*/ 47 w 93"/>
                  <a:gd name="T43" fmla="*/ 519 h 782"/>
                  <a:gd name="T44" fmla="*/ 21 w 93"/>
                  <a:gd name="T45" fmla="*/ 461 h 782"/>
                  <a:gd name="T46" fmla="*/ 15 w 93"/>
                  <a:gd name="T47" fmla="*/ 407 h 782"/>
                  <a:gd name="T48" fmla="*/ 39 w 93"/>
                  <a:gd name="T49" fmla="*/ 364 h 782"/>
                  <a:gd name="T50" fmla="*/ 51 w 93"/>
                  <a:gd name="T51" fmla="*/ 330 h 782"/>
                  <a:gd name="T52" fmla="*/ 27 w 93"/>
                  <a:gd name="T53" fmla="*/ 277 h 782"/>
                  <a:gd name="T54" fmla="*/ 33 w 93"/>
                  <a:gd name="T55" fmla="*/ 231 h 782"/>
                  <a:gd name="T56" fmla="*/ 47 w 93"/>
                  <a:gd name="T57" fmla="*/ 199 h 782"/>
                  <a:gd name="T58" fmla="*/ 30 w 93"/>
                  <a:gd name="T59" fmla="*/ 150 h 782"/>
                  <a:gd name="T60" fmla="*/ 23 w 93"/>
                  <a:gd name="T61" fmla="*/ 95 h 782"/>
                  <a:gd name="T62" fmla="*/ 51 w 93"/>
                  <a:gd name="T63" fmla="*/ 60 h 782"/>
                  <a:gd name="T64" fmla="*/ 53 w 93"/>
                  <a:gd name="T65" fmla="*/ 25 h 782"/>
                  <a:gd name="T66" fmla="*/ 71 w 93"/>
                  <a:gd name="T67" fmla="*/ 0 h 78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3" h="782">
                    <a:moveTo>
                      <a:pt x="71" y="0"/>
                    </a:moveTo>
                    <a:lnTo>
                      <a:pt x="82" y="21"/>
                    </a:lnTo>
                    <a:lnTo>
                      <a:pt x="93" y="60"/>
                    </a:lnTo>
                    <a:lnTo>
                      <a:pt x="86" y="76"/>
                    </a:lnTo>
                    <a:lnTo>
                      <a:pt x="62" y="87"/>
                    </a:lnTo>
                    <a:lnTo>
                      <a:pt x="47" y="97"/>
                    </a:lnTo>
                    <a:lnTo>
                      <a:pt x="47" y="128"/>
                    </a:lnTo>
                    <a:lnTo>
                      <a:pt x="59" y="157"/>
                    </a:lnTo>
                    <a:lnTo>
                      <a:pt x="74" y="177"/>
                    </a:lnTo>
                    <a:lnTo>
                      <a:pt x="77" y="215"/>
                    </a:lnTo>
                    <a:lnTo>
                      <a:pt x="69" y="227"/>
                    </a:lnTo>
                    <a:lnTo>
                      <a:pt x="53" y="243"/>
                    </a:lnTo>
                    <a:lnTo>
                      <a:pt x="51" y="269"/>
                    </a:lnTo>
                    <a:lnTo>
                      <a:pt x="59" y="293"/>
                    </a:lnTo>
                    <a:lnTo>
                      <a:pt x="71" y="312"/>
                    </a:lnTo>
                    <a:lnTo>
                      <a:pt x="77" y="346"/>
                    </a:lnTo>
                    <a:lnTo>
                      <a:pt x="77" y="364"/>
                    </a:lnTo>
                    <a:lnTo>
                      <a:pt x="65" y="383"/>
                    </a:lnTo>
                    <a:lnTo>
                      <a:pt x="45" y="401"/>
                    </a:lnTo>
                    <a:lnTo>
                      <a:pt x="45" y="417"/>
                    </a:lnTo>
                    <a:lnTo>
                      <a:pt x="51" y="467"/>
                    </a:lnTo>
                    <a:lnTo>
                      <a:pt x="71" y="486"/>
                    </a:lnTo>
                    <a:lnTo>
                      <a:pt x="82" y="508"/>
                    </a:lnTo>
                    <a:lnTo>
                      <a:pt x="77" y="531"/>
                    </a:lnTo>
                    <a:lnTo>
                      <a:pt x="47" y="548"/>
                    </a:lnTo>
                    <a:lnTo>
                      <a:pt x="33" y="565"/>
                    </a:lnTo>
                    <a:lnTo>
                      <a:pt x="30" y="595"/>
                    </a:lnTo>
                    <a:lnTo>
                      <a:pt x="45" y="633"/>
                    </a:lnTo>
                    <a:lnTo>
                      <a:pt x="57" y="671"/>
                    </a:lnTo>
                    <a:lnTo>
                      <a:pt x="57" y="693"/>
                    </a:lnTo>
                    <a:lnTo>
                      <a:pt x="51" y="721"/>
                    </a:lnTo>
                    <a:lnTo>
                      <a:pt x="33" y="727"/>
                    </a:lnTo>
                    <a:lnTo>
                      <a:pt x="21" y="749"/>
                    </a:lnTo>
                    <a:lnTo>
                      <a:pt x="21" y="774"/>
                    </a:lnTo>
                    <a:lnTo>
                      <a:pt x="0" y="782"/>
                    </a:lnTo>
                    <a:lnTo>
                      <a:pt x="10" y="755"/>
                    </a:lnTo>
                    <a:lnTo>
                      <a:pt x="27" y="721"/>
                    </a:lnTo>
                    <a:lnTo>
                      <a:pt x="33" y="700"/>
                    </a:lnTo>
                    <a:lnTo>
                      <a:pt x="33" y="657"/>
                    </a:lnTo>
                    <a:lnTo>
                      <a:pt x="21" y="618"/>
                    </a:lnTo>
                    <a:lnTo>
                      <a:pt x="18" y="590"/>
                    </a:lnTo>
                    <a:lnTo>
                      <a:pt x="15" y="559"/>
                    </a:lnTo>
                    <a:lnTo>
                      <a:pt x="35" y="535"/>
                    </a:lnTo>
                    <a:lnTo>
                      <a:pt x="47" y="519"/>
                    </a:lnTo>
                    <a:lnTo>
                      <a:pt x="39" y="486"/>
                    </a:lnTo>
                    <a:lnTo>
                      <a:pt x="21" y="461"/>
                    </a:lnTo>
                    <a:lnTo>
                      <a:pt x="18" y="439"/>
                    </a:lnTo>
                    <a:lnTo>
                      <a:pt x="15" y="407"/>
                    </a:lnTo>
                    <a:lnTo>
                      <a:pt x="23" y="385"/>
                    </a:lnTo>
                    <a:lnTo>
                      <a:pt x="39" y="364"/>
                    </a:lnTo>
                    <a:lnTo>
                      <a:pt x="51" y="348"/>
                    </a:lnTo>
                    <a:lnTo>
                      <a:pt x="51" y="330"/>
                    </a:lnTo>
                    <a:lnTo>
                      <a:pt x="39" y="312"/>
                    </a:lnTo>
                    <a:lnTo>
                      <a:pt x="27" y="277"/>
                    </a:lnTo>
                    <a:lnTo>
                      <a:pt x="27" y="253"/>
                    </a:lnTo>
                    <a:lnTo>
                      <a:pt x="33" y="231"/>
                    </a:lnTo>
                    <a:lnTo>
                      <a:pt x="45" y="215"/>
                    </a:lnTo>
                    <a:lnTo>
                      <a:pt x="47" y="199"/>
                    </a:lnTo>
                    <a:lnTo>
                      <a:pt x="45" y="179"/>
                    </a:lnTo>
                    <a:lnTo>
                      <a:pt x="30" y="150"/>
                    </a:lnTo>
                    <a:lnTo>
                      <a:pt x="21" y="130"/>
                    </a:lnTo>
                    <a:lnTo>
                      <a:pt x="23" y="95"/>
                    </a:lnTo>
                    <a:lnTo>
                      <a:pt x="35" y="81"/>
                    </a:lnTo>
                    <a:lnTo>
                      <a:pt x="51" y="60"/>
                    </a:lnTo>
                    <a:lnTo>
                      <a:pt x="59" y="41"/>
                    </a:lnTo>
                    <a:lnTo>
                      <a:pt x="53" y="25"/>
                    </a:lnTo>
                    <a:lnTo>
                      <a:pt x="57" y="8"/>
                    </a:lnTo>
                    <a:lnTo>
                      <a:pt x="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3" name="Freeform 114"/>
              <p:cNvSpPr>
                <a:spLocks/>
              </p:cNvSpPr>
              <p:nvPr/>
            </p:nvSpPr>
            <p:spPr bwMode="auto">
              <a:xfrm>
                <a:off x="3069" y="391"/>
                <a:ext cx="202" cy="175"/>
              </a:xfrm>
              <a:custGeom>
                <a:avLst/>
                <a:gdLst>
                  <a:gd name="T0" fmla="*/ 202 w 202"/>
                  <a:gd name="T1" fmla="*/ 140 h 175"/>
                  <a:gd name="T2" fmla="*/ 140 w 202"/>
                  <a:gd name="T3" fmla="*/ 90 h 175"/>
                  <a:gd name="T4" fmla="*/ 90 w 202"/>
                  <a:gd name="T5" fmla="*/ 45 h 175"/>
                  <a:gd name="T6" fmla="*/ 43 w 202"/>
                  <a:gd name="T7" fmla="*/ 0 h 175"/>
                  <a:gd name="T8" fmla="*/ 0 w 202"/>
                  <a:gd name="T9" fmla="*/ 0 h 175"/>
                  <a:gd name="T10" fmla="*/ 101 w 202"/>
                  <a:gd name="T11" fmla="*/ 73 h 175"/>
                  <a:gd name="T12" fmla="*/ 149 w 202"/>
                  <a:gd name="T13" fmla="*/ 118 h 175"/>
                  <a:gd name="T14" fmla="*/ 191 w 202"/>
                  <a:gd name="T15" fmla="*/ 175 h 175"/>
                  <a:gd name="T16" fmla="*/ 202 w 202"/>
                  <a:gd name="T17" fmla="*/ 140 h 1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2" h="175">
                    <a:moveTo>
                      <a:pt x="202" y="140"/>
                    </a:moveTo>
                    <a:lnTo>
                      <a:pt x="140" y="90"/>
                    </a:lnTo>
                    <a:lnTo>
                      <a:pt x="90" y="45"/>
                    </a:lnTo>
                    <a:lnTo>
                      <a:pt x="43" y="0"/>
                    </a:lnTo>
                    <a:lnTo>
                      <a:pt x="0" y="0"/>
                    </a:lnTo>
                    <a:lnTo>
                      <a:pt x="101" y="73"/>
                    </a:lnTo>
                    <a:lnTo>
                      <a:pt x="149" y="118"/>
                    </a:lnTo>
                    <a:lnTo>
                      <a:pt x="191" y="175"/>
                    </a:lnTo>
                    <a:lnTo>
                      <a:pt x="202"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4" name="Freeform 115"/>
              <p:cNvSpPr>
                <a:spLocks/>
              </p:cNvSpPr>
              <p:nvPr/>
            </p:nvSpPr>
            <p:spPr bwMode="auto">
              <a:xfrm>
                <a:off x="3067" y="488"/>
                <a:ext cx="175" cy="144"/>
              </a:xfrm>
              <a:custGeom>
                <a:avLst/>
                <a:gdLst>
                  <a:gd name="T0" fmla="*/ 175 w 175"/>
                  <a:gd name="T1" fmla="*/ 90 h 144"/>
                  <a:gd name="T2" fmla="*/ 129 w 175"/>
                  <a:gd name="T3" fmla="*/ 73 h 144"/>
                  <a:gd name="T4" fmla="*/ 95 w 175"/>
                  <a:gd name="T5" fmla="*/ 44 h 144"/>
                  <a:gd name="T6" fmla="*/ 34 w 175"/>
                  <a:gd name="T7" fmla="*/ 0 h 144"/>
                  <a:gd name="T8" fmla="*/ 0 w 175"/>
                  <a:gd name="T9" fmla="*/ 0 h 144"/>
                  <a:gd name="T10" fmla="*/ 79 w 175"/>
                  <a:gd name="T11" fmla="*/ 44 h 144"/>
                  <a:gd name="T12" fmla="*/ 109 w 175"/>
                  <a:gd name="T13" fmla="*/ 75 h 144"/>
                  <a:gd name="T14" fmla="*/ 175 w 175"/>
                  <a:gd name="T15" fmla="*/ 144 h 144"/>
                  <a:gd name="T16" fmla="*/ 171 w 175"/>
                  <a:gd name="T17" fmla="*/ 102 h 144"/>
                  <a:gd name="T18" fmla="*/ 175 w 175"/>
                  <a:gd name="T19" fmla="*/ 90 h 1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5" h="144">
                    <a:moveTo>
                      <a:pt x="175" y="90"/>
                    </a:moveTo>
                    <a:lnTo>
                      <a:pt x="129" y="73"/>
                    </a:lnTo>
                    <a:lnTo>
                      <a:pt x="95" y="44"/>
                    </a:lnTo>
                    <a:lnTo>
                      <a:pt x="34" y="0"/>
                    </a:lnTo>
                    <a:lnTo>
                      <a:pt x="0" y="0"/>
                    </a:lnTo>
                    <a:lnTo>
                      <a:pt x="79" y="44"/>
                    </a:lnTo>
                    <a:lnTo>
                      <a:pt x="109" y="75"/>
                    </a:lnTo>
                    <a:lnTo>
                      <a:pt x="175" y="144"/>
                    </a:lnTo>
                    <a:lnTo>
                      <a:pt x="171" y="102"/>
                    </a:lnTo>
                    <a:lnTo>
                      <a:pt x="175"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5" name="Freeform 116"/>
              <p:cNvSpPr>
                <a:spLocks/>
              </p:cNvSpPr>
              <p:nvPr/>
            </p:nvSpPr>
            <p:spPr bwMode="auto">
              <a:xfrm>
                <a:off x="3042" y="569"/>
                <a:ext cx="205" cy="219"/>
              </a:xfrm>
              <a:custGeom>
                <a:avLst/>
                <a:gdLst>
                  <a:gd name="T0" fmla="*/ 201 w 205"/>
                  <a:gd name="T1" fmla="*/ 163 h 219"/>
                  <a:gd name="T2" fmla="*/ 145 w 205"/>
                  <a:gd name="T3" fmla="*/ 113 h 219"/>
                  <a:gd name="T4" fmla="*/ 123 w 205"/>
                  <a:gd name="T5" fmla="*/ 79 h 219"/>
                  <a:gd name="T6" fmla="*/ 78 w 205"/>
                  <a:gd name="T7" fmla="*/ 46 h 219"/>
                  <a:gd name="T8" fmla="*/ 39 w 205"/>
                  <a:gd name="T9" fmla="*/ 17 h 219"/>
                  <a:gd name="T10" fmla="*/ 10 w 205"/>
                  <a:gd name="T11" fmla="*/ 0 h 219"/>
                  <a:gd name="T12" fmla="*/ 0 w 205"/>
                  <a:gd name="T13" fmla="*/ 0 h 219"/>
                  <a:gd name="T14" fmla="*/ 0 w 205"/>
                  <a:gd name="T15" fmla="*/ 17 h 219"/>
                  <a:gd name="T16" fmla="*/ 33 w 205"/>
                  <a:gd name="T17" fmla="*/ 38 h 219"/>
                  <a:gd name="T18" fmla="*/ 95 w 205"/>
                  <a:gd name="T19" fmla="*/ 78 h 219"/>
                  <a:gd name="T20" fmla="*/ 139 w 205"/>
                  <a:gd name="T21" fmla="*/ 122 h 219"/>
                  <a:gd name="T22" fmla="*/ 171 w 205"/>
                  <a:gd name="T23" fmla="*/ 172 h 219"/>
                  <a:gd name="T24" fmla="*/ 205 w 205"/>
                  <a:gd name="T25" fmla="*/ 219 h 219"/>
                  <a:gd name="T26" fmla="*/ 201 w 205"/>
                  <a:gd name="T27" fmla="*/ 163 h 21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5" h="219">
                    <a:moveTo>
                      <a:pt x="201" y="163"/>
                    </a:moveTo>
                    <a:lnTo>
                      <a:pt x="145" y="113"/>
                    </a:lnTo>
                    <a:lnTo>
                      <a:pt x="123" y="79"/>
                    </a:lnTo>
                    <a:lnTo>
                      <a:pt x="78" y="46"/>
                    </a:lnTo>
                    <a:lnTo>
                      <a:pt x="39" y="17"/>
                    </a:lnTo>
                    <a:lnTo>
                      <a:pt x="10" y="0"/>
                    </a:lnTo>
                    <a:lnTo>
                      <a:pt x="0" y="0"/>
                    </a:lnTo>
                    <a:lnTo>
                      <a:pt x="0" y="17"/>
                    </a:lnTo>
                    <a:lnTo>
                      <a:pt x="33" y="38"/>
                    </a:lnTo>
                    <a:lnTo>
                      <a:pt x="95" y="78"/>
                    </a:lnTo>
                    <a:lnTo>
                      <a:pt x="139" y="122"/>
                    </a:lnTo>
                    <a:lnTo>
                      <a:pt x="171" y="172"/>
                    </a:lnTo>
                    <a:lnTo>
                      <a:pt x="205" y="219"/>
                    </a:lnTo>
                    <a:lnTo>
                      <a:pt x="201" y="1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6" name="Freeform 117"/>
              <p:cNvSpPr>
                <a:spLocks/>
              </p:cNvSpPr>
              <p:nvPr/>
            </p:nvSpPr>
            <p:spPr bwMode="auto">
              <a:xfrm>
                <a:off x="3062" y="741"/>
                <a:ext cx="160" cy="132"/>
              </a:xfrm>
              <a:custGeom>
                <a:avLst/>
                <a:gdLst>
                  <a:gd name="T0" fmla="*/ 160 w 160"/>
                  <a:gd name="T1" fmla="*/ 109 h 132"/>
                  <a:gd name="T2" fmla="*/ 115 w 160"/>
                  <a:gd name="T3" fmla="*/ 59 h 132"/>
                  <a:gd name="T4" fmla="*/ 67 w 160"/>
                  <a:gd name="T5" fmla="*/ 28 h 132"/>
                  <a:gd name="T6" fmla="*/ 27 w 160"/>
                  <a:gd name="T7" fmla="*/ 7 h 132"/>
                  <a:gd name="T8" fmla="*/ 0 w 160"/>
                  <a:gd name="T9" fmla="*/ 0 h 132"/>
                  <a:gd name="T10" fmla="*/ 17 w 160"/>
                  <a:gd name="T11" fmla="*/ 28 h 132"/>
                  <a:gd name="T12" fmla="*/ 67 w 160"/>
                  <a:gd name="T13" fmla="*/ 56 h 132"/>
                  <a:gd name="T14" fmla="*/ 106 w 160"/>
                  <a:gd name="T15" fmla="*/ 99 h 132"/>
                  <a:gd name="T16" fmla="*/ 125 w 160"/>
                  <a:gd name="T17" fmla="*/ 126 h 132"/>
                  <a:gd name="T18" fmla="*/ 142 w 160"/>
                  <a:gd name="T19" fmla="*/ 132 h 132"/>
                  <a:gd name="T20" fmla="*/ 158 w 160"/>
                  <a:gd name="T21" fmla="*/ 122 h 132"/>
                  <a:gd name="T22" fmla="*/ 160 w 160"/>
                  <a:gd name="T23" fmla="*/ 109 h 1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60" h="132">
                    <a:moveTo>
                      <a:pt x="160" y="109"/>
                    </a:moveTo>
                    <a:lnTo>
                      <a:pt x="115" y="59"/>
                    </a:lnTo>
                    <a:lnTo>
                      <a:pt x="67" y="28"/>
                    </a:lnTo>
                    <a:lnTo>
                      <a:pt x="27" y="7"/>
                    </a:lnTo>
                    <a:lnTo>
                      <a:pt x="0" y="0"/>
                    </a:lnTo>
                    <a:lnTo>
                      <a:pt x="17" y="28"/>
                    </a:lnTo>
                    <a:lnTo>
                      <a:pt x="67" y="56"/>
                    </a:lnTo>
                    <a:lnTo>
                      <a:pt x="106" y="99"/>
                    </a:lnTo>
                    <a:lnTo>
                      <a:pt x="125" y="126"/>
                    </a:lnTo>
                    <a:lnTo>
                      <a:pt x="142" y="132"/>
                    </a:lnTo>
                    <a:lnTo>
                      <a:pt x="158" y="122"/>
                    </a:lnTo>
                    <a:lnTo>
                      <a:pt x="160"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7" name="Freeform 118"/>
              <p:cNvSpPr>
                <a:spLocks/>
              </p:cNvSpPr>
              <p:nvPr/>
            </p:nvSpPr>
            <p:spPr bwMode="auto">
              <a:xfrm>
                <a:off x="3044" y="829"/>
                <a:ext cx="176" cy="162"/>
              </a:xfrm>
              <a:custGeom>
                <a:avLst/>
                <a:gdLst>
                  <a:gd name="T0" fmla="*/ 176 w 176"/>
                  <a:gd name="T1" fmla="*/ 150 h 162"/>
                  <a:gd name="T2" fmla="*/ 131 w 176"/>
                  <a:gd name="T3" fmla="*/ 101 h 162"/>
                  <a:gd name="T4" fmla="*/ 74 w 176"/>
                  <a:gd name="T5" fmla="*/ 43 h 162"/>
                  <a:gd name="T6" fmla="*/ 41 w 176"/>
                  <a:gd name="T7" fmla="*/ 15 h 162"/>
                  <a:gd name="T8" fmla="*/ 15 w 176"/>
                  <a:gd name="T9" fmla="*/ 0 h 162"/>
                  <a:gd name="T10" fmla="*/ 0 w 176"/>
                  <a:gd name="T11" fmla="*/ 8 h 162"/>
                  <a:gd name="T12" fmla="*/ 29 w 176"/>
                  <a:gd name="T13" fmla="*/ 34 h 162"/>
                  <a:gd name="T14" fmla="*/ 80 w 176"/>
                  <a:gd name="T15" fmla="*/ 84 h 162"/>
                  <a:gd name="T16" fmla="*/ 127 w 176"/>
                  <a:gd name="T17" fmla="*/ 135 h 162"/>
                  <a:gd name="T18" fmla="*/ 158 w 176"/>
                  <a:gd name="T19" fmla="*/ 162 h 162"/>
                  <a:gd name="T20" fmla="*/ 167 w 176"/>
                  <a:gd name="T21" fmla="*/ 162 h 162"/>
                  <a:gd name="T22" fmla="*/ 176 w 176"/>
                  <a:gd name="T23" fmla="*/ 150 h 1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 h="162">
                    <a:moveTo>
                      <a:pt x="176" y="150"/>
                    </a:moveTo>
                    <a:lnTo>
                      <a:pt x="131" y="101"/>
                    </a:lnTo>
                    <a:lnTo>
                      <a:pt x="74" y="43"/>
                    </a:lnTo>
                    <a:lnTo>
                      <a:pt x="41" y="15"/>
                    </a:lnTo>
                    <a:lnTo>
                      <a:pt x="15" y="0"/>
                    </a:lnTo>
                    <a:lnTo>
                      <a:pt x="0" y="8"/>
                    </a:lnTo>
                    <a:lnTo>
                      <a:pt x="29" y="34"/>
                    </a:lnTo>
                    <a:lnTo>
                      <a:pt x="80" y="84"/>
                    </a:lnTo>
                    <a:lnTo>
                      <a:pt x="127" y="135"/>
                    </a:lnTo>
                    <a:lnTo>
                      <a:pt x="158" y="162"/>
                    </a:lnTo>
                    <a:lnTo>
                      <a:pt x="167" y="162"/>
                    </a:lnTo>
                    <a:lnTo>
                      <a:pt x="176" y="1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8" name="Freeform 119"/>
              <p:cNvSpPr>
                <a:spLocks/>
              </p:cNvSpPr>
              <p:nvPr/>
            </p:nvSpPr>
            <p:spPr bwMode="auto">
              <a:xfrm>
                <a:off x="3064" y="958"/>
                <a:ext cx="126" cy="130"/>
              </a:xfrm>
              <a:custGeom>
                <a:avLst/>
                <a:gdLst>
                  <a:gd name="T0" fmla="*/ 124 w 126"/>
                  <a:gd name="T1" fmla="*/ 109 h 130"/>
                  <a:gd name="T2" fmla="*/ 72 w 126"/>
                  <a:gd name="T3" fmla="*/ 32 h 130"/>
                  <a:gd name="T4" fmla="*/ 22 w 126"/>
                  <a:gd name="T5" fmla="*/ 3 h 130"/>
                  <a:gd name="T6" fmla="*/ 0 w 126"/>
                  <a:gd name="T7" fmla="*/ 0 h 130"/>
                  <a:gd name="T8" fmla="*/ 5 w 126"/>
                  <a:gd name="T9" fmla="*/ 15 h 130"/>
                  <a:gd name="T10" fmla="*/ 63 w 126"/>
                  <a:gd name="T11" fmla="*/ 56 h 130"/>
                  <a:gd name="T12" fmla="*/ 117 w 126"/>
                  <a:gd name="T13" fmla="*/ 124 h 130"/>
                  <a:gd name="T14" fmla="*/ 126 w 126"/>
                  <a:gd name="T15" fmla="*/ 130 h 130"/>
                  <a:gd name="T16" fmla="*/ 124 w 126"/>
                  <a:gd name="T17" fmla="*/ 109 h 1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6" h="130">
                    <a:moveTo>
                      <a:pt x="124" y="109"/>
                    </a:moveTo>
                    <a:lnTo>
                      <a:pt x="72" y="32"/>
                    </a:lnTo>
                    <a:lnTo>
                      <a:pt x="22" y="3"/>
                    </a:lnTo>
                    <a:lnTo>
                      <a:pt x="0" y="0"/>
                    </a:lnTo>
                    <a:lnTo>
                      <a:pt x="5" y="15"/>
                    </a:lnTo>
                    <a:lnTo>
                      <a:pt x="63" y="56"/>
                    </a:lnTo>
                    <a:lnTo>
                      <a:pt x="117" y="124"/>
                    </a:lnTo>
                    <a:lnTo>
                      <a:pt x="126" y="130"/>
                    </a:lnTo>
                    <a:lnTo>
                      <a:pt x="124"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9" name="Freeform 120"/>
              <p:cNvSpPr>
                <a:spLocks/>
              </p:cNvSpPr>
              <p:nvPr/>
            </p:nvSpPr>
            <p:spPr bwMode="auto">
              <a:xfrm>
                <a:off x="3067" y="1076"/>
                <a:ext cx="89" cy="100"/>
              </a:xfrm>
              <a:custGeom>
                <a:avLst/>
                <a:gdLst>
                  <a:gd name="T0" fmla="*/ 85 w 89"/>
                  <a:gd name="T1" fmla="*/ 76 h 100"/>
                  <a:gd name="T2" fmla="*/ 41 w 89"/>
                  <a:gd name="T3" fmla="*/ 17 h 100"/>
                  <a:gd name="T4" fmla="*/ 1 w 89"/>
                  <a:gd name="T5" fmla="*/ 0 h 100"/>
                  <a:gd name="T6" fmla="*/ 0 w 89"/>
                  <a:gd name="T7" fmla="*/ 17 h 100"/>
                  <a:gd name="T8" fmla="*/ 18 w 89"/>
                  <a:gd name="T9" fmla="*/ 47 h 100"/>
                  <a:gd name="T10" fmla="*/ 65 w 89"/>
                  <a:gd name="T11" fmla="*/ 86 h 100"/>
                  <a:gd name="T12" fmla="*/ 79 w 89"/>
                  <a:gd name="T13" fmla="*/ 100 h 100"/>
                  <a:gd name="T14" fmla="*/ 89 w 89"/>
                  <a:gd name="T15" fmla="*/ 93 h 100"/>
                  <a:gd name="T16" fmla="*/ 85 w 89"/>
                  <a:gd name="T17" fmla="*/ 76 h 1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9" h="100">
                    <a:moveTo>
                      <a:pt x="85" y="76"/>
                    </a:moveTo>
                    <a:lnTo>
                      <a:pt x="41" y="17"/>
                    </a:lnTo>
                    <a:lnTo>
                      <a:pt x="1" y="0"/>
                    </a:lnTo>
                    <a:lnTo>
                      <a:pt x="0" y="17"/>
                    </a:lnTo>
                    <a:lnTo>
                      <a:pt x="18" y="47"/>
                    </a:lnTo>
                    <a:lnTo>
                      <a:pt x="65" y="86"/>
                    </a:lnTo>
                    <a:lnTo>
                      <a:pt x="79" y="100"/>
                    </a:lnTo>
                    <a:lnTo>
                      <a:pt x="89" y="93"/>
                    </a:lnTo>
                    <a:lnTo>
                      <a:pt x="85"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0" name="Freeform 121"/>
              <p:cNvSpPr>
                <a:spLocks/>
              </p:cNvSpPr>
              <p:nvPr/>
            </p:nvSpPr>
            <p:spPr bwMode="auto">
              <a:xfrm>
                <a:off x="3073" y="1198"/>
                <a:ext cx="110" cy="112"/>
              </a:xfrm>
              <a:custGeom>
                <a:avLst/>
                <a:gdLst>
                  <a:gd name="T0" fmla="*/ 110 w 110"/>
                  <a:gd name="T1" fmla="*/ 112 h 112"/>
                  <a:gd name="T2" fmla="*/ 94 w 110"/>
                  <a:gd name="T3" fmla="*/ 94 h 112"/>
                  <a:gd name="T4" fmla="*/ 64 w 110"/>
                  <a:gd name="T5" fmla="*/ 47 h 112"/>
                  <a:gd name="T6" fmla="*/ 18 w 110"/>
                  <a:gd name="T7" fmla="*/ 0 h 112"/>
                  <a:gd name="T8" fmla="*/ 0 w 110"/>
                  <a:gd name="T9" fmla="*/ 0 h 112"/>
                  <a:gd name="T10" fmla="*/ 8 w 110"/>
                  <a:gd name="T11" fmla="*/ 17 h 112"/>
                  <a:gd name="T12" fmla="*/ 42 w 110"/>
                  <a:gd name="T13" fmla="*/ 64 h 112"/>
                  <a:gd name="T14" fmla="*/ 77 w 110"/>
                  <a:gd name="T15" fmla="*/ 110 h 112"/>
                  <a:gd name="T16" fmla="*/ 110 w 110"/>
                  <a:gd name="T17" fmla="*/ 112 h 1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0" h="112">
                    <a:moveTo>
                      <a:pt x="110" y="112"/>
                    </a:moveTo>
                    <a:lnTo>
                      <a:pt x="94" y="94"/>
                    </a:lnTo>
                    <a:lnTo>
                      <a:pt x="64" y="47"/>
                    </a:lnTo>
                    <a:lnTo>
                      <a:pt x="18" y="0"/>
                    </a:lnTo>
                    <a:lnTo>
                      <a:pt x="0" y="0"/>
                    </a:lnTo>
                    <a:lnTo>
                      <a:pt x="8" y="17"/>
                    </a:lnTo>
                    <a:lnTo>
                      <a:pt x="42" y="64"/>
                    </a:lnTo>
                    <a:lnTo>
                      <a:pt x="77" y="110"/>
                    </a:lnTo>
                    <a:lnTo>
                      <a:pt x="110" y="1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1" name="Freeform 122"/>
              <p:cNvSpPr>
                <a:spLocks/>
              </p:cNvSpPr>
              <p:nvPr/>
            </p:nvSpPr>
            <p:spPr bwMode="auto">
              <a:xfrm>
                <a:off x="3212" y="332"/>
                <a:ext cx="320" cy="1166"/>
              </a:xfrm>
              <a:custGeom>
                <a:avLst/>
                <a:gdLst>
                  <a:gd name="T0" fmla="*/ 45 w 320"/>
                  <a:gd name="T1" fmla="*/ 142 h 1166"/>
                  <a:gd name="T2" fmla="*/ 56 w 320"/>
                  <a:gd name="T3" fmla="*/ 207 h 1166"/>
                  <a:gd name="T4" fmla="*/ 29 w 320"/>
                  <a:gd name="T5" fmla="*/ 251 h 1166"/>
                  <a:gd name="T6" fmla="*/ 33 w 320"/>
                  <a:gd name="T7" fmla="*/ 310 h 1166"/>
                  <a:gd name="T8" fmla="*/ 49 w 320"/>
                  <a:gd name="T9" fmla="*/ 358 h 1166"/>
                  <a:gd name="T10" fmla="*/ 24 w 320"/>
                  <a:gd name="T11" fmla="*/ 408 h 1166"/>
                  <a:gd name="T12" fmla="*/ 51 w 320"/>
                  <a:gd name="T13" fmla="*/ 492 h 1166"/>
                  <a:gd name="T14" fmla="*/ 17 w 320"/>
                  <a:gd name="T15" fmla="*/ 563 h 1166"/>
                  <a:gd name="T16" fmla="*/ 35 w 320"/>
                  <a:gd name="T17" fmla="*/ 633 h 1166"/>
                  <a:gd name="T18" fmla="*/ 44 w 320"/>
                  <a:gd name="T19" fmla="*/ 684 h 1166"/>
                  <a:gd name="T20" fmla="*/ 10 w 320"/>
                  <a:gd name="T21" fmla="*/ 727 h 1166"/>
                  <a:gd name="T22" fmla="*/ 29 w 320"/>
                  <a:gd name="T23" fmla="*/ 818 h 1166"/>
                  <a:gd name="T24" fmla="*/ 27 w 320"/>
                  <a:gd name="T25" fmla="*/ 866 h 1166"/>
                  <a:gd name="T26" fmla="*/ 0 w 320"/>
                  <a:gd name="T27" fmla="*/ 925 h 1166"/>
                  <a:gd name="T28" fmla="*/ 16 w 320"/>
                  <a:gd name="T29" fmla="*/ 976 h 1166"/>
                  <a:gd name="T30" fmla="*/ 17 w 320"/>
                  <a:gd name="T31" fmla="*/ 1023 h 1166"/>
                  <a:gd name="T32" fmla="*/ 24 w 320"/>
                  <a:gd name="T33" fmla="*/ 1071 h 1166"/>
                  <a:gd name="T34" fmla="*/ 45 w 320"/>
                  <a:gd name="T35" fmla="*/ 1115 h 1166"/>
                  <a:gd name="T36" fmla="*/ 49 w 320"/>
                  <a:gd name="T37" fmla="*/ 1166 h 1166"/>
                  <a:gd name="T38" fmla="*/ 121 w 320"/>
                  <a:gd name="T39" fmla="*/ 1122 h 1166"/>
                  <a:gd name="T40" fmla="*/ 205 w 320"/>
                  <a:gd name="T41" fmla="*/ 1112 h 1166"/>
                  <a:gd name="T42" fmla="*/ 265 w 320"/>
                  <a:gd name="T43" fmla="*/ 1087 h 1166"/>
                  <a:gd name="T44" fmla="*/ 283 w 320"/>
                  <a:gd name="T45" fmla="*/ 1055 h 1166"/>
                  <a:gd name="T46" fmla="*/ 288 w 320"/>
                  <a:gd name="T47" fmla="*/ 991 h 1166"/>
                  <a:gd name="T48" fmla="*/ 275 w 320"/>
                  <a:gd name="T49" fmla="*/ 905 h 1166"/>
                  <a:gd name="T50" fmla="*/ 261 w 320"/>
                  <a:gd name="T51" fmla="*/ 861 h 1166"/>
                  <a:gd name="T52" fmla="*/ 270 w 320"/>
                  <a:gd name="T53" fmla="*/ 807 h 1166"/>
                  <a:gd name="T54" fmla="*/ 244 w 320"/>
                  <a:gd name="T55" fmla="*/ 747 h 1166"/>
                  <a:gd name="T56" fmla="*/ 281 w 320"/>
                  <a:gd name="T57" fmla="*/ 700 h 1166"/>
                  <a:gd name="T58" fmla="*/ 253 w 320"/>
                  <a:gd name="T59" fmla="*/ 633 h 1166"/>
                  <a:gd name="T60" fmla="*/ 239 w 320"/>
                  <a:gd name="T61" fmla="*/ 570 h 1166"/>
                  <a:gd name="T62" fmla="*/ 293 w 320"/>
                  <a:gd name="T63" fmla="*/ 522 h 1166"/>
                  <a:gd name="T64" fmla="*/ 275 w 320"/>
                  <a:gd name="T65" fmla="*/ 486 h 1166"/>
                  <a:gd name="T66" fmla="*/ 275 w 320"/>
                  <a:gd name="T67" fmla="*/ 427 h 1166"/>
                  <a:gd name="T68" fmla="*/ 249 w 320"/>
                  <a:gd name="T69" fmla="*/ 390 h 1166"/>
                  <a:gd name="T70" fmla="*/ 270 w 320"/>
                  <a:gd name="T71" fmla="*/ 342 h 1166"/>
                  <a:gd name="T72" fmla="*/ 253 w 320"/>
                  <a:gd name="T73" fmla="*/ 304 h 1166"/>
                  <a:gd name="T74" fmla="*/ 253 w 320"/>
                  <a:gd name="T75" fmla="*/ 272 h 1166"/>
                  <a:gd name="T76" fmla="*/ 272 w 320"/>
                  <a:gd name="T77" fmla="*/ 243 h 1166"/>
                  <a:gd name="T78" fmla="*/ 248 w 320"/>
                  <a:gd name="T79" fmla="*/ 205 h 1166"/>
                  <a:gd name="T80" fmla="*/ 244 w 320"/>
                  <a:gd name="T81" fmla="*/ 151 h 1166"/>
                  <a:gd name="T82" fmla="*/ 305 w 320"/>
                  <a:gd name="T83" fmla="*/ 83 h 1166"/>
                  <a:gd name="T84" fmla="*/ 320 w 320"/>
                  <a:gd name="T85" fmla="*/ 10 h 1166"/>
                  <a:gd name="T86" fmla="*/ 283 w 320"/>
                  <a:gd name="T87" fmla="*/ 10 h 1166"/>
                  <a:gd name="T88" fmla="*/ 176 w 320"/>
                  <a:gd name="T89" fmla="*/ 66 h 1166"/>
                  <a:gd name="T90" fmla="*/ 88 w 320"/>
                  <a:gd name="T91" fmla="*/ 99 h 116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20" h="1166">
                    <a:moveTo>
                      <a:pt x="56" y="110"/>
                    </a:moveTo>
                    <a:lnTo>
                      <a:pt x="45" y="142"/>
                    </a:lnTo>
                    <a:lnTo>
                      <a:pt x="54" y="174"/>
                    </a:lnTo>
                    <a:lnTo>
                      <a:pt x="56" y="207"/>
                    </a:lnTo>
                    <a:lnTo>
                      <a:pt x="45" y="227"/>
                    </a:lnTo>
                    <a:lnTo>
                      <a:pt x="29" y="251"/>
                    </a:lnTo>
                    <a:lnTo>
                      <a:pt x="22" y="287"/>
                    </a:lnTo>
                    <a:lnTo>
                      <a:pt x="33" y="310"/>
                    </a:lnTo>
                    <a:lnTo>
                      <a:pt x="49" y="337"/>
                    </a:lnTo>
                    <a:lnTo>
                      <a:pt x="49" y="358"/>
                    </a:lnTo>
                    <a:lnTo>
                      <a:pt x="38" y="381"/>
                    </a:lnTo>
                    <a:lnTo>
                      <a:pt x="24" y="408"/>
                    </a:lnTo>
                    <a:lnTo>
                      <a:pt x="29" y="435"/>
                    </a:lnTo>
                    <a:lnTo>
                      <a:pt x="51" y="492"/>
                    </a:lnTo>
                    <a:lnTo>
                      <a:pt x="49" y="516"/>
                    </a:lnTo>
                    <a:lnTo>
                      <a:pt x="17" y="563"/>
                    </a:lnTo>
                    <a:lnTo>
                      <a:pt x="17" y="602"/>
                    </a:lnTo>
                    <a:lnTo>
                      <a:pt x="35" y="633"/>
                    </a:lnTo>
                    <a:lnTo>
                      <a:pt x="45" y="661"/>
                    </a:lnTo>
                    <a:lnTo>
                      <a:pt x="44" y="684"/>
                    </a:lnTo>
                    <a:lnTo>
                      <a:pt x="16" y="709"/>
                    </a:lnTo>
                    <a:lnTo>
                      <a:pt x="10" y="727"/>
                    </a:lnTo>
                    <a:lnTo>
                      <a:pt x="16" y="770"/>
                    </a:lnTo>
                    <a:lnTo>
                      <a:pt x="29" y="818"/>
                    </a:lnTo>
                    <a:lnTo>
                      <a:pt x="29" y="844"/>
                    </a:lnTo>
                    <a:lnTo>
                      <a:pt x="27" y="866"/>
                    </a:lnTo>
                    <a:lnTo>
                      <a:pt x="7" y="898"/>
                    </a:lnTo>
                    <a:lnTo>
                      <a:pt x="0" y="925"/>
                    </a:lnTo>
                    <a:lnTo>
                      <a:pt x="1" y="955"/>
                    </a:lnTo>
                    <a:lnTo>
                      <a:pt x="16" y="976"/>
                    </a:lnTo>
                    <a:lnTo>
                      <a:pt x="33" y="996"/>
                    </a:lnTo>
                    <a:lnTo>
                      <a:pt x="17" y="1023"/>
                    </a:lnTo>
                    <a:lnTo>
                      <a:pt x="10" y="1050"/>
                    </a:lnTo>
                    <a:lnTo>
                      <a:pt x="24" y="1071"/>
                    </a:lnTo>
                    <a:lnTo>
                      <a:pt x="44" y="1087"/>
                    </a:lnTo>
                    <a:lnTo>
                      <a:pt x="45" y="1115"/>
                    </a:lnTo>
                    <a:lnTo>
                      <a:pt x="45" y="1137"/>
                    </a:lnTo>
                    <a:lnTo>
                      <a:pt x="49" y="1166"/>
                    </a:lnTo>
                    <a:lnTo>
                      <a:pt x="84" y="1142"/>
                    </a:lnTo>
                    <a:lnTo>
                      <a:pt x="121" y="1122"/>
                    </a:lnTo>
                    <a:lnTo>
                      <a:pt x="154" y="1112"/>
                    </a:lnTo>
                    <a:lnTo>
                      <a:pt x="205" y="1112"/>
                    </a:lnTo>
                    <a:lnTo>
                      <a:pt x="242" y="1106"/>
                    </a:lnTo>
                    <a:lnTo>
                      <a:pt x="265" y="1087"/>
                    </a:lnTo>
                    <a:lnTo>
                      <a:pt x="303" y="1077"/>
                    </a:lnTo>
                    <a:lnTo>
                      <a:pt x="283" y="1055"/>
                    </a:lnTo>
                    <a:lnTo>
                      <a:pt x="275" y="1025"/>
                    </a:lnTo>
                    <a:lnTo>
                      <a:pt x="288" y="991"/>
                    </a:lnTo>
                    <a:lnTo>
                      <a:pt x="286" y="941"/>
                    </a:lnTo>
                    <a:lnTo>
                      <a:pt x="275" y="905"/>
                    </a:lnTo>
                    <a:lnTo>
                      <a:pt x="265" y="887"/>
                    </a:lnTo>
                    <a:lnTo>
                      <a:pt x="261" y="861"/>
                    </a:lnTo>
                    <a:lnTo>
                      <a:pt x="275" y="828"/>
                    </a:lnTo>
                    <a:lnTo>
                      <a:pt x="270" y="807"/>
                    </a:lnTo>
                    <a:lnTo>
                      <a:pt x="242" y="768"/>
                    </a:lnTo>
                    <a:lnTo>
                      <a:pt x="244" y="747"/>
                    </a:lnTo>
                    <a:lnTo>
                      <a:pt x="255" y="727"/>
                    </a:lnTo>
                    <a:lnTo>
                      <a:pt x="281" y="700"/>
                    </a:lnTo>
                    <a:lnTo>
                      <a:pt x="272" y="679"/>
                    </a:lnTo>
                    <a:lnTo>
                      <a:pt x="253" y="633"/>
                    </a:lnTo>
                    <a:lnTo>
                      <a:pt x="239" y="602"/>
                    </a:lnTo>
                    <a:lnTo>
                      <a:pt x="239" y="570"/>
                    </a:lnTo>
                    <a:lnTo>
                      <a:pt x="288" y="552"/>
                    </a:lnTo>
                    <a:lnTo>
                      <a:pt x="293" y="522"/>
                    </a:lnTo>
                    <a:lnTo>
                      <a:pt x="288" y="503"/>
                    </a:lnTo>
                    <a:lnTo>
                      <a:pt x="275" y="486"/>
                    </a:lnTo>
                    <a:lnTo>
                      <a:pt x="277" y="460"/>
                    </a:lnTo>
                    <a:lnTo>
                      <a:pt x="275" y="427"/>
                    </a:lnTo>
                    <a:lnTo>
                      <a:pt x="261" y="411"/>
                    </a:lnTo>
                    <a:lnTo>
                      <a:pt x="249" y="390"/>
                    </a:lnTo>
                    <a:lnTo>
                      <a:pt x="258" y="368"/>
                    </a:lnTo>
                    <a:lnTo>
                      <a:pt x="270" y="342"/>
                    </a:lnTo>
                    <a:lnTo>
                      <a:pt x="270" y="326"/>
                    </a:lnTo>
                    <a:lnTo>
                      <a:pt x="253" y="304"/>
                    </a:lnTo>
                    <a:lnTo>
                      <a:pt x="248" y="287"/>
                    </a:lnTo>
                    <a:lnTo>
                      <a:pt x="253" y="272"/>
                    </a:lnTo>
                    <a:lnTo>
                      <a:pt x="270" y="261"/>
                    </a:lnTo>
                    <a:lnTo>
                      <a:pt x="272" y="243"/>
                    </a:lnTo>
                    <a:lnTo>
                      <a:pt x="267" y="233"/>
                    </a:lnTo>
                    <a:lnTo>
                      <a:pt x="248" y="205"/>
                    </a:lnTo>
                    <a:lnTo>
                      <a:pt x="242" y="174"/>
                    </a:lnTo>
                    <a:lnTo>
                      <a:pt x="244" y="151"/>
                    </a:lnTo>
                    <a:lnTo>
                      <a:pt x="261" y="130"/>
                    </a:lnTo>
                    <a:lnTo>
                      <a:pt x="305" y="83"/>
                    </a:lnTo>
                    <a:lnTo>
                      <a:pt x="320" y="43"/>
                    </a:lnTo>
                    <a:lnTo>
                      <a:pt x="320" y="10"/>
                    </a:lnTo>
                    <a:lnTo>
                      <a:pt x="305" y="0"/>
                    </a:lnTo>
                    <a:lnTo>
                      <a:pt x="283" y="10"/>
                    </a:lnTo>
                    <a:lnTo>
                      <a:pt x="228" y="44"/>
                    </a:lnTo>
                    <a:lnTo>
                      <a:pt x="176" y="66"/>
                    </a:lnTo>
                    <a:lnTo>
                      <a:pt x="123" y="88"/>
                    </a:lnTo>
                    <a:lnTo>
                      <a:pt x="88" y="99"/>
                    </a:lnTo>
                    <a:lnTo>
                      <a:pt x="56" y="11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2" name="Freeform 123"/>
              <p:cNvSpPr>
                <a:spLocks/>
              </p:cNvSpPr>
              <p:nvPr/>
            </p:nvSpPr>
            <p:spPr bwMode="auto">
              <a:xfrm>
                <a:off x="2994" y="322"/>
                <a:ext cx="565" cy="1192"/>
              </a:xfrm>
              <a:custGeom>
                <a:avLst/>
                <a:gdLst>
                  <a:gd name="T0" fmla="*/ 368 w 565"/>
                  <a:gd name="T1" fmla="*/ 1120 h 1192"/>
                  <a:gd name="T2" fmla="*/ 260 w 565"/>
                  <a:gd name="T3" fmla="*/ 1157 h 1192"/>
                  <a:gd name="T4" fmla="*/ 45 w 565"/>
                  <a:gd name="T5" fmla="*/ 964 h 1192"/>
                  <a:gd name="T6" fmla="*/ 34 w 565"/>
                  <a:gd name="T7" fmla="*/ 997 h 1192"/>
                  <a:gd name="T8" fmla="*/ 267 w 565"/>
                  <a:gd name="T9" fmla="*/ 1192 h 1192"/>
                  <a:gd name="T10" fmla="*/ 379 w 565"/>
                  <a:gd name="T11" fmla="*/ 1132 h 1192"/>
                  <a:gd name="T12" fmla="*/ 534 w 565"/>
                  <a:gd name="T13" fmla="*/ 1081 h 1192"/>
                  <a:gd name="T14" fmla="*/ 526 w 565"/>
                  <a:gd name="T15" fmla="*/ 997 h 1192"/>
                  <a:gd name="T16" fmla="*/ 495 w 565"/>
                  <a:gd name="T17" fmla="*/ 903 h 1192"/>
                  <a:gd name="T18" fmla="*/ 510 w 565"/>
                  <a:gd name="T19" fmla="*/ 828 h 1192"/>
                  <a:gd name="T20" fmla="*/ 478 w 565"/>
                  <a:gd name="T21" fmla="*/ 753 h 1192"/>
                  <a:gd name="T22" fmla="*/ 494 w 565"/>
                  <a:gd name="T23" fmla="*/ 666 h 1192"/>
                  <a:gd name="T24" fmla="*/ 506 w 565"/>
                  <a:gd name="T25" fmla="*/ 580 h 1192"/>
                  <a:gd name="T26" fmla="*/ 510 w 565"/>
                  <a:gd name="T27" fmla="*/ 472 h 1192"/>
                  <a:gd name="T28" fmla="*/ 488 w 565"/>
                  <a:gd name="T29" fmla="*/ 380 h 1192"/>
                  <a:gd name="T30" fmla="*/ 478 w 565"/>
                  <a:gd name="T31" fmla="*/ 308 h 1192"/>
                  <a:gd name="T32" fmla="*/ 504 w 565"/>
                  <a:gd name="T33" fmla="*/ 245 h 1192"/>
                  <a:gd name="T34" fmla="*/ 490 w 565"/>
                  <a:gd name="T35" fmla="*/ 140 h 1192"/>
                  <a:gd name="T36" fmla="*/ 559 w 565"/>
                  <a:gd name="T37" fmla="*/ 12 h 1192"/>
                  <a:gd name="T38" fmla="*/ 528 w 565"/>
                  <a:gd name="T39" fmla="*/ 39 h 1192"/>
                  <a:gd name="T40" fmla="*/ 457 w 565"/>
                  <a:gd name="T41" fmla="*/ 156 h 1192"/>
                  <a:gd name="T42" fmla="*/ 354 w 565"/>
                  <a:gd name="T43" fmla="*/ 254 h 1192"/>
                  <a:gd name="T44" fmla="*/ 461 w 565"/>
                  <a:gd name="T45" fmla="*/ 217 h 1192"/>
                  <a:gd name="T46" fmla="*/ 451 w 565"/>
                  <a:gd name="T47" fmla="*/ 286 h 1192"/>
                  <a:gd name="T48" fmla="*/ 401 w 565"/>
                  <a:gd name="T49" fmla="*/ 358 h 1192"/>
                  <a:gd name="T50" fmla="*/ 474 w 565"/>
                  <a:gd name="T51" fmla="*/ 342 h 1192"/>
                  <a:gd name="T52" fmla="*/ 455 w 565"/>
                  <a:gd name="T53" fmla="*/ 397 h 1192"/>
                  <a:gd name="T54" fmla="*/ 450 w 565"/>
                  <a:gd name="T55" fmla="*/ 456 h 1192"/>
                  <a:gd name="T56" fmla="*/ 343 w 565"/>
                  <a:gd name="T57" fmla="*/ 535 h 1192"/>
                  <a:gd name="T58" fmla="*/ 463 w 565"/>
                  <a:gd name="T59" fmla="*/ 481 h 1192"/>
                  <a:gd name="T60" fmla="*/ 506 w 565"/>
                  <a:gd name="T61" fmla="*/ 535 h 1192"/>
                  <a:gd name="T62" fmla="*/ 434 w 565"/>
                  <a:gd name="T63" fmla="*/ 586 h 1192"/>
                  <a:gd name="T64" fmla="*/ 299 w 565"/>
                  <a:gd name="T65" fmla="*/ 650 h 1192"/>
                  <a:gd name="T66" fmla="*/ 451 w 565"/>
                  <a:gd name="T67" fmla="*/ 623 h 1192"/>
                  <a:gd name="T68" fmla="*/ 483 w 565"/>
                  <a:gd name="T69" fmla="*/ 725 h 1192"/>
                  <a:gd name="T70" fmla="*/ 303 w 565"/>
                  <a:gd name="T71" fmla="*/ 773 h 1192"/>
                  <a:gd name="T72" fmla="*/ 401 w 565"/>
                  <a:gd name="T73" fmla="*/ 769 h 1192"/>
                  <a:gd name="T74" fmla="*/ 463 w 565"/>
                  <a:gd name="T75" fmla="*/ 800 h 1192"/>
                  <a:gd name="T76" fmla="*/ 461 w 565"/>
                  <a:gd name="T77" fmla="*/ 860 h 1192"/>
                  <a:gd name="T78" fmla="*/ 288 w 565"/>
                  <a:gd name="T79" fmla="*/ 894 h 1192"/>
                  <a:gd name="T80" fmla="*/ 373 w 565"/>
                  <a:gd name="T81" fmla="*/ 894 h 1192"/>
                  <a:gd name="T82" fmla="*/ 472 w 565"/>
                  <a:gd name="T83" fmla="*/ 878 h 1192"/>
                  <a:gd name="T84" fmla="*/ 386 w 565"/>
                  <a:gd name="T85" fmla="*/ 958 h 1192"/>
                  <a:gd name="T86" fmla="*/ 288 w 565"/>
                  <a:gd name="T87" fmla="*/ 1006 h 1192"/>
                  <a:gd name="T88" fmla="*/ 412 w 565"/>
                  <a:gd name="T89" fmla="*/ 962 h 1192"/>
                  <a:gd name="T90" fmla="*/ 485 w 565"/>
                  <a:gd name="T91" fmla="*/ 946 h 1192"/>
                  <a:gd name="T92" fmla="*/ 483 w 565"/>
                  <a:gd name="T93" fmla="*/ 1017 h 1192"/>
                  <a:gd name="T94" fmla="*/ 494 w 565"/>
                  <a:gd name="T95" fmla="*/ 1076 h 119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65" h="1192">
                    <a:moveTo>
                      <a:pt x="479" y="1078"/>
                    </a:moveTo>
                    <a:lnTo>
                      <a:pt x="455" y="1105"/>
                    </a:lnTo>
                    <a:lnTo>
                      <a:pt x="417" y="1113"/>
                    </a:lnTo>
                    <a:lnTo>
                      <a:pt x="368" y="1120"/>
                    </a:lnTo>
                    <a:lnTo>
                      <a:pt x="315" y="1131"/>
                    </a:lnTo>
                    <a:lnTo>
                      <a:pt x="281" y="1152"/>
                    </a:lnTo>
                    <a:lnTo>
                      <a:pt x="270" y="1163"/>
                    </a:lnTo>
                    <a:lnTo>
                      <a:pt x="260" y="1157"/>
                    </a:lnTo>
                    <a:lnTo>
                      <a:pt x="196" y="1110"/>
                    </a:lnTo>
                    <a:lnTo>
                      <a:pt x="114" y="1045"/>
                    </a:lnTo>
                    <a:lnTo>
                      <a:pt x="86" y="1006"/>
                    </a:lnTo>
                    <a:lnTo>
                      <a:pt x="45" y="964"/>
                    </a:lnTo>
                    <a:lnTo>
                      <a:pt x="32" y="932"/>
                    </a:lnTo>
                    <a:lnTo>
                      <a:pt x="0" y="926"/>
                    </a:lnTo>
                    <a:lnTo>
                      <a:pt x="16" y="962"/>
                    </a:lnTo>
                    <a:lnTo>
                      <a:pt x="34" y="997"/>
                    </a:lnTo>
                    <a:lnTo>
                      <a:pt x="86" y="1035"/>
                    </a:lnTo>
                    <a:lnTo>
                      <a:pt x="123" y="1081"/>
                    </a:lnTo>
                    <a:lnTo>
                      <a:pt x="212" y="1138"/>
                    </a:lnTo>
                    <a:lnTo>
                      <a:pt x="267" y="1192"/>
                    </a:lnTo>
                    <a:lnTo>
                      <a:pt x="288" y="1186"/>
                    </a:lnTo>
                    <a:lnTo>
                      <a:pt x="310" y="1159"/>
                    </a:lnTo>
                    <a:lnTo>
                      <a:pt x="341" y="1143"/>
                    </a:lnTo>
                    <a:lnTo>
                      <a:pt x="379" y="1132"/>
                    </a:lnTo>
                    <a:lnTo>
                      <a:pt x="461" y="1125"/>
                    </a:lnTo>
                    <a:lnTo>
                      <a:pt x="485" y="1110"/>
                    </a:lnTo>
                    <a:lnTo>
                      <a:pt x="526" y="1099"/>
                    </a:lnTo>
                    <a:lnTo>
                      <a:pt x="534" y="1081"/>
                    </a:lnTo>
                    <a:lnTo>
                      <a:pt x="521" y="1060"/>
                    </a:lnTo>
                    <a:lnTo>
                      <a:pt x="506" y="1038"/>
                    </a:lnTo>
                    <a:lnTo>
                      <a:pt x="515" y="1011"/>
                    </a:lnTo>
                    <a:lnTo>
                      <a:pt x="526" y="997"/>
                    </a:lnTo>
                    <a:lnTo>
                      <a:pt x="526" y="974"/>
                    </a:lnTo>
                    <a:lnTo>
                      <a:pt x="515" y="937"/>
                    </a:lnTo>
                    <a:lnTo>
                      <a:pt x="510" y="919"/>
                    </a:lnTo>
                    <a:lnTo>
                      <a:pt x="495" y="903"/>
                    </a:lnTo>
                    <a:lnTo>
                      <a:pt x="488" y="883"/>
                    </a:lnTo>
                    <a:lnTo>
                      <a:pt x="495" y="865"/>
                    </a:lnTo>
                    <a:lnTo>
                      <a:pt x="512" y="851"/>
                    </a:lnTo>
                    <a:lnTo>
                      <a:pt x="510" y="828"/>
                    </a:lnTo>
                    <a:lnTo>
                      <a:pt x="501" y="811"/>
                    </a:lnTo>
                    <a:lnTo>
                      <a:pt x="483" y="785"/>
                    </a:lnTo>
                    <a:lnTo>
                      <a:pt x="472" y="773"/>
                    </a:lnTo>
                    <a:lnTo>
                      <a:pt x="478" y="753"/>
                    </a:lnTo>
                    <a:lnTo>
                      <a:pt x="504" y="737"/>
                    </a:lnTo>
                    <a:lnTo>
                      <a:pt x="515" y="716"/>
                    </a:lnTo>
                    <a:lnTo>
                      <a:pt x="512" y="698"/>
                    </a:lnTo>
                    <a:lnTo>
                      <a:pt x="494" y="666"/>
                    </a:lnTo>
                    <a:lnTo>
                      <a:pt x="474" y="629"/>
                    </a:lnTo>
                    <a:lnTo>
                      <a:pt x="467" y="602"/>
                    </a:lnTo>
                    <a:lnTo>
                      <a:pt x="478" y="591"/>
                    </a:lnTo>
                    <a:lnTo>
                      <a:pt x="506" y="580"/>
                    </a:lnTo>
                    <a:lnTo>
                      <a:pt x="522" y="570"/>
                    </a:lnTo>
                    <a:lnTo>
                      <a:pt x="526" y="535"/>
                    </a:lnTo>
                    <a:lnTo>
                      <a:pt x="506" y="497"/>
                    </a:lnTo>
                    <a:lnTo>
                      <a:pt x="510" y="472"/>
                    </a:lnTo>
                    <a:lnTo>
                      <a:pt x="517" y="449"/>
                    </a:lnTo>
                    <a:lnTo>
                      <a:pt x="499" y="422"/>
                    </a:lnTo>
                    <a:lnTo>
                      <a:pt x="483" y="397"/>
                    </a:lnTo>
                    <a:lnTo>
                      <a:pt x="488" y="380"/>
                    </a:lnTo>
                    <a:lnTo>
                      <a:pt x="499" y="363"/>
                    </a:lnTo>
                    <a:lnTo>
                      <a:pt x="499" y="336"/>
                    </a:lnTo>
                    <a:lnTo>
                      <a:pt x="488" y="320"/>
                    </a:lnTo>
                    <a:lnTo>
                      <a:pt x="478" y="308"/>
                    </a:lnTo>
                    <a:lnTo>
                      <a:pt x="479" y="288"/>
                    </a:lnTo>
                    <a:lnTo>
                      <a:pt x="499" y="277"/>
                    </a:lnTo>
                    <a:lnTo>
                      <a:pt x="510" y="267"/>
                    </a:lnTo>
                    <a:lnTo>
                      <a:pt x="504" y="245"/>
                    </a:lnTo>
                    <a:lnTo>
                      <a:pt x="483" y="217"/>
                    </a:lnTo>
                    <a:lnTo>
                      <a:pt x="474" y="194"/>
                    </a:lnTo>
                    <a:lnTo>
                      <a:pt x="472" y="167"/>
                    </a:lnTo>
                    <a:lnTo>
                      <a:pt x="490" y="140"/>
                    </a:lnTo>
                    <a:lnTo>
                      <a:pt x="528" y="99"/>
                    </a:lnTo>
                    <a:lnTo>
                      <a:pt x="548" y="66"/>
                    </a:lnTo>
                    <a:lnTo>
                      <a:pt x="565" y="39"/>
                    </a:lnTo>
                    <a:lnTo>
                      <a:pt x="559" y="12"/>
                    </a:lnTo>
                    <a:lnTo>
                      <a:pt x="545" y="0"/>
                    </a:lnTo>
                    <a:lnTo>
                      <a:pt x="534" y="1"/>
                    </a:lnTo>
                    <a:lnTo>
                      <a:pt x="515" y="23"/>
                    </a:lnTo>
                    <a:lnTo>
                      <a:pt x="528" y="39"/>
                    </a:lnTo>
                    <a:lnTo>
                      <a:pt x="526" y="66"/>
                    </a:lnTo>
                    <a:lnTo>
                      <a:pt x="501" y="113"/>
                    </a:lnTo>
                    <a:lnTo>
                      <a:pt x="469" y="140"/>
                    </a:lnTo>
                    <a:lnTo>
                      <a:pt x="457" y="156"/>
                    </a:lnTo>
                    <a:lnTo>
                      <a:pt x="450" y="178"/>
                    </a:lnTo>
                    <a:lnTo>
                      <a:pt x="446" y="190"/>
                    </a:lnTo>
                    <a:lnTo>
                      <a:pt x="398" y="229"/>
                    </a:lnTo>
                    <a:lnTo>
                      <a:pt x="354" y="254"/>
                    </a:lnTo>
                    <a:lnTo>
                      <a:pt x="348" y="272"/>
                    </a:lnTo>
                    <a:lnTo>
                      <a:pt x="363" y="276"/>
                    </a:lnTo>
                    <a:lnTo>
                      <a:pt x="428" y="229"/>
                    </a:lnTo>
                    <a:lnTo>
                      <a:pt x="461" y="217"/>
                    </a:lnTo>
                    <a:lnTo>
                      <a:pt x="478" y="249"/>
                    </a:lnTo>
                    <a:lnTo>
                      <a:pt x="483" y="261"/>
                    </a:lnTo>
                    <a:lnTo>
                      <a:pt x="467" y="276"/>
                    </a:lnTo>
                    <a:lnTo>
                      <a:pt x="451" y="286"/>
                    </a:lnTo>
                    <a:lnTo>
                      <a:pt x="450" y="304"/>
                    </a:lnTo>
                    <a:lnTo>
                      <a:pt x="455" y="324"/>
                    </a:lnTo>
                    <a:lnTo>
                      <a:pt x="441" y="340"/>
                    </a:lnTo>
                    <a:lnTo>
                      <a:pt x="401" y="358"/>
                    </a:lnTo>
                    <a:lnTo>
                      <a:pt x="341" y="384"/>
                    </a:lnTo>
                    <a:lnTo>
                      <a:pt x="363" y="391"/>
                    </a:lnTo>
                    <a:lnTo>
                      <a:pt x="425" y="367"/>
                    </a:lnTo>
                    <a:lnTo>
                      <a:pt x="474" y="342"/>
                    </a:lnTo>
                    <a:lnTo>
                      <a:pt x="483" y="347"/>
                    </a:lnTo>
                    <a:lnTo>
                      <a:pt x="478" y="363"/>
                    </a:lnTo>
                    <a:lnTo>
                      <a:pt x="461" y="380"/>
                    </a:lnTo>
                    <a:lnTo>
                      <a:pt x="455" y="397"/>
                    </a:lnTo>
                    <a:lnTo>
                      <a:pt x="463" y="418"/>
                    </a:lnTo>
                    <a:lnTo>
                      <a:pt x="483" y="434"/>
                    </a:lnTo>
                    <a:lnTo>
                      <a:pt x="483" y="449"/>
                    </a:lnTo>
                    <a:lnTo>
                      <a:pt x="450" y="456"/>
                    </a:lnTo>
                    <a:lnTo>
                      <a:pt x="423" y="492"/>
                    </a:lnTo>
                    <a:lnTo>
                      <a:pt x="391" y="513"/>
                    </a:lnTo>
                    <a:lnTo>
                      <a:pt x="347" y="525"/>
                    </a:lnTo>
                    <a:lnTo>
                      <a:pt x="343" y="535"/>
                    </a:lnTo>
                    <a:lnTo>
                      <a:pt x="370" y="532"/>
                    </a:lnTo>
                    <a:lnTo>
                      <a:pt x="428" y="513"/>
                    </a:lnTo>
                    <a:lnTo>
                      <a:pt x="450" y="497"/>
                    </a:lnTo>
                    <a:lnTo>
                      <a:pt x="463" y="481"/>
                    </a:lnTo>
                    <a:lnTo>
                      <a:pt x="483" y="477"/>
                    </a:lnTo>
                    <a:lnTo>
                      <a:pt x="483" y="497"/>
                    </a:lnTo>
                    <a:lnTo>
                      <a:pt x="495" y="515"/>
                    </a:lnTo>
                    <a:lnTo>
                      <a:pt x="506" y="535"/>
                    </a:lnTo>
                    <a:lnTo>
                      <a:pt x="499" y="552"/>
                    </a:lnTo>
                    <a:lnTo>
                      <a:pt x="474" y="562"/>
                    </a:lnTo>
                    <a:lnTo>
                      <a:pt x="450" y="570"/>
                    </a:lnTo>
                    <a:lnTo>
                      <a:pt x="434" y="586"/>
                    </a:lnTo>
                    <a:lnTo>
                      <a:pt x="359" y="607"/>
                    </a:lnTo>
                    <a:lnTo>
                      <a:pt x="304" y="627"/>
                    </a:lnTo>
                    <a:lnTo>
                      <a:pt x="283" y="638"/>
                    </a:lnTo>
                    <a:lnTo>
                      <a:pt x="299" y="650"/>
                    </a:lnTo>
                    <a:lnTo>
                      <a:pt x="332" y="643"/>
                    </a:lnTo>
                    <a:lnTo>
                      <a:pt x="398" y="618"/>
                    </a:lnTo>
                    <a:lnTo>
                      <a:pt x="441" y="605"/>
                    </a:lnTo>
                    <a:lnTo>
                      <a:pt x="451" y="623"/>
                    </a:lnTo>
                    <a:lnTo>
                      <a:pt x="463" y="656"/>
                    </a:lnTo>
                    <a:lnTo>
                      <a:pt x="483" y="683"/>
                    </a:lnTo>
                    <a:lnTo>
                      <a:pt x="485" y="705"/>
                    </a:lnTo>
                    <a:lnTo>
                      <a:pt x="483" y="725"/>
                    </a:lnTo>
                    <a:lnTo>
                      <a:pt x="461" y="732"/>
                    </a:lnTo>
                    <a:lnTo>
                      <a:pt x="423" y="741"/>
                    </a:lnTo>
                    <a:lnTo>
                      <a:pt x="373" y="762"/>
                    </a:lnTo>
                    <a:lnTo>
                      <a:pt x="303" y="773"/>
                    </a:lnTo>
                    <a:lnTo>
                      <a:pt x="276" y="785"/>
                    </a:lnTo>
                    <a:lnTo>
                      <a:pt x="294" y="794"/>
                    </a:lnTo>
                    <a:lnTo>
                      <a:pt x="357" y="785"/>
                    </a:lnTo>
                    <a:lnTo>
                      <a:pt x="401" y="769"/>
                    </a:lnTo>
                    <a:lnTo>
                      <a:pt x="430" y="759"/>
                    </a:lnTo>
                    <a:lnTo>
                      <a:pt x="455" y="753"/>
                    </a:lnTo>
                    <a:lnTo>
                      <a:pt x="451" y="773"/>
                    </a:lnTo>
                    <a:lnTo>
                      <a:pt x="463" y="800"/>
                    </a:lnTo>
                    <a:lnTo>
                      <a:pt x="479" y="816"/>
                    </a:lnTo>
                    <a:lnTo>
                      <a:pt x="483" y="835"/>
                    </a:lnTo>
                    <a:lnTo>
                      <a:pt x="483" y="851"/>
                    </a:lnTo>
                    <a:lnTo>
                      <a:pt x="461" y="860"/>
                    </a:lnTo>
                    <a:lnTo>
                      <a:pt x="419" y="862"/>
                    </a:lnTo>
                    <a:lnTo>
                      <a:pt x="391" y="871"/>
                    </a:lnTo>
                    <a:lnTo>
                      <a:pt x="325" y="892"/>
                    </a:lnTo>
                    <a:lnTo>
                      <a:pt x="288" y="894"/>
                    </a:lnTo>
                    <a:lnTo>
                      <a:pt x="276" y="910"/>
                    </a:lnTo>
                    <a:lnTo>
                      <a:pt x="292" y="915"/>
                    </a:lnTo>
                    <a:lnTo>
                      <a:pt x="325" y="908"/>
                    </a:lnTo>
                    <a:lnTo>
                      <a:pt x="373" y="894"/>
                    </a:lnTo>
                    <a:lnTo>
                      <a:pt x="401" y="883"/>
                    </a:lnTo>
                    <a:lnTo>
                      <a:pt x="435" y="876"/>
                    </a:lnTo>
                    <a:lnTo>
                      <a:pt x="463" y="878"/>
                    </a:lnTo>
                    <a:lnTo>
                      <a:pt x="472" y="878"/>
                    </a:lnTo>
                    <a:lnTo>
                      <a:pt x="472" y="903"/>
                    </a:lnTo>
                    <a:lnTo>
                      <a:pt x="479" y="915"/>
                    </a:lnTo>
                    <a:lnTo>
                      <a:pt x="430" y="926"/>
                    </a:lnTo>
                    <a:lnTo>
                      <a:pt x="386" y="958"/>
                    </a:lnTo>
                    <a:lnTo>
                      <a:pt x="338" y="976"/>
                    </a:lnTo>
                    <a:lnTo>
                      <a:pt x="304" y="981"/>
                    </a:lnTo>
                    <a:lnTo>
                      <a:pt x="278" y="995"/>
                    </a:lnTo>
                    <a:lnTo>
                      <a:pt x="288" y="1006"/>
                    </a:lnTo>
                    <a:lnTo>
                      <a:pt x="315" y="997"/>
                    </a:lnTo>
                    <a:lnTo>
                      <a:pt x="347" y="986"/>
                    </a:lnTo>
                    <a:lnTo>
                      <a:pt x="381" y="981"/>
                    </a:lnTo>
                    <a:lnTo>
                      <a:pt x="412" y="962"/>
                    </a:lnTo>
                    <a:lnTo>
                      <a:pt x="428" y="946"/>
                    </a:lnTo>
                    <a:lnTo>
                      <a:pt x="450" y="942"/>
                    </a:lnTo>
                    <a:lnTo>
                      <a:pt x="478" y="942"/>
                    </a:lnTo>
                    <a:lnTo>
                      <a:pt x="485" y="946"/>
                    </a:lnTo>
                    <a:lnTo>
                      <a:pt x="494" y="964"/>
                    </a:lnTo>
                    <a:lnTo>
                      <a:pt x="499" y="986"/>
                    </a:lnTo>
                    <a:lnTo>
                      <a:pt x="494" y="1006"/>
                    </a:lnTo>
                    <a:lnTo>
                      <a:pt x="483" y="1017"/>
                    </a:lnTo>
                    <a:lnTo>
                      <a:pt x="474" y="1044"/>
                    </a:lnTo>
                    <a:lnTo>
                      <a:pt x="483" y="1054"/>
                    </a:lnTo>
                    <a:lnTo>
                      <a:pt x="494" y="1065"/>
                    </a:lnTo>
                    <a:lnTo>
                      <a:pt x="494" y="1076"/>
                    </a:lnTo>
                    <a:lnTo>
                      <a:pt x="479" y="10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3" name="Freeform 124"/>
              <p:cNvSpPr>
                <a:spLocks/>
              </p:cNvSpPr>
              <p:nvPr/>
            </p:nvSpPr>
            <p:spPr bwMode="auto">
              <a:xfrm>
                <a:off x="3290" y="1340"/>
                <a:ext cx="169" cy="61"/>
              </a:xfrm>
              <a:custGeom>
                <a:avLst/>
                <a:gdLst>
                  <a:gd name="T0" fmla="*/ 0 w 169"/>
                  <a:gd name="T1" fmla="*/ 48 h 61"/>
                  <a:gd name="T2" fmla="*/ 67 w 169"/>
                  <a:gd name="T3" fmla="*/ 46 h 61"/>
                  <a:gd name="T4" fmla="*/ 93 w 169"/>
                  <a:gd name="T5" fmla="*/ 30 h 61"/>
                  <a:gd name="T6" fmla="*/ 115 w 169"/>
                  <a:gd name="T7" fmla="*/ 12 h 61"/>
                  <a:gd name="T8" fmla="*/ 157 w 169"/>
                  <a:gd name="T9" fmla="*/ 0 h 61"/>
                  <a:gd name="T10" fmla="*/ 169 w 169"/>
                  <a:gd name="T11" fmla="*/ 12 h 61"/>
                  <a:gd name="T12" fmla="*/ 151 w 169"/>
                  <a:gd name="T13" fmla="*/ 17 h 61"/>
                  <a:gd name="T14" fmla="*/ 122 w 169"/>
                  <a:gd name="T15" fmla="*/ 35 h 61"/>
                  <a:gd name="T16" fmla="*/ 106 w 169"/>
                  <a:gd name="T17" fmla="*/ 46 h 61"/>
                  <a:gd name="T18" fmla="*/ 79 w 169"/>
                  <a:gd name="T19" fmla="*/ 54 h 61"/>
                  <a:gd name="T20" fmla="*/ 37 w 169"/>
                  <a:gd name="T21" fmla="*/ 59 h 61"/>
                  <a:gd name="T22" fmla="*/ 3 w 169"/>
                  <a:gd name="T23" fmla="*/ 61 h 61"/>
                  <a:gd name="T24" fmla="*/ 0 w 169"/>
                  <a:gd name="T25" fmla="*/ 48 h 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 h="61">
                    <a:moveTo>
                      <a:pt x="0" y="48"/>
                    </a:moveTo>
                    <a:lnTo>
                      <a:pt x="67" y="46"/>
                    </a:lnTo>
                    <a:lnTo>
                      <a:pt x="93" y="30"/>
                    </a:lnTo>
                    <a:lnTo>
                      <a:pt x="115" y="12"/>
                    </a:lnTo>
                    <a:lnTo>
                      <a:pt x="157" y="0"/>
                    </a:lnTo>
                    <a:lnTo>
                      <a:pt x="169" y="12"/>
                    </a:lnTo>
                    <a:lnTo>
                      <a:pt x="151" y="17"/>
                    </a:lnTo>
                    <a:lnTo>
                      <a:pt x="122" y="35"/>
                    </a:lnTo>
                    <a:lnTo>
                      <a:pt x="106" y="46"/>
                    </a:lnTo>
                    <a:lnTo>
                      <a:pt x="79" y="54"/>
                    </a:lnTo>
                    <a:lnTo>
                      <a:pt x="37" y="59"/>
                    </a:lnTo>
                    <a:lnTo>
                      <a:pt x="3" y="61"/>
                    </a:lnTo>
                    <a:lnTo>
                      <a:pt x="0"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4" name="Freeform 125"/>
              <p:cNvSpPr>
                <a:spLocks/>
              </p:cNvSpPr>
              <p:nvPr/>
            </p:nvSpPr>
            <p:spPr bwMode="auto">
              <a:xfrm>
                <a:off x="3042" y="182"/>
                <a:ext cx="476" cy="262"/>
              </a:xfrm>
              <a:custGeom>
                <a:avLst/>
                <a:gdLst>
                  <a:gd name="T0" fmla="*/ 14 w 476"/>
                  <a:gd name="T1" fmla="*/ 29 h 262"/>
                  <a:gd name="T2" fmla="*/ 70 w 476"/>
                  <a:gd name="T3" fmla="*/ 33 h 262"/>
                  <a:gd name="T4" fmla="*/ 131 w 476"/>
                  <a:gd name="T5" fmla="*/ 34 h 262"/>
                  <a:gd name="T6" fmla="*/ 169 w 476"/>
                  <a:gd name="T7" fmla="*/ 34 h 262"/>
                  <a:gd name="T8" fmla="*/ 200 w 476"/>
                  <a:gd name="T9" fmla="*/ 27 h 262"/>
                  <a:gd name="T10" fmla="*/ 249 w 476"/>
                  <a:gd name="T11" fmla="*/ 12 h 262"/>
                  <a:gd name="T12" fmla="*/ 273 w 476"/>
                  <a:gd name="T13" fmla="*/ 0 h 262"/>
                  <a:gd name="T14" fmla="*/ 306 w 476"/>
                  <a:gd name="T15" fmla="*/ 18 h 262"/>
                  <a:gd name="T16" fmla="*/ 359 w 476"/>
                  <a:gd name="T17" fmla="*/ 55 h 262"/>
                  <a:gd name="T18" fmla="*/ 397 w 476"/>
                  <a:gd name="T19" fmla="*/ 83 h 262"/>
                  <a:gd name="T20" fmla="*/ 447 w 476"/>
                  <a:gd name="T21" fmla="*/ 118 h 262"/>
                  <a:gd name="T22" fmla="*/ 476 w 476"/>
                  <a:gd name="T23" fmla="*/ 143 h 262"/>
                  <a:gd name="T24" fmla="*/ 449 w 476"/>
                  <a:gd name="T25" fmla="*/ 167 h 262"/>
                  <a:gd name="T26" fmla="*/ 421 w 476"/>
                  <a:gd name="T27" fmla="*/ 193 h 262"/>
                  <a:gd name="T28" fmla="*/ 377 w 476"/>
                  <a:gd name="T29" fmla="*/ 211 h 262"/>
                  <a:gd name="T30" fmla="*/ 332 w 476"/>
                  <a:gd name="T31" fmla="*/ 232 h 262"/>
                  <a:gd name="T32" fmla="*/ 290 w 476"/>
                  <a:gd name="T33" fmla="*/ 249 h 262"/>
                  <a:gd name="T34" fmla="*/ 251 w 476"/>
                  <a:gd name="T35" fmla="*/ 254 h 262"/>
                  <a:gd name="T36" fmla="*/ 212 w 476"/>
                  <a:gd name="T37" fmla="*/ 262 h 262"/>
                  <a:gd name="T38" fmla="*/ 162 w 476"/>
                  <a:gd name="T39" fmla="*/ 227 h 262"/>
                  <a:gd name="T40" fmla="*/ 123 w 476"/>
                  <a:gd name="T41" fmla="*/ 195 h 262"/>
                  <a:gd name="T42" fmla="*/ 79 w 476"/>
                  <a:gd name="T43" fmla="*/ 157 h 262"/>
                  <a:gd name="T44" fmla="*/ 44 w 476"/>
                  <a:gd name="T45" fmla="*/ 118 h 262"/>
                  <a:gd name="T46" fmla="*/ 16 w 476"/>
                  <a:gd name="T47" fmla="*/ 90 h 262"/>
                  <a:gd name="T48" fmla="*/ 0 w 476"/>
                  <a:gd name="T49" fmla="*/ 52 h 262"/>
                  <a:gd name="T50" fmla="*/ 14 w 476"/>
                  <a:gd name="T51" fmla="*/ 29 h 26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476" h="262">
                    <a:moveTo>
                      <a:pt x="14" y="29"/>
                    </a:moveTo>
                    <a:lnTo>
                      <a:pt x="70" y="33"/>
                    </a:lnTo>
                    <a:lnTo>
                      <a:pt x="131" y="34"/>
                    </a:lnTo>
                    <a:lnTo>
                      <a:pt x="169" y="34"/>
                    </a:lnTo>
                    <a:lnTo>
                      <a:pt x="200" y="27"/>
                    </a:lnTo>
                    <a:lnTo>
                      <a:pt x="249" y="12"/>
                    </a:lnTo>
                    <a:lnTo>
                      <a:pt x="273" y="0"/>
                    </a:lnTo>
                    <a:lnTo>
                      <a:pt x="306" y="18"/>
                    </a:lnTo>
                    <a:lnTo>
                      <a:pt x="359" y="55"/>
                    </a:lnTo>
                    <a:lnTo>
                      <a:pt x="397" y="83"/>
                    </a:lnTo>
                    <a:lnTo>
                      <a:pt x="447" y="118"/>
                    </a:lnTo>
                    <a:lnTo>
                      <a:pt x="476" y="143"/>
                    </a:lnTo>
                    <a:lnTo>
                      <a:pt x="449" y="167"/>
                    </a:lnTo>
                    <a:lnTo>
                      <a:pt x="421" y="193"/>
                    </a:lnTo>
                    <a:lnTo>
                      <a:pt x="377" y="211"/>
                    </a:lnTo>
                    <a:lnTo>
                      <a:pt x="332" y="232"/>
                    </a:lnTo>
                    <a:lnTo>
                      <a:pt x="290" y="249"/>
                    </a:lnTo>
                    <a:lnTo>
                      <a:pt x="251" y="254"/>
                    </a:lnTo>
                    <a:lnTo>
                      <a:pt x="212" y="262"/>
                    </a:lnTo>
                    <a:lnTo>
                      <a:pt x="162" y="227"/>
                    </a:lnTo>
                    <a:lnTo>
                      <a:pt x="123" y="195"/>
                    </a:lnTo>
                    <a:lnTo>
                      <a:pt x="79" y="157"/>
                    </a:lnTo>
                    <a:lnTo>
                      <a:pt x="44" y="118"/>
                    </a:lnTo>
                    <a:lnTo>
                      <a:pt x="16" y="90"/>
                    </a:lnTo>
                    <a:lnTo>
                      <a:pt x="0" y="52"/>
                    </a:lnTo>
                    <a:lnTo>
                      <a:pt x="14" y="29"/>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5" name="Freeform 126"/>
              <p:cNvSpPr>
                <a:spLocks/>
              </p:cNvSpPr>
              <p:nvPr/>
            </p:nvSpPr>
            <p:spPr bwMode="auto">
              <a:xfrm>
                <a:off x="3031" y="173"/>
                <a:ext cx="514" cy="304"/>
              </a:xfrm>
              <a:custGeom>
                <a:avLst/>
                <a:gdLst>
                  <a:gd name="T0" fmla="*/ 251 w 514"/>
                  <a:gd name="T1" fmla="*/ 259 h 304"/>
                  <a:gd name="T2" fmla="*/ 333 w 514"/>
                  <a:gd name="T3" fmla="*/ 237 h 304"/>
                  <a:gd name="T4" fmla="*/ 398 w 514"/>
                  <a:gd name="T5" fmla="*/ 207 h 304"/>
                  <a:gd name="T6" fmla="*/ 446 w 514"/>
                  <a:gd name="T7" fmla="*/ 175 h 304"/>
                  <a:gd name="T8" fmla="*/ 464 w 514"/>
                  <a:gd name="T9" fmla="*/ 154 h 304"/>
                  <a:gd name="T10" fmla="*/ 397 w 514"/>
                  <a:gd name="T11" fmla="*/ 91 h 304"/>
                  <a:gd name="T12" fmla="*/ 342 w 514"/>
                  <a:gd name="T13" fmla="*/ 59 h 304"/>
                  <a:gd name="T14" fmla="*/ 290 w 514"/>
                  <a:gd name="T15" fmla="*/ 26 h 304"/>
                  <a:gd name="T16" fmla="*/ 278 w 514"/>
                  <a:gd name="T17" fmla="*/ 26 h 304"/>
                  <a:gd name="T18" fmla="*/ 246 w 514"/>
                  <a:gd name="T19" fmla="*/ 36 h 304"/>
                  <a:gd name="T20" fmla="*/ 202 w 514"/>
                  <a:gd name="T21" fmla="*/ 49 h 304"/>
                  <a:gd name="T22" fmla="*/ 124 w 514"/>
                  <a:gd name="T23" fmla="*/ 54 h 304"/>
                  <a:gd name="T24" fmla="*/ 47 w 514"/>
                  <a:gd name="T25" fmla="*/ 53 h 304"/>
                  <a:gd name="T26" fmla="*/ 26 w 514"/>
                  <a:gd name="T27" fmla="*/ 54 h 304"/>
                  <a:gd name="T28" fmla="*/ 26 w 514"/>
                  <a:gd name="T29" fmla="*/ 70 h 304"/>
                  <a:gd name="T30" fmla="*/ 44 w 514"/>
                  <a:gd name="T31" fmla="*/ 91 h 304"/>
                  <a:gd name="T32" fmla="*/ 74 w 514"/>
                  <a:gd name="T33" fmla="*/ 132 h 304"/>
                  <a:gd name="T34" fmla="*/ 115 w 514"/>
                  <a:gd name="T35" fmla="*/ 165 h 304"/>
                  <a:gd name="T36" fmla="*/ 164 w 514"/>
                  <a:gd name="T37" fmla="*/ 214 h 304"/>
                  <a:gd name="T38" fmla="*/ 211 w 514"/>
                  <a:gd name="T39" fmla="*/ 249 h 304"/>
                  <a:gd name="T40" fmla="*/ 240 w 514"/>
                  <a:gd name="T41" fmla="*/ 268 h 304"/>
                  <a:gd name="T42" fmla="*/ 249 w 514"/>
                  <a:gd name="T43" fmla="*/ 291 h 304"/>
                  <a:gd name="T44" fmla="*/ 239 w 514"/>
                  <a:gd name="T45" fmla="*/ 304 h 304"/>
                  <a:gd name="T46" fmla="*/ 221 w 514"/>
                  <a:gd name="T47" fmla="*/ 296 h 304"/>
                  <a:gd name="T48" fmla="*/ 175 w 514"/>
                  <a:gd name="T49" fmla="*/ 252 h 304"/>
                  <a:gd name="T50" fmla="*/ 115 w 514"/>
                  <a:gd name="T51" fmla="*/ 202 h 304"/>
                  <a:gd name="T52" fmla="*/ 70 w 514"/>
                  <a:gd name="T53" fmla="*/ 165 h 304"/>
                  <a:gd name="T54" fmla="*/ 42 w 514"/>
                  <a:gd name="T55" fmla="*/ 132 h 304"/>
                  <a:gd name="T56" fmla="*/ 16 w 514"/>
                  <a:gd name="T57" fmla="*/ 98 h 304"/>
                  <a:gd name="T58" fmla="*/ 5 w 514"/>
                  <a:gd name="T59" fmla="*/ 75 h 304"/>
                  <a:gd name="T60" fmla="*/ 0 w 514"/>
                  <a:gd name="T61" fmla="*/ 49 h 304"/>
                  <a:gd name="T62" fmla="*/ 7 w 514"/>
                  <a:gd name="T63" fmla="*/ 33 h 304"/>
                  <a:gd name="T64" fmla="*/ 25 w 514"/>
                  <a:gd name="T65" fmla="*/ 26 h 304"/>
                  <a:gd name="T66" fmla="*/ 58 w 514"/>
                  <a:gd name="T67" fmla="*/ 27 h 304"/>
                  <a:gd name="T68" fmla="*/ 120 w 514"/>
                  <a:gd name="T69" fmla="*/ 36 h 304"/>
                  <a:gd name="T70" fmla="*/ 173 w 514"/>
                  <a:gd name="T71" fmla="*/ 36 h 304"/>
                  <a:gd name="T72" fmla="*/ 211 w 514"/>
                  <a:gd name="T73" fmla="*/ 26 h 304"/>
                  <a:gd name="T74" fmla="*/ 255 w 514"/>
                  <a:gd name="T75" fmla="*/ 16 h 304"/>
                  <a:gd name="T76" fmla="*/ 273 w 514"/>
                  <a:gd name="T77" fmla="*/ 0 h 304"/>
                  <a:gd name="T78" fmla="*/ 293 w 514"/>
                  <a:gd name="T79" fmla="*/ 0 h 304"/>
                  <a:gd name="T80" fmla="*/ 338 w 514"/>
                  <a:gd name="T81" fmla="*/ 27 h 304"/>
                  <a:gd name="T82" fmla="*/ 388 w 514"/>
                  <a:gd name="T83" fmla="*/ 66 h 304"/>
                  <a:gd name="T84" fmla="*/ 441 w 514"/>
                  <a:gd name="T85" fmla="*/ 99 h 304"/>
                  <a:gd name="T86" fmla="*/ 469 w 514"/>
                  <a:gd name="T87" fmla="*/ 121 h 304"/>
                  <a:gd name="T88" fmla="*/ 501 w 514"/>
                  <a:gd name="T89" fmla="*/ 142 h 304"/>
                  <a:gd name="T90" fmla="*/ 514 w 514"/>
                  <a:gd name="T91" fmla="*/ 149 h 304"/>
                  <a:gd name="T92" fmla="*/ 506 w 514"/>
                  <a:gd name="T93" fmla="*/ 163 h 304"/>
                  <a:gd name="T94" fmla="*/ 485 w 514"/>
                  <a:gd name="T95" fmla="*/ 177 h 304"/>
                  <a:gd name="T96" fmla="*/ 459 w 514"/>
                  <a:gd name="T97" fmla="*/ 198 h 304"/>
                  <a:gd name="T98" fmla="*/ 435 w 514"/>
                  <a:gd name="T99" fmla="*/ 207 h 304"/>
                  <a:gd name="T100" fmla="*/ 391 w 514"/>
                  <a:gd name="T101" fmla="*/ 226 h 304"/>
                  <a:gd name="T102" fmla="*/ 361 w 514"/>
                  <a:gd name="T103" fmla="*/ 241 h 304"/>
                  <a:gd name="T104" fmla="*/ 326 w 514"/>
                  <a:gd name="T105" fmla="*/ 263 h 304"/>
                  <a:gd name="T106" fmla="*/ 290 w 514"/>
                  <a:gd name="T107" fmla="*/ 268 h 304"/>
                  <a:gd name="T108" fmla="*/ 260 w 514"/>
                  <a:gd name="T109" fmla="*/ 270 h 304"/>
                  <a:gd name="T110" fmla="*/ 251 w 514"/>
                  <a:gd name="T111" fmla="*/ 259 h 30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14" h="304">
                    <a:moveTo>
                      <a:pt x="251" y="259"/>
                    </a:moveTo>
                    <a:lnTo>
                      <a:pt x="333" y="237"/>
                    </a:lnTo>
                    <a:lnTo>
                      <a:pt x="398" y="207"/>
                    </a:lnTo>
                    <a:lnTo>
                      <a:pt x="446" y="175"/>
                    </a:lnTo>
                    <a:lnTo>
                      <a:pt x="464" y="154"/>
                    </a:lnTo>
                    <a:lnTo>
                      <a:pt x="397" y="91"/>
                    </a:lnTo>
                    <a:lnTo>
                      <a:pt x="342" y="59"/>
                    </a:lnTo>
                    <a:lnTo>
                      <a:pt x="290" y="26"/>
                    </a:lnTo>
                    <a:lnTo>
                      <a:pt x="278" y="26"/>
                    </a:lnTo>
                    <a:lnTo>
                      <a:pt x="246" y="36"/>
                    </a:lnTo>
                    <a:lnTo>
                      <a:pt x="202" y="49"/>
                    </a:lnTo>
                    <a:lnTo>
                      <a:pt x="124" y="54"/>
                    </a:lnTo>
                    <a:lnTo>
                      <a:pt x="47" y="53"/>
                    </a:lnTo>
                    <a:lnTo>
                      <a:pt x="26" y="54"/>
                    </a:lnTo>
                    <a:lnTo>
                      <a:pt x="26" y="70"/>
                    </a:lnTo>
                    <a:lnTo>
                      <a:pt x="44" y="91"/>
                    </a:lnTo>
                    <a:lnTo>
                      <a:pt x="74" y="132"/>
                    </a:lnTo>
                    <a:lnTo>
                      <a:pt x="115" y="165"/>
                    </a:lnTo>
                    <a:lnTo>
                      <a:pt x="164" y="214"/>
                    </a:lnTo>
                    <a:lnTo>
                      <a:pt x="211" y="249"/>
                    </a:lnTo>
                    <a:lnTo>
                      <a:pt x="240" y="268"/>
                    </a:lnTo>
                    <a:lnTo>
                      <a:pt x="249" y="291"/>
                    </a:lnTo>
                    <a:lnTo>
                      <a:pt x="239" y="304"/>
                    </a:lnTo>
                    <a:lnTo>
                      <a:pt x="221" y="296"/>
                    </a:lnTo>
                    <a:lnTo>
                      <a:pt x="175" y="252"/>
                    </a:lnTo>
                    <a:lnTo>
                      <a:pt x="115" y="202"/>
                    </a:lnTo>
                    <a:lnTo>
                      <a:pt x="70" y="165"/>
                    </a:lnTo>
                    <a:lnTo>
                      <a:pt x="42" y="132"/>
                    </a:lnTo>
                    <a:lnTo>
                      <a:pt x="16" y="98"/>
                    </a:lnTo>
                    <a:lnTo>
                      <a:pt x="5" y="75"/>
                    </a:lnTo>
                    <a:lnTo>
                      <a:pt x="0" y="49"/>
                    </a:lnTo>
                    <a:lnTo>
                      <a:pt x="7" y="33"/>
                    </a:lnTo>
                    <a:lnTo>
                      <a:pt x="25" y="26"/>
                    </a:lnTo>
                    <a:lnTo>
                      <a:pt x="58" y="27"/>
                    </a:lnTo>
                    <a:lnTo>
                      <a:pt x="120" y="36"/>
                    </a:lnTo>
                    <a:lnTo>
                      <a:pt x="173" y="36"/>
                    </a:lnTo>
                    <a:lnTo>
                      <a:pt x="211" y="26"/>
                    </a:lnTo>
                    <a:lnTo>
                      <a:pt x="255" y="16"/>
                    </a:lnTo>
                    <a:lnTo>
                      <a:pt x="273" y="0"/>
                    </a:lnTo>
                    <a:lnTo>
                      <a:pt x="293" y="0"/>
                    </a:lnTo>
                    <a:lnTo>
                      <a:pt x="338" y="27"/>
                    </a:lnTo>
                    <a:lnTo>
                      <a:pt x="388" y="66"/>
                    </a:lnTo>
                    <a:lnTo>
                      <a:pt x="441" y="99"/>
                    </a:lnTo>
                    <a:lnTo>
                      <a:pt x="469" y="121"/>
                    </a:lnTo>
                    <a:lnTo>
                      <a:pt x="501" y="142"/>
                    </a:lnTo>
                    <a:lnTo>
                      <a:pt x="514" y="149"/>
                    </a:lnTo>
                    <a:lnTo>
                      <a:pt x="506" y="163"/>
                    </a:lnTo>
                    <a:lnTo>
                      <a:pt x="485" y="177"/>
                    </a:lnTo>
                    <a:lnTo>
                      <a:pt x="459" y="198"/>
                    </a:lnTo>
                    <a:lnTo>
                      <a:pt x="435" y="207"/>
                    </a:lnTo>
                    <a:lnTo>
                      <a:pt x="391" y="226"/>
                    </a:lnTo>
                    <a:lnTo>
                      <a:pt x="361" y="241"/>
                    </a:lnTo>
                    <a:lnTo>
                      <a:pt x="326" y="263"/>
                    </a:lnTo>
                    <a:lnTo>
                      <a:pt x="290" y="268"/>
                    </a:lnTo>
                    <a:lnTo>
                      <a:pt x="260" y="270"/>
                    </a:lnTo>
                    <a:lnTo>
                      <a:pt x="251" y="2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6" name="Freeform 127"/>
              <p:cNvSpPr>
                <a:spLocks/>
              </p:cNvSpPr>
              <p:nvPr/>
            </p:nvSpPr>
            <p:spPr bwMode="auto">
              <a:xfrm>
                <a:off x="3316" y="397"/>
                <a:ext cx="168" cy="110"/>
              </a:xfrm>
              <a:custGeom>
                <a:avLst/>
                <a:gdLst>
                  <a:gd name="T0" fmla="*/ 141 w 168"/>
                  <a:gd name="T1" fmla="*/ 13 h 110"/>
                  <a:gd name="T2" fmla="*/ 105 w 168"/>
                  <a:gd name="T3" fmla="*/ 42 h 110"/>
                  <a:gd name="T4" fmla="*/ 74 w 168"/>
                  <a:gd name="T5" fmla="*/ 69 h 110"/>
                  <a:gd name="T6" fmla="*/ 26 w 168"/>
                  <a:gd name="T7" fmla="*/ 86 h 110"/>
                  <a:gd name="T8" fmla="*/ 0 w 168"/>
                  <a:gd name="T9" fmla="*/ 94 h 110"/>
                  <a:gd name="T10" fmla="*/ 20 w 168"/>
                  <a:gd name="T11" fmla="*/ 110 h 110"/>
                  <a:gd name="T12" fmla="*/ 55 w 168"/>
                  <a:gd name="T13" fmla="*/ 104 h 110"/>
                  <a:gd name="T14" fmla="*/ 107 w 168"/>
                  <a:gd name="T15" fmla="*/ 69 h 110"/>
                  <a:gd name="T16" fmla="*/ 168 w 168"/>
                  <a:gd name="T17" fmla="*/ 0 h 110"/>
                  <a:gd name="T18" fmla="*/ 141 w 168"/>
                  <a:gd name="T19" fmla="*/ 13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8" h="110">
                    <a:moveTo>
                      <a:pt x="141" y="13"/>
                    </a:moveTo>
                    <a:lnTo>
                      <a:pt x="105" y="42"/>
                    </a:lnTo>
                    <a:lnTo>
                      <a:pt x="74" y="69"/>
                    </a:lnTo>
                    <a:lnTo>
                      <a:pt x="26" y="86"/>
                    </a:lnTo>
                    <a:lnTo>
                      <a:pt x="0" y="94"/>
                    </a:lnTo>
                    <a:lnTo>
                      <a:pt x="20" y="110"/>
                    </a:lnTo>
                    <a:lnTo>
                      <a:pt x="55" y="104"/>
                    </a:lnTo>
                    <a:lnTo>
                      <a:pt x="107" y="69"/>
                    </a:lnTo>
                    <a:lnTo>
                      <a:pt x="168" y="0"/>
                    </a:lnTo>
                    <a:lnTo>
                      <a:pt x="141"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154" name="Group 128"/>
            <p:cNvGrpSpPr>
              <a:grpSpLocks/>
            </p:cNvGrpSpPr>
            <p:nvPr/>
          </p:nvGrpSpPr>
          <p:grpSpPr bwMode="auto">
            <a:xfrm>
              <a:off x="4270" y="1950"/>
              <a:ext cx="309" cy="696"/>
              <a:chOff x="2962" y="173"/>
              <a:chExt cx="597" cy="1341"/>
            </a:xfrm>
          </p:grpSpPr>
          <p:sp>
            <p:nvSpPr>
              <p:cNvPr id="6193" name="Freeform 129"/>
              <p:cNvSpPr>
                <a:spLocks/>
              </p:cNvSpPr>
              <p:nvPr/>
            </p:nvSpPr>
            <p:spPr bwMode="auto">
              <a:xfrm>
                <a:off x="2972" y="232"/>
                <a:ext cx="318" cy="1264"/>
              </a:xfrm>
              <a:custGeom>
                <a:avLst/>
                <a:gdLst>
                  <a:gd name="T0" fmla="*/ 312 w 318"/>
                  <a:gd name="T1" fmla="*/ 226 h 1264"/>
                  <a:gd name="T2" fmla="*/ 318 w 318"/>
                  <a:gd name="T3" fmla="*/ 274 h 1264"/>
                  <a:gd name="T4" fmla="*/ 318 w 318"/>
                  <a:gd name="T5" fmla="*/ 524 h 1264"/>
                  <a:gd name="T6" fmla="*/ 295 w 318"/>
                  <a:gd name="T7" fmla="*/ 859 h 1264"/>
                  <a:gd name="T8" fmla="*/ 297 w 318"/>
                  <a:gd name="T9" fmla="*/ 1074 h 1264"/>
                  <a:gd name="T10" fmla="*/ 309 w 318"/>
                  <a:gd name="T11" fmla="*/ 1222 h 1264"/>
                  <a:gd name="T12" fmla="*/ 297 w 318"/>
                  <a:gd name="T13" fmla="*/ 1264 h 1264"/>
                  <a:gd name="T14" fmla="*/ 279 w 318"/>
                  <a:gd name="T15" fmla="*/ 1255 h 1264"/>
                  <a:gd name="T16" fmla="*/ 170 w 318"/>
                  <a:gd name="T17" fmla="*/ 1173 h 1264"/>
                  <a:gd name="T18" fmla="*/ 143 w 318"/>
                  <a:gd name="T19" fmla="*/ 1157 h 1264"/>
                  <a:gd name="T20" fmla="*/ 126 w 318"/>
                  <a:gd name="T21" fmla="*/ 1133 h 1264"/>
                  <a:gd name="T22" fmla="*/ 98 w 318"/>
                  <a:gd name="T23" fmla="*/ 1103 h 1264"/>
                  <a:gd name="T24" fmla="*/ 62 w 318"/>
                  <a:gd name="T25" fmla="*/ 1071 h 1264"/>
                  <a:gd name="T26" fmla="*/ 44 w 318"/>
                  <a:gd name="T27" fmla="*/ 1028 h 1264"/>
                  <a:gd name="T28" fmla="*/ 0 w 318"/>
                  <a:gd name="T29" fmla="*/ 989 h 1264"/>
                  <a:gd name="T30" fmla="*/ 0 w 318"/>
                  <a:gd name="T31" fmla="*/ 968 h 1264"/>
                  <a:gd name="T32" fmla="*/ 24 w 318"/>
                  <a:gd name="T33" fmla="*/ 939 h 1264"/>
                  <a:gd name="T34" fmla="*/ 33 w 318"/>
                  <a:gd name="T35" fmla="*/ 901 h 1264"/>
                  <a:gd name="T36" fmla="*/ 27 w 318"/>
                  <a:gd name="T37" fmla="*/ 882 h 1264"/>
                  <a:gd name="T38" fmla="*/ 16 w 318"/>
                  <a:gd name="T39" fmla="*/ 848 h 1264"/>
                  <a:gd name="T40" fmla="*/ 12 w 318"/>
                  <a:gd name="T41" fmla="*/ 825 h 1264"/>
                  <a:gd name="T42" fmla="*/ 29 w 318"/>
                  <a:gd name="T43" fmla="*/ 789 h 1264"/>
                  <a:gd name="T44" fmla="*/ 29 w 318"/>
                  <a:gd name="T45" fmla="*/ 766 h 1264"/>
                  <a:gd name="T46" fmla="*/ 10 w 318"/>
                  <a:gd name="T47" fmla="*/ 718 h 1264"/>
                  <a:gd name="T48" fmla="*/ 10 w 318"/>
                  <a:gd name="T49" fmla="*/ 690 h 1264"/>
                  <a:gd name="T50" fmla="*/ 22 w 318"/>
                  <a:gd name="T51" fmla="*/ 668 h 1264"/>
                  <a:gd name="T52" fmla="*/ 40 w 318"/>
                  <a:gd name="T53" fmla="*/ 643 h 1264"/>
                  <a:gd name="T54" fmla="*/ 38 w 318"/>
                  <a:gd name="T55" fmla="*/ 600 h 1264"/>
                  <a:gd name="T56" fmla="*/ 27 w 318"/>
                  <a:gd name="T57" fmla="*/ 566 h 1264"/>
                  <a:gd name="T58" fmla="*/ 38 w 318"/>
                  <a:gd name="T59" fmla="*/ 524 h 1264"/>
                  <a:gd name="T60" fmla="*/ 49 w 318"/>
                  <a:gd name="T61" fmla="*/ 513 h 1264"/>
                  <a:gd name="T62" fmla="*/ 40 w 318"/>
                  <a:gd name="T63" fmla="*/ 476 h 1264"/>
                  <a:gd name="T64" fmla="*/ 16 w 318"/>
                  <a:gd name="T65" fmla="*/ 436 h 1264"/>
                  <a:gd name="T66" fmla="*/ 10 w 318"/>
                  <a:gd name="T67" fmla="*/ 409 h 1264"/>
                  <a:gd name="T68" fmla="*/ 16 w 318"/>
                  <a:gd name="T69" fmla="*/ 383 h 1264"/>
                  <a:gd name="T70" fmla="*/ 45 w 318"/>
                  <a:gd name="T71" fmla="*/ 362 h 1264"/>
                  <a:gd name="T72" fmla="*/ 44 w 318"/>
                  <a:gd name="T73" fmla="*/ 344 h 1264"/>
                  <a:gd name="T74" fmla="*/ 12 w 318"/>
                  <a:gd name="T75" fmla="*/ 286 h 1264"/>
                  <a:gd name="T76" fmla="*/ 1 w 318"/>
                  <a:gd name="T77" fmla="*/ 242 h 1264"/>
                  <a:gd name="T78" fmla="*/ 10 w 318"/>
                  <a:gd name="T79" fmla="*/ 216 h 1264"/>
                  <a:gd name="T80" fmla="*/ 40 w 318"/>
                  <a:gd name="T81" fmla="*/ 192 h 1264"/>
                  <a:gd name="T82" fmla="*/ 33 w 318"/>
                  <a:gd name="T83" fmla="*/ 173 h 1264"/>
                  <a:gd name="T84" fmla="*/ 12 w 318"/>
                  <a:gd name="T85" fmla="*/ 149 h 1264"/>
                  <a:gd name="T86" fmla="*/ 12 w 318"/>
                  <a:gd name="T87" fmla="*/ 124 h 1264"/>
                  <a:gd name="T88" fmla="*/ 45 w 318"/>
                  <a:gd name="T89" fmla="*/ 108 h 1264"/>
                  <a:gd name="T90" fmla="*/ 61 w 318"/>
                  <a:gd name="T91" fmla="*/ 90 h 1264"/>
                  <a:gd name="T92" fmla="*/ 33 w 318"/>
                  <a:gd name="T93" fmla="*/ 51 h 1264"/>
                  <a:gd name="T94" fmla="*/ 33 w 318"/>
                  <a:gd name="T95" fmla="*/ 32 h 1264"/>
                  <a:gd name="T96" fmla="*/ 66 w 318"/>
                  <a:gd name="T97" fmla="*/ 19 h 1264"/>
                  <a:gd name="T98" fmla="*/ 68 w 318"/>
                  <a:gd name="T99" fmla="*/ 0 h 1264"/>
                  <a:gd name="T100" fmla="*/ 105 w 318"/>
                  <a:gd name="T101" fmla="*/ 51 h 1264"/>
                  <a:gd name="T102" fmla="*/ 149 w 318"/>
                  <a:gd name="T103" fmla="*/ 106 h 1264"/>
                  <a:gd name="T104" fmla="*/ 203 w 318"/>
                  <a:gd name="T105" fmla="*/ 149 h 1264"/>
                  <a:gd name="T106" fmla="*/ 247 w 318"/>
                  <a:gd name="T107" fmla="*/ 183 h 1264"/>
                  <a:gd name="T108" fmla="*/ 295 w 318"/>
                  <a:gd name="T109" fmla="*/ 210 h 1264"/>
                  <a:gd name="T110" fmla="*/ 312 w 318"/>
                  <a:gd name="T111" fmla="*/ 226 h 126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318" h="1264">
                    <a:moveTo>
                      <a:pt x="312" y="226"/>
                    </a:moveTo>
                    <a:lnTo>
                      <a:pt x="318" y="274"/>
                    </a:lnTo>
                    <a:lnTo>
                      <a:pt x="318" y="524"/>
                    </a:lnTo>
                    <a:lnTo>
                      <a:pt x="295" y="859"/>
                    </a:lnTo>
                    <a:lnTo>
                      <a:pt x="297" y="1074"/>
                    </a:lnTo>
                    <a:lnTo>
                      <a:pt x="309" y="1222"/>
                    </a:lnTo>
                    <a:lnTo>
                      <a:pt x="297" y="1264"/>
                    </a:lnTo>
                    <a:lnTo>
                      <a:pt x="279" y="1255"/>
                    </a:lnTo>
                    <a:lnTo>
                      <a:pt x="170" y="1173"/>
                    </a:lnTo>
                    <a:lnTo>
                      <a:pt x="143" y="1157"/>
                    </a:lnTo>
                    <a:lnTo>
                      <a:pt x="126" y="1133"/>
                    </a:lnTo>
                    <a:lnTo>
                      <a:pt x="98" y="1103"/>
                    </a:lnTo>
                    <a:lnTo>
                      <a:pt x="62" y="1071"/>
                    </a:lnTo>
                    <a:lnTo>
                      <a:pt x="44" y="1028"/>
                    </a:lnTo>
                    <a:lnTo>
                      <a:pt x="0" y="989"/>
                    </a:lnTo>
                    <a:lnTo>
                      <a:pt x="0" y="968"/>
                    </a:lnTo>
                    <a:lnTo>
                      <a:pt x="24" y="939"/>
                    </a:lnTo>
                    <a:lnTo>
                      <a:pt x="33" y="901"/>
                    </a:lnTo>
                    <a:lnTo>
                      <a:pt x="27" y="882"/>
                    </a:lnTo>
                    <a:lnTo>
                      <a:pt x="16" y="848"/>
                    </a:lnTo>
                    <a:lnTo>
                      <a:pt x="12" y="825"/>
                    </a:lnTo>
                    <a:lnTo>
                      <a:pt x="29" y="789"/>
                    </a:lnTo>
                    <a:lnTo>
                      <a:pt x="29" y="766"/>
                    </a:lnTo>
                    <a:lnTo>
                      <a:pt x="10" y="718"/>
                    </a:lnTo>
                    <a:lnTo>
                      <a:pt x="10" y="690"/>
                    </a:lnTo>
                    <a:lnTo>
                      <a:pt x="22" y="668"/>
                    </a:lnTo>
                    <a:lnTo>
                      <a:pt x="40" y="643"/>
                    </a:lnTo>
                    <a:lnTo>
                      <a:pt x="38" y="600"/>
                    </a:lnTo>
                    <a:lnTo>
                      <a:pt x="27" y="566"/>
                    </a:lnTo>
                    <a:lnTo>
                      <a:pt x="38" y="524"/>
                    </a:lnTo>
                    <a:lnTo>
                      <a:pt x="49" y="513"/>
                    </a:lnTo>
                    <a:lnTo>
                      <a:pt x="40" y="476"/>
                    </a:lnTo>
                    <a:lnTo>
                      <a:pt x="16" y="436"/>
                    </a:lnTo>
                    <a:lnTo>
                      <a:pt x="10" y="409"/>
                    </a:lnTo>
                    <a:lnTo>
                      <a:pt x="16" y="383"/>
                    </a:lnTo>
                    <a:lnTo>
                      <a:pt x="45" y="362"/>
                    </a:lnTo>
                    <a:lnTo>
                      <a:pt x="44" y="344"/>
                    </a:lnTo>
                    <a:lnTo>
                      <a:pt x="12" y="286"/>
                    </a:lnTo>
                    <a:lnTo>
                      <a:pt x="1" y="242"/>
                    </a:lnTo>
                    <a:lnTo>
                      <a:pt x="10" y="216"/>
                    </a:lnTo>
                    <a:lnTo>
                      <a:pt x="40" y="192"/>
                    </a:lnTo>
                    <a:lnTo>
                      <a:pt x="33" y="173"/>
                    </a:lnTo>
                    <a:lnTo>
                      <a:pt x="12" y="149"/>
                    </a:lnTo>
                    <a:lnTo>
                      <a:pt x="12" y="124"/>
                    </a:lnTo>
                    <a:lnTo>
                      <a:pt x="45" y="108"/>
                    </a:lnTo>
                    <a:lnTo>
                      <a:pt x="61" y="90"/>
                    </a:lnTo>
                    <a:lnTo>
                      <a:pt x="33" y="51"/>
                    </a:lnTo>
                    <a:lnTo>
                      <a:pt x="33" y="32"/>
                    </a:lnTo>
                    <a:lnTo>
                      <a:pt x="66" y="19"/>
                    </a:lnTo>
                    <a:lnTo>
                      <a:pt x="68" y="0"/>
                    </a:lnTo>
                    <a:lnTo>
                      <a:pt x="105" y="51"/>
                    </a:lnTo>
                    <a:lnTo>
                      <a:pt x="149" y="106"/>
                    </a:lnTo>
                    <a:lnTo>
                      <a:pt x="203" y="149"/>
                    </a:lnTo>
                    <a:lnTo>
                      <a:pt x="247" y="183"/>
                    </a:lnTo>
                    <a:lnTo>
                      <a:pt x="295" y="210"/>
                    </a:lnTo>
                    <a:lnTo>
                      <a:pt x="312" y="226"/>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4" name="Freeform 130"/>
              <p:cNvSpPr>
                <a:spLocks/>
              </p:cNvSpPr>
              <p:nvPr/>
            </p:nvSpPr>
            <p:spPr bwMode="auto">
              <a:xfrm>
                <a:off x="2962" y="252"/>
                <a:ext cx="97" cy="965"/>
              </a:xfrm>
              <a:custGeom>
                <a:avLst/>
                <a:gdLst>
                  <a:gd name="T0" fmla="*/ 65 w 97"/>
                  <a:gd name="T1" fmla="*/ 32 h 965"/>
                  <a:gd name="T2" fmla="*/ 97 w 97"/>
                  <a:gd name="T3" fmla="*/ 67 h 965"/>
                  <a:gd name="T4" fmla="*/ 77 w 97"/>
                  <a:gd name="T5" fmla="*/ 94 h 965"/>
                  <a:gd name="T6" fmla="*/ 36 w 97"/>
                  <a:gd name="T7" fmla="*/ 113 h 965"/>
                  <a:gd name="T8" fmla="*/ 52 w 97"/>
                  <a:gd name="T9" fmla="*/ 140 h 965"/>
                  <a:gd name="T10" fmla="*/ 71 w 97"/>
                  <a:gd name="T11" fmla="*/ 174 h 965"/>
                  <a:gd name="T12" fmla="*/ 48 w 97"/>
                  <a:gd name="T13" fmla="*/ 197 h 965"/>
                  <a:gd name="T14" fmla="*/ 28 w 97"/>
                  <a:gd name="T15" fmla="*/ 224 h 965"/>
                  <a:gd name="T16" fmla="*/ 48 w 97"/>
                  <a:gd name="T17" fmla="*/ 272 h 965"/>
                  <a:gd name="T18" fmla="*/ 71 w 97"/>
                  <a:gd name="T19" fmla="*/ 316 h 965"/>
                  <a:gd name="T20" fmla="*/ 65 w 97"/>
                  <a:gd name="T21" fmla="*/ 354 h 965"/>
                  <a:gd name="T22" fmla="*/ 36 w 97"/>
                  <a:gd name="T23" fmla="*/ 386 h 965"/>
                  <a:gd name="T24" fmla="*/ 70 w 97"/>
                  <a:gd name="T25" fmla="*/ 455 h 965"/>
                  <a:gd name="T26" fmla="*/ 83 w 97"/>
                  <a:gd name="T27" fmla="*/ 498 h 965"/>
                  <a:gd name="T28" fmla="*/ 58 w 97"/>
                  <a:gd name="T29" fmla="*/ 530 h 965"/>
                  <a:gd name="T30" fmla="*/ 63 w 97"/>
                  <a:gd name="T31" fmla="*/ 580 h 965"/>
                  <a:gd name="T32" fmla="*/ 81 w 97"/>
                  <a:gd name="T33" fmla="*/ 628 h 965"/>
                  <a:gd name="T34" fmla="*/ 60 w 97"/>
                  <a:gd name="T35" fmla="*/ 655 h 965"/>
                  <a:gd name="T36" fmla="*/ 31 w 97"/>
                  <a:gd name="T37" fmla="*/ 688 h 965"/>
                  <a:gd name="T38" fmla="*/ 60 w 97"/>
                  <a:gd name="T39" fmla="*/ 747 h 965"/>
                  <a:gd name="T40" fmla="*/ 71 w 97"/>
                  <a:gd name="T41" fmla="*/ 788 h 965"/>
                  <a:gd name="T42" fmla="*/ 46 w 97"/>
                  <a:gd name="T43" fmla="*/ 797 h 965"/>
                  <a:gd name="T44" fmla="*/ 52 w 97"/>
                  <a:gd name="T45" fmla="*/ 861 h 965"/>
                  <a:gd name="T46" fmla="*/ 65 w 97"/>
                  <a:gd name="T47" fmla="*/ 895 h 965"/>
                  <a:gd name="T48" fmla="*/ 46 w 97"/>
                  <a:gd name="T49" fmla="*/ 934 h 965"/>
                  <a:gd name="T50" fmla="*/ 1 w 97"/>
                  <a:gd name="T51" fmla="*/ 954 h 965"/>
                  <a:gd name="T52" fmla="*/ 35 w 97"/>
                  <a:gd name="T53" fmla="*/ 888 h 965"/>
                  <a:gd name="T54" fmla="*/ 19 w 97"/>
                  <a:gd name="T55" fmla="*/ 834 h 965"/>
                  <a:gd name="T56" fmla="*/ 23 w 97"/>
                  <a:gd name="T57" fmla="*/ 788 h 965"/>
                  <a:gd name="T58" fmla="*/ 36 w 97"/>
                  <a:gd name="T59" fmla="*/ 764 h 965"/>
                  <a:gd name="T60" fmla="*/ 8 w 97"/>
                  <a:gd name="T61" fmla="*/ 706 h 965"/>
                  <a:gd name="T62" fmla="*/ 8 w 97"/>
                  <a:gd name="T63" fmla="*/ 646 h 965"/>
                  <a:gd name="T64" fmla="*/ 43 w 97"/>
                  <a:gd name="T65" fmla="*/ 619 h 965"/>
                  <a:gd name="T66" fmla="*/ 35 w 97"/>
                  <a:gd name="T67" fmla="*/ 576 h 965"/>
                  <a:gd name="T68" fmla="*/ 25 w 97"/>
                  <a:gd name="T69" fmla="*/ 525 h 965"/>
                  <a:gd name="T70" fmla="*/ 52 w 97"/>
                  <a:gd name="T71" fmla="*/ 493 h 965"/>
                  <a:gd name="T72" fmla="*/ 40 w 97"/>
                  <a:gd name="T73" fmla="*/ 457 h 965"/>
                  <a:gd name="T74" fmla="*/ 8 w 97"/>
                  <a:gd name="T75" fmla="*/ 400 h 965"/>
                  <a:gd name="T76" fmla="*/ 13 w 97"/>
                  <a:gd name="T77" fmla="*/ 363 h 965"/>
                  <a:gd name="T78" fmla="*/ 43 w 97"/>
                  <a:gd name="T79" fmla="*/ 332 h 965"/>
                  <a:gd name="T80" fmla="*/ 11 w 97"/>
                  <a:gd name="T81" fmla="*/ 260 h 965"/>
                  <a:gd name="T82" fmla="*/ 0 w 97"/>
                  <a:gd name="T83" fmla="*/ 218 h 965"/>
                  <a:gd name="T84" fmla="*/ 25 w 97"/>
                  <a:gd name="T85" fmla="*/ 186 h 965"/>
                  <a:gd name="T86" fmla="*/ 36 w 97"/>
                  <a:gd name="T87" fmla="*/ 164 h 965"/>
                  <a:gd name="T88" fmla="*/ 8 w 97"/>
                  <a:gd name="T89" fmla="*/ 130 h 965"/>
                  <a:gd name="T90" fmla="*/ 19 w 97"/>
                  <a:gd name="T91" fmla="*/ 97 h 965"/>
                  <a:gd name="T92" fmla="*/ 52 w 97"/>
                  <a:gd name="T93" fmla="*/ 76 h 965"/>
                  <a:gd name="T94" fmla="*/ 53 w 97"/>
                  <a:gd name="T95" fmla="*/ 50 h 965"/>
                  <a:gd name="T96" fmla="*/ 36 w 97"/>
                  <a:gd name="T97" fmla="*/ 17 h 96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97" h="965">
                    <a:moveTo>
                      <a:pt x="48" y="0"/>
                    </a:moveTo>
                    <a:lnTo>
                      <a:pt x="65" y="32"/>
                    </a:lnTo>
                    <a:lnTo>
                      <a:pt x="81" y="53"/>
                    </a:lnTo>
                    <a:lnTo>
                      <a:pt x="97" y="67"/>
                    </a:lnTo>
                    <a:lnTo>
                      <a:pt x="93" y="83"/>
                    </a:lnTo>
                    <a:lnTo>
                      <a:pt x="77" y="94"/>
                    </a:lnTo>
                    <a:lnTo>
                      <a:pt x="53" y="99"/>
                    </a:lnTo>
                    <a:lnTo>
                      <a:pt x="36" y="113"/>
                    </a:lnTo>
                    <a:lnTo>
                      <a:pt x="40" y="130"/>
                    </a:lnTo>
                    <a:lnTo>
                      <a:pt x="52" y="140"/>
                    </a:lnTo>
                    <a:lnTo>
                      <a:pt x="71" y="162"/>
                    </a:lnTo>
                    <a:lnTo>
                      <a:pt x="71" y="174"/>
                    </a:lnTo>
                    <a:lnTo>
                      <a:pt x="65" y="186"/>
                    </a:lnTo>
                    <a:lnTo>
                      <a:pt x="48" y="197"/>
                    </a:lnTo>
                    <a:lnTo>
                      <a:pt x="31" y="208"/>
                    </a:lnTo>
                    <a:lnTo>
                      <a:pt x="28" y="224"/>
                    </a:lnTo>
                    <a:lnTo>
                      <a:pt x="35" y="240"/>
                    </a:lnTo>
                    <a:lnTo>
                      <a:pt x="48" y="272"/>
                    </a:lnTo>
                    <a:lnTo>
                      <a:pt x="60" y="297"/>
                    </a:lnTo>
                    <a:lnTo>
                      <a:pt x="71" y="316"/>
                    </a:lnTo>
                    <a:lnTo>
                      <a:pt x="71" y="336"/>
                    </a:lnTo>
                    <a:lnTo>
                      <a:pt x="65" y="354"/>
                    </a:lnTo>
                    <a:lnTo>
                      <a:pt x="48" y="370"/>
                    </a:lnTo>
                    <a:lnTo>
                      <a:pt x="36" y="386"/>
                    </a:lnTo>
                    <a:lnTo>
                      <a:pt x="40" y="413"/>
                    </a:lnTo>
                    <a:lnTo>
                      <a:pt x="70" y="455"/>
                    </a:lnTo>
                    <a:lnTo>
                      <a:pt x="81" y="477"/>
                    </a:lnTo>
                    <a:lnTo>
                      <a:pt x="83" y="498"/>
                    </a:lnTo>
                    <a:lnTo>
                      <a:pt x="71" y="514"/>
                    </a:lnTo>
                    <a:lnTo>
                      <a:pt x="58" y="530"/>
                    </a:lnTo>
                    <a:lnTo>
                      <a:pt x="53" y="553"/>
                    </a:lnTo>
                    <a:lnTo>
                      <a:pt x="63" y="580"/>
                    </a:lnTo>
                    <a:lnTo>
                      <a:pt x="75" y="608"/>
                    </a:lnTo>
                    <a:lnTo>
                      <a:pt x="81" y="628"/>
                    </a:lnTo>
                    <a:lnTo>
                      <a:pt x="75" y="641"/>
                    </a:lnTo>
                    <a:lnTo>
                      <a:pt x="60" y="655"/>
                    </a:lnTo>
                    <a:lnTo>
                      <a:pt x="40" y="672"/>
                    </a:lnTo>
                    <a:lnTo>
                      <a:pt x="31" y="688"/>
                    </a:lnTo>
                    <a:lnTo>
                      <a:pt x="40" y="717"/>
                    </a:lnTo>
                    <a:lnTo>
                      <a:pt x="60" y="747"/>
                    </a:lnTo>
                    <a:lnTo>
                      <a:pt x="70" y="769"/>
                    </a:lnTo>
                    <a:lnTo>
                      <a:pt x="71" y="788"/>
                    </a:lnTo>
                    <a:lnTo>
                      <a:pt x="65" y="797"/>
                    </a:lnTo>
                    <a:lnTo>
                      <a:pt x="46" y="797"/>
                    </a:lnTo>
                    <a:lnTo>
                      <a:pt x="40" y="836"/>
                    </a:lnTo>
                    <a:lnTo>
                      <a:pt x="52" y="861"/>
                    </a:lnTo>
                    <a:lnTo>
                      <a:pt x="63" y="879"/>
                    </a:lnTo>
                    <a:lnTo>
                      <a:pt x="65" y="895"/>
                    </a:lnTo>
                    <a:lnTo>
                      <a:pt x="65" y="911"/>
                    </a:lnTo>
                    <a:lnTo>
                      <a:pt x="46" y="934"/>
                    </a:lnTo>
                    <a:lnTo>
                      <a:pt x="19" y="965"/>
                    </a:lnTo>
                    <a:lnTo>
                      <a:pt x="1" y="954"/>
                    </a:lnTo>
                    <a:lnTo>
                      <a:pt x="8" y="929"/>
                    </a:lnTo>
                    <a:lnTo>
                      <a:pt x="35" y="888"/>
                    </a:lnTo>
                    <a:lnTo>
                      <a:pt x="31" y="863"/>
                    </a:lnTo>
                    <a:lnTo>
                      <a:pt x="19" y="834"/>
                    </a:lnTo>
                    <a:lnTo>
                      <a:pt x="11" y="809"/>
                    </a:lnTo>
                    <a:lnTo>
                      <a:pt x="23" y="788"/>
                    </a:lnTo>
                    <a:lnTo>
                      <a:pt x="35" y="780"/>
                    </a:lnTo>
                    <a:lnTo>
                      <a:pt x="36" y="764"/>
                    </a:lnTo>
                    <a:lnTo>
                      <a:pt x="23" y="733"/>
                    </a:lnTo>
                    <a:lnTo>
                      <a:pt x="8" y="706"/>
                    </a:lnTo>
                    <a:lnTo>
                      <a:pt x="0" y="679"/>
                    </a:lnTo>
                    <a:lnTo>
                      <a:pt x="8" y="646"/>
                    </a:lnTo>
                    <a:lnTo>
                      <a:pt x="35" y="634"/>
                    </a:lnTo>
                    <a:lnTo>
                      <a:pt x="43" y="619"/>
                    </a:lnTo>
                    <a:lnTo>
                      <a:pt x="40" y="598"/>
                    </a:lnTo>
                    <a:lnTo>
                      <a:pt x="35" y="576"/>
                    </a:lnTo>
                    <a:lnTo>
                      <a:pt x="25" y="548"/>
                    </a:lnTo>
                    <a:lnTo>
                      <a:pt x="25" y="525"/>
                    </a:lnTo>
                    <a:lnTo>
                      <a:pt x="36" y="511"/>
                    </a:lnTo>
                    <a:lnTo>
                      <a:pt x="52" y="493"/>
                    </a:lnTo>
                    <a:lnTo>
                      <a:pt x="52" y="482"/>
                    </a:lnTo>
                    <a:lnTo>
                      <a:pt x="40" y="457"/>
                    </a:lnTo>
                    <a:lnTo>
                      <a:pt x="17" y="425"/>
                    </a:lnTo>
                    <a:lnTo>
                      <a:pt x="8" y="400"/>
                    </a:lnTo>
                    <a:lnTo>
                      <a:pt x="8" y="381"/>
                    </a:lnTo>
                    <a:lnTo>
                      <a:pt x="13" y="363"/>
                    </a:lnTo>
                    <a:lnTo>
                      <a:pt x="28" y="348"/>
                    </a:lnTo>
                    <a:lnTo>
                      <a:pt x="43" y="332"/>
                    </a:lnTo>
                    <a:lnTo>
                      <a:pt x="43" y="320"/>
                    </a:lnTo>
                    <a:lnTo>
                      <a:pt x="11" y="260"/>
                    </a:lnTo>
                    <a:lnTo>
                      <a:pt x="5" y="238"/>
                    </a:lnTo>
                    <a:lnTo>
                      <a:pt x="0" y="218"/>
                    </a:lnTo>
                    <a:lnTo>
                      <a:pt x="11" y="200"/>
                    </a:lnTo>
                    <a:lnTo>
                      <a:pt x="25" y="186"/>
                    </a:lnTo>
                    <a:lnTo>
                      <a:pt x="36" y="174"/>
                    </a:lnTo>
                    <a:lnTo>
                      <a:pt x="36" y="164"/>
                    </a:lnTo>
                    <a:lnTo>
                      <a:pt x="25" y="147"/>
                    </a:lnTo>
                    <a:lnTo>
                      <a:pt x="8" y="130"/>
                    </a:lnTo>
                    <a:lnTo>
                      <a:pt x="8" y="113"/>
                    </a:lnTo>
                    <a:lnTo>
                      <a:pt x="19" y="97"/>
                    </a:lnTo>
                    <a:lnTo>
                      <a:pt x="36" y="83"/>
                    </a:lnTo>
                    <a:lnTo>
                      <a:pt x="52" y="76"/>
                    </a:lnTo>
                    <a:lnTo>
                      <a:pt x="60" y="65"/>
                    </a:lnTo>
                    <a:lnTo>
                      <a:pt x="53" y="50"/>
                    </a:lnTo>
                    <a:lnTo>
                      <a:pt x="43" y="34"/>
                    </a:lnTo>
                    <a:lnTo>
                      <a:pt x="36" y="17"/>
                    </a:lnTo>
                    <a:lnTo>
                      <a:pt x="4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5" name="Freeform 131"/>
              <p:cNvSpPr>
                <a:spLocks/>
              </p:cNvSpPr>
              <p:nvPr/>
            </p:nvSpPr>
            <p:spPr bwMode="auto">
              <a:xfrm>
                <a:off x="3203" y="485"/>
                <a:ext cx="93" cy="782"/>
              </a:xfrm>
              <a:custGeom>
                <a:avLst/>
                <a:gdLst>
                  <a:gd name="T0" fmla="*/ 82 w 93"/>
                  <a:gd name="T1" fmla="*/ 21 h 782"/>
                  <a:gd name="T2" fmla="*/ 86 w 93"/>
                  <a:gd name="T3" fmla="*/ 76 h 782"/>
                  <a:gd name="T4" fmla="*/ 47 w 93"/>
                  <a:gd name="T5" fmla="*/ 97 h 782"/>
                  <a:gd name="T6" fmla="*/ 59 w 93"/>
                  <a:gd name="T7" fmla="*/ 157 h 782"/>
                  <a:gd name="T8" fmla="*/ 77 w 93"/>
                  <a:gd name="T9" fmla="*/ 215 h 782"/>
                  <a:gd name="T10" fmla="*/ 53 w 93"/>
                  <a:gd name="T11" fmla="*/ 243 h 782"/>
                  <a:gd name="T12" fmla="*/ 59 w 93"/>
                  <a:gd name="T13" fmla="*/ 293 h 782"/>
                  <a:gd name="T14" fmla="*/ 77 w 93"/>
                  <a:gd name="T15" fmla="*/ 346 h 782"/>
                  <a:gd name="T16" fmla="*/ 65 w 93"/>
                  <a:gd name="T17" fmla="*/ 383 h 782"/>
                  <a:gd name="T18" fmla="*/ 45 w 93"/>
                  <a:gd name="T19" fmla="*/ 417 h 782"/>
                  <a:gd name="T20" fmla="*/ 71 w 93"/>
                  <a:gd name="T21" fmla="*/ 486 h 782"/>
                  <a:gd name="T22" fmla="*/ 77 w 93"/>
                  <a:gd name="T23" fmla="*/ 531 h 782"/>
                  <a:gd name="T24" fmla="*/ 33 w 93"/>
                  <a:gd name="T25" fmla="*/ 565 h 782"/>
                  <a:gd name="T26" fmla="*/ 45 w 93"/>
                  <a:gd name="T27" fmla="*/ 633 h 782"/>
                  <a:gd name="T28" fmla="*/ 57 w 93"/>
                  <a:gd name="T29" fmla="*/ 693 h 782"/>
                  <a:gd name="T30" fmla="*/ 33 w 93"/>
                  <a:gd name="T31" fmla="*/ 727 h 782"/>
                  <a:gd name="T32" fmla="*/ 21 w 93"/>
                  <a:gd name="T33" fmla="*/ 774 h 782"/>
                  <a:gd name="T34" fmla="*/ 10 w 93"/>
                  <a:gd name="T35" fmla="*/ 755 h 782"/>
                  <a:gd name="T36" fmla="*/ 33 w 93"/>
                  <a:gd name="T37" fmla="*/ 700 h 782"/>
                  <a:gd name="T38" fmla="*/ 21 w 93"/>
                  <a:gd name="T39" fmla="*/ 618 h 782"/>
                  <a:gd name="T40" fmla="*/ 15 w 93"/>
                  <a:gd name="T41" fmla="*/ 559 h 782"/>
                  <a:gd name="T42" fmla="*/ 47 w 93"/>
                  <a:gd name="T43" fmla="*/ 519 h 782"/>
                  <a:gd name="T44" fmla="*/ 21 w 93"/>
                  <a:gd name="T45" fmla="*/ 461 h 782"/>
                  <a:gd name="T46" fmla="*/ 15 w 93"/>
                  <a:gd name="T47" fmla="*/ 407 h 782"/>
                  <a:gd name="T48" fmla="*/ 39 w 93"/>
                  <a:gd name="T49" fmla="*/ 364 h 782"/>
                  <a:gd name="T50" fmla="*/ 51 w 93"/>
                  <a:gd name="T51" fmla="*/ 330 h 782"/>
                  <a:gd name="T52" fmla="*/ 27 w 93"/>
                  <a:gd name="T53" fmla="*/ 277 h 782"/>
                  <a:gd name="T54" fmla="*/ 33 w 93"/>
                  <a:gd name="T55" fmla="*/ 231 h 782"/>
                  <a:gd name="T56" fmla="*/ 47 w 93"/>
                  <a:gd name="T57" fmla="*/ 199 h 782"/>
                  <a:gd name="T58" fmla="*/ 30 w 93"/>
                  <a:gd name="T59" fmla="*/ 150 h 782"/>
                  <a:gd name="T60" fmla="*/ 23 w 93"/>
                  <a:gd name="T61" fmla="*/ 95 h 782"/>
                  <a:gd name="T62" fmla="*/ 51 w 93"/>
                  <a:gd name="T63" fmla="*/ 60 h 782"/>
                  <a:gd name="T64" fmla="*/ 53 w 93"/>
                  <a:gd name="T65" fmla="*/ 25 h 782"/>
                  <a:gd name="T66" fmla="*/ 71 w 93"/>
                  <a:gd name="T67" fmla="*/ 0 h 78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3" h="782">
                    <a:moveTo>
                      <a:pt x="71" y="0"/>
                    </a:moveTo>
                    <a:lnTo>
                      <a:pt x="82" y="21"/>
                    </a:lnTo>
                    <a:lnTo>
                      <a:pt x="93" y="60"/>
                    </a:lnTo>
                    <a:lnTo>
                      <a:pt x="86" y="76"/>
                    </a:lnTo>
                    <a:lnTo>
                      <a:pt x="62" y="87"/>
                    </a:lnTo>
                    <a:lnTo>
                      <a:pt x="47" y="97"/>
                    </a:lnTo>
                    <a:lnTo>
                      <a:pt x="47" y="128"/>
                    </a:lnTo>
                    <a:lnTo>
                      <a:pt x="59" y="157"/>
                    </a:lnTo>
                    <a:lnTo>
                      <a:pt x="74" y="177"/>
                    </a:lnTo>
                    <a:lnTo>
                      <a:pt x="77" y="215"/>
                    </a:lnTo>
                    <a:lnTo>
                      <a:pt x="69" y="227"/>
                    </a:lnTo>
                    <a:lnTo>
                      <a:pt x="53" y="243"/>
                    </a:lnTo>
                    <a:lnTo>
                      <a:pt x="51" y="269"/>
                    </a:lnTo>
                    <a:lnTo>
                      <a:pt x="59" y="293"/>
                    </a:lnTo>
                    <a:lnTo>
                      <a:pt x="71" y="312"/>
                    </a:lnTo>
                    <a:lnTo>
                      <a:pt x="77" y="346"/>
                    </a:lnTo>
                    <a:lnTo>
                      <a:pt x="77" y="364"/>
                    </a:lnTo>
                    <a:lnTo>
                      <a:pt x="65" y="383"/>
                    </a:lnTo>
                    <a:lnTo>
                      <a:pt x="45" y="401"/>
                    </a:lnTo>
                    <a:lnTo>
                      <a:pt x="45" y="417"/>
                    </a:lnTo>
                    <a:lnTo>
                      <a:pt x="51" y="467"/>
                    </a:lnTo>
                    <a:lnTo>
                      <a:pt x="71" y="486"/>
                    </a:lnTo>
                    <a:lnTo>
                      <a:pt x="82" y="508"/>
                    </a:lnTo>
                    <a:lnTo>
                      <a:pt x="77" y="531"/>
                    </a:lnTo>
                    <a:lnTo>
                      <a:pt x="47" y="548"/>
                    </a:lnTo>
                    <a:lnTo>
                      <a:pt x="33" y="565"/>
                    </a:lnTo>
                    <a:lnTo>
                      <a:pt x="30" y="595"/>
                    </a:lnTo>
                    <a:lnTo>
                      <a:pt x="45" y="633"/>
                    </a:lnTo>
                    <a:lnTo>
                      <a:pt x="57" y="671"/>
                    </a:lnTo>
                    <a:lnTo>
                      <a:pt x="57" y="693"/>
                    </a:lnTo>
                    <a:lnTo>
                      <a:pt x="51" y="721"/>
                    </a:lnTo>
                    <a:lnTo>
                      <a:pt x="33" y="727"/>
                    </a:lnTo>
                    <a:lnTo>
                      <a:pt x="21" y="749"/>
                    </a:lnTo>
                    <a:lnTo>
                      <a:pt x="21" y="774"/>
                    </a:lnTo>
                    <a:lnTo>
                      <a:pt x="0" y="782"/>
                    </a:lnTo>
                    <a:lnTo>
                      <a:pt x="10" y="755"/>
                    </a:lnTo>
                    <a:lnTo>
                      <a:pt x="27" y="721"/>
                    </a:lnTo>
                    <a:lnTo>
                      <a:pt x="33" y="700"/>
                    </a:lnTo>
                    <a:lnTo>
                      <a:pt x="33" y="657"/>
                    </a:lnTo>
                    <a:lnTo>
                      <a:pt x="21" y="618"/>
                    </a:lnTo>
                    <a:lnTo>
                      <a:pt x="18" y="590"/>
                    </a:lnTo>
                    <a:lnTo>
                      <a:pt x="15" y="559"/>
                    </a:lnTo>
                    <a:lnTo>
                      <a:pt x="35" y="535"/>
                    </a:lnTo>
                    <a:lnTo>
                      <a:pt x="47" y="519"/>
                    </a:lnTo>
                    <a:lnTo>
                      <a:pt x="39" y="486"/>
                    </a:lnTo>
                    <a:lnTo>
                      <a:pt x="21" y="461"/>
                    </a:lnTo>
                    <a:lnTo>
                      <a:pt x="18" y="439"/>
                    </a:lnTo>
                    <a:lnTo>
                      <a:pt x="15" y="407"/>
                    </a:lnTo>
                    <a:lnTo>
                      <a:pt x="23" y="385"/>
                    </a:lnTo>
                    <a:lnTo>
                      <a:pt x="39" y="364"/>
                    </a:lnTo>
                    <a:lnTo>
                      <a:pt x="51" y="348"/>
                    </a:lnTo>
                    <a:lnTo>
                      <a:pt x="51" y="330"/>
                    </a:lnTo>
                    <a:lnTo>
                      <a:pt x="39" y="312"/>
                    </a:lnTo>
                    <a:lnTo>
                      <a:pt x="27" y="277"/>
                    </a:lnTo>
                    <a:lnTo>
                      <a:pt x="27" y="253"/>
                    </a:lnTo>
                    <a:lnTo>
                      <a:pt x="33" y="231"/>
                    </a:lnTo>
                    <a:lnTo>
                      <a:pt x="45" y="215"/>
                    </a:lnTo>
                    <a:lnTo>
                      <a:pt x="47" y="199"/>
                    </a:lnTo>
                    <a:lnTo>
                      <a:pt x="45" y="179"/>
                    </a:lnTo>
                    <a:lnTo>
                      <a:pt x="30" y="150"/>
                    </a:lnTo>
                    <a:lnTo>
                      <a:pt x="21" y="130"/>
                    </a:lnTo>
                    <a:lnTo>
                      <a:pt x="23" y="95"/>
                    </a:lnTo>
                    <a:lnTo>
                      <a:pt x="35" y="81"/>
                    </a:lnTo>
                    <a:lnTo>
                      <a:pt x="51" y="60"/>
                    </a:lnTo>
                    <a:lnTo>
                      <a:pt x="59" y="41"/>
                    </a:lnTo>
                    <a:lnTo>
                      <a:pt x="53" y="25"/>
                    </a:lnTo>
                    <a:lnTo>
                      <a:pt x="57" y="8"/>
                    </a:lnTo>
                    <a:lnTo>
                      <a:pt x="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6" name="Freeform 132"/>
              <p:cNvSpPr>
                <a:spLocks/>
              </p:cNvSpPr>
              <p:nvPr/>
            </p:nvSpPr>
            <p:spPr bwMode="auto">
              <a:xfrm>
                <a:off x="3069" y="391"/>
                <a:ext cx="202" cy="175"/>
              </a:xfrm>
              <a:custGeom>
                <a:avLst/>
                <a:gdLst>
                  <a:gd name="T0" fmla="*/ 202 w 202"/>
                  <a:gd name="T1" fmla="*/ 140 h 175"/>
                  <a:gd name="T2" fmla="*/ 140 w 202"/>
                  <a:gd name="T3" fmla="*/ 90 h 175"/>
                  <a:gd name="T4" fmla="*/ 90 w 202"/>
                  <a:gd name="T5" fmla="*/ 45 h 175"/>
                  <a:gd name="T6" fmla="*/ 43 w 202"/>
                  <a:gd name="T7" fmla="*/ 0 h 175"/>
                  <a:gd name="T8" fmla="*/ 0 w 202"/>
                  <a:gd name="T9" fmla="*/ 0 h 175"/>
                  <a:gd name="T10" fmla="*/ 101 w 202"/>
                  <a:gd name="T11" fmla="*/ 73 h 175"/>
                  <a:gd name="T12" fmla="*/ 149 w 202"/>
                  <a:gd name="T13" fmla="*/ 118 h 175"/>
                  <a:gd name="T14" fmla="*/ 191 w 202"/>
                  <a:gd name="T15" fmla="*/ 175 h 175"/>
                  <a:gd name="T16" fmla="*/ 202 w 202"/>
                  <a:gd name="T17" fmla="*/ 140 h 1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2" h="175">
                    <a:moveTo>
                      <a:pt x="202" y="140"/>
                    </a:moveTo>
                    <a:lnTo>
                      <a:pt x="140" y="90"/>
                    </a:lnTo>
                    <a:lnTo>
                      <a:pt x="90" y="45"/>
                    </a:lnTo>
                    <a:lnTo>
                      <a:pt x="43" y="0"/>
                    </a:lnTo>
                    <a:lnTo>
                      <a:pt x="0" y="0"/>
                    </a:lnTo>
                    <a:lnTo>
                      <a:pt x="101" y="73"/>
                    </a:lnTo>
                    <a:lnTo>
                      <a:pt x="149" y="118"/>
                    </a:lnTo>
                    <a:lnTo>
                      <a:pt x="191" y="175"/>
                    </a:lnTo>
                    <a:lnTo>
                      <a:pt x="202"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7" name="Freeform 133"/>
              <p:cNvSpPr>
                <a:spLocks/>
              </p:cNvSpPr>
              <p:nvPr/>
            </p:nvSpPr>
            <p:spPr bwMode="auto">
              <a:xfrm>
                <a:off x="3067" y="488"/>
                <a:ext cx="175" cy="144"/>
              </a:xfrm>
              <a:custGeom>
                <a:avLst/>
                <a:gdLst>
                  <a:gd name="T0" fmla="*/ 175 w 175"/>
                  <a:gd name="T1" fmla="*/ 90 h 144"/>
                  <a:gd name="T2" fmla="*/ 129 w 175"/>
                  <a:gd name="T3" fmla="*/ 73 h 144"/>
                  <a:gd name="T4" fmla="*/ 95 w 175"/>
                  <a:gd name="T5" fmla="*/ 44 h 144"/>
                  <a:gd name="T6" fmla="*/ 34 w 175"/>
                  <a:gd name="T7" fmla="*/ 0 h 144"/>
                  <a:gd name="T8" fmla="*/ 0 w 175"/>
                  <a:gd name="T9" fmla="*/ 0 h 144"/>
                  <a:gd name="T10" fmla="*/ 79 w 175"/>
                  <a:gd name="T11" fmla="*/ 44 h 144"/>
                  <a:gd name="T12" fmla="*/ 109 w 175"/>
                  <a:gd name="T13" fmla="*/ 75 h 144"/>
                  <a:gd name="T14" fmla="*/ 175 w 175"/>
                  <a:gd name="T15" fmla="*/ 144 h 144"/>
                  <a:gd name="T16" fmla="*/ 171 w 175"/>
                  <a:gd name="T17" fmla="*/ 102 h 144"/>
                  <a:gd name="T18" fmla="*/ 175 w 175"/>
                  <a:gd name="T19" fmla="*/ 90 h 1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5" h="144">
                    <a:moveTo>
                      <a:pt x="175" y="90"/>
                    </a:moveTo>
                    <a:lnTo>
                      <a:pt x="129" y="73"/>
                    </a:lnTo>
                    <a:lnTo>
                      <a:pt x="95" y="44"/>
                    </a:lnTo>
                    <a:lnTo>
                      <a:pt x="34" y="0"/>
                    </a:lnTo>
                    <a:lnTo>
                      <a:pt x="0" y="0"/>
                    </a:lnTo>
                    <a:lnTo>
                      <a:pt x="79" y="44"/>
                    </a:lnTo>
                    <a:lnTo>
                      <a:pt x="109" y="75"/>
                    </a:lnTo>
                    <a:lnTo>
                      <a:pt x="175" y="144"/>
                    </a:lnTo>
                    <a:lnTo>
                      <a:pt x="171" y="102"/>
                    </a:lnTo>
                    <a:lnTo>
                      <a:pt x="175"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8" name="Freeform 134"/>
              <p:cNvSpPr>
                <a:spLocks/>
              </p:cNvSpPr>
              <p:nvPr/>
            </p:nvSpPr>
            <p:spPr bwMode="auto">
              <a:xfrm>
                <a:off x="3042" y="569"/>
                <a:ext cx="205" cy="219"/>
              </a:xfrm>
              <a:custGeom>
                <a:avLst/>
                <a:gdLst>
                  <a:gd name="T0" fmla="*/ 201 w 205"/>
                  <a:gd name="T1" fmla="*/ 163 h 219"/>
                  <a:gd name="T2" fmla="*/ 145 w 205"/>
                  <a:gd name="T3" fmla="*/ 113 h 219"/>
                  <a:gd name="T4" fmla="*/ 123 w 205"/>
                  <a:gd name="T5" fmla="*/ 79 h 219"/>
                  <a:gd name="T6" fmla="*/ 78 w 205"/>
                  <a:gd name="T7" fmla="*/ 46 h 219"/>
                  <a:gd name="T8" fmla="*/ 39 w 205"/>
                  <a:gd name="T9" fmla="*/ 17 h 219"/>
                  <a:gd name="T10" fmla="*/ 10 w 205"/>
                  <a:gd name="T11" fmla="*/ 0 h 219"/>
                  <a:gd name="T12" fmla="*/ 0 w 205"/>
                  <a:gd name="T13" fmla="*/ 0 h 219"/>
                  <a:gd name="T14" fmla="*/ 0 w 205"/>
                  <a:gd name="T15" fmla="*/ 17 h 219"/>
                  <a:gd name="T16" fmla="*/ 33 w 205"/>
                  <a:gd name="T17" fmla="*/ 38 h 219"/>
                  <a:gd name="T18" fmla="*/ 95 w 205"/>
                  <a:gd name="T19" fmla="*/ 78 h 219"/>
                  <a:gd name="T20" fmla="*/ 139 w 205"/>
                  <a:gd name="T21" fmla="*/ 122 h 219"/>
                  <a:gd name="T22" fmla="*/ 171 w 205"/>
                  <a:gd name="T23" fmla="*/ 172 h 219"/>
                  <a:gd name="T24" fmla="*/ 205 w 205"/>
                  <a:gd name="T25" fmla="*/ 219 h 219"/>
                  <a:gd name="T26" fmla="*/ 201 w 205"/>
                  <a:gd name="T27" fmla="*/ 163 h 21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5" h="219">
                    <a:moveTo>
                      <a:pt x="201" y="163"/>
                    </a:moveTo>
                    <a:lnTo>
                      <a:pt x="145" y="113"/>
                    </a:lnTo>
                    <a:lnTo>
                      <a:pt x="123" y="79"/>
                    </a:lnTo>
                    <a:lnTo>
                      <a:pt x="78" y="46"/>
                    </a:lnTo>
                    <a:lnTo>
                      <a:pt x="39" y="17"/>
                    </a:lnTo>
                    <a:lnTo>
                      <a:pt x="10" y="0"/>
                    </a:lnTo>
                    <a:lnTo>
                      <a:pt x="0" y="0"/>
                    </a:lnTo>
                    <a:lnTo>
                      <a:pt x="0" y="17"/>
                    </a:lnTo>
                    <a:lnTo>
                      <a:pt x="33" y="38"/>
                    </a:lnTo>
                    <a:lnTo>
                      <a:pt x="95" y="78"/>
                    </a:lnTo>
                    <a:lnTo>
                      <a:pt x="139" y="122"/>
                    </a:lnTo>
                    <a:lnTo>
                      <a:pt x="171" y="172"/>
                    </a:lnTo>
                    <a:lnTo>
                      <a:pt x="205" y="219"/>
                    </a:lnTo>
                    <a:lnTo>
                      <a:pt x="201" y="1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9" name="Freeform 135"/>
              <p:cNvSpPr>
                <a:spLocks/>
              </p:cNvSpPr>
              <p:nvPr/>
            </p:nvSpPr>
            <p:spPr bwMode="auto">
              <a:xfrm>
                <a:off x="3062" y="741"/>
                <a:ext cx="160" cy="132"/>
              </a:xfrm>
              <a:custGeom>
                <a:avLst/>
                <a:gdLst>
                  <a:gd name="T0" fmla="*/ 160 w 160"/>
                  <a:gd name="T1" fmla="*/ 109 h 132"/>
                  <a:gd name="T2" fmla="*/ 115 w 160"/>
                  <a:gd name="T3" fmla="*/ 59 h 132"/>
                  <a:gd name="T4" fmla="*/ 67 w 160"/>
                  <a:gd name="T5" fmla="*/ 28 h 132"/>
                  <a:gd name="T6" fmla="*/ 27 w 160"/>
                  <a:gd name="T7" fmla="*/ 7 h 132"/>
                  <a:gd name="T8" fmla="*/ 0 w 160"/>
                  <a:gd name="T9" fmla="*/ 0 h 132"/>
                  <a:gd name="T10" fmla="*/ 17 w 160"/>
                  <a:gd name="T11" fmla="*/ 28 h 132"/>
                  <a:gd name="T12" fmla="*/ 67 w 160"/>
                  <a:gd name="T13" fmla="*/ 56 h 132"/>
                  <a:gd name="T14" fmla="*/ 106 w 160"/>
                  <a:gd name="T15" fmla="*/ 99 h 132"/>
                  <a:gd name="T16" fmla="*/ 125 w 160"/>
                  <a:gd name="T17" fmla="*/ 126 h 132"/>
                  <a:gd name="T18" fmla="*/ 142 w 160"/>
                  <a:gd name="T19" fmla="*/ 132 h 132"/>
                  <a:gd name="T20" fmla="*/ 158 w 160"/>
                  <a:gd name="T21" fmla="*/ 122 h 132"/>
                  <a:gd name="T22" fmla="*/ 160 w 160"/>
                  <a:gd name="T23" fmla="*/ 109 h 1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60" h="132">
                    <a:moveTo>
                      <a:pt x="160" y="109"/>
                    </a:moveTo>
                    <a:lnTo>
                      <a:pt x="115" y="59"/>
                    </a:lnTo>
                    <a:lnTo>
                      <a:pt x="67" y="28"/>
                    </a:lnTo>
                    <a:lnTo>
                      <a:pt x="27" y="7"/>
                    </a:lnTo>
                    <a:lnTo>
                      <a:pt x="0" y="0"/>
                    </a:lnTo>
                    <a:lnTo>
                      <a:pt x="17" y="28"/>
                    </a:lnTo>
                    <a:lnTo>
                      <a:pt x="67" y="56"/>
                    </a:lnTo>
                    <a:lnTo>
                      <a:pt x="106" y="99"/>
                    </a:lnTo>
                    <a:lnTo>
                      <a:pt x="125" y="126"/>
                    </a:lnTo>
                    <a:lnTo>
                      <a:pt x="142" y="132"/>
                    </a:lnTo>
                    <a:lnTo>
                      <a:pt x="158" y="122"/>
                    </a:lnTo>
                    <a:lnTo>
                      <a:pt x="160"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0" name="Freeform 136"/>
              <p:cNvSpPr>
                <a:spLocks/>
              </p:cNvSpPr>
              <p:nvPr/>
            </p:nvSpPr>
            <p:spPr bwMode="auto">
              <a:xfrm>
                <a:off x="3044" y="829"/>
                <a:ext cx="176" cy="162"/>
              </a:xfrm>
              <a:custGeom>
                <a:avLst/>
                <a:gdLst>
                  <a:gd name="T0" fmla="*/ 176 w 176"/>
                  <a:gd name="T1" fmla="*/ 150 h 162"/>
                  <a:gd name="T2" fmla="*/ 131 w 176"/>
                  <a:gd name="T3" fmla="*/ 101 h 162"/>
                  <a:gd name="T4" fmla="*/ 74 w 176"/>
                  <a:gd name="T5" fmla="*/ 43 h 162"/>
                  <a:gd name="T6" fmla="*/ 41 w 176"/>
                  <a:gd name="T7" fmla="*/ 15 h 162"/>
                  <a:gd name="T8" fmla="*/ 15 w 176"/>
                  <a:gd name="T9" fmla="*/ 0 h 162"/>
                  <a:gd name="T10" fmla="*/ 0 w 176"/>
                  <a:gd name="T11" fmla="*/ 8 h 162"/>
                  <a:gd name="T12" fmla="*/ 29 w 176"/>
                  <a:gd name="T13" fmla="*/ 34 h 162"/>
                  <a:gd name="T14" fmla="*/ 80 w 176"/>
                  <a:gd name="T15" fmla="*/ 84 h 162"/>
                  <a:gd name="T16" fmla="*/ 127 w 176"/>
                  <a:gd name="T17" fmla="*/ 135 h 162"/>
                  <a:gd name="T18" fmla="*/ 158 w 176"/>
                  <a:gd name="T19" fmla="*/ 162 h 162"/>
                  <a:gd name="T20" fmla="*/ 167 w 176"/>
                  <a:gd name="T21" fmla="*/ 162 h 162"/>
                  <a:gd name="T22" fmla="*/ 176 w 176"/>
                  <a:gd name="T23" fmla="*/ 150 h 1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 h="162">
                    <a:moveTo>
                      <a:pt x="176" y="150"/>
                    </a:moveTo>
                    <a:lnTo>
                      <a:pt x="131" y="101"/>
                    </a:lnTo>
                    <a:lnTo>
                      <a:pt x="74" y="43"/>
                    </a:lnTo>
                    <a:lnTo>
                      <a:pt x="41" y="15"/>
                    </a:lnTo>
                    <a:lnTo>
                      <a:pt x="15" y="0"/>
                    </a:lnTo>
                    <a:lnTo>
                      <a:pt x="0" y="8"/>
                    </a:lnTo>
                    <a:lnTo>
                      <a:pt x="29" y="34"/>
                    </a:lnTo>
                    <a:lnTo>
                      <a:pt x="80" y="84"/>
                    </a:lnTo>
                    <a:lnTo>
                      <a:pt x="127" y="135"/>
                    </a:lnTo>
                    <a:lnTo>
                      <a:pt x="158" y="162"/>
                    </a:lnTo>
                    <a:lnTo>
                      <a:pt x="167" y="162"/>
                    </a:lnTo>
                    <a:lnTo>
                      <a:pt x="176" y="1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1" name="Freeform 137"/>
              <p:cNvSpPr>
                <a:spLocks/>
              </p:cNvSpPr>
              <p:nvPr/>
            </p:nvSpPr>
            <p:spPr bwMode="auto">
              <a:xfrm>
                <a:off x="3064" y="958"/>
                <a:ext cx="126" cy="130"/>
              </a:xfrm>
              <a:custGeom>
                <a:avLst/>
                <a:gdLst>
                  <a:gd name="T0" fmla="*/ 124 w 126"/>
                  <a:gd name="T1" fmla="*/ 109 h 130"/>
                  <a:gd name="T2" fmla="*/ 72 w 126"/>
                  <a:gd name="T3" fmla="*/ 32 h 130"/>
                  <a:gd name="T4" fmla="*/ 22 w 126"/>
                  <a:gd name="T5" fmla="*/ 3 h 130"/>
                  <a:gd name="T6" fmla="*/ 0 w 126"/>
                  <a:gd name="T7" fmla="*/ 0 h 130"/>
                  <a:gd name="T8" fmla="*/ 5 w 126"/>
                  <a:gd name="T9" fmla="*/ 15 h 130"/>
                  <a:gd name="T10" fmla="*/ 63 w 126"/>
                  <a:gd name="T11" fmla="*/ 56 h 130"/>
                  <a:gd name="T12" fmla="*/ 117 w 126"/>
                  <a:gd name="T13" fmla="*/ 124 h 130"/>
                  <a:gd name="T14" fmla="*/ 126 w 126"/>
                  <a:gd name="T15" fmla="*/ 130 h 130"/>
                  <a:gd name="T16" fmla="*/ 124 w 126"/>
                  <a:gd name="T17" fmla="*/ 109 h 1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6" h="130">
                    <a:moveTo>
                      <a:pt x="124" y="109"/>
                    </a:moveTo>
                    <a:lnTo>
                      <a:pt x="72" y="32"/>
                    </a:lnTo>
                    <a:lnTo>
                      <a:pt x="22" y="3"/>
                    </a:lnTo>
                    <a:lnTo>
                      <a:pt x="0" y="0"/>
                    </a:lnTo>
                    <a:lnTo>
                      <a:pt x="5" y="15"/>
                    </a:lnTo>
                    <a:lnTo>
                      <a:pt x="63" y="56"/>
                    </a:lnTo>
                    <a:lnTo>
                      <a:pt x="117" y="124"/>
                    </a:lnTo>
                    <a:lnTo>
                      <a:pt x="126" y="130"/>
                    </a:lnTo>
                    <a:lnTo>
                      <a:pt x="124"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2" name="Freeform 138"/>
              <p:cNvSpPr>
                <a:spLocks/>
              </p:cNvSpPr>
              <p:nvPr/>
            </p:nvSpPr>
            <p:spPr bwMode="auto">
              <a:xfrm>
                <a:off x="3067" y="1076"/>
                <a:ext cx="89" cy="100"/>
              </a:xfrm>
              <a:custGeom>
                <a:avLst/>
                <a:gdLst>
                  <a:gd name="T0" fmla="*/ 85 w 89"/>
                  <a:gd name="T1" fmla="*/ 76 h 100"/>
                  <a:gd name="T2" fmla="*/ 41 w 89"/>
                  <a:gd name="T3" fmla="*/ 17 h 100"/>
                  <a:gd name="T4" fmla="*/ 1 w 89"/>
                  <a:gd name="T5" fmla="*/ 0 h 100"/>
                  <a:gd name="T6" fmla="*/ 0 w 89"/>
                  <a:gd name="T7" fmla="*/ 17 h 100"/>
                  <a:gd name="T8" fmla="*/ 18 w 89"/>
                  <a:gd name="T9" fmla="*/ 47 h 100"/>
                  <a:gd name="T10" fmla="*/ 65 w 89"/>
                  <a:gd name="T11" fmla="*/ 86 h 100"/>
                  <a:gd name="T12" fmla="*/ 79 w 89"/>
                  <a:gd name="T13" fmla="*/ 100 h 100"/>
                  <a:gd name="T14" fmla="*/ 89 w 89"/>
                  <a:gd name="T15" fmla="*/ 93 h 100"/>
                  <a:gd name="T16" fmla="*/ 85 w 89"/>
                  <a:gd name="T17" fmla="*/ 76 h 1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9" h="100">
                    <a:moveTo>
                      <a:pt x="85" y="76"/>
                    </a:moveTo>
                    <a:lnTo>
                      <a:pt x="41" y="17"/>
                    </a:lnTo>
                    <a:lnTo>
                      <a:pt x="1" y="0"/>
                    </a:lnTo>
                    <a:lnTo>
                      <a:pt x="0" y="17"/>
                    </a:lnTo>
                    <a:lnTo>
                      <a:pt x="18" y="47"/>
                    </a:lnTo>
                    <a:lnTo>
                      <a:pt x="65" y="86"/>
                    </a:lnTo>
                    <a:lnTo>
                      <a:pt x="79" y="100"/>
                    </a:lnTo>
                    <a:lnTo>
                      <a:pt x="89" y="93"/>
                    </a:lnTo>
                    <a:lnTo>
                      <a:pt x="85"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3" name="Freeform 139"/>
              <p:cNvSpPr>
                <a:spLocks/>
              </p:cNvSpPr>
              <p:nvPr/>
            </p:nvSpPr>
            <p:spPr bwMode="auto">
              <a:xfrm>
                <a:off x="3073" y="1198"/>
                <a:ext cx="110" cy="112"/>
              </a:xfrm>
              <a:custGeom>
                <a:avLst/>
                <a:gdLst>
                  <a:gd name="T0" fmla="*/ 110 w 110"/>
                  <a:gd name="T1" fmla="*/ 112 h 112"/>
                  <a:gd name="T2" fmla="*/ 94 w 110"/>
                  <a:gd name="T3" fmla="*/ 94 h 112"/>
                  <a:gd name="T4" fmla="*/ 64 w 110"/>
                  <a:gd name="T5" fmla="*/ 47 h 112"/>
                  <a:gd name="T6" fmla="*/ 18 w 110"/>
                  <a:gd name="T7" fmla="*/ 0 h 112"/>
                  <a:gd name="T8" fmla="*/ 0 w 110"/>
                  <a:gd name="T9" fmla="*/ 0 h 112"/>
                  <a:gd name="T10" fmla="*/ 8 w 110"/>
                  <a:gd name="T11" fmla="*/ 17 h 112"/>
                  <a:gd name="T12" fmla="*/ 42 w 110"/>
                  <a:gd name="T13" fmla="*/ 64 h 112"/>
                  <a:gd name="T14" fmla="*/ 77 w 110"/>
                  <a:gd name="T15" fmla="*/ 110 h 112"/>
                  <a:gd name="T16" fmla="*/ 110 w 110"/>
                  <a:gd name="T17" fmla="*/ 112 h 1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0" h="112">
                    <a:moveTo>
                      <a:pt x="110" y="112"/>
                    </a:moveTo>
                    <a:lnTo>
                      <a:pt x="94" y="94"/>
                    </a:lnTo>
                    <a:lnTo>
                      <a:pt x="64" y="47"/>
                    </a:lnTo>
                    <a:lnTo>
                      <a:pt x="18" y="0"/>
                    </a:lnTo>
                    <a:lnTo>
                      <a:pt x="0" y="0"/>
                    </a:lnTo>
                    <a:lnTo>
                      <a:pt x="8" y="17"/>
                    </a:lnTo>
                    <a:lnTo>
                      <a:pt x="42" y="64"/>
                    </a:lnTo>
                    <a:lnTo>
                      <a:pt x="77" y="110"/>
                    </a:lnTo>
                    <a:lnTo>
                      <a:pt x="110" y="1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4" name="Freeform 140"/>
              <p:cNvSpPr>
                <a:spLocks/>
              </p:cNvSpPr>
              <p:nvPr/>
            </p:nvSpPr>
            <p:spPr bwMode="auto">
              <a:xfrm>
                <a:off x="3212" y="332"/>
                <a:ext cx="320" cy="1166"/>
              </a:xfrm>
              <a:custGeom>
                <a:avLst/>
                <a:gdLst>
                  <a:gd name="T0" fmla="*/ 45 w 320"/>
                  <a:gd name="T1" fmla="*/ 142 h 1166"/>
                  <a:gd name="T2" fmla="*/ 56 w 320"/>
                  <a:gd name="T3" fmla="*/ 207 h 1166"/>
                  <a:gd name="T4" fmla="*/ 29 w 320"/>
                  <a:gd name="T5" fmla="*/ 251 h 1166"/>
                  <a:gd name="T6" fmla="*/ 33 w 320"/>
                  <a:gd name="T7" fmla="*/ 310 h 1166"/>
                  <a:gd name="T8" fmla="*/ 49 w 320"/>
                  <a:gd name="T9" fmla="*/ 358 h 1166"/>
                  <a:gd name="T10" fmla="*/ 24 w 320"/>
                  <a:gd name="T11" fmla="*/ 408 h 1166"/>
                  <a:gd name="T12" fmla="*/ 51 w 320"/>
                  <a:gd name="T13" fmla="*/ 492 h 1166"/>
                  <a:gd name="T14" fmla="*/ 17 w 320"/>
                  <a:gd name="T15" fmla="*/ 563 h 1166"/>
                  <a:gd name="T16" fmla="*/ 35 w 320"/>
                  <a:gd name="T17" fmla="*/ 633 h 1166"/>
                  <a:gd name="T18" fmla="*/ 44 w 320"/>
                  <a:gd name="T19" fmla="*/ 684 h 1166"/>
                  <a:gd name="T20" fmla="*/ 10 w 320"/>
                  <a:gd name="T21" fmla="*/ 727 h 1166"/>
                  <a:gd name="T22" fmla="*/ 29 w 320"/>
                  <a:gd name="T23" fmla="*/ 818 h 1166"/>
                  <a:gd name="T24" fmla="*/ 27 w 320"/>
                  <a:gd name="T25" fmla="*/ 866 h 1166"/>
                  <a:gd name="T26" fmla="*/ 0 w 320"/>
                  <a:gd name="T27" fmla="*/ 925 h 1166"/>
                  <a:gd name="T28" fmla="*/ 16 w 320"/>
                  <a:gd name="T29" fmla="*/ 976 h 1166"/>
                  <a:gd name="T30" fmla="*/ 17 w 320"/>
                  <a:gd name="T31" fmla="*/ 1023 h 1166"/>
                  <a:gd name="T32" fmla="*/ 24 w 320"/>
                  <a:gd name="T33" fmla="*/ 1071 h 1166"/>
                  <a:gd name="T34" fmla="*/ 45 w 320"/>
                  <a:gd name="T35" fmla="*/ 1115 h 1166"/>
                  <a:gd name="T36" fmla="*/ 49 w 320"/>
                  <a:gd name="T37" fmla="*/ 1166 h 1166"/>
                  <a:gd name="T38" fmla="*/ 121 w 320"/>
                  <a:gd name="T39" fmla="*/ 1122 h 1166"/>
                  <a:gd name="T40" fmla="*/ 205 w 320"/>
                  <a:gd name="T41" fmla="*/ 1112 h 1166"/>
                  <a:gd name="T42" fmla="*/ 265 w 320"/>
                  <a:gd name="T43" fmla="*/ 1087 h 1166"/>
                  <a:gd name="T44" fmla="*/ 283 w 320"/>
                  <a:gd name="T45" fmla="*/ 1055 h 1166"/>
                  <a:gd name="T46" fmla="*/ 288 w 320"/>
                  <a:gd name="T47" fmla="*/ 991 h 1166"/>
                  <a:gd name="T48" fmla="*/ 275 w 320"/>
                  <a:gd name="T49" fmla="*/ 905 h 1166"/>
                  <a:gd name="T50" fmla="*/ 261 w 320"/>
                  <a:gd name="T51" fmla="*/ 861 h 1166"/>
                  <a:gd name="T52" fmla="*/ 270 w 320"/>
                  <a:gd name="T53" fmla="*/ 807 h 1166"/>
                  <a:gd name="T54" fmla="*/ 244 w 320"/>
                  <a:gd name="T55" fmla="*/ 747 h 1166"/>
                  <a:gd name="T56" fmla="*/ 281 w 320"/>
                  <a:gd name="T57" fmla="*/ 700 h 1166"/>
                  <a:gd name="T58" fmla="*/ 253 w 320"/>
                  <a:gd name="T59" fmla="*/ 633 h 1166"/>
                  <a:gd name="T60" fmla="*/ 239 w 320"/>
                  <a:gd name="T61" fmla="*/ 570 h 1166"/>
                  <a:gd name="T62" fmla="*/ 293 w 320"/>
                  <a:gd name="T63" fmla="*/ 522 h 1166"/>
                  <a:gd name="T64" fmla="*/ 275 w 320"/>
                  <a:gd name="T65" fmla="*/ 486 h 1166"/>
                  <a:gd name="T66" fmla="*/ 275 w 320"/>
                  <a:gd name="T67" fmla="*/ 427 h 1166"/>
                  <a:gd name="T68" fmla="*/ 249 w 320"/>
                  <a:gd name="T69" fmla="*/ 390 h 1166"/>
                  <a:gd name="T70" fmla="*/ 270 w 320"/>
                  <a:gd name="T71" fmla="*/ 342 h 1166"/>
                  <a:gd name="T72" fmla="*/ 253 w 320"/>
                  <a:gd name="T73" fmla="*/ 304 h 1166"/>
                  <a:gd name="T74" fmla="*/ 253 w 320"/>
                  <a:gd name="T75" fmla="*/ 272 h 1166"/>
                  <a:gd name="T76" fmla="*/ 272 w 320"/>
                  <a:gd name="T77" fmla="*/ 243 h 1166"/>
                  <a:gd name="T78" fmla="*/ 248 w 320"/>
                  <a:gd name="T79" fmla="*/ 205 h 1166"/>
                  <a:gd name="T80" fmla="*/ 244 w 320"/>
                  <a:gd name="T81" fmla="*/ 151 h 1166"/>
                  <a:gd name="T82" fmla="*/ 305 w 320"/>
                  <a:gd name="T83" fmla="*/ 83 h 1166"/>
                  <a:gd name="T84" fmla="*/ 320 w 320"/>
                  <a:gd name="T85" fmla="*/ 10 h 1166"/>
                  <a:gd name="T86" fmla="*/ 283 w 320"/>
                  <a:gd name="T87" fmla="*/ 10 h 1166"/>
                  <a:gd name="T88" fmla="*/ 176 w 320"/>
                  <a:gd name="T89" fmla="*/ 66 h 1166"/>
                  <a:gd name="T90" fmla="*/ 88 w 320"/>
                  <a:gd name="T91" fmla="*/ 99 h 116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20" h="1166">
                    <a:moveTo>
                      <a:pt x="56" y="110"/>
                    </a:moveTo>
                    <a:lnTo>
                      <a:pt x="45" y="142"/>
                    </a:lnTo>
                    <a:lnTo>
                      <a:pt x="54" y="174"/>
                    </a:lnTo>
                    <a:lnTo>
                      <a:pt x="56" y="207"/>
                    </a:lnTo>
                    <a:lnTo>
                      <a:pt x="45" y="227"/>
                    </a:lnTo>
                    <a:lnTo>
                      <a:pt x="29" y="251"/>
                    </a:lnTo>
                    <a:lnTo>
                      <a:pt x="22" y="287"/>
                    </a:lnTo>
                    <a:lnTo>
                      <a:pt x="33" y="310"/>
                    </a:lnTo>
                    <a:lnTo>
                      <a:pt x="49" y="337"/>
                    </a:lnTo>
                    <a:lnTo>
                      <a:pt x="49" y="358"/>
                    </a:lnTo>
                    <a:lnTo>
                      <a:pt x="38" y="381"/>
                    </a:lnTo>
                    <a:lnTo>
                      <a:pt x="24" y="408"/>
                    </a:lnTo>
                    <a:lnTo>
                      <a:pt x="29" y="435"/>
                    </a:lnTo>
                    <a:lnTo>
                      <a:pt x="51" y="492"/>
                    </a:lnTo>
                    <a:lnTo>
                      <a:pt x="49" y="516"/>
                    </a:lnTo>
                    <a:lnTo>
                      <a:pt x="17" y="563"/>
                    </a:lnTo>
                    <a:lnTo>
                      <a:pt x="17" y="602"/>
                    </a:lnTo>
                    <a:lnTo>
                      <a:pt x="35" y="633"/>
                    </a:lnTo>
                    <a:lnTo>
                      <a:pt x="45" y="661"/>
                    </a:lnTo>
                    <a:lnTo>
                      <a:pt x="44" y="684"/>
                    </a:lnTo>
                    <a:lnTo>
                      <a:pt x="16" y="709"/>
                    </a:lnTo>
                    <a:lnTo>
                      <a:pt x="10" y="727"/>
                    </a:lnTo>
                    <a:lnTo>
                      <a:pt x="16" y="770"/>
                    </a:lnTo>
                    <a:lnTo>
                      <a:pt x="29" y="818"/>
                    </a:lnTo>
                    <a:lnTo>
                      <a:pt x="29" y="844"/>
                    </a:lnTo>
                    <a:lnTo>
                      <a:pt x="27" y="866"/>
                    </a:lnTo>
                    <a:lnTo>
                      <a:pt x="7" y="898"/>
                    </a:lnTo>
                    <a:lnTo>
                      <a:pt x="0" y="925"/>
                    </a:lnTo>
                    <a:lnTo>
                      <a:pt x="1" y="955"/>
                    </a:lnTo>
                    <a:lnTo>
                      <a:pt x="16" y="976"/>
                    </a:lnTo>
                    <a:lnTo>
                      <a:pt x="33" y="996"/>
                    </a:lnTo>
                    <a:lnTo>
                      <a:pt x="17" y="1023"/>
                    </a:lnTo>
                    <a:lnTo>
                      <a:pt x="10" y="1050"/>
                    </a:lnTo>
                    <a:lnTo>
                      <a:pt x="24" y="1071"/>
                    </a:lnTo>
                    <a:lnTo>
                      <a:pt x="44" y="1087"/>
                    </a:lnTo>
                    <a:lnTo>
                      <a:pt x="45" y="1115"/>
                    </a:lnTo>
                    <a:lnTo>
                      <a:pt x="45" y="1137"/>
                    </a:lnTo>
                    <a:lnTo>
                      <a:pt x="49" y="1166"/>
                    </a:lnTo>
                    <a:lnTo>
                      <a:pt x="84" y="1142"/>
                    </a:lnTo>
                    <a:lnTo>
                      <a:pt x="121" y="1122"/>
                    </a:lnTo>
                    <a:lnTo>
                      <a:pt x="154" y="1112"/>
                    </a:lnTo>
                    <a:lnTo>
                      <a:pt x="205" y="1112"/>
                    </a:lnTo>
                    <a:lnTo>
                      <a:pt x="242" y="1106"/>
                    </a:lnTo>
                    <a:lnTo>
                      <a:pt x="265" y="1087"/>
                    </a:lnTo>
                    <a:lnTo>
                      <a:pt x="303" y="1077"/>
                    </a:lnTo>
                    <a:lnTo>
                      <a:pt x="283" y="1055"/>
                    </a:lnTo>
                    <a:lnTo>
                      <a:pt x="275" y="1025"/>
                    </a:lnTo>
                    <a:lnTo>
                      <a:pt x="288" y="991"/>
                    </a:lnTo>
                    <a:lnTo>
                      <a:pt x="286" y="941"/>
                    </a:lnTo>
                    <a:lnTo>
                      <a:pt x="275" y="905"/>
                    </a:lnTo>
                    <a:lnTo>
                      <a:pt x="265" y="887"/>
                    </a:lnTo>
                    <a:lnTo>
                      <a:pt x="261" y="861"/>
                    </a:lnTo>
                    <a:lnTo>
                      <a:pt x="275" y="828"/>
                    </a:lnTo>
                    <a:lnTo>
                      <a:pt x="270" y="807"/>
                    </a:lnTo>
                    <a:lnTo>
                      <a:pt x="242" y="768"/>
                    </a:lnTo>
                    <a:lnTo>
                      <a:pt x="244" y="747"/>
                    </a:lnTo>
                    <a:lnTo>
                      <a:pt x="255" y="727"/>
                    </a:lnTo>
                    <a:lnTo>
                      <a:pt x="281" y="700"/>
                    </a:lnTo>
                    <a:lnTo>
                      <a:pt x="272" y="679"/>
                    </a:lnTo>
                    <a:lnTo>
                      <a:pt x="253" y="633"/>
                    </a:lnTo>
                    <a:lnTo>
                      <a:pt x="239" y="602"/>
                    </a:lnTo>
                    <a:lnTo>
                      <a:pt x="239" y="570"/>
                    </a:lnTo>
                    <a:lnTo>
                      <a:pt x="288" y="552"/>
                    </a:lnTo>
                    <a:lnTo>
                      <a:pt x="293" y="522"/>
                    </a:lnTo>
                    <a:lnTo>
                      <a:pt x="288" y="503"/>
                    </a:lnTo>
                    <a:lnTo>
                      <a:pt x="275" y="486"/>
                    </a:lnTo>
                    <a:lnTo>
                      <a:pt x="277" y="460"/>
                    </a:lnTo>
                    <a:lnTo>
                      <a:pt x="275" y="427"/>
                    </a:lnTo>
                    <a:lnTo>
                      <a:pt x="261" y="411"/>
                    </a:lnTo>
                    <a:lnTo>
                      <a:pt x="249" y="390"/>
                    </a:lnTo>
                    <a:lnTo>
                      <a:pt x="258" y="368"/>
                    </a:lnTo>
                    <a:lnTo>
                      <a:pt x="270" y="342"/>
                    </a:lnTo>
                    <a:lnTo>
                      <a:pt x="270" y="326"/>
                    </a:lnTo>
                    <a:lnTo>
                      <a:pt x="253" y="304"/>
                    </a:lnTo>
                    <a:lnTo>
                      <a:pt x="248" y="287"/>
                    </a:lnTo>
                    <a:lnTo>
                      <a:pt x="253" y="272"/>
                    </a:lnTo>
                    <a:lnTo>
                      <a:pt x="270" y="261"/>
                    </a:lnTo>
                    <a:lnTo>
                      <a:pt x="272" y="243"/>
                    </a:lnTo>
                    <a:lnTo>
                      <a:pt x="267" y="233"/>
                    </a:lnTo>
                    <a:lnTo>
                      <a:pt x="248" y="205"/>
                    </a:lnTo>
                    <a:lnTo>
                      <a:pt x="242" y="174"/>
                    </a:lnTo>
                    <a:lnTo>
                      <a:pt x="244" y="151"/>
                    </a:lnTo>
                    <a:lnTo>
                      <a:pt x="261" y="130"/>
                    </a:lnTo>
                    <a:lnTo>
                      <a:pt x="305" y="83"/>
                    </a:lnTo>
                    <a:lnTo>
                      <a:pt x="320" y="43"/>
                    </a:lnTo>
                    <a:lnTo>
                      <a:pt x="320" y="10"/>
                    </a:lnTo>
                    <a:lnTo>
                      <a:pt x="305" y="0"/>
                    </a:lnTo>
                    <a:lnTo>
                      <a:pt x="283" y="10"/>
                    </a:lnTo>
                    <a:lnTo>
                      <a:pt x="228" y="44"/>
                    </a:lnTo>
                    <a:lnTo>
                      <a:pt x="176" y="66"/>
                    </a:lnTo>
                    <a:lnTo>
                      <a:pt x="123" y="88"/>
                    </a:lnTo>
                    <a:lnTo>
                      <a:pt x="88" y="99"/>
                    </a:lnTo>
                    <a:lnTo>
                      <a:pt x="56" y="11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5" name="Freeform 141"/>
              <p:cNvSpPr>
                <a:spLocks/>
              </p:cNvSpPr>
              <p:nvPr/>
            </p:nvSpPr>
            <p:spPr bwMode="auto">
              <a:xfrm>
                <a:off x="2994" y="322"/>
                <a:ext cx="565" cy="1192"/>
              </a:xfrm>
              <a:custGeom>
                <a:avLst/>
                <a:gdLst>
                  <a:gd name="T0" fmla="*/ 368 w 565"/>
                  <a:gd name="T1" fmla="*/ 1120 h 1192"/>
                  <a:gd name="T2" fmla="*/ 260 w 565"/>
                  <a:gd name="T3" fmla="*/ 1157 h 1192"/>
                  <a:gd name="T4" fmla="*/ 45 w 565"/>
                  <a:gd name="T5" fmla="*/ 964 h 1192"/>
                  <a:gd name="T6" fmla="*/ 34 w 565"/>
                  <a:gd name="T7" fmla="*/ 997 h 1192"/>
                  <a:gd name="T8" fmla="*/ 267 w 565"/>
                  <a:gd name="T9" fmla="*/ 1192 h 1192"/>
                  <a:gd name="T10" fmla="*/ 379 w 565"/>
                  <a:gd name="T11" fmla="*/ 1132 h 1192"/>
                  <a:gd name="T12" fmla="*/ 534 w 565"/>
                  <a:gd name="T13" fmla="*/ 1081 h 1192"/>
                  <a:gd name="T14" fmla="*/ 526 w 565"/>
                  <a:gd name="T15" fmla="*/ 997 h 1192"/>
                  <a:gd name="T16" fmla="*/ 495 w 565"/>
                  <a:gd name="T17" fmla="*/ 903 h 1192"/>
                  <a:gd name="T18" fmla="*/ 510 w 565"/>
                  <a:gd name="T19" fmla="*/ 828 h 1192"/>
                  <a:gd name="T20" fmla="*/ 478 w 565"/>
                  <a:gd name="T21" fmla="*/ 753 h 1192"/>
                  <a:gd name="T22" fmla="*/ 494 w 565"/>
                  <a:gd name="T23" fmla="*/ 666 h 1192"/>
                  <a:gd name="T24" fmla="*/ 506 w 565"/>
                  <a:gd name="T25" fmla="*/ 580 h 1192"/>
                  <a:gd name="T26" fmla="*/ 510 w 565"/>
                  <a:gd name="T27" fmla="*/ 472 h 1192"/>
                  <a:gd name="T28" fmla="*/ 488 w 565"/>
                  <a:gd name="T29" fmla="*/ 380 h 1192"/>
                  <a:gd name="T30" fmla="*/ 478 w 565"/>
                  <a:gd name="T31" fmla="*/ 308 h 1192"/>
                  <a:gd name="T32" fmla="*/ 504 w 565"/>
                  <a:gd name="T33" fmla="*/ 245 h 1192"/>
                  <a:gd name="T34" fmla="*/ 490 w 565"/>
                  <a:gd name="T35" fmla="*/ 140 h 1192"/>
                  <a:gd name="T36" fmla="*/ 559 w 565"/>
                  <a:gd name="T37" fmla="*/ 12 h 1192"/>
                  <a:gd name="T38" fmla="*/ 528 w 565"/>
                  <a:gd name="T39" fmla="*/ 39 h 1192"/>
                  <a:gd name="T40" fmla="*/ 457 w 565"/>
                  <a:gd name="T41" fmla="*/ 156 h 1192"/>
                  <a:gd name="T42" fmla="*/ 354 w 565"/>
                  <a:gd name="T43" fmla="*/ 254 h 1192"/>
                  <a:gd name="T44" fmla="*/ 461 w 565"/>
                  <a:gd name="T45" fmla="*/ 217 h 1192"/>
                  <a:gd name="T46" fmla="*/ 451 w 565"/>
                  <a:gd name="T47" fmla="*/ 286 h 1192"/>
                  <a:gd name="T48" fmla="*/ 401 w 565"/>
                  <a:gd name="T49" fmla="*/ 358 h 1192"/>
                  <a:gd name="T50" fmla="*/ 474 w 565"/>
                  <a:gd name="T51" fmla="*/ 342 h 1192"/>
                  <a:gd name="T52" fmla="*/ 455 w 565"/>
                  <a:gd name="T53" fmla="*/ 397 h 1192"/>
                  <a:gd name="T54" fmla="*/ 450 w 565"/>
                  <a:gd name="T55" fmla="*/ 456 h 1192"/>
                  <a:gd name="T56" fmla="*/ 343 w 565"/>
                  <a:gd name="T57" fmla="*/ 535 h 1192"/>
                  <a:gd name="T58" fmla="*/ 463 w 565"/>
                  <a:gd name="T59" fmla="*/ 481 h 1192"/>
                  <a:gd name="T60" fmla="*/ 506 w 565"/>
                  <a:gd name="T61" fmla="*/ 535 h 1192"/>
                  <a:gd name="T62" fmla="*/ 434 w 565"/>
                  <a:gd name="T63" fmla="*/ 586 h 1192"/>
                  <a:gd name="T64" fmla="*/ 299 w 565"/>
                  <a:gd name="T65" fmla="*/ 650 h 1192"/>
                  <a:gd name="T66" fmla="*/ 451 w 565"/>
                  <a:gd name="T67" fmla="*/ 623 h 1192"/>
                  <a:gd name="T68" fmla="*/ 483 w 565"/>
                  <a:gd name="T69" fmla="*/ 725 h 1192"/>
                  <a:gd name="T70" fmla="*/ 303 w 565"/>
                  <a:gd name="T71" fmla="*/ 773 h 1192"/>
                  <a:gd name="T72" fmla="*/ 401 w 565"/>
                  <a:gd name="T73" fmla="*/ 769 h 1192"/>
                  <a:gd name="T74" fmla="*/ 463 w 565"/>
                  <a:gd name="T75" fmla="*/ 800 h 1192"/>
                  <a:gd name="T76" fmla="*/ 461 w 565"/>
                  <a:gd name="T77" fmla="*/ 860 h 1192"/>
                  <a:gd name="T78" fmla="*/ 288 w 565"/>
                  <a:gd name="T79" fmla="*/ 894 h 1192"/>
                  <a:gd name="T80" fmla="*/ 373 w 565"/>
                  <a:gd name="T81" fmla="*/ 894 h 1192"/>
                  <a:gd name="T82" fmla="*/ 472 w 565"/>
                  <a:gd name="T83" fmla="*/ 878 h 1192"/>
                  <a:gd name="T84" fmla="*/ 386 w 565"/>
                  <a:gd name="T85" fmla="*/ 958 h 1192"/>
                  <a:gd name="T86" fmla="*/ 288 w 565"/>
                  <a:gd name="T87" fmla="*/ 1006 h 1192"/>
                  <a:gd name="T88" fmla="*/ 412 w 565"/>
                  <a:gd name="T89" fmla="*/ 962 h 1192"/>
                  <a:gd name="T90" fmla="*/ 485 w 565"/>
                  <a:gd name="T91" fmla="*/ 946 h 1192"/>
                  <a:gd name="T92" fmla="*/ 483 w 565"/>
                  <a:gd name="T93" fmla="*/ 1017 h 1192"/>
                  <a:gd name="T94" fmla="*/ 494 w 565"/>
                  <a:gd name="T95" fmla="*/ 1076 h 119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65" h="1192">
                    <a:moveTo>
                      <a:pt x="479" y="1078"/>
                    </a:moveTo>
                    <a:lnTo>
                      <a:pt x="455" y="1105"/>
                    </a:lnTo>
                    <a:lnTo>
                      <a:pt x="417" y="1113"/>
                    </a:lnTo>
                    <a:lnTo>
                      <a:pt x="368" y="1120"/>
                    </a:lnTo>
                    <a:lnTo>
                      <a:pt x="315" y="1131"/>
                    </a:lnTo>
                    <a:lnTo>
                      <a:pt x="281" y="1152"/>
                    </a:lnTo>
                    <a:lnTo>
                      <a:pt x="270" y="1163"/>
                    </a:lnTo>
                    <a:lnTo>
                      <a:pt x="260" y="1157"/>
                    </a:lnTo>
                    <a:lnTo>
                      <a:pt x="196" y="1110"/>
                    </a:lnTo>
                    <a:lnTo>
                      <a:pt x="114" y="1045"/>
                    </a:lnTo>
                    <a:lnTo>
                      <a:pt x="86" y="1006"/>
                    </a:lnTo>
                    <a:lnTo>
                      <a:pt x="45" y="964"/>
                    </a:lnTo>
                    <a:lnTo>
                      <a:pt x="32" y="932"/>
                    </a:lnTo>
                    <a:lnTo>
                      <a:pt x="0" y="926"/>
                    </a:lnTo>
                    <a:lnTo>
                      <a:pt x="16" y="962"/>
                    </a:lnTo>
                    <a:lnTo>
                      <a:pt x="34" y="997"/>
                    </a:lnTo>
                    <a:lnTo>
                      <a:pt x="86" y="1035"/>
                    </a:lnTo>
                    <a:lnTo>
                      <a:pt x="123" y="1081"/>
                    </a:lnTo>
                    <a:lnTo>
                      <a:pt x="212" y="1138"/>
                    </a:lnTo>
                    <a:lnTo>
                      <a:pt x="267" y="1192"/>
                    </a:lnTo>
                    <a:lnTo>
                      <a:pt x="288" y="1186"/>
                    </a:lnTo>
                    <a:lnTo>
                      <a:pt x="310" y="1159"/>
                    </a:lnTo>
                    <a:lnTo>
                      <a:pt x="341" y="1143"/>
                    </a:lnTo>
                    <a:lnTo>
                      <a:pt x="379" y="1132"/>
                    </a:lnTo>
                    <a:lnTo>
                      <a:pt x="461" y="1125"/>
                    </a:lnTo>
                    <a:lnTo>
                      <a:pt x="485" y="1110"/>
                    </a:lnTo>
                    <a:lnTo>
                      <a:pt x="526" y="1099"/>
                    </a:lnTo>
                    <a:lnTo>
                      <a:pt x="534" y="1081"/>
                    </a:lnTo>
                    <a:lnTo>
                      <a:pt x="521" y="1060"/>
                    </a:lnTo>
                    <a:lnTo>
                      <a:pt x="506" y="1038"/>
                    </a:lnTo>
                    <a:lnTo>
                      <a:pt x="515" y="1011"/>
                    </a:lnTo>
                    <a:lnTo>
                      <a:pt x="526" y="997"/>
                    </a:lnTo>
                    <a:lnTo>
                      <a:pt x="526" y="974"/>
                    </a:lnTo>
                    <a:lnTo>
                      <a:pt x="515" y="937"/>
                    </a:lnTo>
                    <a:lnTo>
                      <a:pt x="510" y="919"/>
                    </a:lnTo>
                    <a:lnTo>
                      <a:pt x="495" y="903"/>
                    </a:lnTo>
                    <a:lnTo>
                      <a:pt x="488" y="883"/>
                    </a:lnTo>
                    <a:lnTo>
                      <a:pt x="495" y="865"/>
                    </a:lnTo>
                    <a:lnTo>
                      <a:pt x="512" y="851"/>
                    </a:lnTo>
                    <a:lnTo>
                      <a:pt x="510" y="828"/>
                    </a:lnTo>
                    <a:lnTo>
                      <a:pt x="501" y="811"/>
                    </a:lnTo>
                    <a:lnTo>
                      <a:pt x="483" y="785"/>
                    </a:lnTo>
                    <a:lnTo>
                      <a:pt x="472" y="773"/>
                    </a:lnTo>
                    <a:lnTo>
                      <a:pt x="478" y="753"/>
                    </a:lnTo>
                    <a:lnTo>
                      <a:pt x="504" y="737"/>
                    </a:lnTo>
                    <a:lnTo>
                      <a:pt x="515" y="716"/>
                    </a:lnTo>
                    <a:lnTo>
                      <a:pt x="512" y="698"/>
                    </a:lnTo>
                    <a:lnTo>
                      <a:pt x="494" y="666"/>
                    </a:lnTo>
                    <a:lnTo>
                      <a:pt x="474" y="629"/>
                    </a:lnTo>
                    <a:lnTo>
                      <a:pt x="467" y="602"/>
                    </a:lnTo>
                    <a:lnTo>
                      <a:pt x="478" y="591"/>
                    </a:lnTo>
                    <a:lnTo>
                      <a:pt x="506" y="580"/>
                    </a:lnTo>
                    <a:lnTo>
                      <a:pt x="522" y="570"/>
                    </a:lnTo>
                    <a:lnTo>
                      <a:pt x="526" y="535"/>
                    </a:lnTo>
                    <a:lnTo>
                      <a:pt x="506" y="497"/>
                    </a:lnTo>
                    <a:lnTo>
                      <a:pt x="510" y="472"/>
                    </a:lnTo>
                    <a:lnTo>
                      <a:pt x="517" y="449"/>
                    </a:lnTo>
                    <a:lnTo>
                      <a:pt x="499" y="422"/>
                    </a:lnTo>
                    <a:lnTo>
                      <a:pt x="483" y="397"/>
                    </a:lnTo>
                    <a:lnTo>
                      <a:pt x="488" y="380"/>
                    </a:lnTo>
                    <a:lnTo>
                      <a:pt x="499" y="363"/>
                    </a:lnTo>
                    <a:lnTo>
                      <a:pt x="499" y="336"/>
                    </a:lnTo>
                    <a:lnTo>
                      <a:pt x="488" y="320"/>
                    </a:lnTo>
                    <a:lnTo>
                      <a:pt x="478" y="308"/>
                    </a:lnTo>
                    <a:lnTo>
                      <a:pt x="479" y="288"/>
                    </a:lnTo>
                    <a:lnTo>
                      <a:pt x="499" y="277"/>
                    </a:lnTo>
                    <a:lnTo>
                      <a:pt x="510" y="267"/>
                    </a:lnTo>
                    <a:lnTo>
                      <a:pt x="504" y="245"/>
                    </a:lnTo>
                    <a:lnTo>
                      <a:pt x="483" y="217"/>
                    </a:lnTo>
                    <a:lnTo>
                      <a:pt x="474" y="194"/>
                    </a:lnTo>
                    <a:lnTo>
                      <a:pt x="472" y="167"/>
                    </a:lnTo>
                    <a:lnTo>
                      <a:pt x="490" y="140"/>
                    </a:lnTo>
                    <a:lnTo>
                      <a:pt x="528" y="99"/>
                    </a:lnTo>
                    <a:lnTo>
                      <a:pt x="548" y="66"/>
                    </a:lnTo>
                    <a:lnTo>
                      <a:pt x="565" y="39"/>
                    </a:lnTo>
                    <a:lnTo>
                      <a:pt x="559" y="12"/>
                    </a:lnTo>
                    <a:lnTo>
                      <a:pt x="545" y="0"/>
                    </a:lnTo>
                    <a:lnTo>
                      <a:pt x="534" y="1"/>
                    </a:lnTo>
                    <a:lnTo>
                      <a:pt x="515" y="23"/>
                    </a:lnTo>
                    <a:lnTo>
                      <a:pt x="528" y="39"/>
                    </a:lnTo>
                    <a:lnTo>
                      <a:pt x="526" y="66"/>
                    </a:lnTo>
                    <a:lnTo>
                      <a:pt x="501" y="113"/>
                    </a:lnTo>
                    <a:lnTo>
                      <a:pt x="469" y="140"/>
                    </a:lnTo>
                    <a:lnTo>
                      <a:pt x="457" y="156"/>
                    </a:lnTo>
                    <a:lnTo>
                      <a:pt x="450" y="178"/>
                    </a:lnTo>
                    <a:lnTo>
                      <a:pt x="446" y="190"/>
                    </a:lnTo>
                    <a:lnTo>
                      <a:pt x="398" y="229"/>
                    </a:lnTo>
                    <a:lnTo>
                      <a:pt x="354" y="254"/>
                    </a:lnTo>
                    <a:lnTo>
                      <a:pt x="348" y="272"/>
                    </a:lnTo>
                    <a:lnTo>
                      <a:pt x="363" y="276"/>
                    </a:lnTo>
                    <a:lnTo>
                      <a:pt x="428" y="229"/>
                    </a:lnTo>
                    <a:lnTo>
                      <a:pt x="461" y="217"/>
                    </a:lnTo>
                    <a:lnTo>
                      <a:pt x="478" y="249"/>
                    </a:lnTo>
                    <a:lnTo>
                      <a:pt x="483" y="261"/>
                    </a:lnTo>
                    <a:lnTo>
                      <a:pt x="467" y="276"/>
                    </a:lnTo>
                    <a:lnTo>
                      <a:pt x="451" y="286"/>
                    </a:lnTo>
                    <a:lnTo>
                      <a:pt x="450" y="304"/>
                    </a:lnTo>
                    <a:lnTo>
                      <a:pt x="455" y="324"/>
                    </a:lnTo>
                    <a:lnTo>
                      <a:pt x="441" y="340"/>
                    </a:lnTo>
                    <a:lnTo>
                      <a:pt x="401" y="358"/>
                    </a:lnTo>
                    <a:lnTo>
                      <a:pt x="341" y="384"/>
                    </a:lnTo>
                    <a:lnTo>
                      <a:pt x="363" y="391"/>
                    </a:lnTo>
                    <a:lnTo>
                      <a:pt x="425" y="367"/>
                    </a:lnTo>
                    <a:lnTo>
                      <a:pt x="474" y="342"/>
                    </a:lnTo>
                    <a:lnTo>
                      <a:pt x="483" y="347"/>
                    </a:lnTo>
                    <a:lnTo>
                      <a:pt x="478" y="363"/>
                    </a:lnTo>
                    <a:lnTo>
                      <a:pt x="461" y="380"/>
                    </a:lnTo>
                    <a:lnTo>
                      <a:pt x="455" y="397"/>
                    </a:lnTo>
                    <a:lnTo>
                      <a:pt x="463" y="418"/>
                    </a:lnTo>
                    <a:lnTo>
                      <a:pt x="483" y="434"/>
                    </a:lnTo>
                    <a:lnTo>
                      <a:pt x="483" y="449"/>
                    </a:lnTo>
                    <a:lnTo>
                      <a:pt x="450" y="456"/>
                    </a:lnTo>
                    <a:lnTo>
                      <a:pt x="423" y="492"/>
                    </a:lnTo>
                    <a:lnTo>
                      <a:pt x="391" y="513"/>
                    </a:lnTo>
                    <a:lnTo>
                      <a:pt x="347" y="525"/>
                    </a:lnTo>
                    <a:lnTo>
                      <a:pt x="343" y="535"/>
                    </a:lnTo>
                    <a:lnTo>
                      <a:pt x="370" y="532"/>
                    </a:lnTo>
                    <a:lnTo>
                      <a:pt x="428" y="513"/>
                    </a:lnTo>
                    <a:lnTo>
                      <a:pt x="450" y="497"/>
                    </a:lnTo>
                    <a:lnTo>
                      <a:pt x="463" y="481"/>
                    </a:lnTo>
                    <a:lnTo>
                      <a:pt x="483" y="477"/>
                    </a:lnTo>
                    <a:lnTo>
                      <a:pt x="483" y="497"/>
                    </a:lnTo>
                    <a:lnTo>
                      <a:pt x="495" y="515"/>
                    </a:lnTo>
                    <a:lnTo>
                      <a:pt x="506" y="535"/>
                    </a:lnTo>
                    <a:lnTo>
                      <a:pt x="499" y="552"/>
                    </a:lnTo>
                    <a:lnTo>
                      <a:pt x="474" y="562"/>
                    </a:lnTo>
                    <a:lnTo>
                      <a:pt x="450" y="570"/>
                    </a:lnTo>
                    <a:lnTo>
                      <a:pt x="434" y="586"/>
                    </a:lnTo>
                    <a:lnTo>
                      <a:pt x="359" y="607"/>
                    </a:lnTo>
                    <a:lnTo>
                      <a:pt x="304" y="627"/>
                    </a:lnTo>
                    <a:lnTo>
                      <a:pt x="283" y="638"/>
                    </a:lnTo>
                    <a:lnTo>
                      <a:pt x="299" y="650"/>
                    </a:lnTo>
                    <a:lnTo>
                      <a:pt x="332" y="643"/>
                    </a:lnTo>
                    <a:lnTo>
                      <a:pt x="398" y="618"/>
                    </a:lnTo>
                    <a:lnTo>
                      <a:pt x="441" y="605"/>
                    </a:lnTo>
                    <a:lnTo>
                      <a:pt x="451" y="623"/>
                    </a:lnTo>
                    <a:lnTo>
                      <a:pt x="463" y="656"/>
                    </a:lnTo>
                    <a:lnTo>
                      <a:pt x="483" y="683"/>
                    </a:lnTo>
                    <a:lnTo>
                      <a:pt x="485" y="705"/>
                    </a:lnTo>
                    <a:lnTo>
                      <a:pt x="483" y="725"/>
                    </a:lnTo>
                    <a:lnTo>
                      <a:pt x="461" y="732"/>
                    </a:lnTo>
                    <a:lnTo>
                      <a:pt x="423" y="741"/>
                    </a:lnTo>
                    <a:lnTo>
                      <a:pt x="373" y="762"/>
                    </a:lnTo>
                    <a:lnTo>
                      <a:pt x="303" y="773"/>
                    </a:lnTo>
                    <a:lnTo>
                      <a:pt x="276" y="785"/>
                    </a:lnTo>
                    <a:lnTo>
                      <a:pt x="294" y="794"/>
                    </a:lnTo>
                    <a:lnTo>
                      <a:pt x="357" y="785"/>
                    </a:lnTo>
                    <a:lnTo>
                      <a:pt x="401" y="769"/>
                    </a:lnTo>
                    <a:lnTo>
                      <a:pt x="430" y="759"/>
                    </a:lnTo>
                    <a:lnTo>
                      <a:pt x="455" y="753"/>
                    </a:lnTo>
                    <a:lnTo>
                      <a:pt x="451" y="773"/>
                    </a:lnTo>
                    <a:lnTo>
                      <a:pt x="463" y="800"/>
                    </a:lnTo>
                    <a:lnTo>
                      <a:pt x="479" y="816"/>
                    </a:lnTo>
                    <a:lnTo>
                      <a:pt x="483" y="835"/>
                    </a:lnTo>
                    <a:lnTo>
                      <a:pt x="483" y="851"/>
                    </a:lnTo>
                    <a:lnTo>
                      <a:pt x="461" y="860"/>
                    </a:lnTo>
                    <a:lnTo>
                      <a:pt x="419" y="862"/>
                    </a:lnTo>
                    <a:lnTo>
                      <a:pt x="391" y="871"/>
                    </a:lnTo>
                    <a:lnTo>
                      <a:pt x="325" y="892"/>
                    </a:lnTo>
                    <a:lnTo>
                      <a:pt x="288" y="894"/>
                    </a:lnTo>
                    <a:lnTo>
                      <a:pt x="276" y="910"/>
                    </a:lnTo>
                    <a:lnTo>
                      <a:pt x="292" y="915"/>
                    </a:lnTo>
                    <a:lnTo>
                      <a:pt x="325" y="908"/>
                    </a:lnTo>
                    <a:lnTo>
                      <a:pt x="373" y="894"/>
                    </a:lnTo>
                    <a:lnTo>
                      <a:pt x="401" y="883"/>
                    </a:lnTo>
                    <a:lnTo>
                      <a:pt x="435" y="876"/>
                    </a:lnTo>
                    <a:lnTo>
                      <a:pt x="463" y="878"/>
                    </a:lnTo>
                    <a:lnTo>
                      <a:pt x="472" y="878"/>
                    </a:lnTo>
                    <a:lnTo>
                      <a:pt x="472" y="903"/>
                    </a:lnTo>
                    <a:lnTo>
                      <a:pt x="479" y="915"/>
                    </a:lnTo>
                    <a:lnTo>
                      <a:pt x="430" y="926"/>
                    </a:lnTo>
                    <a:lnTo>
                      <a:pt x="386" y="958"/>
                    </a:lnTo>
                    <a:lnTo>
                      <a:pt x="338" y="976"/>
                    </a:lnTo>
                    <a:lnTo>
                      <a:pt x="304" y="981"/>
                    </a:lnTo>
                    <a:lnTo>
                      <a:pt x="278" y="995"/>
                    </a:lnTo>
                    <a:lnTo>
                      <a:pt x="288" y="1006"/>
                    </a:lnTo>
                    <a:lnTo>
                      <a:pt x="315" y="997"/>
                    </a:lnTo>
                    <a:lnTo>
                      <a:pt x="347" y="986"/>
                    </a:lnTo>
                    <a:lnTo>
                      <a:pt x="381" y="981"/>
                    </a:lnTo>
                    <a:lnTo>
                      <a:pt x="412" y="962"/>
                    </a:lnTo>
                    <a:lnTo>
                      <a:pt x="428" y="946"/>
                    </a:lnTo>
                    <a:lnTo>
                      <a:pt x="450" y="942"/>
                    </a:lnTo>
                    <a:lnTo>
                      <a:pt x="478" y="942"/>
                    </a:lnTo>
                    <a:lnTo>
                      <a:pt x="485" y="946"/>
                    </a:lnTo>
                    <a:lnTo>
                      <a:pt x="494" y="964"/>
                    </a:lnTo>
                    <a:lnTo>
                      <a:pt x="499" y="986"/>
                    </a:lnTo>
                    <a:lnTo>
                      <a:pt x="494" y="1006"/>
                    </a:lnTo>
                    <a:lnTo>
                      <a:pt x="483" y="1017"/>
                    </a:lnTo>
                    <a:lnTo>
                      <a:pt x="474" y="1044"/>
                    </a:lnTo>
                    <a:lnTo>
                      <a:pt x="483" y="1054"/>
                    </a:lnTo>
                    <a:lnTo>
                      <a:pt x="494" y="1065"/>
                    </a:lnTo>
                    <a:lnTo>
                      <a:pt x="494" y="1076"/>
                    </a:lnTo>
                    <a:lnTo>
                      <a:pt x="479" y="10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6" name="Freeform 142"/>
              <p:cNvSpPr>
                <a:spLocks/>
              </p:cNvSpPr>
              <p:nvPr/>
            </p:nvSpPr>
            <p:spPr bwMode="auto">
              <a:xfrm>
                <a:off x="3290" y="1340"/>
                <a:ext cx="169" cy="61"/>
              </a:xfrm>
              <a:custGeom>
                <a:avLst/>
                <a:gdLst>
                  <a:gd name="T0" fmla="*/ 0 w 169"/>
                  <a:gd name="T1" fmla="*/ 48 h 61"/>
                  <a:gd name="T2" fmla="*/ 67 w 169"/>
                  <a:gd name="T3" fmla="*/ 46 h 61"/>
                  <a:gd name="T4" fmla="*/ 93 w 169"/>
                  <a:gd name="T5" fmla="*/ 30 h 61"/>
                  <a:gd name="T6" fmla="*/ 115 w 169"/>
                  <a:gd name="T7" fmla="*/ 12 h 61"/>
                  <a:gd name="T8" fmla="*/ 157 w 169"/>
                  <a:gd name="T9" fmla="*/ 0 h 61"/>
                  <a:gd name="T10" fmla="*/ 169 w 169"/>
                  <a:gd name="T11" fmla="*/ 12 h 61"/>
                  <a:gd name="T12" fmla="*/ 151 w 169"/>
                  <a:gd name="T13" fmla="*/ 17 h 61"/>
                  <a:gd name="T14" fmla="*/ 122 w 169"/>
                  <a:gd name="T15" fmla="*/ 35 h 61"/>
                  <a:gd name="T16" fmla="*/ 106 w 169"/>
                  <a:gd name="T17" fmla="*/ 46 h 61"/>
                  <a:gd name="T18" fmla="*/ 79 w 169"/>
                  <a:gd name="T19" fmla="*/ 54 h 61"/>
                  <a:gd name="T20" fmla="*/ 37 w 169"/>
                  <a:gd name="T21" fmla="*/ 59 h 61"/>
                  <a:gd name="T22" fmla="*/ 3 w 169"/>
                  <a:gd name="T23" fmla="*/ 61 h 61"/>
                  <a:gd name="T24" fmla="*/ 0 w 169"/>
                  <a:gd name="T25" fmla="*/ 48 h 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 h="61">
                    <a:moveTo>
                      <a:pt x="0" y="48"/>
                    </a:moveTo>
                    <a:lnTo>
                      <a:pt x="67" y="46"/>
                    </a:lnTo>
                    <a:lnTo>
                      <a:pt x="93" y="30"/>
                    </a:lnTo>
                    <a:lnTo>
                      <a:pt x="115" y="12"/>
                    </a:lnTo>
                    <a:lnTo>
                      <a:pt x="157" y="0"/>
                    </a:lnTo>
                    <a:lnTo>
                      <a:pt x="169" y="12"/>
                    </a:lnTo>
                    <a:lnTo>
                      <a:pt x="151" y="17"/>
                    </a:lnTo>
                    <a:lnTo>
                      <a:pt x="122" y="35"/>
                    </a:lnTo>
                    <a:lnTo>
                      <a:pt x="106" y="46"/>
                    </a:lnTo>
                    <a:lnTo>
                      <a:pt x="79" y="54"/>
                    </a:lnTo>
                    <a:lnTo>
                      <a:pt x="37" y="59"/>
                    </a:lnTo>
                    <a:lnTo>
                      <a:pt x="3" y="61"/>
                    </a:lnTo>
                    <a:lnTo>
                      <a:pt x="0"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7" name="Freeform 143"/>
              <p:cNvSpPr>
                <a:spLocks/>
              </p:cNvSpPr>
              <p:nvPr/>
            </p:nvSpPr>
            <p:spPr bwMode="auto">
              <a:xfrm>
                <a:off x="3042" y="182"/>
                <a:ext cx="476" cy="262"/>
              </a:xfrm>
              <a:custGeom>
                <a:avLst/>
                <a:gdLst>
                  <a:gd name="T0" fmla="*/ 14 w 476"/>
                  <a:gd name="T1" fmla="*/ 29 h 262"/>
                  <a:gd name="T2" fmla="*/ 70 w 476"/>
                  <a:gd name="T3" fmla="*/ 33 h 262"/>
                  <a:gd name="T4" fmla="*/ 131 w 476"/>
                  <a:gd name="T5" fmla="*/ 34 h 262"/>
                  <a:gd name="T6" fmla="*/ 169 w 476"/>
                  <a:gd name="T7" fmla="*/ 34 h 262"/>
                  <a:gd name="T8" fmla="*/ 200 w 476"/>
                  <a:gd name="T9" fmla="*/ 27 h 262"/>
                  <a:gd name="T10" fmla="*/ 249 w 476"/>
                  <a:gd name="T11" fmla="*/ 12 h 262"/>
                  <a:gd name="T12" fmla="*/ 273 w 476"/>
                  <a:gd name="T13" fmla="*/ 0 h 262"/>
                  <a:gd name="T14" fmla="*/ 306 w 476"/>
                  <a:gd name="T15" fmla="*/ 18 h 262"/>
                  <a:gd name="T16" fmla="*/ 359 w 476"/>
                  <a:gd name="T17" fmla="*/ 55 h 262"/>
                  <a:gd name="T18" fmla="*/ 397 w 476"/>
                  <a:gd name="T19" fmla="*/ 83 h 262"/>
                  <a:gd name="T20" fmla="*/ 447 w 476"/>
                  <a:gd name="T21" fmla="*/ 118 h 262"/>
                  <a:gd name="T22" fmla="*/ 476 w 476"/>
                  <a:gd name="T23" fmla="*/ 143 h 262"/>
                  <a:gd name="T24" fmla="*/ 449 w 476"/>
                  <a:gd name="T25" fmla="*/ 167 h 262"/>
                  <a:gd name="T26" fmla="*/ 421 w 476"/>
                  <a:gd name="T27" fmla="*/ 193 h 262"/>
                  <a:gd name="T28" fmla="*/ 377 w 476"/>
                  <a:gd name="T29" fmla="*/ 211 h 262"/>
                  <a:gd name="T30" fmla="*/ 332 w 476"/>
                  <a:gd name="T31" fmla="*/ 232 h 262"/>
                  <a:gd name="T32" fmla="*/ 290 w 476"/>
                  <a:gd name="T33" fmla="*/ 249 h 262"/>
                  <a:gd name="T34" fmla="*/ 251 w 476"/>
                  <a:gd name="T35" fmla="*/ 254 h 262"/>
                  <a:gd name="T36" fmla="*/ 212 w 476"/>
                  <a:gd name="T37" fmla="*/ 262 h 262"/>
                  <a:gd name="T38" fmla="*/ 162 w 476"/>
                  <a:gd name="T39" fmla="*/ 227 h 262"/>
                  <a:gd name="T40" fmla="*/ 123 w 476"/>
                  <a:gd name="T41" fmla="*/ 195 h 262"/>
                  <a:gd name="T42" fmla="*/ 79 w 476"/>
                  <a:gd name="T43" fmla="*/ 157 h 262"/>
                  <a:gd name="T44" fmla="*/ 44 w 476"/>
                  <a:gd name="T45" fmla="*/ 118 h 262"/>
                  <a:gd name="T46" fmla="*/ 16 w 476"/>
                  <a:gd name="T47" fmla="*/ 90 h 262"/>
                  <a:gd name="T48" fmla="*/ 0 w 476"/>
                  <a:gd name="T49" fmla="*/ 52 h 262"/>
                  <a:gd name="T50" fmla="*/ 14 w 476"/>
                  <a:gd name="T51" fmla="*/ 29 h 26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476" h="262">
                    <a:moveTo>
                      <a:pt x="14" y="29"/>
                    </a:moveTo>
                    <a:lnTo>
                      <a:pt x="70" y="33"/>
                    </a:lnTo>
                    <a:lnTo>
                      <a:pt x="131" y="34"/>
                    </a:lnTo>
                    <a:lnTo>
                      <a:pt x="169" y="34"/>
                    </a:lnTo>
                    <a:lnTo>
                      <a:pt x="200" y="27"/>
                    </a:lnTo>
                    <a:lnTo>
                      <a:pt x="249" y="12"/>
                    </a:lnTo>
                    <a:lnTo>
                      <a:pt x="273" y="0"/>
                    </a:lnTo>
                    <a:lnTo>
                      <a:pt x="306" y="18"/>
                    </a:lnTo>
                    <a:lnTo>
                      <a:pt x="359" y="55"/>
                    </a:lnTo>
                    <a:lnTo>
                      <a:pt x="397" y="83"/>
                    </a:lnTo>
                    <a:lnTo>
                      <a:pt x="447" y="118"/>
                    </a:lnTo>
                    <a:lnTo>
                      <a:pt x="476" y="143"/>
                    </a:lnTo>
                    <a:lnTo>
                      <a:pt x="449" y="167"/>
                    </a:lnTo>
                    <a:lnTo>
                      <a:pt x="421" y="193"/>
                    </a:lnTo>
                    <a:lnTo>
                      <a:pt x="377" y="211"/>
                    </a:lnTo>
                    <a:lnTo>
                      <a:pt x="332" y="232"/>
                    </a:lnTo>
                    <a:lnTo>
                      <a:pt x="290" y="249"/>
                    </a:lnTo>
                    <a:lnTo>
                      <a:pt x="251" y="254"/>
                    </a:lnTo>
                    <a:lnTo>
                      <a:pt x="212" y="262"/>
                    </a:lnTo>
                    <a:lnTo>
                      <a:pt x="162" y="227"/>
                    </a:lnTo>
                    <a:lnTo>
                      <a:pt x="123" y="195"/>
                    </a:lnTo>
                    <a:lnTo>
                      <a:pt x="79" y="157"/>
                    </a:lnTo>
                    <a:lnTo>
                      <a:pt x="44" y="118"/>
                    </a:lnTo>
                    <a:lnTo>
                      <a:pt x="16" y="90"/>
                    </a:lnTo>
                    <a:lnTo>
                      <a:pt x="0" y="52"/>
                    </a:lnTo>
                    <a:lnTo>
                      <a:pt x="14" y="29"/>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8" name="Freeform 144"/>
              <p:cNvSpPr>
                <a:spLocks/>
              </p:cNvSpPr>
              <p:nvPr/>
            </p:nvSpPr>
            <p:spPr bwMode="auto">
              <a:xfrm>
                <a:off x="3031" y="173"/>
                <a:ext cx="514" cy="304"/>
              </a:xfrm>
              <a:custGeom>
                <a:avLst/>
                <a:gdLst>
                  <a:gd name="T0" fmla="*/ 251 w 514"/>
                  <a:gd name="T1" fmla="*/ 259 h 304"/>
                  <a:gd name="T2" fmla="*/ 333 w 514"/>
                  <a:gd name="T3" fmla="*/ 237 h 304"/>
                  <a:gd name="T4" fmla="*/ 398 w 514"/>
                  <a:gd name="T5" fmla="*/ 207 h 304"/>
                  <a:gd name="T6" fmla="*/ 446 w 514"/>
                  <a:gd name="T7" fmla="*/ 175 h 304"/>
                  <a:gd name="T8" fmla="*/ 464 w 514"/>
                  <a:gd name="T9" fmla="*/ 154 h 304"/>
                  <a:gd name="T10" fmla="*/ 397 w 514"/>
                  <a:gd name="T11" fmla="*/ 91 h 304"/>
                  <a:gd name="T12" fmla="*/ 342 w 514"/>
                  <a:gd name="T13" fmla="*/ 59 h 304"/>
                  <a:gd name="T14" fmla="*/ 290 w 514"/>
                  <a:gd name="T15" fmla="*/ 26 h 304"/>
                  <a:gd name="T16" fmla="*/ 278 w 514"/>
                  <a:gd name="T17" fmla="*/ 26 h 304"/>
                  <a:gd name="T18" fmla="*/ 246 w 514"/>
                  <a:gd name="T19" fmla="*/ 36 h 304"/>
                  <a:gd name="T20" fmla="*/ 202 w 514"/>
                  <a:gd name="T21" fmla="*/ 49 h 304"/>
                  <a:gd name="T22" fmla="*/ 124 w 514"/>
                  <a:gd name="T23" fmla="*/ 54 h 304"/>
                  <a:gd name="T24" fmla="*/ 47 w 514"/>
                  <a:gd name="T25" fmla="*/ 53 h 304"/>
                  <a:gd name="T26" fmla="*/ 26 w 514"/>
                  <a:gd name="T27" fmla="*/ 54 h 304"/>
                  <a:gd name="T28" fmla="*/ 26 w 514"/>
                  <a:gd name="T29" fmla="*/ 70 h 304"/>
                  <a:gd name="T30" fmla="*/ 44 w 514"/>
                  <a:gd name="T31" fmla="*/ 91 h 304"/>
                  <a:gd name="T32" fmla="*/ 74 w 514"/>
                  <a:gd name="T33" fmla="*/ 132 h 304"/>
                  <a:gd name="T34" fmla="*/ 115 w 514"/>
                  <a:gd name="T35" fmla="*/ 165 h 304"/>
                  <a:gd name="T36" fmla="*/ 164 w 514"/>
                  <a:gd name="T37" fmla="*/ 214 h 304"/>
                  <a:gd name="T38" fmla="*/ 211 w 514"/>
                  <a:gd name="T39" fmla="*/ 249 h 304"/>
                  <a:gd name="T40" fmla="*/ 240 w 514"/>
                  <a:gd name="T41" fmla="*/ 268 h 304"/>
                  <a:gd name="T42" fmla="*/ 249 w 514"/>
                  <a:gd name="T43" fmla="*/ 291 h 304"/>
                  <a:gd name="T44" fmla="*/ 239 w 514"/>
                  <a:gd name="T45" fmla="*/ 304 h 304"/>
                  <a:gd name="T46" fmla="*/ 221 w 514"/>
                  <a:gd name="T47" fmla="*/ 296 h 304"/>
                  <a:gd name="T48" fmla="*/ 175 w 514"/>
                  <a:gd name="T49" fmla="*/ 252 h 304"/>
                  <a:gd name="T50" fmla="*/ 115 w 514"/>
                  <a:gd name="T51" fmla="*/ 202 h 304"/>
                  <a:gd name="T52" fmla="*/ 70 w 514"/>
                  <a:gd name="T53" fmla="*/ 165 h 304"/>
                  <a:gd name="T54" fmla="*/ 42 w 514"/>
                  <a:gd name="T55" fmla="*/ 132 h 304"/>
                  <a:gd name="T56" fmla="*/ 16 w 514"/>
                  <a:gd name="T57" fmla="*/ 98 h 304"/>
                  <a:gd name="T58" fmla="*/ 5 w 514"/>
                  <a:gd name="T59" fmla="*/ 75 h 304"/>
                  <a:gd name="T60" fmla="*/ 0 w 514"/>
                  <a:gd name="T61" fmla="*/ 49 h 304"/>
                  <a:gd name="T62" fmla="*/ 7 w 514"/>
                  <a:gd name="T63" fmla="*/ 33 h 304"/>
                  <a:gd name="T64" fmla="*/ 25 w 514"/>
                  <a:gd name="T65" fmla="*/ 26 h 304"/>
                  <a:gd name="T66" fmla="*/ 58 w 514"/>
                  <a:gd name="T67" fmla="*/ 27 h 304"/>
                  <a:gd name="T68" fmla="*/ 120 w 514"/>
                  <a:gd name="T69" fmla="*/ 36 h 304"/>
                  <a:gd name="T70" fmla="*/ 173 w 514"/>
                  <a:gd name="T71" fmla="*/ 36 h 304"/>
                  <a:gd name="T72" fmla="*/ 211 w 514"/>
                  <a:gd name="T73" fmla="*/ 26 h 304"/>
                  <a:gd name="T74" fmla="*/ 255 w 514"/>
                  <a:gd name="T75" fmla="*/ 16 h 304"/>
                  <a:gd name="T76" fmla="*/ 273 w 514"/>
                  <a:gd name="T77" fmla="*/ 0 h 304"/>
                  <a:gd name="T78" fmla="*/ 293 w 514"/>
                  <a:gd name="T79" fmla="*/ 0 h 304"/>
                  <a:gd name="T80" fmla="*/ 338 w 514"/>
                  <a:gd name="T81" fmla="*/ 27 h 304"/>
                  <a:gd name="T82" fmla="*/ 388 w 514"/>
                  <a:gd name="T83" fmla="*/ 66 h 304"/>
                  <a:gd name="T84" fmla="*/ 441 w 514"/>
                  <a:gd name="T85" fmla="*/ 99 h 304"/>
                  <a:gd name="T86" fmla="*/ 469 w 514"/>
                  <a:gd name="T87" fmla="*/ 121 h 304"/>
                  <a:gd name="T88" fmla="*/ 501 w 514"/>
                  <a:gd name="T89" fmla="*/ 142 h 304"/>
                  <a:gd name="T90" fmla="*/ 514 w 514"/>
                  <a:gd name="T91" fmla="*/ 149 h 304"/>
                  <a:gd name="T92" fmla="*/ 506 w 514"/>
                  <a:gd name="T93" fmla="*/ 163 h 304"/>
                  <a:gd name="T94" fmla="*/ 485 w 514"/>
                  <a:gd name="T95" fmla="*/ 177 h 304"/>
                  <a:gd name="T96" fmla="*/ 459 w 514"/>
                  <a:gd name="T97" fmla="*/ 198 h 304"/>
                  <a:gd name="T98" fmla="*/ 435 w 514"/>
                  <a:gd name="T99" fmla="*/ 207 h 304"/>
                  <a:gd name="T100" fmla="*/ 391 w 514"/>
                  <a:gd name="T101" fmla="*/ 226 h 304"/>
                  <a:gd name="T102" fmla="*/ 361 w 514"/>
                  <a:gd name="T103" fmla="*/ 241 h 304"/>
                  <a:gd name="T104" fmla="*/ 326 w 514"/>
                  <a:gd name="T105" fmla="*/ 263 h 304"/>
                  <a:gd name="T106" fmla="*/ 290 w 514"/>
                  <a:gd name="T107" fmla="*/ 268 h 304"/>
                  <a:gd name="T108" fmla="*/ 260 w 514"/>
                  <a:gd name="T109" fmla="*/ 270 h 304"/>
                  <a:gd name="T110" fmla="*/ 251 w 514"/>
                  <a:gd name="T111" fmla="*/ 259 h 30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14" h="304">
                    <a:moveTo>
                      <a:pt x="251" y="259"/>
                    </a:moveTo>
                    <a:lnTo>
                      <a:pt x="333" y="237"/>
                    </a:lnTo>
                    <a:lnTo>
                      <a:pt x="398" y="207"/>
                    </a:lnTo>
                    <a:lnTo>
                      <a:pt x="446" y="175"/>
                    </a:lnTo>
                    <a:lnTo>
                      <a:pt x="464" y="154"/>
                    </a:lnTo>
                    <a:lnTo>
                      <a:pt x="397" y="91"/>
                    </a:lnTo>
                    <a:lnTo>
                      <a:pt x="342" y="59"/>
                    </a:lnTo>
                    <a:lnTo>
                      <a:pt x="290" y="26"/>
                    </a:lnTo>
                    <a:lnTo>
                      <a:pt x="278" y="26"/>
                    </a:lnTo>
                    <a:lnTo>
                      <a:pt x="246" y="36"/>
                    </a:lnTo>
                    <a:lnTo>
                      <a:pt x="202" y="49"/>
                    </a:lnTo>
                    <a:lnTo>
                      <a:pt x="124" y="54"/>
                    </a:lnTo>
                    <a:lnTo>
                      <a:pt x="47" y="53"/>
                    </a:lnTo>
                    <a:lnTo>
                      <a:pt x="26" y="54"/>
                    </a:lnTo>
                    <a:lnTo>
                      <a:pt x="26" y="70"/>
                    </a:lnTo>
                    <a:lnTo>
                      <a:pt x="44" y="91"/>
                    </a:lnTo>
                    <a:lnTo>
                      <a:pt x="74" y="132"/>
                    </a:lnTo>
                    <a:lnTo>
                      <a:pt x="115" y="165"/>
                    </a:lnTo>
                    <a:lnTo>
                      <a:pt x="164" y="214"/>
                    </a:lnTo>
                    <a:lnTo>
                      <a:pt x="211" y="249"/>
                    </a:lnTo>
                    <a:lnTo>
                      <a:pt x="240" y="268"/>
                    </a:lnTo>
                    <a:lnTo>
                      <a:pt x="249" y="291"/>
                    </a:lnTo>
                    <a:lnTo>
                      <a:pt x="239" y="304"/>
                    </a:lnTo>
                    <a:lnTo>
                      <a:pt x="221" y="296"/>
                    </a:lnTo>
                    <a:lnTo>
                      <a:pt x="175" y="252"/>
                    </a:lnTo>
                    <a:lnTo>
                      <a:pt x="115" y="202"/>
                    </a:lnTo>
                    <a:lnTo>
                      <a:pt x="70" y="165"/>
                    </a:lnTo>
                    <a:lnTo>
                      <a:pt x="42" y="132"/>
                    </a:lnTo>
                    <a:lnTo>
                      <a:pt x="16" y="98"/>
                    </a:lnTo>
                    <a:lnTo>
                      <a:pt x="5" y="75"/>
                    </a:lnTo>
                    <a:lnTo>
                      <a:pt x="0" y="49"/>
                    </a:lnTo>
                    <a:lnTo>
                      <a:pt x="7" y="33"/>
                    </a:lnTo>
                    <a:lnTo>
                      <a:pt x="25" y="26"/>
                    </a:lnTo>
                    <a:lnTo>
                      <a:pt x="58" y="27"/>
                    </a:lnTo>
                    <a:lnTo>
                      <a:pt x="120" y="36"/>
                    </a:lnTo>
                    <a:lnTo>
                      <a:pt x="173" y="36"/>
                    </a:lnTo>
                    <a:lnTo>
                      <a:pt x="211" y="26"/>
                    </a:lnTo>
                    <a:lnTo>
                      <a:pt x="255" y="16"/>
                    </a:lnTo>
                    <a:lnTo>
                      <a:pt x="273" y="0"/>
                    </a:lnTo>
                    <a:lnTo>
                      <a:pt x="293" y="0"/>
                    </a:lnTo>
                    <a:lnTo>
                      <a:pt x="338" y="27"/>
                    </a:lnTo>
                    <a:lnTo>
                      <a:pt x="388" y="66"/>
                    </a:lnTo>
                    <a:lnTo>
                      <a:pt x="441" y="99"/>
                    </a:lnTo>
                    <a:lnTo>
                      <a:pt x="469" y="121"/>
                    </a:lnTo>
                    <a:lnTo>
                      <a:pt x="501" y="142"/>
                    </a:lnTo>
                    <a:lnTo>
                      <a:pt x="514" y="149"/>
                    </a:lnTo>
                    <a:lnTo>
                      <a:pt x="506" y="163"/>
                    </a:lnTo>
                    <a:lnTo>
                      <a:pt x="485" y="177"/>
                    </a:lnTo>
                    <a:lnTo>
                      <a:pt x="459" y="198"/>
                    </a:lnTo>
                    <a:lnTo>
                      <a:pt x="435" y="207"/>
                    </a:lnTo>
                    <a:lnTo>
                      <a:pt x="391" y="226"/>
                    </a:lnTo>
                    <a:lnTo>
                      <a:pt x="361" y="241"/>
                    </a:lnTo>
                    <a:lnTo>
                      <a:pt x="326" y="263"/>
                    </a:lnTo>
                    <a:lnTo>
                      <a:pt x="290" y="268"/>
                    </a:lnTo>
                    <a:lnTo>
                      <a:pt x="260" y="270"/>
                    </a:lnTo>
                    <a:lnTo>
                      <a:pt x="251" y="2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9" name="Freeform 145"/>
              <p:cNvSpPr>
                <a:spLocks/>
              </p:cNvSpPr>
              <p:nvPr/>
            </p:nvSpPr>
            <p:spPr bwMode="auto">
              <a:xfrm>
                <a:off x="3316" y="397"/>
                <a:ext cx="168" cy="110"/>
              </a:xfrm>
              <a:custGeom>
                <a:avLst/>
                <a:gdLst>
                  <a:gd name="T0" fmla="*/ 141 w 168"/>
                  <a:gd name="T1" fmla="*/ 13 h 110"/>
                  <a:gd name="T2" fmla="*/ 105 w 168"/>
                  <a:gd name="T3" fmla="*/ 42 h 110"/>
                  <a:gd name="T4" fmla="*/ 74 w 168"/>
                  <a:gd name="T5" fmla="*/ 69 h 110"/>
                  <a:gd name="T6" fmla="*/ 26 w 168"/>
                  <a:gd name="T7" fmla="*/ 86 h 110"/>
                  <a:gd name="T8" fmla="*/ 0 w 168"/>
                  <a:gd name="T9" fmla="*/ 94 h 110"/>
                  <a:gd name="T10" fmla="*/ 20 w 168"/>
                  <a:gd name="T11" fmla="*/ 110 h 110"/>
                  <a:gd name="T12" fmla="*/ 55 w 168"/>
                  <a:gd name="T13" fmla="*/ 104 h 110"/>
                  <a:gd name="T14" fmla="*/ 107 w 168"/>
                  <a:gd name="T15" fmla="*/ 69 h 110"/>
                  <a:gd name="T16" fmla="*/ 168 w 168"/>
                  <a:gd name="T17" fmla="*/ 0 h 110"/>
                  <a:gd name="T18" fmla="*/ 141 w 168"/>
                  <a:gd name="T19" fmla="*/ 13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8" h="110">
                    <a:moveTo>
                      <a:pt x="141" y="13"/>
                    </a:moveTo>
                    <a:lnTo>
                      <a:pt x="105" y="42"/>
                    </a:lnTo>
                    <a:lnTo>
                      <a:pt x="74" y="69"/>
                    </a:lnTo>
                    <a:lnTo>
                      <a:pt x="26" y="86"/>
                    </a:lnTo>
                    <a:lnTo>
                      <a:pt x="0" y="94"/>
                    </a:lnTo>
                    <a:lnTo>
                      <a:pt x="20" y="110"/>
                    </a:lnTo>
                    <a:lnTo>
                      <a:pt x="55" y="104"/>
                    </a:lnTo>
                    <a:lnTo>
                      <a:pt x="107" y="69"/>
                    </a:lnTo>
                    <a:lnTo>
                      <a:pt x="168" y="0"/>
                    </a:lnTo>
                    <a:lnTo>
                      <a:pt x="141"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155" name="Group 146"/>
            <p:cNvGrpSpPr>
              <a:grpSpLocks/>
            </p:cNvGrpSpPr>
            <p:nvPr/>
          </p:nvGrpSpPr>
          <p:grpSpPr bwMode="auto">
            <a:xfrm>
              <a:off x="4344" y="2151"/>
              <a:ext cx="310" cy="696"/>
              <a:chOff x="2962" y="173"/>
              <a:chExt cx="597" cy="1341"/>
            </a:xfrm>
          </p:grpSpPr>
          <p:sp>
            <p:nvSpPr>
              <p:cNvPr id="6176" name="Freeform 147"/>
              <p:cNvSpPr>
                <a:spLocks/>
              </p:cNvSpPr>
              <p:nvPr/>
            </p:nvSpPr>
            <p:spPr bwMode="auto">
              <a:xfrm>
                <a:off x="2972" y="232"/>
                <a:ext cx="318" cy="1264"/>
              </a:xfrm>
              <a:custGeom>
                <a:avLst/>
                <a:gdLst>
                  <a:gd name="T0" fmla="*/ 312 w 318"/>
                  <a:gd name="T1" fmla="*/ 226 h 1264"/>
                  <a:gd name="T2" fmla="*/ 318 w 318"/>
                  <a:gd name="T3" fmla="*/ 274 h 1264"/>
                  <a:gd name="T4" fmla="*/ 318 w 318"/>
                  <a:gd name="T5" fmla="*/ 524 h 1264"/>
                  <a:gd name="T6" fmla="*/ 295 w 318"/>
                  <a:gd name="T7" fmla="*/ 859 h 1264"/>
                  <a:gd name="T8" fmla="*/ 297 w 318"/>
                  <a:gd name="T9" fmla="*/ 1074 h 1264"/>
                  <a:gd name="T10" fmla="*/ 309 w 318"/>
                  <a:gd name="T11" fmla="*/ 1222 h 1264"/>
                  <a:gd name="T12" fmla="*/ 297 w 318"/>
                  <a:gd name="T13" fmla="*/ 1264 h 1264"/>
                  <a:gd name="T14" fmla="*/ 279 w 318"/>
                  <a:gd name="T15" fmla="*/ 1255 h 1264"/>
                  <a:gd name="T16" fmla="*/ 170 w 318"/>
                  <a:gd name="T17" fmla="*/ 1173 h 1264"/>
                  <a:gd name="T18" fmla="*/ 143 w 318"/>
                  <a:gd name="T19" fmla="*/ 1157 h 1264"/>
                  <a:gd name="T20" fmla="*/ 126 w 318"/>
                  <a:gd name="T21" fmla="*/ 1133 h 1264"/>
                  <a:gd name="T22" fmla="*/ 98 w 318"/>
                  <a:gd name="T23" fmla="*/ 1103 h 1264"/>
                  <a:gd name="T24" fmla="*/ 62 w 318"/>
                  <a:gd name="T25" fmla="*/ 1071 h 1264"/>
                  <a:gd name="T26" fmla="*/ 44 w 318"/>
                  <a:gd name="T27" fmla="*/ 1028 h 1264"/>
                  <a:gd name="T28" fmla="*/ 0 w 318"/>
                  <a:gd name="T29" fmla="*/ 989 h 1264"/>
                  <a:gd name="T30" fmla="*/ 0 w 318"/>
                  <a:gd name="T31" fmla="*/ 968 h 1264"/>
                  <a:gd name="T32" fmla="*/ 24 w 318"/>
                  <a:gd name="T33" fmla="*/ 939 h 1264"/>
                  <a:gd name="T34" fmla="*/ 33 w 318"/>
                  <a:gd name="T35" fmla="*/ 901 h 1264"/>
                  <a:gd name="T36" fmla="*/ 27 w 318"/>
                  <a:gd name="T37" fmla="*/ 882 h 1264"/>
                  <a:gd name="T38" fmla="*/ 16 w 318"/>
                  <a:gd name="T39" fmla="*/ 848 h 1264"/>
                  <a:gd name="T40" fmla="*/ 12 w 318"/>
                  <a:gd name="T41" fmla="*/ 825 h 1264"/>
                  <a:gd name="T42" fmla="*/ 29 w 318"/>
                  <a:gd name="T43" fmla="*/ 789 h 1264"/>
                  <a:gd name="T44" fmla="*/ 29 w 318"/>
                  <a:gd name="T45" fmla="*/ 766 h 1264"/>
                  <a:gd name="T46" fmla="*/ 10 w 318"/>
                  <a:gd name="T47" fmla="*/ 718 h 1264"/>
                  <a:gd name="T48" fmla="*/ 10 w 318"/>
                  <a:gd name="T49" fmla="*/ 690 h 1264"/>
                  <a:gd name="T50" fmla="*/ 22 w 318"/>
                  <a:gd name="T51" fmla="*/ 668 h 1264"/>
                  <a:gd name="T52" fmla="*/ 40 w 318"/>
                  <a:gd name="T53" fmla="*/ 643 h 1264"/>
                  <a:gd name="T54" fmla="*/ 38 w 318"/>
                  <a:gd name="T55" fmla="*/ 600 h 1264"/>
                  <a:gd name="T56" fmla="*/ 27 w 318"/>
                  <a:gd name="T57" fmla="*/ 566 h 1264"/>
                  <a:gd name="T58" fmla="*/ 38 w 318"/>
                  <a:gd name="T59" fmla="*/ 524 h 1264"/>
                  <a:gd name="T60" fmla="*/ 49 w 318"/>
                  <a:gd name="T61" fmla="*/ 513 h 1264"/>
                  <a:gd name="T62" fmla="*/ 40 w 318"/>
                  <a:gd name="T63" fmla="*/ 476 h 1264"/>
                  <a:gd name="T64" fmla="*/ 16 w 318"/>
                  <a:gd name="T65" fmla="*/ 436 h 1264"/>
                  <a:gd name="T66" fmla="*/ 10 w 318"/>
                  <a:gd name="T67" fmla="*/ 409 h 1264"/>
                  <a:gd name="T68" fmla="*/ 16 w 318"/>
                  <a:gd name="T69" fmla="*/ 383 h 1264"/>
                  <a:gd name="T70" fmla="*/ 45 w 318"/>
                  <a:gd name="T71" fmla="*/ 362 h 1264"/>
                  <a:gd name="T72" fmla="*/ 44 w 318"/>
                  <a:gd name="T73" fmla="*/ 344 h 1264"/>
                  <a:gd name="T74" fmla="*/ 12 w 318"/>
                  <a:gd name="T75" fmla="*/ 286 h 1264"/>
                  <a:gd name="T76" fmla="*/ 1 w 318"/>
                  <a:gd name="T77" fmla="*/ 242 h 1264"/>
                  <a:gd name="T78" fmla="*/ 10 w 318"/>
                  <a:gd name="T79" fmla="*/ 216 h 1264"/>
                  <a:gd name="T80" fmla="*/ 40 w 318"/>
                  <a:gd name="T81" fmla="*/ 192 h 1264"/>
                  <a:gd name="T82" fmla="*/ 33 w 318"/>
                  <a:gd name="T83" fmla="*/ 173 h 1264"/>
                  <a:gd name="T84" fmla="*/ 12 w 318"/>
                  <a:gd name="T85" fmla="*/ 149 h 1264"/>
                  <a:gd name="T86" fmla="*/ 12 w 318"/>
                  <a:gd name="T87" fmla="*/ 124 h 1264"/>
                  <a:gd name="T88" fmla="*/ 45 w 318"/>
                  <a:gd name="T89" fmla="*/ 108 h 1264"/>
                  <a:gd name="T90" fmla="*/ 61 w 318"/>
                  <a:gd name="T91" fmla="*/ 90 h 1264"/>
                  <a:gd name="T92" fmla="*/ 33 w 318"/>
                  <a:gd name="T93" fmla="*/ 51 h 1264"/>
                  <a:gd name="T94" fmla="*/ 33 w 318"/>
                  <a:gd name="T95" fmla="*/ 32 h 1264"/>
                  <a:gd name="T96" fmla="*/ 66 w 318"/>
                  <a:gd name="T97" fmla="*/ 19 h 1264"/>
                  <a:gd name="T98" fmla="*/ 68 w 318"/>
                  <a:gd name="T99" fmla="*/ 0 h 1264"/>
                  <a:gd name="T100" fmla="*/ 105 w 318"/>
                  <a:gd name="T101" fmla="*/ 51 h 1264"/>
                  <a:gd name="T102" fmla="*/ 149 w 318"/>
                  <a:gd name="T103" fmla="*/ 106 h 1264"/>
                  <a:gd name="T104" fmla="*/ 203 w 318"/>
                  <a:gd name="T105" fmla="*/ 149 h 1264"/>
                  <a:gd name="T106" fmla="*/ 247 w 318"/>
                  <a:gd name="T107" fmla="*/ 183 h 1264"/>
                  <a:gd name="T108" fmla="*/ 295 w 318"/>
                  <a:gd name="T109" fmla="*/ 210 h 1264"/>
                  <a:gd name="T110" fmla="*/ 312 w 318"/>
                  <a:gd name="T111" fmla="*/ 226 h 126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318" h="1264">
                    <a:moveTo>
                      <a:pt x="312" y="226"/>
                    </a:moveTo>
                    <a:lnTo>
                      <a:pt x="318" y="274"/>
                    </a:lnTo>
                    <a:lnTo>
                      <a:pt x="318" y="524"/>
                    </a:lnTo>
                    <a:lnTo>
                      <a:pt x="295" y="859"/>
                    </a:lnTo>
                    <a:lnTo>
                      <a:pt x="297" y="1074"/>
                    </a:lnTo>
                    <a:lnTo>
                      <a:pt x="309" y="1222"/>
                    </a:lnTo>
                    <a:lnTo>
                      <a:pt x="297" y="1264"/>
                    </a:lnTo>
                    <a:lnTo>
                      <a:pt x="279" y="1255"/>
                    </a:lnTo>
                    <a:lnTo>
                      <a:pt x="170" y="1173"/>
                    </a:lnTo>
                    <a:lnTo>
                      <a:pt x="143" y="1157"/>
                    </a:lnTo>
                    <a:lnTo>
                      <a:pt x="126" y="1133"/>
                    </a:lnTo>
                    <a:lnTo>
                      <a:pt x="98" y="1103"/>
                    </a:lnTo>
                    <a:lnTo>
                      <a:pt x="62" y="1071"/>
                    </a:lnTo>
                    <a:lnTo>
                      <a:pt x="44" y="1028"/>
                    </a:lnTo>
                    <a:lnTo>
                      <a:pt x="0" y="989"/>
                    </a:lnTo>
                    <a:lnTo>
                      <a:pt x="0" y="968"/>
                    </a:lnTo>
                    <a:lnTo>
                      <a:pt x="24" y="939"/>
                    </a:lnTo>
                    <a:lnTo>
                      <a:pt x="33" y="901"/>
                    </a:lnTo>
                    <a:lnTo>
                      <a:pt x="27" y="882"/>
                    </a:lnTo>
                    <a:lnTo>
                      <a:pt x="16" y="848"/>
                    </a:lnTo>
                    <a:lnTo>
                      <a:pt x="12" y="825"/>
                    </a:lnTo>
                    <a:lnTo>
                      <a:pt x="29" y="789"/>
                    </a:lnTo>
                    <a:lnTo>
                      <a:pt x="29" y="766"/>
                    </a:lnTo>
                    <a:lnTo>
                      <a:pt x="10" y="718"/>
                    </a:lnTo>
                    <a:lnTo>
                      <a:pt x="10" y="690"/>
                    </a:lnTo>
                    <a:lnTo>
                      <a:pt x="22" y="668"/>
                    </a:lnTo>
                    <a:lnTo>
                      <a:pt x="40" y="643"/>
                    </a:lnTo>
                    <a:lnTo>
                      <a:pt x="38" y="600"/>
                    </a:lnTo>
                    <a:lnTo>
                      <a:pt x="27" y="566"/>
                    </a:lnTo>
                    <a:lnTo>
                      <a:pt x="38" y="524"/>
                    </a:lnTo>
                    <a:lnTo>
                      <a:pt x="49" y="513"/>
                    </a:lnTo>
                    <a:lnTo>
                      <a:pt x="40" y="476"/>
                    </a:lnTo>
                    <a:lnTo>
                      <a:pt x="16" y="436"/>
                    </a:lnTo>
                    <a:lnTo>
                      <a:pt x="10" y="409"/>
                    </a:lnTo>
                    <a:lnTo>
                      <a:pt x="16" y="383"/>
                    </a:lnTo>
                    <a:lnTo>
                      <a:pt x="45" y="362"/>
                    </a:lnTo>
                    <a:lnTo>
                      <a:pt x="44" y="344"/>
                    </a:lnTo>
                    <a:lnTo>
                      <a:pt x="12" y="286"/>
                    </a:lnTo>
                    <a:lnTo>
                      <a:pt x="1" y="242"/>
                    </a:lnTo>
                    <a:lnTo>
                      <a:pt x="10" y="216"/>
                    </a:lnTo>
                    <a:lnTo>
                      <a:pt x="40" y="192"/>
                    </a:lnTo>
                    <a:lnTo>
                      <a:pt x="33" y="173"/>
                    </a:lnTo>
                    <a:lnTo>
                      <a:pt x="12" y="149"/>
                    </a:lnTo>
                    <a:lnTo>
                      <a:pt x="12" y="124"/>
                    </a:lnTo>
                    <a:lnTo>
                      <a:pt x="45" y="108"/>
                    </a:lnTo>
                    <a:lnTo>
                      <a:pt x="61" y="90"/>
                    </a:lnTo>
                    <a:lnTo>
                      <a:pt x="33" y="51"/>
                    </a:lnTo>
                    <a:lnTo>
                      <a:pt x="33" y="32"/>
                    </a:lnTo>
                    <a:lnTo>
                      <a:pt x="66" y="19"/>
                    </a:lnTo>
                    <a:lnTo>
                      <a:pt x="68" y="0"/>
                    </a:lnTo>
                    <a:lnTo>
                      <a:pt x="105" y="51"/>
                    </a:lnTo>
                    <a:lnTo>
                      <a:pt x="149" y="106"/>
                    </a:lnTo>
                    <a:lnTo>
                      <a:pt x="203" y="149"/>
                    </a:lnTo>
                    <a:lnTo>
                      <a:pt x="247" y="183"/>
                    </a:lnTo>
                    <a:lnTo>
                      <a:pt x="295" y="210"/>
                    </a:lnTo>
                    <a:lnTo>
                      <a:pt x="312" y="226"/>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7" name="Freeform 148"/>
              <p:cNvSpPr>
                <a:spLocks/>
              </p:cNvSpPr>
              <p:nvPr/>
            </p:nvSpPr>
            <p:spPr bwMode="auto">
              <a:xfrm>
                <a:off x="2962" y="252"/>
                <a:ext cx="97" cy="965"/>
              </a:xfrm>
              <a:custGeom>
                <a:avLst/>
                <a:gdLst>
                  <a:gd name="T0" fmla="*/ 65 w 97"/>
                  <a:gd name="T1" fmla="*/ 32 h 965"/>
                  <a:gd name="T2" fmla="*/ 97 w 97"/>
                  <a:gd name="T3" fmla="*/ 67 h 965"/>
                  <a:gd name="T4" fmla="*/ 77 w 97"/>
                  <a:gd name="T5" fmla="*/ 94 h 965"/>
                  <a:gd name="T6" fmla="*/ 36 w 97"/>
                  <a:gd name="T7" fmla="*/ 113 h 965"/>
                  <a:gd name="T8" fmla="*/ 52 w 97"/>
                  <a:gd name="T9" fmla="*/ 140 h 965"/>
                  <a:gd name="T10" fmla="*/ 71 w 97"/>
                  <a:gd name="T11" fmla="*/ 174 h 965"/>
                  <a:gd name="T12" fmla="*/ 48 w 97"/>
                  <a:gd name="T13" fmla="*/ 197 h 965"/>
                  <a:gd name="T14" fmla="*/ 28 w 97"/>
                  <a:gd name="T15" fmla="*/ 224 h 965"/>
                  <a:gd name="T16" fmla="*/ 48 w 97"/>
                  <a:gd name="T17" fmla="*/ 272 h 965"/>
                  <a:gd name="T18" fmla="*/ 71 w 97"/>
                  <a:gd name="T19" fmla="*/ 316 h 965"/>
                  <a:gd name="T20" fmla="*/ 65 w 97"/>
                  <a:gd name="T21" fmla="*/ 354 h 965"/>
                  <a:gd name="T22" fmla="*/ 36 w 97"/>
                  <a:gd name="T23" fmla="*/ 386 h 965"/>
                  <a:gd name="T24" fmla="*/ 70 w 97"/>
                  <a:gd name="T25" fmla="*/ 455 h 965"/>
                  <a:gd name="T26" fmla="*/ 83 w 97"/>
                  <a:gd name="T27" fmla="*/ 498 h 965"/>
                  <a:gd name="T28" fmla="*/ 58 w 97"/>
                  <a:gd name="T29" fmla="*/ 530 h 965"/>
                  <a:gd name="T30" fmla="*/ 63 w 97"/>
                  <a:gd name="T31" fmla="*/ 580 h 965"/>
                  <a:gd name="T32" fmla="*/ 81 w 97"/>
                  <a:gd name="T33" fmla="*/ 628 h 965"/>
                  <a:gd name="T34" fmla="*/ 60 w 97"/>
                  <a:gd name="T35" fmla="*/ 655 h 965"/>
                  <a:gd name="T36" fmla="*/ 31 w 97"/>
                  <a:gd name="T37" fmla="*/ 688 h 965"/>
                  <a:gd name="T38" fmla="*/ 60 w 97"/>
                  <a:gd name="T39" fmla="*/ 747 h 965"/>
                  <a:gd name="T40" fmla="*/ 71 w 97"/>
                  <a:gd name="T41" fmla="*/ 788 h 965"/>
                  <a:gd name="T42" fmla="*/ 46 w 97"/>
                  <a:gd name="T43" fmla="*/ 797 h 965"/>
                  <a:gd name="T44" fmla="*/ 52 w 97"/>
                  <a:gd name="T45" fmla="*/ 861 h 965"/>
                  <a:gd name="T46" fmla="*/ 65 w 97"/>
                  <a:gd name="T47" fmla="*/ 895 h 965"/>
                  <a:gd name="T48" fmla="*/ 46 w 97"/>
                  <a:gd name="T49" fmla="*/ 934 h 965"/>
                  <a:gd name="T50" fmla="*/ 1 w 97"/>
                  <a:gd name="T51" fmla="*/ 954 h 965"/>
                  <a:gd name="T52" fmla="*/ 35 w 97"/>
                  <a:gd name="T53" fmla="*/ 888 h 965"/>
                  <a:gd name="T54" fmla="*/ 19 w 97"/>
                  <a:gd name="T55" fmla="*/ 834 h 965"/>
                  <a:gd name="T56" fmla="*/ 23 w 97"/>
                  <a:gd name="T57" fmla="*/ 788 h 965"/>
                  <a:gd name="T58" fmla="*/ 36 w 97"/>
                  <a:gd name="T59" fmla="*/ 764 h 965"/>
                  <a:gd name="T60" fmla="*/ 8 w 97"/>
                  <a:gd name="T61" fmla="*/ 706 h 965"/>
                  <a:gd name="T62" fmla="*/ 8 w 97"/>
                  <a:gd name="T63" fmla="*/ 646 h 965"/>
                  <a:gd name="T64" fmla="*/ 43 w 97"/>
                  <a:gd name="T65" fmla="*/ 619 h 965"/>
                  <a:gd name="T66" fmla="*/ 35 w 97"/>
                  <a:gd name="T67" fmla="*/ 576 h 965"/>
                  <a:gd name="T68" fmla="*/ 25 w 97"/>
                  <a:gd name="T69" fmla="*/ 525 h 965"/>
                  <a:gd name="T70" fmla="*/ 52 w 97"/>
                  <a:gd name="T71" fmla="*/ 493 h 965"/>
                  <a:gd name="T72" fmla="*/ 40 w 97"/>
                  <a:gd name="T73" fmla="*/ 457 h 965"/>
                  <a:gd name="T74" fmla="*/ 8 w 97"/>
                  <a:gd name="T75" fmla="*/ 400 h 965"/>
                  <a:gd name="T76" fmla="*/ 13 w 97"/>
                  <a:gd name="T77" fmla="*/ 363 h 965"/>
                  <a:gd name="T78" fmla="*/ 43 w 97"/>
                  <a:gd name="T79" fmla="*/ 332 h 965"/>
                  <a:gd name="T80" fmla="*/ 11 w 97"/>
                  <a:gd name="T81" fmla="*/ 260 h 965"/>
                  <a:gd name="T82" fmla="*/ 0 w 97"/>
                  <a:gd name="T83" fmla="*/ 218 h 965"/>
                  <a:gd name="T84" fmla="*/ 25 w 97"/>
                  <a:gd name="T85" fmla="*/ 186 h 965"/>
                  <a:gd name="T86" fmla="*/ 36 w 97"/>
                  <a:gd name="T87" fmla="*/ 164 h 965"/>
                  <a:gd name="T88" fmla="*/ 8 w 97"/>
                  <a:gd name="T89" fmla="*/ 130 h 965"/>
                  <a:gd name="T90" fmla="*/ 19 w 97"/>
                  <a:gd name="T91" fmla="*/ 97 h 965"/>
                  <a:gd name="T92" fmla="*/ 52 w 97"/>
                  <a:gd name="T93" fmla="*/ 76 h 965"/>
                  <a:gd name="T94" fmla="*/ 53 w 97"/>
                  <a:gd name="T95" fmla="*/ 50 h 965"/>
                  <a:gd name="T96" fmla="*/ 36 w 97"/>
                  <a:gd name="T97" fmla="*/ 17 h 96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97" h="965">
                    <a:moveTo>
                      <a:pt x="48" y="0"/>
                    </a:moveTo>
                    <a:lnTo>
                      <a:pt x="65" y="32"/>
                    </a:lnTo>
                    <a:lnTo>
                      <a:pt x="81" y="53"/>
                    </a:lnTo>
                    <a:lnTo>
                      <a:pt x="97" y="67"/>
                    </a:lnTo>
                    <a:lnTo>
                      <a:pt x="93" y="83"/>
                    </a:lnTo>
                    <a:lnTo>
                      <a:pt x="77" y="94"/>
                    </a:lnTo>
                    <a:lnTo>
                      <a:pt x="53" y="99"/>
                    </a:lnTo>
                    <a:lnTo>
                      <a:pt x="36" y="113"/>
                    </a:lnTo>
                    <a:lnTo>
                      <a:pt x="40" y="130"/>
                    </a:lnTo>
                    <a:lnTo>
                      <a:pt x="52" y="140"/>
                    </a:lnTo>
                    <a:lnTo>
                      <a:pt x="71" y="162"/>
                    </a:lnTo>
                    <a:lnTo>
                      <a:pt x="71" y="174"/>
                    </a:lnTo>
                    <a:lnTo>
                      <a:pt x="65" y="186"/>
                    </a:lnTo>
                    <a:lnTo>
                      <a:pt x="48" y="197"/>
                    </a:lnTo>
                    <a:lnTo>
                      <a:pt x="31" y="208"/>
                    </a:lnTo>
                    <a:lnTo>
                      <a:pt x="28" y="224"/>
                    </a:lnTo>
                    <a:lnTo>
                      <a:pt x="35" y="240"/>
                    </a:lnTo>
                    <a:lnTo>
                      <a:pt x="48" y="272"/>
                    </a:lnTo>
                    <a:lnTo>
                      <a:pt x="60" y="297"/>
                    </a:lnTo>
                    <a:lnTo>
                      <a:pt x="71" y="316"/>
                    </a:lnTo>
                    <a:lnTo>
                      <a:pt x="71" y="336"/>
                    </a:lnTo>
                    <a:lnTo>
                      <a:pt x="65" y="354"/>
                    </a:lnTo>
                    <a:lnTo>
                      <a:pt x="48" y="370"/>
                    </a:lnTo>
                    <a:lnTo>
                      <a:pt x="36" y="386"/>
                    </a:lnTo>
                    <a:lnTo>
                      <a:pt x="40" y="413"/>
                    </a:lnTo>
                    <a:lnTo>
                      <a:pt x="70" y="455"/>
                    </a:lnTo>
                    <a:lnTo>
                      <a:pt x="81" y="477"/>
                    </a:lnTo>
                    <a:lnTo>
                      <a:pt x="83" y="498"/>
                    </a:lnTo>
                    <a:lnTo>
                      <a:pt x="71" y="514"/>
                    </a:lnTo>
                    <a:lnTo>
                      <a:pt x="58" y="530"/>
                    </a:lnTo>
                    <a:lnTo>
                      <a:pt x="53" y="553"/>
                    </a:lnTo>
                    <a:lnTo>
                      <a:pt x="63" y="580"/>
                    </a:lnTo>
                    <a:lnTo>
                      <a:pt x="75" y="608"/>
                    </a:lnTo>
                    <a:lnTo>
                      <a:pt x="81" y="628"/>
                    </a:lnTo>
                    <a:lnTo>
                      <a:pt x="75" y="641"/>
                    </a:lnTo>
                    <a:lnTo>
                      <a:pt x="60" y="655"/>
                    </a:lnTo>
                    <a:lnTo>
                      <a:pt x="40" y="672"/>
                    </a:lnTo>
                    <a:lnTo>
                      <a:pt x="31" y="688"/>
                    </a:lnTo>
                    <a:lnTo>
                      <a:pt x="40" y="717"/>
                    </a:lnTo>
                    <a:lnTo>
                      <a:pt x="60" y="747"/>
                    </a:lnTo>
                    <a:lnTo>
                      <a:pt x="70" y="769"/>
                    </a:lnTo>
                    <a:lnTo>
                      <a:pt x="71" y="788"/>
                    </a:lnTo>
                    <a:lnTo>
                      <a:pt x="65" y="797"/>
                    </a:lnTo>
                    <a:lnTo>
                      <a:pt x="46" y="797"/>
                    </a:lnTo>
                    <a:lnTo>
                      <a:pt x="40" y="836"/>
                    </a:lnTo>
                    <a:lnTo>
                      <a:pt x="52" y="861"/>
                    </a:lnTo>
                    <a:lnTo>
                      <a:pt x="63" y="879"/>
                    </a:lnTo>
                    <a:lnTo>
                      <a:pt x="65" y="895"/>
                    </a:lnTo>
                    <a:lnTo>
                      <a:pt x="65" y="911"/>
                    </a:lnTo>
                    <a:lnTo>
                      <a:pt x="46" y="934"/>
                    </a:lnTo>
                    <a:lnTo>
                      <a:pt x="19" y="965"/>
                    </a:lnTo>
                    <a:lnTo>
                      <a:pt x="1" y="954"/>
                    </a:lnTo>
                    <a:lnTo>
                      <a:pt x="8" y="929"/>
                    </a:lnTo>
                    <a:lnTo>
                      <a:pt x="35" y="888"/>
                    </a:lnTo>
                    <a:lnTo>
                      <a:pt x="31" y="863"/>
                    </a:lnTo>
                    <a:lnTo>
                      <a:pt x="19" y="834"/>
                    </a:lnTo>
                    <a:lnTo>
                      <a:pt x="11" y="809"/>
                    </a:lnTo>
                    <a:lnTo>
                      <a:pt x="23" y="788"/>
                    </a:lnTo>
                    <a:lnTo>
                      <a:pt x="35" y="780"/>
                    </a:lnTo>
                    <a:lnTo>
                      <a:pt x="36" y="764"/>
                    </a:lnTo>
                    <a:lnTo>
                      <a:pt x="23" y="733"/>
                    </a:lnTo>
                    <a:lnTo>
                      <a:pt x="8" y="706"/>
                    </a:lnTo>
                    <a:lnTo>
                      <a:pt x="0" y="679"/>
                    </a:lnTo>
                    <a:lnTo>
                      <a:pt x="8" y="646"/>
                    </a:lnTo>
                    <a:lnTo>
                      <a:pt x="35" y="634"/>
                    </a:lnTo>
                    <a:lnTo>
                      <a:pt x="43" y="619"/>
                    </a:lnTo>
                    <a:lnTo>
                      <a:pt x="40" y="598"/>
                    </a:lnTo>
                    <a:lnTo>
                      <a:pt x="35" y="576"/>
                    </a:lnTo>
                    <a:lnTo>
                      <a:pt x="25" y="548"/>
                    </a:lnTo>
                    <a:lnTo>
                      <a:pt x="25" y="525"/>
                    </a:lnTo>
                    <a:lnTo>
                      <a:pt x="36" y="511"/>
                    </a:lnTo>
                    <a:lnTo>
                      <a:pt x="52" y="493"/>
                    </a:lnTo>
                    <a:lnTo>
                      <a:pt x="52" y="482"/>
                    </a:lnTo>
                    <a:lnTo>
                      <a:pt x="40" y="457"/>
                    </a:lnTo>
                    <a:lnTo>
                      <a:pt x="17" y="425"/>
                    </a:lnTo>
                    <a:lnTo>
                      <a:pt x="8" y="400"/>
                    </a:lnTo>
                    <a:lnTo>
                      <a:pt x="8" y="381"/>
                    </a:lnTo>
                    <a:lnTo>
                      <a:pt x="13" y="363"/>
                    </a:lnTo>
                    <a:lnTo>
                      <a:pt x="28" y="348"/>
                    </a:lnTo>
                    <a:lnTo>
                      <a:pt x="43" y="332"/>
                    </a:lnTo>
                    <a:lnTo>
                      <a:pt x="43" y="320"/>
                    </a:lnTo>
                    <a:lnTo>
                      <a:pt x="11" y="260"/>
                    </a:lnTo>
                    <a:lnTo>
                      <a:pt x="5" y="238"/>
                    </a:lnTo>
                    <a:lnTo>
                      <a:pt x="0" y="218"/>
                    </a:lnTo>
                    <a:lnTo>
                      <a:pt x="11" y="200"/>
                    </a:lnTo>
                    <a:lnTo>
                      <a:pt x="25" y="186"/>
                    </a:lnTo>
                    <a:lnTo>
                      <a:pt x="36" y="174"/>
                    </a:lnTo>
                    <a:lnTo>
                      <a:pt x="36" y="164"/>
                    </a:lnTo>
                    <a:lnTo>
                      <a:pt x="25" y="147"/>
                    </a:lnTo>
                    <a:lnTo>
                      <a:pt x="8" y="130"/>
                    </a:lnTo>
                    <a:lnTo>
                      <a:pt x="8" y="113"/>
                    </a:lnTo>
                    <a:lnTo>
                      <a:pt x="19" y="97"/>
                    </a:lnTo>
                    <a:lnTo>
                      <a:pt x="36" y="83"/>
                    </a:lnTo>
                    <a:lnTo>
                      <a:pt x="52" y="76"/>
                    </a:lnTo>
                    <a:lnTo>
                      <a:pt x="60" y="65"/>
                    </a:lnTo>
                    <a:lnTo>
                      <a:pt x="53" y="50"/>
                    </a:lnTo>
                    <a:lnTo>
                      <a:pt x="43" y="34"/>
                    </a:lnTo>
                    <a:lnTo>
                      <a:pt x="36" y="17"/>
                    </a:lnTo>
                    <a:lnTo>
                      <a:pt x="4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8" name="Freeform 149"/>
              <p:cNvSpPr>
                <a:spLocks/>
              </p:cNvSpPr>
              <p:nvPr/>
            </p:nvSpPr>
            <p:spPr bwMode="auto">
              <a:xfrm>
                <a:off x="3203" y="485"/>
                <a:ext cx="93" cy="782"/>
              </a:xfrm>
              <a:custGeom>
                <a:avLst/>
                <a:gdLst>
                  <a:gd name="T0" fmla="*/ 82 w 93"/>
                  <a:gd name="T1" fmla="*/ 21 h 782"/>
                  <a:gd name="T2" fmla="*/ 86 w 93"/>
                  <a:gd name="T3" fmla="*/ 76 h 782"/>
                  <a:gd name="T4" fmla="*/ 47 w 93"/>
                  <a:gd name="T5" fmla="*/ 97 h 782"/>
                  <a:gd name="T6" fmla="*/ 59 w 93"/>
                  <a:gd name="T7" fmla="*/ 157 h 782"/>
                  <a:gd name="T8" fmla="*/ 77 w 93"/>
                  <a:gd name="T9" fmla="*/ 215 h 782"/>
                  <a:gd name="T10" fmla="*/ 53 w 93"/>
                  <a:gd name="T11" fmla="*/ 243 h 782"/>
                  <a:gd name="T12" fmla="*/ 59 w 93"/>
                  <a:gd name="T13" fmla="*/ 293 h 782"/>
                  <a:gd name="T14" fmla="*/ 77 w 93"/>
                  <a:gd name="T15" fmla="*/ 346 h 782"/>
                  <a:gd name="T16" fmla="*/ 65 w 93"/>
                  <a:gd name="T17" fmla="*/ 383 h 782"/>
                  <a:gd name="T18" fmla="*/ 45 w 93"/>
                  <a:gd name="T19" fmla="*/ 417 h 782"/>
                  <a:gd name="T20" fmla="*/ 71 w 93"/>
                  <a:gd name="T21" fmla="*/ 486 h 782"/>
                  <a:gd name="T22" fmla="*/ 77 w 93"/>
                  <a:gd name="T23" fmla="*/ 531 h 782"/>
                  <a:gd name="T24" fmla="*/ 33 w 93"/>
                  <a:gd name="T25" fmla="*/ 565 h 782"/>
                  <a:gd name="T26" fmla="*/ 45 w 93"/>
                  <a:gd name="T27" fmla="*/ 633 h 782"/>
                  <a:gd name="T28" fmla="*/ 57 w 93"/>
                  <a:gd name="T29" fmla="*/ 693 h 782"/>
                  <a:gd name="T30" fmla="*/ 33 w 93"/>
                  <a:gd name="T31" fmla="*/ 727 h 782"/>
                  <a:gd name="T32" fmla="*/ 21 w 93"/>
                  <a:gd name="T33" fmla="*/ 774 h 782"/>
                  <a:gd name="T34" fmla="*/ 10 w 93"/>
                  <a:gd name="T35" fmla="*/ 755 h 782"/>
                  <a:gd name="T36" fmla="*/ 33 w 93"/>
                  <a:gd name="T37" fmla="*/ 700 h 782"/>
                  <a:gd name="T38" fmla="*/ 21 w 93"/>
                  <a:gd name="T39" fmla="*/ 618 h 782"/>
                  <a:gd name="T40" fmla="*/ 15 w 93"/>
                  <a:gd name="T41" fmla="*/ 559 h 782"/>
                  <a:gd name="T42" fmla="*/ 47 w 93"/>
                  <a:gd name="T43" fmla="*/ 519 h 782"/>
                  <a:gd name="T44" fmla="*/ 21 w 93"/>
                  <a:gd name="T45" fmla="*/ 461 h 782"/>
                  <a:gd name="T46" fmla="*/ 15 w 93"/>
                  <a:gd name="T47" fmla="*/ 407 h 782"/>
                  <a:gd name="T48" fmla="*/ 39 w 93"/>
                  <a:gd name="T49" fmla="*/ 364 h 782"/>
                  <a:gd name="T50" fmla="*/ 51 w 93"/>
                  <a:gd name="T51" fmla="*/ 330 h 782"/>
                  <a:gd name="T52" fmla="*/ 27 w 93"/>
                  <a:gd name="T53" fmla="*/ 277 h 782"/>
                  <a:gd name="T54" fmla="*/ 33 w 93"/>
                  <a:gd name="T55" fmla="*/ 231 h 782"/>
                  <a:gd name="T56" fmla="*/ 47 w 93"/>
                  <a:gd name="T57" fmla="*/ 199 h 782"/>
                  <a:gd name="T58" fmla="*/ 30 w 93"/>
                  <a:gd name="T59" fmla="*/ 150 h 782"/>
                  <a:gd name="T60" fmla="*/ 23 w 93"/>
                  <a:gd name="T61" fmla="*/ 95 h 782"/>
                  <a:gd name="T62" fmla="*/ 51 w 93"/>
                  <a:gd name="T63" fmla="*/ 60 h 782"/>
                  <a:gd name="T64" fmla="*/ 53 w 93"/>
                  <a:gd name="T65" fmla="*/ 25 h 782"/>
                  <a:gd name="T66" fmla="*/ 71 w 93"/>
                  <a:gd name="T67" fmla="*/ 0 h 78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3" h="782">
                    <a:moveTo>
                      <a:pt x="71" y="0"/>
                    </a:moveTo>
                    <a:lnTo>
                      <a:pt x="82" y="21"/>
                    </a:lnTo>
                    <a:lnTo>
                      <a:pt x="93" y="60"/>
                    </a:lnTo>
                    <a:lnTo>
                      <a:pt x="86" y="76"/>
                    </a:lnTo>
                    <a:lnTo>
                      <a:pt x="62" y="87"/>
                    </a:lnTo>
                    <a:lnTo>
                      <a:pt x="47" y="97"/>
                    </a:lnTo>
                    <a:lnTo>
                      <a:pt x="47" y="128"/>
                    </a:lnTo>
                    <a:lnTo>
                      <a:pt x="59" y="157"/>
                    </a:lnTo>
                    <a:lnTo>
                      <a:pt x="74" y="177"/>
                    </a:lnTo>
                    <a:lnTo>
                      <a:pt x="77" y="215"/>
                    </a:lnTo>
                    <a:lnTo>
                      <a:pt x="69" y="227"/>
                    </a:lnTo>
                    <a:lnTo>
                      <a:pt x="53" y="243"/>
                    </a:lnTo>
                    <a:lnTo>
                      <a:pt x="51" y="269"/>
                    </a:lnTo>
                    <a:lnTo>
                      <a:pt x="59" y="293"/>
                    </a:lnTo>
                    <a:lnTo>
                      <a:pt x="71" y="312"/>
                    </a:lnTo>
                    <a:lnTo>
                      <a:pt x="77" y="346"/>
                    </a:lnTo>
                    <a:lnTo>
                      <a:pt x="77" y="364"/>
                    </a:lnTo>
                    <a:lnTo>
                      <a:pt x="65" y="383"/>
                    </a:lnTo>
                    <a:lnTo>
                      <a:pt x="45" y="401"/>
                    </a:lnTo>
                    <a:lnTo>
                      <a:pt x="45" y="417"/>
                    </a:lnTo>
                    <a:lnTo>
                      <a:pt x="51" y="467"/>
                    </a:lnTo>
                    <a:lnTo>
                      <a:pt x="71" y="486"/>
                    </a:lnTo>
                    <a:lnTo>
                      <a:pt x="82" y="508"/>
                    </a:lnTo>
                    <a:lnTo>
                      <a:pt x="77" y="531"/>
                    </a:lnTo>
                    <a:lnTo>
                      <a:pt x="47" y="548"/>
                    </a:lnTo>
                    <a:lnTo>
                      <a:pt x="33" y="565"/>
                    </a:lnTo>
                    <a:lnTo>
                      <a:pt x="30" y="595"/>
                    </a:lnTo>
                    <a:lnTo>
                      <a:pt x="45" y="633"/>
                    </a:lnTo>
                    <a:lnTo>
                      <a:pt x="57" y="671"/>
                    </a:lnTo>
                    <a:lnTo>
                      <a:pt x="57" y="693"/>
                    </a:lnTo>
                    <a:lnTo>
                      <a:pt x="51" y="721"/>
                    </a:lnTo>
                    <a:lnTo>
                      <a:pt x="33" y="727"/>
                    </a:lnTo>
                    <a:lnTo>
                      <a:pt x="21" y="749"/>
                    </a:lnTo>
                    <a:lnTo>
                      <a:pt x="21" y="774"/>
                    </a:lnTo>
                    <a:lnTo>
                      <a:pt x="0" y="782"/>
                    </a:lnTo>
                    <a:lnTo>
                      <a:pt x="10" y="755"/>
                    </a:lnTo>
                    <a:lnTo>
                      <a:pt x="27" y="721"/>
                    </a:lnTo>
                    <a:lnTo>
                      <a:pt x="33" y="700"/>
                    </a:lnTo>
                    <a:lnTo>
                      <a:pt x="33" y="657"/>
                    </a:lnTo>
                    <a:lnTo>
                      <a:pt x="21" y="618"/>
                    </a:lnTo>
                    <a:lnTo>
                      <a:pt x="18" y="590"/>
                    </a:lnTo>
                    <a:lnTo>
                      <a:pt x="15" y="559"/>
                    </a:lnTo>
                    <a:lnTo>
                      <a:pt x="35" y="535"/>
                    </a:lnTo>
                    <a:lnTo>
                      <a:pt x="47" y="519"/>
                    </a:lnTo>
                    <a:lnTo>
                      <a:pt x="39" y="486"/>
                    </a:lnTo>
                    <a:lnTo>
                      <a:pt x="21" y="461"/>
                    </a:lnTo>
                    <a:lnTo>
                      <a:pt x="18" y="439"/>
                    </a:lnTo>
                    <a:lnTo>
                      <a:pt x="15" y="407"/>
                    </a:lnTo>
                    <a:lnTo>
                      <a:pt x="23" y="385"/>
                    </a:lnTo>
                    <a:lnTo>
                      <a:pt x="39" y="364"/>
                    </a:lnTo>
                    <a:lnTo>
                      <a:pt x="51" y="348"/>
                    </a:lnTo>
                    <a:lnTo>
                      <a:pt x="51" y="330"/>
                    </a:lnTo>
                    <a:lnTo>
                      <a:pt x="39" y="312"/>
                    </a:lnTo>
                    <a:lnTo>
                      <a:pt x="27" y="277"/>
                    </a:lnTo>
                    <a:lnTo>
                      <a:pt x="27" y="253"/>
                    </a:lnTo>
                    <a:lnTo>
                      <a:pt x="33" y="231"/>
                    </a:lnTo>
                    <a:lnTo>
                      <a:pt x="45" y="215"/>
                    </a:lnTo>
                    <a:lnTo>
                      <a:pt x="47" y="199"/>
                    </a:lnTo>
                    <a:lnTo>
                      <a:pt x="45" y="179"/>
                    </a:lnTo>
                    <a:lnTo>
                      <a:pt x="30" y="150"/>
                    </a:lnTo>
                    <a:lnTo>
                      <a:pt x="21" y="130"/>
                    </a:lnTo>
                    <a:lnTo>
                      <a:pt x="23" y="95"/>
                    </a:lnTo>
                    <a:lnTo>
                      <a:pt x="35" y="81"/>
                    </a:lnTo>
                    <a:lnTo>
                      <a:pt x="51" y="60"/>
                    </a:lnTo>
                    <a:lnTo>
                      <a:pt x="59" y="41"/>
                    </a:lnTo>
                    <a:lnTo>
                      <a:pt x="53" y="25"/>
                    </a:lnTo>
                    <a:lnTo>
                      <a:pt x="57" y="8"/>
                    </a:lnTo>
                    <a:lnTo>
                      <a:pt x="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9" name="Freeform 150"/>
              <p:cNvSpPr>
                <a:spLocks/>
              </p:cNvSpPr>
              <p:nvPr/>
            </p:nvSpPr>
            <p:spPr bwMode="auto">
              <a:xfrm>
                <a:off x="3069" y="391"/>
                <a:ext cx="202" cy="175"/>
              </a:xfrm>
              <a:custGeom>
                <a:avLst/>
                <a:gdLst>
                  <a:gd name="T0" fmla="*/ 202 w 202"/>
                  <a:gd name="T1" fmla="*/ 140 h 175"/>
                  <a:gd name="T2" fmla="*/ 140 w 202"/>
                  <a:gd name="T3" fmla="*/ 90 h 175"/>
                  <a:gd name="T4" fmla="*/ 90 w 202"/>
                  <a:gd name="T5" fmla="*/ 45 h 175"/>
                  <a:gd name="T6" fmla="*/ 43 w 202"/>
                  <a:gd name="T7" fmla="*/ 0 h 175"/>
                  <a:gd name="T8" fmla="*/ 0 w 202"/>
                  <a:gd name="T9" fmla="*/ 0 h 175"/>
                  <a:gd name="T10" fmla="*/ 101 w 202"/>
                  <a:gd name="T11" fmla="*/ 73 h 175"/>
                  <a:gd name="T12" fmla="*/ 149 w 202"/>
                  <a:gd name="T13" fmla="*/ 118 h 175"/>
                  <a:gd name="T14" fmla="*/ 191 w 202"/>
                  <a:gd name="T15" fmla="*/ 175 h 175"/>
                  <a:gd name="T16" fmla="*/ 202 w 202"/>
                  <a:gd name="T17" fmla="*/ 140 h 1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02" h="175">
                    <a:moveTo>
                      <a:pt x="202" y="140"/>
                    </a:moveTo>
                    <a:lnTo>
                      <a:pt x="140" y="90"/>
                    </a:lnTo>
                    <a:lnTo>
                      <a:pt x="90" y="45"/>
                    </a:lnTo>
                    <a:lnTo>
                      <a:pt x="43" y="0"/>
                    </a:lnTo>
                    <a:lnTo>
                      <a:pt x="0" y="0"/>
                    </a:lnTo>
                    <a:lnTo>
                      <a:pt x="101" y="73"/>
                    </a:lnTo>
                    <a:lnTo>
                      <a:pt x="149" y="118"/>
                    </a:lnTo>
                    <a:lnTo>
                      <a:pt x="191" y="175"/>
                    </a:lnTo>
                    <a:lnTo>
                      <a:pt x="202"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0" name="Freeform 151"/>
              <p:cNvSpPr>
                <a:spLocks/>
              </p:cNvSpPr>
              <p:nvPr/>
            </p:nvSpPr>
            <p:spPr bwMode="auto">
              <a:xfrm>
                <a:off x="3067" y="488"/>
                <a:ext cx="175" cy="144"/>
              </a:xfrm>
              <a:custGeom>
                <a:avLst/>
                <a:gdLst>
                  <a:gd name="T0" fmla="*/ 175 w 175"/>
                  <a:gd name="T1" fmla="*/ 90 h 144"/>
                  <a:gd name="T2" fmla="*/ 129 w 175"/>
                  <a:gd name="T3" fmla="*/ 73 h 144"/>
                  <a:gd name="T4" fmla="*/ 95 w 175"/>
                  <a:gd name="T5" fmla="*/ 44 h 144"/>
                  <a:gd name="T6" fmla="*/ 34 w 175"/>
                  <a:gd name="T7" fmla="*/ 0 h 144"/>
                  <a:gd name="T8" fmla="*/ 0 w 175"/>
                  <a:gd name="T9" fmla="*/ 0 h 144"/>
                  <a:gd name="T10" fmla="*/ 79 w 175"/>
                  <a:gd name="T11" fmla="*/ 44 h 144"/>
                  <a:gd name="T12" fmla="*/ 109 w 175"/>
                  <a:gd name="T13" fmla="*/ 75 h 144"/>
                  <a:gd name="T14" fmla="*/ 175 w 175"/>
                  <a:gd name="T15" fmla="*/ 144 h 144"/>
                  <a:gd name="T16" fmla="*/ 171 w 175"/>
                  <a:gd name="T17" fmla="*/ 102 h 144"/>
                  <a:gd name="T18" fmla="*/ 175 w 175"/>
                  <a:gd name="T19" fmla="*/ 90 h 1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75" h="144">
                    <a:moveTo>
                      <a:pt x="175" y="90"/>
                    </a:moveTo>
                    <a:lnTo>
                      <a:pt x="129" y="73"/>
                    </a:lnTo>
                    <a:lnTo>
                      <a:pt x="95" y="44"/>
                    </a:lnTo>
                    <a:lnTo>
                      <a:pt x="34" y="0"/>
                    </a:lnTo>
                    <a:lnTo>
                      <a:pt x="0" y="0"/>
                    </a:lnTo>
                    <a:lnTo>
                      <a:pt x="79" y="44"/>
                    </a:lnTo>
                    <a:lnTo>
                      <a:pt x="109" y="75"/>
                    </a:lnTo>
                    <a:lnTo>
                      <a:pt x="175" y="144"/>
                    </a:lnTo>
                    <a:lnTo>
                      <a:pt x="171" y="102"/>
                    </a:lnTo>
                    <a:lnTo>
                      <a:pt x="175"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1" name="Freeform 152"/>
              <p:cNvSpPr>
                <a:spLocks/>
              </p:cNvSpPr>
              <p:nvPr/>
            </p:nvSpPr>
            <p:spPr bwMode="auto">
              <a:xfrm>
                <a:off x="3042" y="569"/>
                <a:ext cx="205" cy="219"/>
              </a:xfrm>
              <a:custGeom>
                <a:avLst/>
                <a:gdLst>
                  <a:gd name="T0" fmla="*/ 201 w 205"/>
                  <a:gd name="T1" fmla="*/ 163 h 219"/>
                  <a:gd name="T2" fmla="*/ 145 w 205"/>
                  <a:gd name="T3" fmla="*/ 113 h 219"/>
                  <a:gd name="T4" fmla="*/ 123 w 205"/>
                  <a:gd name="T5" fmla="*/ 79 h 219"/>
                  <a:gd name="T6" fmla="*/ 78 w 205"/>
                  <a:gd name="T7" fmla="*/ 46 h 219"/>
                  <a:gd name="T8" fmla="*/ 39 w 205"/>
                  <a:gd name="T9" fmla="*/ 17 h 219"/>
                  <a:gd name="T10" fmla="*/ 10 w 205"/>
                  <a:gd name="T11" fmla="*/ 0 h 219"/>
                  <a:gd name="T12" fmla="*/ 0 w 205"/>
                  <a:gd name="T13" fmla="*/ 0 h 219"/>
                  <a:gd name="T14" fmla="*/ 0 w 205"/>
                  <a:gd name="T15" fmla="*/ 17 h 219"/>
                  <a:gd name="T16" fmla="*/ 33 w 205"/>
                  <a:gd name="T17" fmla="*/ 38 h 219"/>
                  <a:gd name="T18" fmla="*/ 95 w 205"/>
                  <a:gd name="T19" fmla="*/ 78 h 219"/>
                  <a:gd name="T20" fmla="*/ 139 w 205"/>
                  <a:gd name="T21" fmla="*/ 122 h 219"/>
                  <a:gd name="T22" fmla="*/ 171 w 205"/>
                  <a:gd name="T23" fmla="*/ 172 h 219"/>
                  <a:gd name="T24" fmla="*/ 205 w 205"/>
                  <a:gd name="T25" fmla="*/ 219 h 219"/>
                  <a:gd name="T26" fmla="*/ 201 w 205"/>
                  <a:gd name="T27" fmla="*/ 163 h 21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5" h="219">
                    <a:moveTo>
                      <a:pt x="201" y="163"/>
                    </a:moveTo>
                    <a:lnTo>
                      <a:pt x="145" y="113"/>
                    </a:lnTo>
                    <a:lnTo>
                      <a:pt x="123" y="79"/>
                    </a:lnTo>
                    <a:lnTo>
                      <a:pt x="78" y="46"/>
                    </a:lnTo>
                    <a:lnTo>
                      <a:pt x="39" y="17"/>
                    </a:lnTo>
                    <a:lnTo>
                      <a:pt x="10" y="0"/>
                    </a:lnTo>
                    <a:lnTo>
                      <a:pt x="0" y="0"/>
                    </a:lnTo>
                    <a:lnTo>
                      <a:pt x="0" y="17"/>
                    </a:lnTo>
                    <a:lnTo>
                      <a:pt x="33" y="38"/>
                    </a:lnTo>
                    <a:lnTo>
                      <a:pt x="95" y="78"/>
                    </a:lnTo>
                    <a:lnTo>
                      <a:pt x="139" y="122"/>
                    </a:lnTo>
                    <a:lnTo>
                      <a:pt x="171" y="172"/>
                    </a:lnTo>
                    <a:lnTo>
                      <a:pt x="205" y="219"/>
                    </a:lnTo>
                    <a:lnTo>
                      <a:pt x="201" y="1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2" name="Freeform 153"/>
              <p:cNvSpPr>
                <a:spLocks/>
              </p:cNvSpPr>
              <p:nvPr/>
            </p:nvSpPr>
            <p:spPr bwMode="auto">
              <a:xfrm>
                <a:off x="3062" y="741"/>
                <a:ext cx="160" cy="132"/>
              </a:xfrm>
              <a:custGeom>
                <a:avLst/>
                <a:gdLst>
                  <a:gd name="T0" fmla="*/ 160 w 160"/>
                  <a:gd name="T1" fmla="*/ 109 h 132"/>
                  <a:gd name="T2" fmla="*/ 115 w 160"/>
                  <a:gd name="T3" fmla="*/ 59 h 132"/>
                  <a:gd name="T4" fmla="*/ 67 w 160"/>
                  <a:gd name="T5" fmla="*/ 28 h 132"/>
                  <a:gd name="T6" fmla="*/ 27 w 160"/>
                  <a:gd name="T7" fmla="*/ 7 h 132"/>
                  <a:gd name="T8" fmla="*/ 0 w 160"/>
                  <a:gd name="T9" fmla="*/ 0 h 132"/>
                  <a:gd name="T10" fmla="*/ 17 w 160"/>
                  <a:gd name="T11" fmla="*/ 28 h 132"/>
                  <a:gd name="T12" fmla="*/ 67 w 160"/>
                  <a:gd name="T13" fmla="*/ 56 h 132"/>
                  <a:gd name="T14" fmla="*/ 106 w 160"/>
                  <a:gd name="T15" fmla="*/ 99 h 132"/>
                  <a:gd name="T16" fmla="*/ 125 w 160"/>
                  <a:gd name="T17" fmla="*/ 126 h 132"/>
                  <a:gd name="T18" fmla="*/ 142 w 160"/>
                  <a:gd name="T19" fmla="*/ 132 h 132"/>
                  <a:gd name="T20" fmla="*/ 158 w 160"/>
                  <a:gd name="T21" fmla="*/ 122 h 132"/>
                  <a:gd name="T22" fmla="*/ 160 w 160"/>
                  <a:gd name="T23" fmla="*/ 109 h 1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60" h="132">
                    <a:moveTo>
                      <a:pt x="160" y="109"/>
                    </a:moveTo>
                    <a:lnTo>
                      <a:pt x="115" y="59"/>
                    </a:lnTo>
                    <a:lnTo>
                      <a:pt x="67" y="28"/>
                    </a:lnTo>
                    <a:lnTo>
                      <a:pt x="27" y="7"/>
                    </a:lnTo>
                    <a:lnTo>
                      <a:pt x="0" y="0"/>
                    </a:lnTo>
                    <a:lnTo>
                      <a:pt x="17" y="28"/>
                    </a:lnTo>
                    <a:lnTo>
                      <a:pt x="67" y="56"/>
                    </a:lnTo>
                    <a:lnTo>
                      <a:pt x="106" y="99"/>
                    </a:lnTo>
                    <a:lnTo>
                      <a:pt x="125" y="126"/>
                    </a:lnTo>
                    <a:lnTo>
                      <a:pt x="142" y="132"/>
                    </a:lnTo>
                    <a:lnTo>
                      <a:pt x="158" y="122"/>
                    </a:lnTo>
                    <a:lnTo>
                      <a:pt x="160"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3" name="Freeform 154"/>
              <p:cNvSpPr>
                <a:spLocks/>
              </p:cNvSpPr>
              <p:nvPr/>
            </p:nvSpPr>
            <p:spPr bwMode="auto">
              <a:xfrm>
                <a:off x="3044" y="829"/>
                <a:ext cx="176" cy="162"/>
              </a:xfrm>
              <a:custGeom>
                <a:avLst/>
                <a:gdLst>
                  <a:gd name="T0" fmla="*/ 176 w 176"/>
                  <a:gd name="T1" fmla="*/ 150 h 162"/>
                  <a:gd name="T2" fmla="*/ 131 w 176"/>
                  <a:gd name="T3" fmla="*/ 101 h 162"/>
                  <a:gd name="T4" fmla="*/ 74 w 176"/>
                  <a:gd name="T5" fmla="*/ 43 h 162"/>
                  <a:gd name="T6" fmla="*/ 41 w 176"/>
                  <a:gd name="T7" fmla="*/ 15 h 162"/>
                  <a:gd name="T8" fmla="*/ 15 w 176"/>
                  <a:gd name="T9" fmla="*/ 0 h 162"/>
                  <a:gd name="T10" fmla="*/ 0 w 176"/>
                  <a:gd name="T11" fmla="*/ 8 h 162"/>
                  <a:gd name="T12" fmla="*/ 29 w 176"/>
                  <a:gd name="T13" fmla="*/ 34 h 162"/>
                  <a:gd name="T14" fmla="*/ 80 w 176"/>
                  <a:gd name="T15" fmla="*/ 84 h 162"/>
                  <a:gd name="T16" fmla="*/ 127 w 176"/>
                  <a:gd name="T17" fmla="*/ 135 h 162"/>
                  <a:gd name="T18" fmla="*/ 158 w 176"/>
                  <a:gd name="T19" fmla="*/ 162 h 162"/>
                  <a:gd name="T20" fmla="*/ 167 w 176"/>
                  <a:gd name="T21" fmla="*/ 162 h 162"/>
                  <a:gd name="T22" fmla="*/ 176 w 176"/>
                  <a:gd name="T23" fmla="*/ 150 h 1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6" h="162">
                    <a:moveTo>
                      <a:pt x="176" y="150"/>
                    </a:moveTo>
                    <a:lnTo>
                      <a:pt x="131" y="101"/>
                    </a:lnTo>
                    <a:lnTo>
                      <a:pt x="74" y="43"/>
                    </a:lnTo>
                    <a:lnTo>
                      <a:pt x="41" y="15"/>
                    </a:lnTo>
                    <a:lnTo>
                      <a:pt x="15" y="0"/>
                    </a:lnTo>
                    <a:lnTo>
                      <a:pt x="0" y="8"/>
                    </a:lnTo>
                    <a:lnTo>
                      <a:pt x="29" y="34"/>
                    </a:lnTo>
                    <a:lnTo>
                      <a:pt x="80" y="84"/>
                    </a:lnTo>
                    <a:lnTo>
                      <a:pt x="127" y="135"/>
                    </a:lnTo>
                    <a:lnTo>
                      <a:pt x="158" y="162"/>
                    </a:lnTo>
                    <a:lnTo>
                      <a:pt x="167" y="162"/>
                    </a:lnTo>
                    <a:lnTo>
                      <a:pt x="176" y="1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4" name="Freeform 155"/>
              <p:cNvSpPr>
                <a:spLocks/>
              </p:cNvSpPr>
              <p:nvPr/>
            </p:nvSpPr>
            <p:spPr bwMode="auto">
              <a:xfrm>
                <a:off x="3064" y="958"/>
                <a:ext cx="126" cy="130"/>
              </a:xfrm>
              <a:custGeom>
                <a:avLst/>
                <a:gdLst>
                  <a:gd name="T0" fmla="*/ 124 w 126"/>
                  <a:gd name="T1" fmla="*/ 109 h 130"/>
                  <a:gd name="T2" fmla="*/ 72 w 126"/>
                  <a:gd name="T3" fmla="*/ 32 h 130"/>
                  <a:gd name="T4" fmla="*/ 22 w 126"/>
                  <a:gd name="T5" fmla="*/ 3 h 130"/>
                  <a:gd name="T6" fmla="*/ 0 w 126"/>
                  <a:gd name="T7" fmla="*/ 0 h 130"/>
                  <a:gd name="T8" fmla="*/ 5 w 126"/>
                  <a:gd name="T9" fmla="*/ 15 h 130"/>
                  <a:gd name="T10" fmla="*/ 63 w 126"/>
                  <a:gd name="T11" fmla="*/ 56 h 130"/>
                  <a:gd name="T12" fmla="*/ 117 w 126"/>
                  <a:gd name="T13" fmla="*/ 124 h 130"/>
                  <a:gd name="T14" fmla="*/ 126 w 126"/>
                  <a:gd name="T15" fmla="*/ 130 h 130"/>
                  <a:gd name="T16" fmla="*/ 124 w 126"/>
                  <a:gd name="T17" fmla="*/ 109 h 1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6" h="130">
                    <a:moveTo>
                      <a:pt x="124" y="109"/>
                    </a:moveTo>
                    <a:lnTo>
                      <a:pt x="72" y="32"/>
                    </a:lnTo>
                    <a:lnTo>
                      <a:pt x="22" y="3"/>
                    </a:lnTo>
                    <a:lnTo>
                      <a:pt x="0" y="0"/>
                    </a:lnTo>
                    <a:lnTo>
                      <a:pt x="5" y="15"/>
                    </a:lnTo>
                    <a:lnTo>
                      <a:pt x="63" y="56"/>
                    </a:lnTo>
                    <a:lnTo>
                      <a:pt x="117" y="124"/>
                    </a:lnTo>
                    <a:lnTo>
                      <a:pt x="126" y="130"/>
                    </a:lnTo>
                    <a:lnTo>
                      <a:pt x="124"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5" name="Freeform 156"/>
              <p:cNvSpPr>
                <a:spLocks/>
              </p:cNvSpPr>
              <p:nvPr/>
            </p:nvSpPr>
            <p:spPr bwMode="auto">
              <a:xfrm>
                <a:off x="3067" y="1076"/>
                <a:ext cx="89" cy="100"/>
              </a:xfrm>
              <a:custGeom>
                <a:avLst/>
                <a:gdLst>
                  <a:gd name="T0" fmla="*/ 85 w 89"/>
                  <a:gd name="T1" fmla="*/ 76 h 100"/>
                  <a:gd name="T2" fmla="*/ 41 w 89"/>
                  <a:gd name="T3" fmla="*/ 17 h 100"/>
                  <a:gd name="T4" fmla="*/ 1 w 89"/>
                  <a:gd name="T5" fmla="*/ 0 h 100"/>
                  <a:gd name="T6" fmla="*/ 0 w 89"/>
                  <a:gd name="T7" fmla="*/ 17 h 100"/>
                  <a:gd name="T8" fmla="*/ 18 w 89"/>
                  <a:gd name="T9" fmla="*/ 47 h 100"/>
                  <a:gd name="T10" fmla="*/ 65 w 89"/>
                  <a:gd name="T11" fmla="*/ 86 h 100"/>
                  <a:gd name="T12" fmla="*/ 79 w 89"/>
                  <a:gd name="T13" fmla="*/ 100 h 100"/>
                  <a:gd name="T14" fmla="*/ 89 w 89"/>
                  <a:gd name="T15" fmla="*/ 93 h 100"/>
                  <a:gd name="T16" fmla="*/ 85 w 89"/>
                  <a:gd name="T17" fmla="*/ 76 h 1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9" h="100">
                    <a:moveTo>
                      <a:pt x="85" y="76"/>
                    </a:moveTo>
                    <a:lnTo>
                      <a:pt x="41" y="17"/>
                    </a:lnTo>
                    <a:lnTo>
                      <a:pt x="1" y="0"/>
                    </a:lnTo>
                    <a:lnTo>
                      <a:pt x="0" y="17"/>
                    </a:lnTo>
                    <a:lnTo>
                      <a:pt x="18" y="47"/>
                    </a:lnTo>
                    <a:lnTo>
                      <a:pt x="65" y="86"/>
                    </a:lnTo>
                    <a:lnTo>
                      <a:pt x="79" y="100"/>
                    </a:lnTo>
                    <a:lnTo>
                      <a:pt x="89" y="93"/>
                    </a:lnTo>
                    <a:lnTo>
                      <a:pt x="85"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6" name="Freeform 157"/>
              <p:cNvSpPr>
                <a:spLocks/>
              </p:cNvSpPr>
              <p:nvPr/>
            </p:nvSpPr>
            <p:spPr bwMode="auto">
              <a:xfrm>
                <a:off x="3073" y="1198"/>
                <a:ext cx="110" cy="112"/>
              </a:xfrm>
              <a:custGeom>
                <a:avLst/>
                <a:gdLst>
                  <a:gd name="T0" fmla="*/ 110 w 110"/>
                  <a:gd name="T1" fmla="*/ 112 h 112"/>
                  <a:gd name="T2" fmla="*/ 94 w 110"/>
                  <a:gd name="T3" fmla="*/ 94 h 112"/>
                  <a:gd name="T4" fmla="*/ 64 w 110"/>
                  <a:gd name="T5" fmla="*/ 47 h 112"/>
                  <a:gd name="T6" fmla="*/ 18 w 110"/>
                  <a:gd name="T7" fmla="*/ 0 h 112"/>
                  <a:gd name="T8" fmla="*/ 0 w 110"/>
                  <a:gd name="T9" fmla="*/ 0 h 112"/>
                  <a:gd name="T10" fmla="*/ 8 w 110"/>
                  <a:gd name="T11" fmla="*/ 17 h 112"/>
                  <a:gd name="T12" fmla="*/ 42 w 110"/>
                  <a:gd name="T13" fmla="*/ 64 h 112"/>
                  <a:gd name="T14" fmla="*/ 77 w 110"/>
                  <a:gd name="T15" fmla="*/ 110 h 112"/>
                  <a:gd name="T16" fmla="*/ 110 w 110"/>
                  <a:gd name="T17" fmla="*/ 112 h 1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0" h="112">
                    <a:moveTo>
                      <a:pt x="110" y="112"/>
                    </a:moveTo>
                    <a:lnTo>
                      <a:pt x="94" y="94"/>
                    </a:lnTo>
                    <a:lnTo>
                      <a:pt x="64" y="47"/>
                    </a:lnTo>
                    <a:lnTo>
                      <a:pt x="18" y="0"/>
                    </a:lnTo>
                    <a:lnTo>
                      <a:pt x="0" y="0"/>
                    </a:lnTo>
                    <a:lnTo>
                      <a:pt x="8" y="17"/>
                    </a:lnTo>
                    <a:lnTo>
                      <a:pt x="42" y="64"/>
                    </a:lnTo>
                    <a:lnTo>
                      <a:pt x="77" y="110"/>
                    </a:lnTo>
                    <a:lnTo>
                      <a:pt x="110" y="1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7" name="Freeform 158"/>
              <p:cNvSpPr>
                <a:spLocks/>
              </p:cNvSpPr>
              <p:nvPr/>
            </p:nvSpPr>
            <p:spPr bwMode="auto">
              <a:xfrm>
                <a:off x="3212" y="332"/>
                <a:ext cx="320" cy="1166"/>
              </a:xfrm>
              <a:custGeom>
                <a:avLst/>
                <a:gdLst>
                  <a:gd name="T0" fmla="*/ 45 w 320"/>
                  <a:gd name="T1" fmla="*/ 142 h 1166"/>
                  <a:gd name="T2" fmla="*/ 56 w 320"/>
                  <a:gd name="T3" fmla="*/ 207 h 1166"/>
                  <a:gd name="T4" fmla="*/ 29 w 320"/>
                  <a:gd name="T5" fmla="*/ 251 h 1166"/>
                  <a:gd name="T6" fmla="*/ 33 w 320"/>
                  <a:gd name="T7" fmla="*/ 310 h 1166"/>
                  <a:gd name="T8" fmla="*/ 49 w 320"/>
                  <a:gd name="T9" fmla="*/ 358 h 1166"/>
                  <a:gd name="T10" fmla="*/ 24 w 320"/>
                  <a:gd name="T11" fmla="*/ 408 h 1166"/>
                  <a:gd name="T12" fmla="*/ 51 w 320"/>
                  <a:gd name="T13" fmla="*/ 492 h 1166"/>
                  <a:gd name="T14" fmla="*/ 17 w 320"/>
                  <a:gd name="T15" fmla="*/ 563 h 1166"/>
                  <a:gd name="T16" fmla="*/ 35 w 320"/>
                  <a:gd name="T17" fmla="*/ 633 h 1166"/>
                  <a:gd name="T18" fmla="*/ 44 w 320"/>
                  <a:gd name="T19" fmla="*/ 684 h 1166"/>
                  <a:gd name="T20" fmla="*/ 10 w 320"/>
                  <a:gd name="T21" fmla="*/ 727 h 1166"/>
                  <a:gd name="T22" fmla="*/ 29 w 320"/>
                  <a:gd name="T23" fmla="*/ 818 h 1166"/>
                  <a:gd name="T24" fmla="*/ 27 w 320"/>
                  <a:gd name="T25" fmla="*/ 866 h 1166"/>
                  <a:gd name="T26" fmla="*/ 0 w 320"/>
                  <a:gd name="T27" fmla="*/ 925 h 1166"/>
                  <a:gd name="T28" fmla="*/ 16 w 320"/>
                  <a:gd name="T29" fmla="*/ 976 h 1166"/>
                  <a:gd name="T30" fmla="*/ 17 w 320"/>
                  <a:gd name="T31" fmla="*/ 1023 h 1166"/>
                  <a:gd name="T32" fmla="*/ 24 w 320"/>
                  <a:gd name="T33" fmla="*/ 1071 h 1166"/>
                  <a:gd name="T34" fmla="*/ 45 w 320"/>
                  <a:gd name="T35" fmla="*/ 1115 h 1166"/>
                  <a:gd name="T36" fmla="*/ 49 w 320"/>
                  <a:gd name="T37" fmla="*/ 1166 h 1166"/>
                  <a:gd name="T38" fmla="*/ 121 w 320"/>
                  <a:gd name="T39" fmla="*/ 1122 h 1166"/>
                  <a:gd name="T40" fmla="*/ 205 w 320"/>
                  <a:gd name="T41" fmla="*/ 1112 h 1166"/>
                  <a:gd name="T42" fmla="*/ 265 w 320"/>
                  <a:gd name="T43" fmla="*/ 1087 h 1166"/>
                  <a:gd name="T44" fmla="*/ 283 w 320"/>
                  <a:gd name="T45" fmla="*/ 1055 h 1166"/>
                  <a:gd name="T46" fmla="*/ 288 w 320"/>
                  <a:gd name="T47" fmla="*/ 991 h 1166"/>
                  <a:gd name="T48" fmla="*/ 275 w 320"/>
                  <a:gd name="T49" fmla="*/ 905 h 1166"/>
                  <a:gd name="T50" fmla="*/ 261 w 320"/>
                  <a:gd name="T51" fmla="*/ 861 h 1166"/>
                  <a:gd name="T52" fmla="*/ 270 w 320"/>
                  <a:gd name="T53" fmla="*/ 807 h 1166"/>
                  <a:gd name="T54" fmla="*/ 244 w 320"/>
                  <a:gd name="T55" fmla="*/ 747 h 1166"/>
                  <a:gd name="T56" fmla="*/ 281 w 320"/>
                  <a:gd name="T57" fmla="*/ 700 h 1166"/>
                  <a:gd name="T58" fmla="*/ 253 w 320"/>
                  <a:gd name="T59" fmla="*/ 633 h 1166"/>
                  <a:gd name="T60" fmla="*/ 239 w 320"/>
                  <a:gd name="T61" fmla="*/ 570 h 1166"/>
                  <a:gd name="T62" fmla="*/ 293 w 320"/>
                  <a:gd name="T63" fmla="*/ 522 h 1166"/>
                  <a:gd name="T64" fmla="*/ 275 w 320"/>
                  <a:gd name="T65" fmla="*/ 486 h 1166"/>
                  <a:gd name="T66" fmla="*/ 275 w 320"/>
                  <a:gd name="T67" fmla="*/ 427 h 1166"/>
                  <a:gd name="T68" fmla="*/ 249 w 320"/>
                  <a:gd name="T69" fmla="*/ 390 h 1166"/>
                  <a:gd name="T70" fmla="*/ 270 w 320"/>
                  <a:gd name="T71" fmla="*/ 342 h 1166"/>
                  <a:gd name="T72" fmla="*/ 253 w 320"/>
                  <a:gd name="T73" fmla="*/ 304 h 1166"/>
                  <a:gd name="T74" fmla="*/ 253 w 320"/>
                  <a:gd name="T75" fmla="*/ 272 h 1166"/>
                  <a:gd name="T76" fmla="*/ 272 w 320"/>
                  <a:gd name="T77" fmla="*/ 243 h 1166"/>
                  <a:gd name="T78" fmla="*/ 248 w 320"/>
                  <a:gd name="T79" fmla="*/ 205 h 1166"/>
                  <a:gd name="T80" fmla="*/ 244 w 320"/>
                  <a:gd name="T81" fmla="*/ 151 h 1166"/>
                  <a:gd name="T82" fmla="*/ 305 w 320"/>
                  <a:gd name="T83" fmla="*/ 83 h 1166"/>
                  <a:gd name="T84" fmla="*/ 320 w 320"/>
                  <a:gd name="T85" fmla="*/ 10 h 1166"/>
                  <a:gd name="T86" fmla="*/ 283 w 320"/>
                  <a:gd name="T87" fmla="*/ 10 h 1166"/>
                  <a:gd name="T88" fmla="*/ 176 w 320"/>
                  <a:gd name="T89" fmla="*/ 66 h 1166"/>
                  <a:gd name="T90" fmla="*/ 88 w 320"/>
                  <a:gd name="T91" fmla="*/ 99 h 116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20" h="1166">
                    <a:moveTo>
                      <a:pt x="56" y="110"/>
                    </a:moveTo>
                    <a:lnTo>
                      <a:pt x="45" y="142"/>
                    </a:lnTo>
                    <a:lnTo>
                      <a:pt x="54" y="174"/>
                    </a:lnTo>
                    <a:lnTo>
                      <a:pt x="56" y="207"/>
                    </a:lnTo>
                    <a:lnTo>
                      <a:pt x="45" y="227"/>
                    </a:lnTo>
                    <a:lnTo>
                      <a:pt x="29" y="251"/>
                    </a:lnTo>
                    <a:lnTo>
                      <a:pt x="22" y="287"/>
                    </a:lnTo>
                    <a:lnTo>
                      <a:pt x="33" y="310"/>
                    </a:lnTo>
                    <a:lnTo>
                      <a:pt x="49" y="337"/>
                    </a:lnTo>
                    <a:lnTo>
                      <a:pt x="49" y="358"/>
                    </a:lnTo>
                    <a:lnTo>
                      <a:pt x="38" y="381"/>
                    </a:lnTo>
                    <a:lnTo>
                      <a:pt x="24" y="408"/>
                    </a:lnTo>
                    <a:lnTo>
                      <a:pt x="29" y="435"/>
                    </a:lnTo>
                    <a:lnTo>
                      <a:pt x="51" y="492"/>
                    </a:lnTo>
                    <a:lnTo>
                      <a:pt x="49" y="516"/>
                    </a:lnTo>
                    <a:lnTo>
                      <a:pt x="17" y="563"/>
                    </a:lnTo>
                    <a:lnTo>
                      <a:pt x="17" y="602"/>
                    </a:lnTo>
                    <a:lnTo>
                      <a:pt x="35" y="633"/>
                    </a:lnTo>
                    <a:lnTo>
                      <a:pt x="45" y="661"/>
                    </a:lnTo>
                    <a:lnTo>
                      <a:pt x="44" y="684"/>
                    </a:lnTo>
                    <a:lnTo>
                      <a:pt x="16" y="709"/>
                    </a:lnTo>
                    <a:lnTo>
                      <a:pt x="10" y="727"/>
                    </a:lnTo>
                    <a:lnTo>
                      <a:pt x="16" y="770"/>
                    </a:lnTo>
                    <a:lnTo>
                      <a:pt x="29" y="818"/>
                    </a:lnTo>
                    <a:lnTo>
                      <a:pt x="29" y="844"/>
                    </a:lnTo>
                    <a:lnTo>
                      <a:pt x="27" y="866"/>
                    </a:lnTo>
                    <a:lnTo>
                      <a:pt x="7" y="898"/>
                    </a:lnTo>
                    <a:lnTo>
                      <a:pt x="0" y="925"/>
                    </a:lnTo>
                    <a:lnTo>
                      <a:pt x="1" y="955"/>
                    </a:lnTo>
                    <a:lnTo>
                      <a:pt x="16" y="976"/>
                    </a:lnTo>
                    <a:lnTo>
                      <a:pt x="33" y="996"/>
                    </a:lnTo>
                    <a:lnTo>
                      <a:pt x="17" y="1023"/>
                    </a:lnTo>
                    <a:lnTo>
                      <a:pt x="10" y="1050"/>
                    </a:lnTo>
                    <a:lnTo>
                      <a:pt x="24" y="1071"/>
                    </a:lnTo>
                    <a:lnTo>
                      <a:pt x="44" y="1087"/>
                    </a:lnTo>
                    <a:lnTo>
                      <a:pt x="45" y="1115"/>
                    </a:lnTo>
                    <a:lnTo>
                      <a:pt x="45" y="1137"/>
                    </a:lnTo>
                    <a:lnTo>
                      <a:pt x="49" y="1166"/>
                    </a:lnTo>
                    <a:lnTo>
                      <a:pt x="84" y="1142"/>
                    </a:lnTo>
                    <a:lnTo>
                      <a:pt x="121" y="1122"/>
                    </a:lnTo>
                    <a:lnTo>
                      <a:pt x="154" y="1112"/>
                    </a:lnTo>
                    <a:lnTo>
                      <a:pt x="205" y="1112"/>
                    </a:lnTo>
                    <a:lnTo>
                      <a:pt x="242" y="1106"/>
                    </a:lnTo>
                    <a:lnTo>
                      <a:pt x="265" y="1087"/>
                    </a:lnTo>
                    <a:lnTo>
                      <a:pt x="303" y="1077"/>
                    </a:lnTo>
                    <a:lnTo>
                      <a:pt x="283" y="1055"/>
                    </a:lnTo>
                    <a:lnTo>
                      <a:pt x="275" y="1025"/>
                    </a:lnTo>
                    <a:lnTo>
                      <a:pt x="288" y="991"/>
                    </a:lnTo>
                    <a:lnTo>
                      <a:pt x="286" y="941"/>
                    </a:lnTo>
                    <a:lnTo>
                      <a:pt x="275" y="905"/>
                    </a:lnTo>
                    <a:lnTo>
                      <a:pt x="265" y="887"/>
                    </a:lnTo>
                    <a:lnTo>
                      <a:pt x="261" y="861"/>
                    </a:lnTo>
                    <a:lnTo>
                      <a:pt x="275" y="828"/>
                    </a:lnTo>
                    <a:lnTo>
                      <a:pt x="270" y="807"/>
                    </a:lnTo>
                    <a:lnTo>
                      <a:pt x="242" y="768"/>
                    </a:lnTo>
                    <a:lnTo>
                      <a:pt x="244" y="747"/>
                    </a:lnTo>
                    <a:lnTo>
                      <a:pt x="255" y="727"/>
                    </a:lnTo>
                    <a:lnTo>
                      <a:pt x="281" y="700"/>
                    </a:lnTo>
                    <a:lnTo>
                      <a:pt x="272" y="679"/>
                    </a:lnTo>
                    <a:lnTo>
                      <a:pt x="253" y="633"/>
                    </a:lnTo>
                    <a:lnTo>
                      <a:pt x="239" y="602"/>
                    </a:lnTo>
                    <a:lnTo>
                      <a:pt x="239" y="570"/>
                    </a:lnTo>
                    <a:lnTo>
                      <a:pt x="288" y="552"/>
                    </a:lnTo>
                    <a:lnTo>
                      <a:pt x="293" y="522"/>
                    </a:lnTo>
                    <a:lnTo>
                      <a:pt x="288" y="503"/>
                    </a:lnTo>
                    <a:lnTo>
                      <a:pt x="275" y="486"/>
                    </a:lnTo>
                    <a:lnTo>
                      <a:pt x="277" y="460"/>
                    </a:lnTo>
                    <a:lnTo>
                      <a:pt x="275" y="427"/>
                    </a:lnTo>
                    <a:lnTo>
                      <a:pt x="261" y="411"/>
                    </a:lnTo>
                    <a:lnTo>
                      <a:pt x="249" y="390"/>
                    </a:lnTo>
                    <a:lnTo>
                      <a:pt x="258" y="368"/>
                    </a:lnTo>
                    <a:lnTo>
                      <a:pt x="270" y="342"/>
                    </a:lnTo>
                    <a:lnTo>
                      <a:pt x="270" y="326"/>
                    </a:lnTo>
                    <a:lnTo>
                      <a:pt x="253" y="304"/>
                    </a:lnTo>
                    <a:lnTo>
                      <a:pt x="248" y="287"/>
                    </a:lnTo>
                    <a:lnTo>
                      <a:pt x="253" y="272"/>
                    </a:lnTo>
                    <a:lnTo>
                      <a:pt x="270" y="261"/>
                    </a:lnTo>
                    <a:lnTo>
                      <a:pt x="272" y="243"/>
                    </a:lnTo>
                    <a:lnTo>
                      <a:pt x="267" y="233"/>
                    </a:lnTo>
                    <a:lnTo>
                      <a:pt x="248" y="205"/>
                    </a:lnTo>
                    <a:lnTo>
                      <a:pt x="242" y="174"/>
                    </a:lnTo>
                    <a:lnTo>
                      <a:pt x="244" y="151"/>
                    </a:lnTo>
                    <a:lnTo>
                      <a:pt x="261" y="130"/>
                    </a:lnTo>
                    <a:lnTo>
                      <a:pt x="305" y="83"/>
                    </a:lnTo>
                    <a:lnTo>
                      <a:pt x="320" y="43"/>
                    </a:lnTo>
                    <a:lnTo>
                      <a:pt x="320" y="10"/>
                    </a:lnTo>
                    <a:lnTo>
                      <a:pt x="305" y="0"/>
                    </a:lnTo>
                    <a:lnTo>
                      <a:pt x="283" y="10"/>
                    </a:lnTo>
                    <a:lnTo>
                      <a:pt x="228" y="44"/>
                    </a:lnTo>
                    <a:lnTo>
                      <a:pt x="176" y="66"/>
                    </a:lnTo>
                    <a:lnTo>
                      <a:pt x="123" y="88"/>
                    </a:lnTo>
                    <a:lnTo>
                      <a:pt x="88" y="99"/>
                    </a:lnTo>
                    <a:lnTo>
                      <a:pt x="56" y="110"/>
                    </a:ln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8" name="Freeform 159"/>
              <p:cNvSpPr>
                <a:spLocks/>
              </p:cNvSpPr>
              <p:nvPr/>
            </p:nvSpPr>
            <p:spPr bwMode="auto">
              <a:xfrm>
                <a:off x="2994" y="322"/>
                <a:ext cx="565" cy="1192"/>
              </a:xfrm>
              <a:custGeom>
                <a:avLst/>
                <a:gdLst>
                  <a:gd name="T0" fmla="*/ 368 w 565"/>
                  <a:gd name="T1" fmla="*/ 1120 h 1192"/>
                  <a:gd name="T2" fmla="*/ 260 w 565"/>
                  <a:gd name="T3" fmla="*/ 1157 h 1192"/>
                  <a:gd name="T4" fmla="*/ 45 w 565"/>
                  <a:gd name="T5" fmla="*/ 964 h 1192"/>
                  <a:gd name="T6" fmla="*/ 34 w 565"/>
                  <a:gd name="T7" fmla="*/ 997 h 1192"/>
                  <a:gd name="T8" fmla="*/ 267 w 565"/>
                  <a:gd name="T9" fmla="*/ 1192 h 1192"/>
                  <a:gd name="T10" fmla="*/ 379 w 565"/>
                  <a:gd name="T11" fmla="*/ 1132 h 1192"/>
                  <a:gd name="T12" fmla="*/ 534 w 565"/>
                  <a:gd name="T13" fmla="*/ 1081 h 1192"/>
                  <a:gd name="T14" fmla="*/ 526 w 565"/>
                  <a:gd name="T15" fmla="*/ 997 h 1192"/>
                  <a:gd name="T16" fmla="*/ 495 w 565"/>
                  <a:gd name="T17" fmla="*/ 903 h 1192"/>
                  <a:gd name="T18" fmla="*/ 510 w 565"/>
                  <a:gd name="T19" fmla="*/ 828 h 1192"/>
                  <a:gd name="T20" fmla="*/ 478 w 565"/>
                  <a:gd name="T21" fmla="*/ 753 h 1192"/>
                  <a:gd name="T22" fmla="*/ 494 w 565"/>
                  <a:gd name="T23" fmla="*/ 666 h 1192"/>
                  <a:gd name="T24" fmla="*/ 506 w 565"/>
                  <a:gd name="T25" fmla="*/ 580 h 1192"/>
                  <a:gd name="T26" fmla="*/ 510 w 565"/>
                  <a:gd name="T27" fmla="*/ 472 h 1192"/>
                  <a:gd name="T28" fmla="*/ 488 w 565"/>
                  <a:gd name="T29" fmla="*/ 380 h 1192"/>
                  <a:gd name="T30" fmla="*/ 478 w 565"/>
                  <a:gd name="T31" fmla="*/ 308 h 1192"/>
                  <a:gd name="T32" fmla="*/ 504 w 565"/>
                  <a:gd name="T33" fmla="*/ 245 h 1192"/>
                  <a:gd name="T34" fmla="*/ 490 w 565"/>
                  <a:gd name="T35" fmla="*/ 140 h 1192"/>
                  <a:gd name="T36" fmla="*/ 559 w 565"/>
                  <a:gd name="T37" fmla="*/ 12 h 1192"/>
                  <a:gd name="T38" fmla="*/ 528 w 565"/>
                  <a:gd name="T39" fmla="*/ 39 h 1192"/>
                  <a:gd name="T40" fmla="*/ 457 w 565"/>
                  <a:gd name="T41" fmla="*/ 156 h 1192"/>
                  <a:gd name="T42" fmla="*/ 354 w 565"/>
                  <a:gd name="T43" fmla="*/ 254 h 1192"/>
                  <a:gd name="T44" fmla="*/ 461 w 565"/>
                  <a:gd name="T45" fmla="*/ 217 h 1192"/>
                  <a:gd name="T46" fmla="*/ 451 w 565"/>
                  <a:gd name="T47" fmla="*/ 286 h 1192"/>
                  <a:gd name="T48" fmla="*/ 401 w 565"/>
                  <a:gd name="T49" fmla="*/ 358 h 1192"/>
                  <a:gd name="T50" fmla="*/ 474 w 565"/>
                  <a:gd name="T51" fmla="*/ 342 h 1192"/>
                  <a:gd name="T52" fmla="*/ 455 w 565"/>
                  <a:gd name="T53" fmla="*/ 397 h 1192"/>
                  <a:gd name="T54" fmla="*/ 450 w 565"/>
                  <a:gd name="T55" fmla="*/ 456 h 1192"/>
                  <a:gd name="T56" fmla="*/ 343 w 565"/>
                  <a:gd name="T57" fmla="*/ 535 h 1192"/>
                  <a:gd name="T58" fmla="*/ 463 w 565"/>
                  <a:gd name="T59" fmla="*/ 481 h 1192"/>
                  <a:gd name="T60" fmla="*/ 506 w 565"/>
                  <a:gd name="T61" fmla="*/ 535 h 1192"/>
                  <a:gd name="T62" fmla="*/ 434 w 565"/>
                  <a:gd name="T63" fmla="*/ 586 h 1192"/>
                  <a:gd name="T64" fmla="*/ 299 w 565"/>
                  <a:gd name="T65" fmla="*/ 650 h 1192"/>
                  <a:gd name="T66" fmla="*/ 451 w 565"/>
                  <a:gd name="T67" fmla="*/ 623 h 1192"/>
                  <a:gd name="T68" fmla="*/ 483 w 565"/>
                  <a:gd name="T69" fmla="*/ 725 h 1192"/>
                  <a:gd name="T70" fmla="*/ 303 w 565"/>
                  <a:gd name="T71" fmla="*/ 773 h 1192"/>
                  <a:gd name="T72" fmla="*/ 401 w 565"/>
                  <a:gd name="T73" fmla="*/ 769 h 1192"/>
                  <a:gd name="T74" fmla="*/ 463 w 565"/>
                  <a:gd name="T75" fmla="*/ 800 h 1192"/>
                  <a:gd name="T76" fmla="*/ 461 w 565"/>
                  <a:gd name="T77" fmla="*/ 860 h 1192"/>
                  <a:gd name="T78" fmla="*/ 288 w 565"/>
                  <a:gd name="T79" fmla="*/ 894 h 1192"/>
                  <a:gd name="T80" fmla="*/ 373 w 565"/>
                  <a:gd name="T81" fmla="*/ 894 h 1192"/>
                  <a:gd name="T82" fmla="*/ 472 w 565"/>
                  <a:gd name="T83" fmla="*/ 878 h 1192"/>
                  <a:gd name="T84" fmla="*/ 386 w 565"/>
                  <a:gd name="T85" fmla="*/ 958 h 1192"/>
                  <a:gd name="T86" fmla="*/ 288 w 565"/>
                  <a:gd name="T87" fmla="*/ 1006 h 1192"/>
                  <a:gd name="T88" fmla="*/ 412 w 565"/>
                  <a:gd name="T89" fmla="*/ 962 h 1192"/>
                  <a:gd name="T90" fmla="*/ 485 w 565"/>
                  <a:gd name="T91" fmla="*/ 946 h 1192"/>
                  <a:gd name="T92" fmla="*/ 483 w 565"/>
                  <a:gd name="T93" fmla="*/ 1017 h 1192"/>
                  <a:gd name="T94" fmla="*/ 494 w 565"/>
                  <a:gd name="T95" fmla="*/ 1076 h 119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65" h="1192">
                    <a:moveTo>
                      <a:pt x="479" y="1078"/>
                    </a:moveTo>
                    <a:lnTo>
                      <a:pt x="455" y="1105"/>
                    </a:lnTo>
                    <a:lnTo>
                      <a:pt x="417" y="1113"/>
                    </a:lnTo>
                    <a:lnTo>
                      <a:pt x="368" y="1120"/>
                    </a:lnTo>
                    <a:lnTo>
                      <a:pt x="315" y="1131"/>
                    </a:lnTo>
                    <a:lnTo>
                      <a:pt x="281" y="1152"/>
                    </a:lnTo>
                    <a:lnTo>
                      <a:pt x="270" y="1163"/>
                    </a:lnTo>
                    <a:lnTo>
                      <a:pt x="260" y="1157"/>
                    </a:lnTo>
                    <a:lnTo>
                      <a:pt x="196" y="1110"/>
                    </a:lnTo>
                    <a:lnTo>
                      <a:pt x="114" y="1045"/>
                    </a:lnTo>
                    <a:lnTo>
                      <a:pt x="86" y="1006"/>
                    </a:lnTo>
                    <a:lnTo>
                      <a:pt x="45" y="964"/>
                    </a:lnTo>
                    <a:lnTo>
                      <a:pt x="32" y="932"/>
                    </a:lnTo>
                    <a:lnTo>
                      <a:pt x="0" y="926"/>
                    </a:lnTo>
                    <a:lnTo>
                      <a:pt x="16" y="962"/>
                    </a:lnTo>
                    <a:lnTo>
                      <a:pt x="34" y="997"/>
                    </a:lnTo>
                    <a:lnTo>
                      <a:pt x="86" y="1035"/>
                    </a:lnTo>
                    <a:lnTo>
                      <a:pt x="123" y="1081"/>
                    </a:lnTo>
                    <a:lnTo>
                      <a:pt x="212" y="1138"/>
                    </a:lnTo>
                    <a:lnTo>
                      <a:pt x="267" y="1192"/>
                    </a:lnTo>
                    <a:lnTo>
                      <a:pt x="288" y="1186"/>
                    </a:lnTo>
                    <a:lnTo>
                      <a:pt x="310" y="1159"/>
                    </a:lnTo>
                    <a:lnTo>
                      <a:pt x="341" y="1143"/>
                    </a:lnTo>
                    <a:lnTo>
                      <a:pt x="379" y="1132"/>
                    </a:lnTo>
                    <a:lnTo>
                      <a:pt x="461" y="1125"/>
                    </a:lnTo>
                    <a:lnTo>
                      <a:pt x="485" y="1110"/>
                    </a:lnTo>
                    <a:lnTo>
                      <a:pt x="526" y="1099"/>
                    </a:lnTo>
                    <a:lnTo>
                      <a:pt x="534" y="1081"/>
                    </a:lnTo>
                    <a:lnTo>
                      <a:pt x="521" y="1060"/>
                    </a:lnTo>
                    <a:lnTo>
                      <a:pt x="506" y="1038"/>
                    </a:lnTo>
                    <a:lnTo>
                      <a:pt x="515" y="1011"/>
                    </a:lnTo>
                    <a:lnTo>
                      <a:pt x="526" y="997"/>
                    </a:lnTo>
                    <a:lnTo>
                      <a:pt x="526" y="974"/>
                    </a:lnTo>
                    <a:lnTo>
                      <a:pt x="515" y="937"/>
                    </a:lnTo>
                    <a:lnTo>
                      <a:pt x="510" y="919"/>
                    </a:lnTo>
                    <a:lnTo>
                      <a:pt x="495" y="903"/>
                    </a:lnTo>
                    <a:lnTo>
                      <a:pt x="488" y="883"/>
                    </a:lnTo>
                    <a:lnTo>
                      <a:pt x="495" y="865"/>
                    </a:lnTo>
                    <a:lnTo>
                      <a:pt x="512" y="851"/>
                    </a:lnTo>
                    <a:lnTo>
                      <a:pt x="510" y="828"/>
                    </a:lnTo>
                    <a:lnTo>
                      <a:pt x="501" y="811"/>
                    </a:lnTo>
                    <a:lnTo>
                      <a:pt x="483" y="785"/>
                    </a:lnTo>
                    <a:lnTo>
                      <a:pt x="472" y="773"/>
                    </a:lnTo>
                    <a:lnTo>
                      <a:pt x="478" y="753"/>
                    </a:lnTo>
                    <a:lnTo>
                      <a:pt x="504" y="737"/>
                    </a:lnTo>
                    <a:lnTo>
                      <a:pt x="515" y="716"/>
                    </a:lnTo>
                    <a:lnTo>
                      <a:pt x="512" y="698"/>
                    </a:lnTo>
                    <a:lnTo>
                      <a:pt x="494" y="666"/>
                    </a:lnTo>
                    <a:lnTo>
                      <a:pt x="474" y="629"/>
                    </a:lnTo>
                    <a:lnTo>
                      <a:pt x="467" y="602"/>
                    </a:lnTo>
                    <a:lnTo>
                      <a:pt x="478" y="591"/>
                    </a:lnTo>
                    <a:lnTo>
                      <a:pt x="506" y="580"/>
                    </a:lnTo>
                    <a:lnTo>
                      <a:pt x="522" y="570"/>
                    </a:lnTo>
                    <a:lnTo>
                      <a:pt x="526" y="535"/>
                    </a:lnTo>
                    <a:lnTo>
                      <a:pt x="506" y="497"/>
                    </a:lnTo>
                    <a:lnTo>
                      <a:pt x="510" y="472"/>
                    </a:lnTo>
                    <a:lnTo>
                      <a:pt x="517" y="449"/>
                    </a:lnTo>
                    <a:lnTo>
                      <a:pt x="499" y="422"/>
                    </a:lnTo>
                    <a:lnTo>
                      <a:pt x="483" y="397"/>
                    </a:lnTo>
                    <a:lnTo>
                      <a:pt x="488" y="380"/>
                    </a:lnTo>
                    <a:lnTo>
                      <a:pt x="499" y="363"/>
                    </a:lnTo>
                    <a:lnTo>
                      <a:pt x="499" y="336"/>
                    </a:lnTo>
                    <a:lnTo>
                      <a:pt x="488" y="320"/>
                    </a:lnTo>
                    <a:lnTo>
                      <a:pt x="478" y="308"/>
                    </a:lnTo>
                    <a:lnTo>
                      <a:pt x="479" y="288"/>
                    </a:lnTo>
                    <a:lnTo>
                      <a:pt x="499" y="277"/>
                    </a:lnTo>
                    <a:lnTo>
                      <a:pt x="510" y="267"/>
                    </a:lnTo>
                    <a:lnTo>
                      <a:pt x="504" y="245"/>
                    </a:lnTo>
                    <a:lnTo>
                      <a:pt x="483" y="217"/>
                    </a:lnTo>
                    <a:lnTo>
                      <a:pt x="474" y="194"/>
                    </a:lnTo>
                    <a:lnTo>
                      <a:pt x="472" y="167"/>
                    </a:lnTo>
                    <a:lnTo>
                      <a:pt x="490" y="140"/>
                    </a:lnTo>
                    <a:lnTo>
                      <a:pt x="528" y="99"/>
                    </a:lnTo>
                    <a:lnTo>
                      <a:pt x="548" y="66"/>
                    </a:lnTo>
                    <a:lnTo>
                      <a:pt x="565" y="39"/>
                    </a:lnTo>
                    <a:lnTo>
                      <a:pt x="559" y="12"/>
                    </a:lnTo>
                    <a:lnTo>
                      <a:pt x="545" y="0"/>
                    </a:lnTo>
                    <a:lnTo>
                      <a:pt x="534" y="1"/>
                    </a:lnTo>
                    <a:lnTo>
                      <a:pt x="515" y="23"/>
                    </a:lnTo>
                    <a:lnTo>
                      <a:pt x="528" y="39"/>
                    </a:lnTo>
                    <a:lnTo>
                      <a:pt x="526" y="66"/>
                    </a:lnTo>
                    <a:lnTo>
                      <a:pt x="501" y="113"/>
                    </a:lnTo>
                    <a:lnTo>
                      <a:pt x="469" y="140"/>
                    </a:lnTo>
                    <a:lnTo>
                      <a:pt x="457" y="156"/>
                    </a:lnTo>
                    <a:lnTo>
                      <a:pt x="450" y="178"/>
                    </a:lnTo>
                    <a:lnTo>
                      <a:pt x="446" y="190"/>
                    </a:lnTo>
                    <a:lnTo>
                      <a:pt x="398" y="229"/>
                    </a:lnTo>
                    <a:lnTo>
                      <a:pt x="354" y="254"/>
                    </a:lnTo>
                    <a:lnTo>
                      <a:pt x="348" y="272"/>
                    </a:lnTo>
                    <a:lnTo>
                      <a:pt x="363" y="276"/>
                    </a:lnTo>
                    <a:lnTo>
                      <a:pt x="428" y="229"/>
                    </a:lnTo>
                    <a:lnTo>
                      <a:pt x="461" y="217"/>
                    </a:lnTo>
                    <a:lnTo>
                      <a:pt x="478" y="249"/>
                    </a:lnTo>
                    <a:lnTo>
                      <a:pt x="483" y="261"/>
                    </a:lnTo>
                    <a:lnTo>
                      <a:pt x="467" y="276"/>
                    </a:lnTo>
                    <a:lnTo>
                      <a:pt x="451" y="286"/>
                    </a:lnTo>
                    <a:lnTo>
                      <a:pt x="450" y="304"/>
                    </a:lnTo>
                    <a:lnTo>
                      <a:pt x="455" y="324"/>
                    </a:lnTo>
                    <a:lnTo>
                      <a:pt x="441" y="340"/>
                    </a:lnTo>
                    <a:lnTo>
                      <a:pt x="401" y="358"/>
                    </a:lnTo>
                    <a:lnTo>
                      <a:pt x="341" y="384"/>
                    </a:lnTo>
                    <a:lnTo>
                      <a:pt x="363" y="391"/>
                    </a:lnTo>
                    <a:lnTo>
                      <a:pt x="425" y="367"/>
                    </a:lnTo>
                    <a:lnTo>
                      <a:pt x="474" y="342"/>
                    </a:lnTo>
                    <a:lnTo>
                      <a:pt x="483" y="347"/>
                    </a:lnTo>
                    <a:lnTo>
                      <a:pt x="478" y="363"/>
                    </a:lnTo>
                    <a:lnTo>
                      <a:pt x="461" y="380"/>
                    </a:lnTo>
                    <a:lnTo>
                      <a:pt x="455" y="397"/>
                    </a:lnTo>
                    <a:lnTo>
                      <a:pt x="463" y="418"/>
                    </a:lnTo>
                    <a:lnTo>
                      <a:pt x="483" y="434"/>
                    </a:lnTo>
                    <a:lnTo>
                      <a:pt x="483" y="449"/>
                    </a:lnTo>
                    <a:lnTo>
                      <a:pt x="450" y="456"/>
                    </a:lnTo>
                    <a:lnTo>
                      <a:pt x="423" y="492"/>
                    </a:lnTo>
                    <a:lnTo>
                      <a:pt x="391" y="513"/>
                    </a:lnTo>
                    <a:lnTo>
                      <a:pt x="347" y="525"/>
                    </a:lnTo>
                    <a:lnTo>
                      <a:pt x="343" y="535"/>
                    </a:lnTo>
                    <a:lnTo>
                      <a:pt x="370" y="532"/>
                    </a:lnTo>
                    <a:lnTo>
                      <a:pt x="428" y="513"/>
                    </a:lnTo>
                    <a:lnTo>
                      <a:pt x="450" y="497"/>
                    </a:lnTo>
                    <a:lnTo>
                      <a:pt x="463" y="481"/>
                    </a:lnTo>
                    <a:lnTo>
                      <a:pt x="483" y="477"/>
                    </a:lnTo>
                    <a:lnTo>
                      <a:pt x="483" y="497"/>
                    </a:lnTo>
                    <a:lnTo>
                      <a:pt x="495" y="515"/>
                    </a:lnTo>
                    <a:lnTo>
                      <a:pt x="506" y="535"/>
                    </a:lnTo>
                    <a:lnTo>
                      <a:pt x="499" y="552"/>
                    </a:lnTo>
                    <a:lnTo>
                      <a:pt x="474" y="562"/>
                    </a:lnTo>
                    <a:lnTo>
                      <a:pt x="450" y="570"/>
                    </a:lnTo>
                    <a:lnTo>
                      <a:pt x="434" y="586"/>
                    </a:lnTo>
                    <a:lnTo>
                      <a:pt x="359" y="607"/>
                    </a:lnTo>
                    <a:lnTo>
                      <a:pt x="304" y="627"/>
                    </a:lnTo>
                    <a:lnTo>
                      <a:pt x="283" y="638"/>
                    </a:lnTo>
                    <a:lnTo>
                      <a:pt x="299" y="650"/>
                    </a:lnTo>
                    <a:lnTo>
                      <a:pt x="332" y="643"/>
                    </a:lnTo>
                    <a:lnTo>
                      <a:pt x="398" y="618"/>
                    </a:lnTo>
                    <a:lnTo>
                      <a:pt x="441" y="605"/>
                    </a:lnTo>
                    <a:lnTo>
                      <a:pt x="451" y="623"/>
                    </a:lnTo>
                    <a:lnTo>
                      <a:pt x="463" y="656"/>
                    </a:lnTo>
                    <a:lnTo>
                      <a:pt x="483" y="683"/>
                    </a:lnTo>
                    <a:lnTo>
                      <a:pt x="485" y="705"/>
                    </a:lnTo>
                    <a:lnTo>
                      <a:pt x="483" y="725"/>
                    </a:lnTo>
                    <a:lnTo>
                      <a:pt x="461" y="732"/>
                    </a:lnTo>
                    <a:lnTo>
                      <a:pt x="423" y="741"/>
                    </a:lnTo>
                    <a:lnTo>
                      <a:pt x="373" y="762"/>
                    </a:lnTo>
                    <a:lnTo>
                      <a:pt x="303" y="773"/>
                    </a:lnTo>
                    <a:lnTo>
                      <a:pt x="276" y="785"/>
                    </a:lnTo>
                    <a:lnTo>
                      <a:pt x="294" y="794"/>
                    </a:lnTo>
                    <a:lnTo>
                      <a:pt x="357" y="785"/>
                    </a:lnTo>
                    <a:lnTo>
                      <a:pt x="401" y="769"/>
                    </a:lnTo>
                    <a:lnTo>
                      <a:pt x="430" y="759"/>
                    </a:lnTo>
                    <a:lnTo>
                      <a:pt x="455" y="753"/>
                    </a:lnTo>
                    <a:lnTo>
                      <a:pt x="451" y="773"/>
                    </a:lnTo>
                    <a:lnTo>
                      <a:pt x="463" y="800"/>
                    </a:lnTo>
                    <a:lnTo>
                      <a:pt x="479" y="816"/>
                    </a:lnTo>
                    <a:lnTo>
                      <a:pt x="483" y="835"/>
                    </a:lnTo>
                    <a:lnTo>
                      <a:pt x="483" y="851"/>
                    </a:lnTo>
                    <a:lnTo>
                      <a:pt x="461" y="860"/>
                    </a:lnTo>
                    <a:lnTo>
                      <a:pt x="419" y="862"/>
                    </a:lnTo>
                    <a:lnTo>
                      <a:pt x="391" y="871"/>
                    </a:lnTo>
                    <a:lnTo>
                      <a:pt x="325" y="892"/>
                    </a:lnTo>
                    <a:lnTo>
                      <a:pt x="288" y="894"/>
                    </a:lnTo>
                    <a:lnTo>
                      <a:pt x="276" y="910"/>
                    </a:lnTo>
                    <a:lnTo>
                      <a:pt x="292" y="915"/>
                    </a:lnTo>
                    <a:lnTo>
                      <a:pt x="325" y="908"/>
                    </a:lnTo>
                    <a:lnTo>
                      <a:pt x="373" y="894"/>
                    </a:lnTo>
                    <a:lnTo>
                      <a:pt x="401" y="883"/>
                    </a:lnTo>
                    <a:lnTo>
                      <a:pt x="435" y="876"/>
                    </a:lnTo>
                    <a:lnTo>
                      <a:pt x="463" y="878"/>
                    </a:lnTo>
                    <a:lnTo>
                      <a:pt x="472" y="878"/>
                    </a:lnTo>
                    <a:lnTo>
                      <a:pt x="472" y="903"/>
                    </a:lnTo>
                    <a:lnTo>
                      <a:pt x="479" y="915"/>
                    </a:lnTo>
                    <a:lnTo>
                      <a:pt x="430" y="926"/>
                    </a:lnTo>
                    <a:lnTo>
                      <a:pt x="386" y="958"/>
                    </a:lnTo>
                    <a:lnTo>
                      <a:pt x="338" y="976"/>
                    </a:lnTo>
                    <a:lnTo>
                      <a:pt x="304" y="981"/>
                    </a:lnTo>
                    <a:lnTo>
                      <a:pt x="278" y="995"/>
                    </a:lnTo>
                    <a:lnTo>
                      <a:pt x="288" y="1006"/>
                    </a:lnTo>
                    <a:lnTo>
                      <a:pt x="315" y="997"/>
                    </a:lnTo>
                    <a:lnTo>
                      <a:pt x="347" y="986"/>
                    </a:lnTo>
                    <a:lnTo>
                      <a:pt x="381" y="981"/>
                    </a:lnTo>
                    <a:lnTo>
                      <a:pt x="412" y="962"/>
                    </a:lnTo>
                    <a:lnTo>
                      <a:pt x="428" y="946"/>
                    </a:lnTo>
                    <a:lnTo>
                      <a:pt x="450" y="942"/>
                    </a:lnTo>
                    <a:lnTo>
                      <a:pt x="478" y="942"/>
                    </a:lnTo>
                    <a:lnTo>
                      <a:pt x="485" y="946"/>
                    </a:lnTo>
                    <a:lnTo>
                      <a:pt x="494" y="964"/>
                    </a:lnTo>
                    <a:lnTo>
                      <a:pt x="499" y="986"/>
                    </a:lnTo>
                    <a:lnTo>
                      <a:pt x="494" y="1006"/>
                    </a:lnTo>
                    <a:lnTo>
                      <a:pt x="483" y="1017"/>
                    </a:lnTo>
                    <a:lnTo>
                      <a:pt x="474" y="1044"/>
                    </a:lnTo>
                    <a:lnTo>
                      <a:pt x="483" y="1054"/>
                    </a:lnTo>
                    <a:lnTo>
                      <a:pt x="494" y="1065"/>
                    </a:lnTo>
                    <a:lnTo>
                      <a:pt x="494" y="1076"/>
                    </a:lnTo>
                    <a:lnTo>
                      <a:pt x="479" y="10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9" name="Freeform 160"/>
              <p:cNvSpPr>
                <a:spLocks/>
              </p:cNvSpPr>
              <p:nvPr/>
            </p:nvSpPr>
            <p:spPr bwMode="auto">
              <a:xfrm>
                <a:off x="3290" y="1340"/>
                <a:ext cx="169" cy="61"/>
              </a:xfrm>
              <a:custGeom>
                <a:avLst/>
                <a:gdLst>
                  <a:gd name="T0" fmla="*/ 0 w 169"/>
                  <a:gd name="T1" fmla="*/ 48 h 61"/>
                  <a:gd name="T2" fmla="*/ 67 w 169"/>
                  <a:gd name="T3" fmla="*/ 46 h 61"/>
                  <a:gd name="T4" fmla="*/ 93 w 169"/>
                  <a:gd name="T5" fmla="*/ 30 h 61"/>
                  <a:gd name="T6" fmla="*/ 115 w 169"/>
                  <a:gd name="T7" fmla="*/ 12 h 61"/>
                  <a:gd name="T8" fmla="*/ 157 w 169"/>
                  <a:gd name="T9" fmla="*/ 0 h 61"/>
                  <a:gd name="T10" fmla="*/ 169 w 169"/>
                  <a:gd name="T11" fmla="*/ 12 h 61"/>
                  <a:gd name="T12" fmla="*/ 151 w 169"/>
                  <a:gd name="T13" fmla="*/ 17 h 61"/>
                  <a:gd name="T14" fmla="*/ 122 w 169"/>
                  <a:gd name="T15" fmla="*/ 35 h 61"/>
                  <a:gd name="T16" fmla="*/ 106 w 169"/>
                  <a:gd name="T17" fmla="*/ 46 h 61"/>
                  <a:gd name="T18" fmla="*/ 79 w 169"/>
                  <a:gd name="T19" fmla="*/ 54 h 61"/>
                  <a:gd name="T20" fmla="*/ 37 w 169"/>
                  <a:gd name="T21" fmla="*/ 59 h 61"/>
                  <a:gd name="T22" fmla="*/ 3 w 169"/>
                  <a:gd name="T23" fmla="*/ 61 h 61"/>
                  <a:gd name="T24" fmla="*/ 0 w 169"/>
                  <a:gd name="T25" fmla="*/ 48 h 6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 h="61">
                    <a:moveTo>
                      <a:pt x="0" y="48"/>
                    </a:moveTo>
                    <a:lnTo>
                      <a:pt x="67" y="46"/>
                    </a:lnTo>
                    <a:lnTo>
                      <a:pt x="93" y="30"/>
                    </a:lnTo>
                    <a:lnTo>
                      <a:pt x="115" y="12"/>
                    </a:lnTo>
                    <a:lnTo>
                      <a:pt x="157" y="0"/>
                    </a:lnTo>
                    <a:lnTo>
                      <a:pt x="169" y="12"/>
                    </a:lnTo>
                    <a:lnTo>
                      <a:pt x="151" y="17"/>
                    </a:lnTo>
                    <a:lnTo>
                      <a:pt x="122" y="35"/>
                    </a:lnTo>
                    <a:lnTo>
                      <a:pt x="106" y="46"/>
                    </a:lnTo>
                    <a:lnTo>
                      <a:pt x="79" y="54"/>
                    </a:lnTo>
                    <a:lnTo>
                      <a:pt x="37" y="59"/>
                    </a:lnTo>
                    <a:lnTo>
                      <a:pt x="3" y="61"/>
                    </a:lnTo>
                    <a:lnTo>
                      <a:pt x="0"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0" name="Freeform 161"/>
              <p:cNvSpPr>
                <a:spLocks/>
              </p:cNvSpPr>
              <p:nvPr/>
            </p:nvSpPr>
            <p:spPr bwMode="auto">
              <a:xfrm>
                <a:off x="3042" y="182"/>
                <a:ext cx="476" cy="262"/>
              </a:xfrm>
              <a:custGeom>
                <a:avLst/>
                <a:gdLst>
                  <a:gd name="T0" fmla="*/ 14 w 476"/>
                  <a:gd name="T1" fmla="*/ 29 h 262"/>
                  <a:gd name="T2" fmla="*/ 70 w 476"/>
                  <a:gd name="T3" fmla="*/ 33 h 262"/>
                  <a:gd name="T4" fmla="*/ 131 w 476"/>
                  <a:gd name="T5" fmla="*/ 34 h 262"/>
                  <a:gd name="T6" fmla="*/ 169 w 476"/>
                  <a:gd name="T7" fmla="*/ 34 h 262"/>
                  <a:gd name="T8" fmla="*/ 200 w 476"/>
                  <a:gd name="T9" fmla="*/ 27 h 262"/>
                  <a:gd name="T10" fmla="*/ 249 w 476"/>
                  <a:gd name="T11" fmla="*/ 12 h 262"/>
                  <a:gd name="T12" fmla="*/ 273 w 476"/>
                  <a:gd name="T13" fmla="*/ 0 h 262"/>
                  <a:gd name="T14" fmla="*/ 306 w 476"/>
                  <a:gd name="T15" fmla="*/ 18 h 262"/>
                  <a:gd name="T16" fmla="*/ 359 w 476"/>
                  <a:gd name="T17" fmla="*/ 55 h 262"/>
                  <a:gd name="T18" fmla="*/ 397 w 476"/>
                  <a:gd name="T19" fmla="*/ 83 h 262"/>
                  <a:gd name="T20" fmla="*/ 447 w 476"/>
                  <a:gd name="T21" fmla="*/ 118 h 262"/>
                  <a:gd name="T22" fmla="*/ 476 w 476"/>
                  <a:gd name="T23" fmla="*/ 143 h 262"/>
                  <a:gd name="T24" fmla="*/ 449 w 476"/>
                  <a:gd name="T25" fmla="*/ 167 h 262"/>
                  <a:gd name="T26" fmla="*/ 421 w 476"/>
                  <a:gd name="T27" fmla="*/ 193 h 262"/>
                  <a:gd name="T28" fmla="*/ 377 w 476"/>
                  <a:gd name="T29" fmla="*/ 211 h 262"/>
                  <a:gd name="T30" fmla="*/ 332 w 476"/>
                  <a:gd name="T31" fmla="*/ 232 h 262"/>
                  <a:gd name="T32" fmla="*/ 290 w 476"/>
                  <a:gd name="T33" fmla="*/ 249 h 262"/>
                  <a:gd name="T34" fmla="*/ 251 w 476"/>
                  <a:gd name="T35" fmla="*/ 254 h 262"/>
                  <a:gd name="T36" fmla="*/ 212 w 476"/>
                  <a:gd name="T37" fmla="*/ 262 h 262"/>
                  <a:gd name="T38" fmla="*/ 162 w 476"/>
                  <a:gd name="T39" fmla="*/ 227 h 262"/>
                  <a:gd name="T40" fmla="*/ 123 w 476"/>
                  <a:gd name="T41" fmla="*/ 195 h 262"/>
                  <a:gd name="T42" fmla="*/ 79 w 476"/>
                  <a:gd name="T43" fmla="*/ 157 h 262"/>
                  <a:gd name="T44" fmla="*/ 44 w 476"/>
                  <a:gd name="T45" fmla="*/ 118 h 262"/>
                  <a:gd name="T46" fmla="*/ 16 w 476"/>
                  <a:gd name="T47" fmla="*/ 90 h 262"/>
                  <a:gd name="T48" fmla="*/ 0 w 476"/>
                  <a:gd name="T49" fmla="*/ 52 h 262"/>
                  <a:gd name="T50" fmla="*/ 14 w 476"/>
                  <a:gd name="T51" fmla="*/ 29 h 26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476" h="262">
                    <a:moveTo>
                      <a:pt x="14" y="29"/>
                    </a:moveTo>
                    <a:lnTo>
                      <a:pt x="70" y="33"/>
                    </a:lnTo>
                    <a:lnTo>
                      <a:pt x="131" y="34"/>
                    </a:lnTo>
                    <a:lnTo>
                      <a:pt x="169" y="34"/>
                    </a:lnTo>
                    <a:lnTo>
                      <a:pt x="200" y="27"/>
                    </a:lnTo>
                    <a:lnTo>
                      <a:pt x="249" y="12"/>
                    </a:lnTo>
                    <a:lnTo>
                      <a:pt x="273" y="0"/>
                    </a:lnTo>
                    <a:lnTo>
                      <a:pt x="306" y="18"/>
                    </a:lnTo>
                    <a:lnTo>
                      <a:pt x="359" y="55"/>
                    </a:lnTo>
                    <a:lnTo>
                      <a:pt x="397" y="83"/>
                    </a:lnTo>
                    <a:lnTo>
                      <a:pt x="447" y="118"/>
                    </a:lnTo>
                    <a:lnTo>
                      <a:pt x="476" y="143"/>
                    </a:lnTo>
                    <a:lnTo>
                      <a:pt x="449" y="167"/>
                    </a:lnTo>
                    <a:lnTo>
                      <a:pt x="421" y="193"/>
                    </a:lnTo>
                    <a:lnTo>
                      <a:pt x="377" y="211"/>
                    </a:lnTo>
                    <a:lnTo>
                      <a:pt x="332" y="232"/>
                    </a:lnTo>
                    <a:lnTo>
                      <a:pt x="290" y="249"/>
                    </a:lnTo>
                    <a:lnTo>
                      <a:pt x="251" y="254"/>
                    </a:lnTo>
                    <a:lnTo>
                      <a:pt x="212" y="262"/>
                    </a:lnTo>
                    <a:lnTo>
                      <a:pt x="162" y="227"/>
                    </a:lnTo>
                    <a:lnTo>
                      <a:pt x="123" y="195"/>
                    </a:lnTo>
                    <a:lnTo>
                      <a:pt x="79" y="157"/>
                    </a:lnTo>
                    <a:lnTo>
                      <a:pt x="44" y="118"/>
                    </a:lnTo>
                    <a:lnTo>
                      <a:pt x="16" y="90"/>
                    </a:lnTo>
                    <a:lnTo>
                      <a:pt x="0" y="52"/>
                    </a:lnTo>
                    <a:lnTo>
                      <a:pt x="14" y="29"/>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1" name="Freeform 162"/>
              <p:cNvSpPr>
                <a:spLocks/>
              </p:cNvSpPr>
              <p:nvPr/>
            </p:nvSpPr>
            <p:spPr bwMode="auto">
              <a:xfrm>
                <a:off x="3031" y="173"/>
                <a:ext cx="514" cy="304"/>
              </a:xfrm>
              <a:custGeom>
                <a:avLst/>
                <a:gdLst>
                  <a:gd name="T0" fmla="*/ 251 w 514"/>
                  <a:gd name="T1" fmla="*/ 259 h 304"/>
                  <a:gd name="T2" fmla="*/ 333 w 514"/>
                  <a:gd name="T3" fmla="*/ 237 h 304"/>
                  <a:gd name="T4" fmla="*/ 398 w 514"/>
                  <a:gd name="T5" fmla="*/ 207 h 304"/>
                  <a:gd name="T6" fmla="*/ 446 w 514"/>
                  <a:gd name="T7" fmla="*/ 175 h 304"/>
                  <a:gd name="T8" fmla="*/ 464 w 514"/>
                  <a:gd name="T9" fmla="*/ 154 h 304"/>
                  <a:gd name="T10" fmla="*/ 397 w 514"/>
                  <a:gd name="T11" fmla="*/ 91 h 304"/>
                  <a:gd name="T12" fmla="*/ 342 w 514"/>
                  <a:gd name="T13" fmla="*/ 59 h 304"/>
                  <a:gd name="T14" fmla="*/ 290 w 514"/>
                  <a:gd name="T15" fmla="*/ 26 h 304"/>
                  <a:gd name="T16" fmla="*/ 278 w 514"/>
                  <a:gd name="T17" fmla="*/ 26 h 304"/>
                  <a:gd name="T18" fmla="*/ 246 w 514"/>
                  <a:gd name="T19" fmla="*/ 36 h 304"/>
                  <a:gd name="T20" fmla="*/ 202 w 514"/>
                  <a:gd name="T21" fmla="*/ 49 h 304"/>
                  <a:gd name="T22" fmla="*/ 124 w 514"/>
                  <a:gd name="T23" fmla="*/ 54 h 304"/>
                  <a:gd name="T24" fmla="*/ 47 w 514"/>
                  <a:gd name="T25" fmla="*/ 53 h 304"/>
                  <a:gd name="T26" fmla="*/ 26 w 514"/>
                  <a:gd name="T27" fmla="*/ 54 h 304"/>
                  <a:gd name="T28" fmla="*/ 26 w 514"/>
                  <a:gd name="T29" fmla="*/ 70 h 304"/>
                  <a:gd name="T30" fmla="*/ 44 w 514"/>
                  <a:gd name="T31" fmla="*/ 91 h 304"/>
                  <a:gd name="T32" fmla="*/ 74 w 514"/>
                  <a:gd name="T33" fmla="*/ 132 h 304"/>
                  <a:gd name="T34" fmla="*/ 115 w 514"/>
                  <a:gd name="T35" fmla="*/ 165 h 304"/>
                  <a:gd name="T36" fmla="*/ 164 w 514"/>
                  <a:gd name="T37" fmla="*/ 214 h 304"/>
                  <a:gd name="T38" fmla="*/ 211 w 514"/>
                  <a:gd name="T39" fmla="*/ 249 h 304"/>
                  <a:gd name="T40" fmla="*/ 240 w 514"/>
                  <a:gd name="T41" fmla="*/ 268 h 304"/>
                  <a:gd name="T42" fmla="*/ 249 w 514"/>
                  <a:gd name="T43" fmla="*/ 291 h 304"/>
                  <a:gd name="T44" fmla="*/ 239 w 514"/>
                  <a:gd name="T45" fmla="*/ 304 h 304"/>
                  <a:gd name="T46" fmla="*/ 221 w 514"/>
                  <a:gd name="T47" fmla="*/ 296 h 304"/>
                  <a:gd name="T48" fmla="*/ 175 w 514"/>
                  <a:gd name="T49" fmla="*/ 252 h 304"/>
                  <a:gd name="T50" fmla="*/ 115 w 514"/>
                  <a:gd name="T51" fmla="*/ 202 h 304"/>
                  <a:gd name="T52" fmla="*/ 70 w 514"/>
                  <a:gd name="T53" fmla="*/ 165 h 304"/>
                  <a:gd name="T54" fmla="*/ 42 w 514"/>
                  <a:gd name="T55" fmla="*/ 132 h 304"/>
                  <a:gd name="T56" fmla="*/ 16 w 514"/>
                  <a:gd name="T57" fmla="*/ 98 h 304"/>
                  <a:gd name="T58" fmla="*/ 5 w 514"/>
                  <a:gd name="T59" fmla="*/ 75 h 304"/>
                  <a:gd name="T60" fmla="*/ 0 w 514"/>
                  <a:gd name="T61" fmla="*/ 49 h 304"/>
                  <a:gd name="T62" fmla="*/ 7 w 514"/>
                  <a:gd name="T63" fmla="*/ 33 h 304"/>
                  <a:gd name="T64" fmla="*/ 25 w 514"/>
                  <a:gd name="T65" fmla="*/ 26 h 304"/>
                  <a:gd name="T66" fmla="*/ 58 w 514"/>
                  <a:gd name="T67" fmla="*/ 27 h 304"/>
                  <a:gd name="T68" fmla="*/ 120 w 514"/>
                  <a:gd name="T69" fmla="*/ 36 h 304"/>
                  <a:gd name="T70" fmla="*/ 173 w 514"/>
                  <a:gd name="T71" fmla="*/ 36 h 304"/>
                  <a:gd name="T72" fmla="*/ 211 w 514"/>
                  <a:gd name="T73" fmla="*/ 26 h 304"/>
                  <a:gd name="T74" fmla="*/ 255 w 514"/>
                  <a:gd name="T75" fmla="*/ 16 h 304"/>
                  <a:gd name="T76" fmla="*/ 273 w 514"/>
                  <a:gd name="T77" fmla="*/ 0 h 304"/>
                  <a:gd name="T78" fmla="*/ 293 w 514"/>
                  <a:gd name="T79" fmla="*/ 0 h 304"/>
                  <a:gd name="T80" fmla="*/ 338 w 514"/>
                  <a:gd name="T81" fmla="*/ 27 h 304"/>
                  <a:gd name="T82" fmla="*/ 388 w 514"/>
                  <a:gd name="T83" fmla="*/ 66 h 304"/>
                  <a:gd name="T84" fmla="*/ 441 w 514"/>
                  <a:gd name="T85" fmla="*/ 99 h 304"/>
                  <a:gd name="T86" fmla="*/ 469 w 514"/>
                  <a:gd name="T87" fmla="*/ 121 h 304"/>
                  <a:gd name="T88" fmla="*/ 501 w 514"/>
                  <a:gd name="T89" fmla="*/ 142 h 304"/>
                  <a:gd name="T90" fmla="*/ 514 w 514"/>
                  <a:gd name="T91" fmla="*/ 149 h 304"/>
                  <a:gd name="T92" fmla="*/ 506 w 514"/>
                  <a:gd name="T93" fmla="*/ 163 h 304"/>
                  <a:gd name="T94" fmla="*/ 485 w 514"/>
                  <a:gd name="T95" fmla="*/ 177 h 304"/>
                  <a:gd name="T96" fmla="*/ 459 w 514"/>
                  <a:gd name="T97" fmla="*/ 198 h 304"/>
                  <a:gd name="T98" fmla="*/ 435 w 514"/>
                  <a:gd name="T99" fmla="*/ 207 h 304"/>
                  <a:gd name="T100" fmla="*/ 391 w 514"/>
                  <a:gd name="T101" fmla="*/ 226 h 304"/>
                  <a:gd name="T102" fmla="*/ 361 w 514"/>
                  <a:gd name="T103" fmla="*/ 241 h 304"/>
                  <a:gd name="T104" fmla="*/ 326 w 514"/>
                  <a:gd name="T105" fmla="*/ 263 h 304"/>
                  <a:gd name="T106" fmla="*/ 290 w 514"/>
                  <a:gd name="T107" fmla="*/ 268 h 304"/>
                  <a:gd name="T108" fmla="*/ 260 w 514"/>
                  <a:gd name="T109" fmla="*/ 270 h 304"/>
                  <a:gd name="T110" fmla="*/ 251 w 514"/>
                  <a:gd name="T111" fmla="*/ 259 h 30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14" h="304">
                    <a:moveTo>
                      <a:pt x="251" y="259"/>
                    </a:moveTo>
                    <a:lnTo>
                      <a:pt x="333" y="237"/>
                    </a:lnTo>
                    <a:lnTo>
                      <a:pt x="398" y="207"/>
                    </a:lnTo>
                    <a:lnTo>
                      <a:pt x="446" y="175"/>
                    </a:lnTo>
                    <a:lnTo>
                      <a:pt x="464" y="154"/>
                    </a:lnTo>
                    <a:lnTo>
                      <a:pt x="397" y="91"/>
                    </a:lnTo>
                    <a:lnTo>
                      <a:pt x="342" y="59"/>
                    </a:lnTo>
                    <a:lnTo>
                      <a:pt x="290" y="26"/>
                    </a:lnTo>
                    <a:lnTo>
                      <a:pt x="278" y="26"/>
                    </a:lnTo>
                    <a:lnTo>
                      <a:pt x="246" y="36"/>
                    </a:lnTo>
                    <a:lnTo>
                      <a:pt x="202" y="49"/>
                    </a:lnTo>
                    <a:lnTo>
                      <a:pt x="124" y="54"/>
                    </a:lnTo>
                    <a:lnTo>
                      <a:pt x="47" y="53"/>
                    </a:lnTo>
                    <a:lnTo>
                      <a:pt x="26" y="54"/>
                    </a:lnTo>
                    <a:lnTo>
                      <a:pt x="26" y="70"/>
                    </a:lnTo>
                    <a:lnTo>
                      <a:pt x="44" y="91"/>
                    </a:lnTo>
                    <a:lnTo>
                      <a:pt x="74" y="132"/>
                    </a:lnTo>
                    <a:lnTo>
                      <a:pt x="115" y="165"/>
                    </a:lnTo>
                    <a:lnTo>
                      <a:pt x="164" y="214"/>
                    </a:lnTo>
                    <a:lnTo>
                      <a:pt x="211" y="249"/>
                    </a:lnTo>
                    <a:lnTo>
                      <a:pt x="240" y="268"/>
                    </a:lnTo>
                    <a:lnTo>
                      <a:pt x="249" y="291"/>
                    </a:lnTo>
                    <a:lnTo>
                      <a:pt x="239" y="304"/>
                    </a:lnTo>
                    <a:lnTo>
                      <a:pt x="221" y="296"/>
                    </a:lnTo>
                    <a:lnTo>
                      <a:pt x="175" y="252"/>
                    </a:lnTo>
                    <a:lnTo>
                      <a:pt x="115" y="202"/>
                    </a:lnTo>
                    <a:lnTo>
                      <a:pt x="70" y="165"/>
                    </a:lnTo>
                    <a:lnTo>
                      <a:pt x="42" y="132"/>
                    </a:lnTo>
                    <a:lnTo>
                      <a:pt x="16" y="98"/>
                    </a:lnTo>
                    <a:lnTo>
                      <a:pt x="5" y="75"/>
                    </a:lnTo>
                    <a:lnTo>
                      <a:pt x="0" y="49"/>
                    </a:lnTo>
                    <a:lnTo>
                      <a:pt x="7" y="33"/>
                    </a:lnTo>
                    <a:lnTo>
                      <a:pt x="25" y="26"/>
                    </a:lnTo>
                    <a:lnTo>
                      <a:pt x="58" y="27"/>
                    </a:lnTo>
                    <a:lnTo>
                      <a:pt x="120" y="36"/>
                    </a:lnTo>
                    <a:lnTo>
                      <a:pt x="173" y="36"/>
                    </a:lnTo>
                    <a:lnTo>
                      <a:pt x="211" y="26"/>
                    </a:lnTo>
                    <a:lnTo>
                      <a:pt x="255" y="16"/>
                    </a:lnTo>
                    <a:lnTo>
                      <a:pt x="273" y="0"/>
                    </a:lnTo>
                    <a:lnTo>
                      <a:pt x="293" y="0"/>
                    </a:lnTo>
                    <a:lnTo>
                      <a:pt x="338" y="27"/>
                    </a:lnTo>
                    <a:lnTo>
                      <a:pt x="388" y="66"/>
                    </a:lnTo>
                    <a:lnTo>
                      <a:pt x="441" y="99"/>
                    </a:lnTo>
                    <a:lnTo>
                      <a:pt x="469" y="121"/>
                    </a:lnTo>
                    <a:lnTo>
                      <a:pt x="501" y="142"/>
                    </a:lnTo>
                    <a:lnTo>
                      <a:pt x="514" y="149"/>
                    </a:lnTo>
                    <a:lnTo>
                      <a:pt x="506" y="163"/>
                    </a:lnTo>
                    <a:lnTo>
                      <a:pt x="485" y="177"/>
                    </a:lnTo>
                    <a:lnTo>
                      <a:pt x="459" y="198"/>
                    </a:lnTo>
                    <a:lnTo>
                      <a:pt x="435" y="207"/>
                    </a:lnTo>
                    <a:lnTo>
                      <a:pt x="391" y="226"/>
                    </a:lnTo>
                    <a:lnTo>
                      <a:pt x="361" y="241"/>
                    </a:lnTo>
                    <a:lnTo>
                      <a:pt x="326" y="263"/>
                    </a:lnTo>
                    <a:lnTo>
                      <a:pt x="290" y="268"/>
                    </a:lnTo>
                    <a:lnTo>
                      <a:pt x="260" y="270"/>
                    </a:lnTo>
                    <a:lnTo>
                      <a:pt x="251" y="2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2" name="Freeform 163"/>
              <p:cNvSpPr>
                <a:spLocks/>
              </p:cNvSpPr>
              <p:nvPr/>
            </p:nvSpPr>
            <p:spPr bwMode="auto">
              <a:xfrm>
                <a:off x="3316" y="397"/>
                <a:ext cx="168" cy="110"/>
              </a:xfrm>
              <a:custGeom>
                <a:avLst/>
                <a:gdLst>
                  <a:gd name="T0" fmla="*/ 141 w 168"/>
                  <a:gd name="T1" fmla="*/ 13 h 110"/>
                  <a:gd name="T2" fmla="*/ 105 w 168"/>
                  <a:gd name="T3" fmla="*/ 42 h 110"/>
                  <a:gd name="T4" fmla="*/ 74 w 168"/>
                  <a:gd name="T5" fmla="*/ 69 h 110"/>
                  <a:gd name="T6" fmla="*/ 26 w 168"/>
                  <a:gd name="T7" fmla="*/ 86 h 110"/>
                  <a:gd name="T8" fmla="*/ 0 w 168"/>
                  <a:gd name="T9" fmla="*/ 94 h 110"/>
                  <a:gd name="T10" fmla="*/ 20 w 168"/>
                  <a:gd name="T11" fmla="*/ 110 h 110"/>
                  <a:gd name="T12" fmla="*/ 55 w 168"/>
                  <a:gd name="T13" fmla="*/ 104 h 110"/>
                  <a:gd name="T14" fmla="*/ 107 w 168"/>
                  <a:gd name="T15" fmla="*/ 69 h 110"/>
                  <a:gd name="T16" fmla="*/ 168 w 168"/>
                  <a:gd name="T17" fmla="*/ 0 h 110"/>
                  <a:gd name="T18" fmla="*/ 141 w 168"/>
                  <a:gd name="T19" fmla="*/ 13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8" h="110">
                    <a:moveTo>
                      <a:pt x="141" y="13"/>
                    </a:moveTo>
                    <a:lnTo>
                      <a:pt x="105" y="42"/>
                    </a:lnTo>
                    <a:lnTo>
                      <a:pt x="74" y="69"/>
                    </a:lnTo>
                    <a:lnTo>
                      <a:pt x="26" y="86"/>
                    </a:lnTo>
                    <a:lnTo>
                      <a:pt x="0" y="94"/>
                    </a:lnTo>
                    <a:lnTo>
                      <a:pt x="20" y="110"/>
                    </a:lnTo>
                    <a:lnTo>
                      <a:pt x="55" y="104"/>
                    </a:lnTo>
                    <a:lnTo>
                      <a:pt x="107" y="69"/>
                    </a:lnTo>
                    <a:lnTo>
                      <a:pt x="168" y="0"/>
                    </a:lnTo>
                    <a:lnTo>
                      <a:pt x="141"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156" name="Freeform 164"/>
            <p:cNvSpPr>
              <a:spLocks/>
            </p:cNvSpPr>
            <p:nvPr/>
          </p:nvSpPr>
          <p:spPr bwMode="auto">
            <a:xfrm>
              <a:off x="4372" y="2331"/>
              <a:ext cx="406" cy="694"/>
            </a:xfrm>
            <a:custGeom>
              <a:avLst/>
              <a:gdLst>
                <a:gd name="T0" fmla="*/ 403 w 1002"/>
                <a:gd name="T1" fmla="*/ 114 h 1709"/>
                <a:gd name="T2" fmla="*/ 341 w 1002"/>
                <a:gd name="T3" fmla="*/ 46 h 1709"/>
                <a:gd name="T4" fmla="*/ 287 w 1002"/>
                <a:gd name="T5" fmla="*/ 3 h 1709"/>
                <a:gd name="T6" fmla="*/ 219 w 1002"/>
                <a:gd name="T7" fmla="*/ 2 h 1709"/>
                <a:gd name="T8" fmla="*/ 195 w 1002"/>
                <a:gd name="T9" fmla="*/ 11 h 1709"/>
                <a:gd name="T10" fmla="*/ 167 w 1002"/>
                <a:gd name="T11" fmla="*/ 37 h 1709"/>
                <a:gd name="T12" fmla="*/ 158 w 1002"/>
                <a:gd name="T13" fmla="*/ 57 h 1709"/>
                <a:gd name="T14" fmla="*/ 139 w 1002"/>
                <a:gd name="T15" fmla="*/ 78 h 1709"/>
                <a:gd name="T16" fmla="*/ 118 w 1002"/>
                <a:gd name="T17" fmla="*/ 84 h 1709"/>
                <a:gd name="T18" fmla="*/ 122 w 1002"/>
                <a:gd name="T19" fmla="*/ 115 h 1709"/>
                <a:gd name="T20" fmla="*/ 100 w 1002"/>
                <a:gd name="T21" fmla="*/ 123 h 1709"/>
                <a:gd name="T22" fmla="*/ 94 w 1002"/>
                <a:gd name="T23" fmla="*/ 142 h 1709"/>
                <a:gd name="T24" fmla="*/ 64 w 1002"/>
                <a:gd name="T25" fmla="*/ 150 h 1709"/>
                <a:gd name="T26" fmla="*/ 54 w 1002"/>
                <a:gd name="T27" fmla="*/ 184 h 1709"/>
                <a:gd name="T28" fmla="*/ 52 w 1002"/>
                <a:gd name="T29" fmla="*/ 209 h 1709"/>
                <a:gd name="T30" fmla="*/ 46 w 1002"/>
                <a:gd name="T31" fmla="*/ 239 h 1709"/>
                <a:gd name="T32" fmla="*/ 33 w 1002"/>
                <a:gd name="T33" fmla="*/ 256 h 1709"/>
                <a:gd name="T34" fmla="*/ 38 w 1002"/>
                <a:gd name="T35" fmla="*/ 281 h 1709"/>
                <a:gd name="T36" fmla="*/ 26 w 1002"/>
                <a:gd name="T37" fmla="*/ 307 h 1709"/>
                <a:gd name="T38" fmla="*/ 24 w 1002"/>
                <a:gd name="T39" fmla="*/ 338 h 1709"/>
                <a:gd name="T40" fmla="*/ 33 w 1002"/>
                <a:gd name="T41" fmla="*/ 365 h 1709"/>
                <a:gd name="T42" fmla="*/ 27 w 1002"/>
                <a:gd name="T43" fmla="*/ 402 h 1709"/>
                <a:gd name="T44" fmla="*/ 27 w 1002"/>
                <a:gd name="T45" fmla="*/ 435 h 1709"/>
                <a:gd name="T46" fmla="*/ 22 w 1002"/>
                <a:gd name="T47" fmla="*/ 471 h 1709"/>
                <a:gd name="T48" fmla="*/ 14 w 1002"/>
                <a:gd name="T49" fmla="*/ 512 h 1709"/>
                <a:gd name="T50" fmla="*/ 8 w 1002"/>
                <a:gd name="T51" fmla="*/ 544 h 1709"/>
                <a:gd name="T52" fmla="*/ 11 w 1002"/>
                <a:gd name="T53" fmla="*/ 575 h 1709"/>
                <a:gd name="T54" fmla="*/ 2 w 1002"/>
                <a:gd name="T55" fmla="*/ 604 h 1709"/>
                <a:gd name="T56" fmla="*/ 84 w 1002"/>
                <a:gd name="T57" fmla="*/ 661 h 1709"/>
                <a:gd name="T58" fmla="*/ 139 w 1002"/>
                <a:gd name="T59" fmla="*/ 694 h 1709"/>
                <a:gd name="T60" fmla="*/ 201 w 1002"/>
                <a:gd name="T61" fmla="*/ 645 h 1709"/>
                <a:gd name="T62" fmla="*/ 259 w 1002"/>
                <a:gd name="T63" fmla="*/ 613 h 1709"/>
                <a:gd name="T64" fmla="*/ 252 w 1002"/>
                <a:gd name="T65" fmla="*/ 582 h 1709"/>
                <a:gd name="T66" fmla="*/ 257 w 1002"/>
                <a:gd name="T67" fmla="*/ 544 h 1709"/>
                <a:gd name="T68" fmla="*/ 254 w 1002"/>
                <a:gd name="T69" fmla="*/ 512 h 1709"/>
                <a:gd name="T70" fmla="*/ 243 w 1002"/>
                <a:gd name="T71" fmla="*/ 490 h 1709"/>
                <a:gd name="T72" fmla="*/ 246 w 1002"/>
                <a:gd name="T73" fmla="*/ 452 h 1709"/>
                <a:gd name="T74" fmla="*/ 250 w 1002"/>
                <a:gd name="T75" fmla="*/ 416 h 1709"/>
                <a:gd name="T76" fmla="*/ 249 w 1002"/>
                <a:gd name="T77" fmla="*/ 391 h 1709"/>
                <a:gd name="T78" fmla="*/ 252 w 1002"/>
                <a:gd name="T79" fmla="*/ 354 h 1709"/>
                <a:gd name="T80" fmla="*/ 262 w 1002"/>
                <a:gd name="T81" fmla="*/ 322 h 1709"/>
                <a:gd name="T82" fmla="*/ 286 w 1002"/>
                <a:gd name="T83" fmla="*/ 313 h 1709"/>
                <a:gd name="T84" fmla="*/ 288 w 1002"/>
                <a:gd name="T85" fmla="*/ 291 h 1709"/>
                <a:gd name="T86" fmla="*/ 303 w 1002"/>
                <a:gd name="T87" fmla="*/ 266 h 1709"/>
                <a:gd name="T88" fmla="*/ 314 w 1002"/>
                <a:gd name="T89" fmla="*/ 239 h 1709"/>
                <a:gd name="T90" fmla="*/ 330 w 1002"/>
                <a:gd name="T91" fmla="*/ 229 h 1709"/>
                <a:gd name="T92" fmla="*/ 344 w 1002"/>
                <a:gd name="T93" fmla="*/ 193 h 1709"/>
                <a:gd name="T94" fmla="*/ 374 w 1002"/>
                <a:gd name="T95" fmla="*/ 163 h 1709"/>
                <a:gd name="T96" fmla="*/ 389 w 1002"/>
                <a:gd name="T97" fmla="*/ 144 h 170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002" h="1709">
                  <a:moveTo>
                    <a:pt x="1002" y="308"/>
                  </a:moveTo>
                  <a:lnTo>
                    <a:pt x="994" y="280"/>
                  </a:lnTo>
                  <a:lnTo>
                    <a:pt x="900" y="183"/>
                  </a:lnTo>
                  <a:lnTo>
                    <a:pt x="842" y="113"/>
                  </a:lnTo>
                  <a:lnTo>
                    <a:pt x="787" y="19"/>
                  </a:lnTo>
                  <a:lnTo>
                    <a:pt x="708" y="8"/>
                  </a:lnTo>
                  <a:lnTo>
                    <a:pt x="603" y="0"/>
                  </a:lnTo>
                  <a:lnTo>
                    <a:pt x="540" y="4"/>
                  </a:lnTo>
                  <a:lnTo>
                    <a:pt x="517" y="23"/>
                  </a:lnTo>
                  <a:lnTo>
                    <a:pt x="481" y="27"/>
                  </a:lnTo>
                  <a:lnTo>
                    <a:pt x="458" y="82"/>
                  </a:lnTo>
                  <a:lnTo>
                    <a:pt x="411" y="90"/>
                  </a:lnTo>
                  <a:lnTo>
                    <a:pt x="391" y="117"/>
                  </a:lnTo>
                  <a:lnTo>
                    <a:pt x="391" y="140"/>
                  </a:lnTo>
                  <a:lnTo>
                    <a:pt x="352" y="152"/>
                  </a:lnTo>
                  <a:lnTo>
                    <a:pt x="344" y="191"/>
                  </a:lnTo>
                  <a:lnTo>
                    <a:pt x="305" y="191"/>
                  </a:lnTo>
                  <a:lnTo>
                    <a:pt x="290" y="206"/>
                  </a:lnTo>
                  <a:lnTo>
                    <a:pt x="282" y="234"/>
                  </a:lnTo>
                  <a:lnTo>
                    <a:pt x="301" y="284"/>
                  </a:lnTo>
                  <a:lnTo>
                    <a:pt x="270" y="284"/>
                  </a:lnTo>
                  <a:lnTo>
                    <a:pt x="247" y="304"/>
                  </a:lnTo>
                  <a:lnTo>
                    <a:pt x="247" y="339"/>
                  </a:lnTo>
                  <a:lnTo>
                    <a:pt x="231" y="350"/>
                  </a:lnTo>
                  <a:lnTo>
                    <a:pt x="160" y="354"/>
                  </a:lnTo>
                  <a:lnTo>
                    <a:pt x="157" y="370"/>
                  </a:lnTo>
                  <a:lnTo>
                    <a:pt x="164" y="432"/>
                  </a:lnTo>
                  <a:lnTo>
                    <a:pt x="133" y="452"/>
                  </a:lnTo>
                  <a:lnTo>
                    <a:pt x="129" y="471"/>
                  </a:lnTo>
                  <a:lnTo>
                    <a:pt x="129" y="514"/>
                  </a:lnTo>
                  <a:lnTo>
                    <a:pt x="110" y="537"/>
                  </a:lnTo>
                  <a:lnTo>
                    <a:pt x="114" y="588"/>
                  </a:lnTo>
                  <a:lnTo>
                    <a:pt x="90" y="611"/>
                  </a:lnTo>
                  <a:lnTo>
                    <a:pt x="82" y="631"/>
                  </a:lnTo>
                  <a:lnTo>
                    <a:pt x="82" y="658"/>
                  </a:lnTo>
                  <a:lnTo>
                    <a:pt x="94" y="693"/>
                  </a:lnTo>
                  <a:lnTo>
                    <a:pt x="63" y="740"/>
                  </a:lnTo>
                  <a:lnTo>
                    <a:pt x="63" y="755"/>
                  </a:lnTo>
                  <a:lnTo>
                    <a:pt x="94" y="802"/>
                  </a:lnTo>
                  <a:lnTo>
                    <a:pt x="59" y="833"/>
                  </a:lnTo>
                  <a:lnTo>
                    <a:pt x="47" y="860"/>
                  </a:lnTo>
                  <a:lnTo>
                    <a:pt x="82" y="899"/>
                  </a:lnTo>
                  <a:lnTo>
                    <a:pt x="51" y="934"/>
                  </a:lnTo>
                  <a:lnTo>
                    <a:pt x="67" y="989"/>
                  </a:lnTo>
                  <a:lnTo>
                    <a:pt x="31" y="1028"/>
                  </a:lnTo>
                  <a:lnTo>
                    <a:pt x="67" y="1071"/>
                  </a:lnTo>
                  <a:lnTo>
                    <a:pt x="35" y="1113"/>
                  </a:lnTo>
                  <a:lnTo>
                    <a:pt x="55" y="1160"/>
                  </a:lnTo>
                  <a:lnTo>
                    <a:pt x="35" y="1195"/>
                  </a:lnTo>
                  <a:lnTo>
                    <a:pt x="35" y="1261"/>
                  </a:lnTo>
                  <a:lnTo>
                    <a:pt x="20" y="1281"/>
                  </a:lnTo>
                  <a:lnTo>
                    <a:pt x="20" y="1339"/>
                  </a:lnTo>
                  <a:lnTo>
                    <a:pt x="16" y="1370"/>
                  </a:lnTo>
                  <a:lnTo>
                    <a:pt x="27" y="1417"/>
                  </a:lnTo>
                  <a:lnTo>
                    <a:pt x="0" y="1440"/>
                  </a:lnTo>
                  <a:lnTo>
                    <a:pt x="4" y="1487"/>
                  </a:lnTo>
                  <a:lnTo>
                    <a:pt x="110" y="1557"/>
                  </a:lnTo>
                  <a:lnTo>
                    <a:pt x="207" y="1627"/>
                  </a:lnTo>
                  <a:lnTo>
                    <a:pt x="282" y="1678"/>
                  </a:lnTo>
                  <a:lnTo>
                    <a:pt x="344" y="1709"/>
                  </a:lnTo>
                  <a:lnTo>
                    <a:pt x="434" y="1635"/>
                  </a:lnTo>
                  <a:lnTo>
                    <a:pt x="497" y="1588"/>
                  </a:lnTo>
                  <a:lnTo>
                    <a:pt x="583" y="1549"/>
                  </a:lnTo>
                  <a:lnTo>
                    <a:pt x="638" y="1510"/>
                  </a:lnTo>
                  <a:lnTo>
                    <a:pt x="622" y="1472"/>
                  </a:lnTo>
                  <a:lnTo>
                    <a:pt x="622" y="1433"/>
                  </a:lnTo>
                  <a:lnTo>
                    <a:pt x="599" y="1401"/>
                  </a:lnTo>
                  <a:lnTo>
                    <a:pt x="634" y="1339"/>
                  </a:lnTo>
                  <a:lnTo>
                    <a:pt x="603" y="1312"/>
                  </a:lnTo>
                  <a:lnTo>
                    <a:pt x="626" y="1261"/>
                  </a:lnTo>
                  <a:lnTo>
                    <a:pt x="622" y="1242"/>
                  </a:lnTo>
                  <a:lnTo>
                    <a:pt x="599" y="1207"/>
                  </a:lnTo>
                  <a:lnTo>
                    <a:pt x="615" y="1156"/>
                  </a:lnTo>
                  <a:lnTo>
                    <a:pt x="607" y="1113"/>
                  </a:lnTo>
                  <a:lnTo>
                    <a:pt x="622" y="1047"/>
                  </a:lnTo>
                  <a:lnTo>
                    <a:pt x="618" y="1024"/>
                  </a:lnTo>
                  <a:lnTo>
                    <a:pt x="603" y="985"/>
                  </a:lnTo>
                  <a:lnTo>
                    <a:pt x="615" y="962"/>
                  </a:lnTo>
                  <a:lnTo>
                    <a:pt x="638" y="942"/>
                  </a:lnTo>
                  <a:lnTo>
                    <a:pt x="622" y="872"/>
                  </a:lnTo>
                  <a:lnTo>
                    <a:pt x="677" y="856"/>
                  </a:lnTo>
                  <a:lnTo>
                    <a:pt x="646" y="794"/>
                  </a:lnTo>
                  <a:lnTo>
                    <a:pt x="654" y="782"/>
                  </a:lnTo>
                  <a:lnTo>
                    <a:pt x="705" y="771"/>
                  </a:lnTo>
                  <a:lnTo>
                    <a:pt x="720" y="751"/>
                  </a:lnTo>
                  <a:lnTo>
                    <a:pt x="712" y="716"/>
                  </a:lnTo>
                  <a:lnTo>
                    <a:pt x="724" y="670"/>
                  </a:lnTo>
                  <a:lnTo>
                    <a:pt x="748" y="654"/>
                  </a:lnTo>
                  <a:lnTo>
                    <a:pt x="767" y="642"/>
                  </a:lnTo>
                  <a:lnTo>
                    <a:pt x="775" y="588"/>
                  </a:lnTo>
                  <a:lnTo>
                    <a:pt x="795" y="568"/>
                  </a:lnTo>
                  <a:lnTo>
                    <a:pt x="814" y="564"/>
                  </a:lnTo>
                  <a:lnTo>
                    <a:pt x="826" y="506"/>
                  </a:lnTo>
                  <a:lnTo>
                    <a:pt x="849" y="475"/>
                  </a:lnTo>
                  <a:lnTo>
                    <a:pt x="912" y="448"/>
                  </a:lnTo>
                  <a:lnTo>
                    <a:pt x="924" y="401"/>
                  </a:lnTo>
                  <a:lnTo>
                    <a:pt x="935" y="370"/>
                  </a:lnTo>
                  <a:lnTo>
                    <a:pt x="959" y="354"/>
                  </a:lnTo>
                  <a:lnTo>
                    <a:pt x="1002" y="30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157" name="Group 165"/>
            <p:cNvGrpSpPr>
              <a:grpSpLocks/>
            </p:cNvGrpSpPr>
            <p:nvPr/>
          </p:nvGrpSpPr>
          <p:grpSpPr bwMode="auto">
            <a:xfrm>
              <a:off x="4836" y="2439"/>
              <a:ext cx="55" cy="73"/>
              <a:chOff x="3646" y="3121"/>
              <a:chExt cx="136" cy="181"/>
            </a:xfrm>
          </p:grpSpPr>
          <p:sp>
            <p:nvSpPr>
              <p:cNvPr id="6174" name="Freeform 166"/>
              <p:cNvSpPr>
                <a:spLocks/>
              </p:cNvSpPr>
              <p:nvPr/>
            </p:nvSpPr>
            <p:spPr bwMode="auto">
              <a:xfrm>
                <a:off x="3646" y="3136"/>
                <a:ext cx="58" cy="166"/>
              </a:xfrm>
              <a:custGeom>
                <a:avLst/>
                <a:gdLst>
                  <a:gd name="T0" fmla="*/ 31 w 58"/>
                  <a:gd name="T1" fmla="*/ 158 h 166"/>
                  <a:gd name="T2" fmla="*/ 36 w 58"/>
                  <a:gd name="T3" fmla="*/ 112 h 166"/>
                  <a:gd name="T4" fmla="*/ 33 w 58"/>
                  <a:gd name="T5" fmla="*/ 76 h 166"/>
                  <a:gd name="T6" fmla="*/ 22 w 58"/>
                  <a:gd name="T7" fmla="*/ 48 h 166"/>
                  <a:gd name="T8" fmla="*/ 1 w 58"/>
                  <a:gd name="T9" fmla="*/ 27 h 166"/>
                  <a:gd name="T10" fmla="*/ 0 w 58"/>
                  <a:gd name="T11" fmla="*/ 11 h 166"/>
                  <a:gd name="T12" fmla="*/ 13 w 58"/>
                  <a:gd name="T13" fmla="*/ 0 h 166"/>
                  <a:gd name="T14" fmla="*/ 37 w 58"/>
                  <a:gd name="T15" fmla="*/ 7 h 166"/>
                  <a:gd name="T16" fmla="*/ 49 w 58"/>
                  <a:gd name="T17" fmla="*/ 35 h 166"/>
                  <a:gd name="T18" fmla="*/ 58 w 58"/>
                  <a:gd name="T19" fmla="*/ 72 h 166"/>
                  <a:gd name="T20" fmla="*/ 58 w 58"/>
                  <a:gd name="T21" fmla="*/ 113 h 166"/>
                  <a:gd name="T22" fmla="*/ 49 w 58"/>
                  <a:gd name="T23" fmla="*/ 148 h 166"/>
                  <a:gd name="T24" fmla="*/ 45 w 58"/>
                  <a:gd name="T25" fmla="*/ 166 h 166"/>
                  <a:gd name="T26" fmla="*/ 31 w 58"/>
                  <a:gd name="T27" fmla="*/ 158 h 1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8" h="166">
                    <a:moveTo>
                      <a:pt x="31" y="158"/>
                    </a:moveTo>
                    <a:lnTo>
                      <a:pt x="36" y="112"/>
                    </a:lnTo>
                    <a:lnTo>
                      <a:pt x="33" y="76"/>
                    </a:lnTo>
                    <a:lnTo>
                      <a:pt x="22" y="48"/>
                    </a:lnTo>
                    <a:lnTo>
                      <a:pt x="1" y="27"/>
                    </a:lnTo>
                    <a:lnTo>
                      <a:pt x="0" y="11"/>
                    </a:lnTo>
                    <a:lnTo>
                      <a:pt x="13" y="0"/>
                    </a:lnTo>
                    <a:lnTo>
                      <a:pt x="37" y="7"/>
                    </a:lnTo>
                    <a:lnTo>
                      <a:pt x="49" y="35"/>
                    </a:lnTo>
                    <a:lnTo>
                      <a:pt x="58" y="72"/>
                    </a:lnTo>
                    <a:lnTo>
                      <a:pt x="58" y="113"/>
                    </a:lnTo>
                    <a:lnTo>
                      <a:pt x="49" y="148"/>
                    </a:lnTo>
                    <a:lnTo>
                      <a:pt x="45" y="166"/>
                    </a:lnTo>
                    <a:lnTo>
                      <a:pt x="31"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5" name="Freeform 167"/>
              <p:cNvSpPr>
                <a:spLocks/>
              </p:cNvSpPr>
              <p:nvPr/>
            </p:nvSpPr>
            <p:spPr bwMode="auto">
              <a:xfrm>
                <a:off x="3735" y="3121"/>
                <a:ext cx="47" cy="154"/>
              </a:xfrm>
              <a:custGeom>
                <a:avLst/>
                <a:gdLst>
                  <a:gd name="T0" fmla="*/ 13 w 47"/>
                  <a:gd name="T1" fmla="*/ 139 h 154"/>
                  <a:gd name="T2" fmla="*/ 28 w 47"/>
                  <a:gd name="T3" fmla="*/ 94 h 154"/>
                  <a:gd name="T4" fmla="*/ 24 w 47"/>
                  <a:gd name="T5" fmla="*/ 57 h 154"/>
                  <a:gd name="T6" fmla="*/ 9 w 47"/>
                  <a:gd name="T7" fmla="*/ 29 h 154"/>
                  <a:gd name="T8" fmla="*/ 0 w 47"/>
                  <a:gd name="T9" fmla="*/ 16 h 154"/>
                  <a:gd name="T10" fmla="*/ 8 w 47"/>
                  <a:gd name="T11" fmla="*/ 0 h 154"/>
                  <a:gd name="T12" fmla="*/ 27 w 47"/>
                  <a:gd name="T13" fmla="*/ 0 h 154"/>
                  <a:gd name="T14" fmla="*/ 41 w 47"/>
                  <a:gd name="T15" fmla="*/ 23 h 154"/>
                  <a:gd name="T16" fmla="*/ 47 w 47"/>
                  <a:gd name="T17" fmla="*/ 64 h 154"/>
                  <a:gd name="T18" fmla="*/ 42 w 47"/>
                  <a:gd name="T19" fmla="*/ 101 h 154"/>
                  <a:gd name="T20" fmla="*/ 33 w 47"/>
                  <a:gd name="T21" fmla="*/ 131 h 154"/>
                  <a:gd name="T22" fmla="*/ 22 w 47"/>
                  <a:gd name="T23" fmla="*/ 154 h 154"/>
                  <a:gd name="T24" fmla="*/ 9 w 47"/>
                  <a:gd name="T25" fmla="*/ 151 h 154"/>
                  <a:gd name="T26" fmla="*/ 13 w 47"/>
                  <a:gd name="T27" fmla="*/ 139 h 1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7" h="154">
                    <a:moveTo>
                      <a:pt x="13" y="139"/>
                    </a:moveTo>
                    <a:lnTo>
                      <a:pt x="28" y="94"/>
                    </a:lnTo>
                    <a:lnTo>
                      <a:pt x="24" y="57"/>
                    </a:lnTo>
                    <a:lnTo>
                      <a:pt x="9" y="29"/>
                    </a:lnTo>
                    <a:lnTo>
                      <a:pt x="0" y="16"/>
                    </a:lnTo>
                    <a:lnTo>
                      <a:pt x="8" y="0"/>
                    </a:lnTo>
                    <a:lnTo>
                      <a:pt x="27" y="0"/>
                    </a:lnTo>
                    <a:lnTo>
                      <a:pt x="41" y="23"/>
                    </a:lnTo>
                    <a:lnTo>
                      <a:pt x="47" y="64"/>
                    </a:lnTo>
                    <a:lnTo>
                      <a:pt x="42" y="101"/>
                    </a:lnTo>
                    <a:lnTo>
                      <a:pt x="33" y="131"/>
                    </a:lnTo>
                    <a:lnTo>
                      <a:pt x="22" y="154"/>
                    </a:lnTo>
                    <a:lnTo>
                      <a:pt x="9" y="151"/>
                    </a:lnTo>
                    <a:lnTo>
                      <a:pt x="13" y="1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158" name="Group 168"/>
            <p:cNvGrpSpPr>
              <a:grpSpLocks/>
            </p:cNvGrpSpPr>
            <p:nvPr/>
          </p:nvGrpSpPr>
          <p:grpSpPr bwMode="auto">
            <a:xfrm>
              <a:off x="4330" y="2224"/>
              <a:ext cx="277" cy="307"/>
              <a:chOff x="2161" y="2255"/>
              <a:chExt cx="682" cy="756"/>
            </a:xfrm>
          </p:grpSpPr>
          <p:sp>
            <p:nvSpPr>
              <p:cNvPr id="6170" name="Freeform 169"/>
              <p:cNvSpPr>
                <a:spLocks/>
              </p:cNvSpPr>
              <p:nvPr/>
            </p:nvSpPr>
            <p:spPr bwMode="auto">
              <a:xfrm>
                <a:off x="2474" y="2353"/>
                <a:ext cx="369" cy="208"/>
              </a:xfrm>
              <a:custGeom>
                <a:avLst/>
                <a:gdLst>
                  <a:gd name="T0" fmla="*/ 0 w 369"/>
                  <a:gd name="T1" fmla="*/ 193 h 208"/>
                  <a:gd name="T2" fmla="*/ 61 w 369"/>
                  <a:gd name="T3" fmla="*/ 136 h 208"/>
                  <a:gd name="T4" fmla="*/ 119 w 369"/>
                  <a:gd name="T5" fmla="*/ 97 h 208"/>
                  <a:gd name="T6" fmla="*/ 188 w 369"/>
                  <a:gd name="T7" fmla="*/ 52 h 208"/>
                  <a:gd name="T8" fmla="*/ 267 w 369"/>
                  <a:gd name="T9" fmla="*/ 16 h 208"/>
                  <a:gd name="T10" fmla="*/ 337 w 369"/>
                  <a:gd name="T11" fmla="*/ 0 h 208"/>
                  <a:gd name="T12" fmla="*/ 358 w 369"/>
                  <a:gd name="T13" fmla="*/ 3 h 208"/>
                  <a:gd name="T14" fmla="*/ 369 w 369"/>
                  <a:gd name="T15" fmla="*/ 15 h 208"/>
                  <a:gd name="T16" fmla="*/ 358 w 369"/>
                  <a:gd name="T17" fmla="*/ 35 h 208"/>
                  <a:gd name="T18" fmla="*/ 327 w 369"/>
                  <a:gd name="T19" fmla="*/ 40 h 208"/>
                  <a:gd name="T20" fmla="*/ 242 w 369"/>
                  <a:gd name="T21" fmla="*/ 55 h 208"/>
                  <a:gd name="T22" fmla="*/ 167 w 369"/>
                  <a:gd name="T23" fmla="*/ 91 h 208"/>
                  <a:gd name="T24" fmla="*/ 99 w 369"/>
                  <a:gd name="T25" fmla="*/ 132 h 208"/>
                  <a:gd name="T26" fmla="*/ 41 w 369"/>
                  <a:gd name="T27" fmla="*/ 173 h 208"/>
                  <a:gd name="T28" fmla="*/ 8 w 369"/>
                  <a:gd name="T29" fmla="*/ 208 h 208"/>
                  <a:gd name="T30" fmla="*/ 0 w 369"/>
                  <a:gd name="T31" fmla="*/ 193 h 2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69" h="208">
                    <a:moveTo>
                      <a:pt x="0" y="193"/>
                    </a:moveTo>
                    <a:lnTo>
                      <a:pt x="61" y="136"/>
                    </a:lnTo>
                    <a:lnTo>
                      <a:pt x="119" y="97"/>
                    </a:lnTo>
                    <a:lnTo>
                      <a:pt x="188" y="52"/>
                    </a:lnTo>
                    <a:lnTo>
                      <a:pt x="267" y="16"/>
                    </a:lnTo>
                    <a:lnTo>
                      <a:pt x="337" y="0"/>
                    </a:lnTo>
                    <a:lnTo>
                      <a:pt x="358" y="3"/>
                    </a:lnTo>
                    <a:lnTo>
                      <a:pt x="369" y="15"/>
                    </a:lnTo>
                    <a:lnTo>
                      <a:pt x="358" y="35"/>
                    </a:lnTo>
                    <a:lnTo>
                      <a:pt x="327" y="40"/>
                    </a:lnTo>
                    <a:lnTo>
                      <a:pt x="242" y="55"/>
                    </a:lnTo>
                    <a:lnTo>
                      <a:pt x="167" y="91"/>
                    </a:lnTo>
                    <a:lnTo>
                      <a:pt x="99" y="132"/>
                    </a:lnTo>
                    <a:lnTo>
                      <a:pt x="41" y="173"/>
                    </a:lnTo>
                    <a:lnTo>
                      <a:pt x="8" y="208"/>
                    </a:lnTo>
                    <a:lnTo>
                      <a:pt x="0" y="1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1" name="Freeform 170"/>
              <p:cNvSpPr>
                <a:spLocks/>
              </p:cNvSpPr>
              <p:nvPr/>
            </p:nvSpPr>
            <p:spPr bwMode="auto">
              <a:xfrm>
                <a:off x="2462" y="2255"/>
                <a:ext cx="265" cy="164"/>
              </a:xfrm>
              <a:custGeom>
                <a:avLst/>
                <a:gdLst>
                  <a:gd name="T0" fmla="*/ 0 w 265"/>
                  <a:gd name="T1" fmla="*/ 164 h 164"/>
                  <a:gd name="T2" fmla="*/ 68 w 265"/>
                  <a:gd name="T3" fmla="*/ 91 h 164"/>
                  <a:gd name="T4" fmla="*/ 116 w 265"/>
                  <a:gd name="T5" fmla="*/ 53 h 164"/>
                  <a:gd name="T6" fmla="*/ 177 w 265"/>
                  <a:gd name="T7" fmla="*/ 20 h 164"/>
                  <a:gd name="T8" fmla="*/ 246 w 265"/>
                  <a:gd name="T9" fmla="*/ 0 h 164"/>
                  <a:gd name="T10" fmla="*/ 261 w 265"/>
                  <a:gd name="T11" fmla="*/ 5 h 164"/>
                  <a:gd name="T12" fmla="*/ 265 w 265"/>
                  <a:gd name="T13" fmla="*/ 18 h 164"/>
                  <a:gd name="T14" fmla="*/ 250 w 265"/>
                  <a:gd name="T15" fmla="*/ 34 h 164"/>
                  <a:gd name="T16" fmla="*/ 206 w 265"/>
                  <a:gd name="T17" fmla="*/ 42 h 164"/>
                  <a:gd name="T18" fmla="*/ 157 w 265"/>
                  <a:gd name="T19" fmla="*/ 58 h 164"/>
                  <a:gd name="T20" fmla="*/ 118 w 265"/>
                  <a:gd name="T21" fmla="*/ 77 h 164"/>
                  <a:gd name="T22" fmla="*/ 80 w 265"/>
                  <a:gd name="T23" fmla="*/ 99 h 164"/>
                  <a:gd name="T24" fmla="*/ 48 w 265"/>
                  <a:gd name="T25" fmla="*/ 134 h 164"/>
                  <a:gd name="T26" fmla="*/ 20 w 265"/>
                  <a:gd name="T27" fmla="*/ 160 h 164"/>
                  <a:gd name="T28" fmla="*/ 0 w 265"/>
                  <a:gd name="T29" fmla="*/ 164 h 1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65" h="164">
                    <a:moveTo>
                      <a:pt x="0" y="164"/>
                    </a:moveTo>
                    <a:lnTo>
                      <a:pt x="68" y="91"/>
                    </a:lnTo>
                    <a:lnTo>
                      <a:pt x="116" y="53"/>
                    </a:lnTo>
                    <a:lnTo>
                      <a:pt x="177" y="20"/>
                    </a:lnTo>
                    <a:lnTo>
                      <a:pt x="246" y="0"/>
                    </a:lnTo>
                    <a:lnTo>
                      <a:pt x="261" y="5"/>
                    </a:lnTo>
                    <a:lnTo>
                      <a:pt x="265" y="18"/>
                    </a:lnTo>
                    <a:lnTo>
                      <a:pt x="250" y="34"/>
                    </a:lnTo>
                    <a:lnTo>
                      <a:pt x="206" y="42"/>
                    </a:lnTo>
                    <a:lnTo>
                      <a:pt x="157" y="58"/>
                    </a:lnTo>
                    <a:lnTo>
                      <a:pt x="118" y="77"/>
                    </a:lnTo>
                    <a:lnTo>
                      <a:pt x="80" y="99"/>
                    </a:lnTo>
                    <a:lnTo>
                      <a:pt x="48" y="134"/>
                    </a:lnTo>
                    <a:lnTo>
                      <a:pt x="20" y="160"/>
                    </a:lnTo>
                    <a:lnTo>
                      <a:pt x="0" y="1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2" name="Freeform 171"/>
              <p:cNvSpPr>
                <a:spLocks/>
              </p:cNvSpPr>
              <p:nvPr/>
            </p:nvSpPr>
            <p:spPr bwMode="auto">
              <a:xfrm>
                <a:off x="2242" y="2718"/>
                <a:ext cx="120" cy="293"/>
              </a:xfrm>
              <a:custGeom>
                <a:avLst/>
                <a:gdLst>
                  <a:gd name="T0" fmla="*/ 0 w 120"/>
                  <a:gd name="T1" fmla="*/ 285 h 293"/>
                  <a:gd name="T2" fmla="*/ 4 w 120"/>
                  <a:gd name="T3" fmla="*/ 195 h 293"/>
                  <a:gd name="T4" fmla="*/ 25 w 120"/>
                  <a:gd name="T5" fmla="*/ 138 h 293"/>
                  <a:gd name="T6" fmla="*/ 50 w 120"/>
                  <a:gd name="T7" fmla="*/ 76 h 293"/>
                  <a:gd name="T8" fmla="*/ 84 w 120"/>
                  <a:gd name="T9" fmla="*/ 24 h 293"/>
                  <a:gd name="T10" fmla="*/ 100 w 120"/>
                  <a:gd name="T11" fmla="*/ 0 h 293"/>
                  <a:gd name="T12" fmla="*/ 112 w 120"/>
                  <a:gd name="T13" fmla="*/ 3 h 293"/>
                  <a:gd name="T14" fmla="*/ 120 w 120"/>
                  <a:gd name="T15" fmla="*/ 12 h 293"/>
                  <a:gd name="T16" fmla="*/ 96 w 120"/>
                  <a:gd name="T17" fmla="*/ 50 h 293"/>
                  <a:gd name="T18" fmla="*/ 67 w 120"/>
                  <a:gd name="T19" fmla="*/ 103 h 293"/>
                  <a:gd name="T20" fmla="*/ 42 w 120"/>
                  <a:gd name="T21" fmla="*/ 155 h 293"/>
                  <a:gd name="T22" fmla="*/ 28 w 120"/>
                  <a:gd name="T23" fmla="*/ 198 h 293"/>
                  <a:gd name="T24" fmla="*/ 20 w 120"/>
                  <a:gd name="T25" fmla="*/ 237 h 293"/>
                  <a:gd name="T26" fmla="*/ 20 w 120"/>
                  <a:gd name="T27" fmla="*/ 293 h 293"/>
                  <a:gd name="T28" fmla="*/ 0 w 120"/>
                  <a:gd name="T29" fmla="*/ 285 h 29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0" h="293">
                    <a:moveTo>
                      <a:pt x="0" y="285"/>
                    </a:moveTo>
                    <a:lnTo>
                      <a:pt x="4" y="195"/>
                    </a:lnTo>
                    <a:lnTo>
                      <a:pt x="25" y="138"/>
                    </a:lnTo>
                    <a:lnTo>
                      <a:pt x="50" y="76"/>
                    </a:lnTo>
                    <a:lnTo>
                      <a:pt x="84" y="24"/>
                    </a:lnTo>
                    <a:lnTo>
                      <a:pt x="100" y="0"/>
                    </a:lnTo>
                    <a:lnTo>
                      <a:pt x="112" y="3"/>
                    </a:lnTo>
                    <a:lnTo>
                      <a:pt x="120" y="12"/>
                    </a:lnTo>
                    <a:lnTo>
                      <a:pt x="96" y="50"/>
                    </a:lnTo>
                    <a:lnTo>
                      <a:pt x="67" y="103"/>
                    </a:lnTo>
                    <a:lnTo>
                      <a:pt x="42" y="155"/>
                    </a:lnTo>
                    <a:lnTo>
                      <a:pt x="28" y="198"/>
                    </a:lnTo>
                    <a:lnTo>
                      <a:pt x="20" y="237"/>
                    </a:lnTo>
                    <a:lnTo>
                      <a:pt x="20" y="293"/>
                    </a:lnTo>
                    <a:lnTo>
                      <a:pt x="0" y="2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3" name="Freeform 172"/>
              <p:cNvSpPr>
                <a:spLocks/>
              </p:cNvSpPr>
              <p:nvPr/>
            </p:nvSpPr>
            <p:spPr bwMode="auto">
              <a:xfrm>
                <a:off x="2161" y="2670"/>
                <a:ext cx="115" cy="221"/>
              </a:xfrm>
              <a:custGeom>
                <a:avLst/>
                <a:gdLst>
                  <a:gd name="T0" fmla="*/ 0 w 115"/>
                  <a:gd name="T1" fmla="*/ 186 h 221"/>
                  <a:gd name="T2" fmla="*/ 17 w 115"/>
                  <a:gd name="T3" fmla="*/ 122 h 221"/>
                  <a:gd name="T4" fmla="*/ 54 w 115"/>
                  <a:gd name="T5" fmla="*/ 36 h 221"/>
                  <a:gd name="T6" fmla="*/ 96 w 115"/>
                  <a:gd name="T7" fmla="*/ 0 h 221"/>
                  <a:gd name="T8" fmla="*/ 115 w 115"/>
                  <a:gd name="T9" fmla="*/ 13 h 221"/>
                  <a:gd name="T10" fmla="*/ 78 w 115"/>
                  <a:gd name="T11" fmla="*/ 48 h 221"/>
                  <a:gd name="T12" fmla="*/ 42 w 115"/>
                  <a:gd name="T13" fmla="*/ 98 h 221"/>
                  <a:gd name="T14" fmla="*/ 24 w 115"/>
                  <a:gd name="T15" fmla="*/ 169 h 221"/>
                  <a:gd name="T16" fmla="*/ 12 w 115"/>
                  <a:gd name="T17" fmla="*/ 221 h 221"/>
                  <a:gd name="T18" fmla="*/ 0 w 115"/>
                  <a:gd name="T19" fmla="*/ 186 h 2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5" h="221">
                    <a:moveTo>
                      <a:pt x="0" y="186"/>
                    </a:moveTo>
                    <a:lnTo>
                      <a:pt x="17" y="122"/>
                    </a:lnTo>
                    <a:lnTo>
                      <a:pt x="54" y="36"/>
                    </a:lnTo>
                    <a:lnTo>
                      <a:pt x="96" y="0"/>
                    </a:lnTo>
                    <a:lnTo>
                      <a:pt x="115" y="13"/>
                    </a:lnTo>
                    <a:lnTo>
                      <a:pt x="78" y="48"/>
                    </a:lnTo>
                    <a:lnTo>
                      <a:pt x="42" y="98"/>
                    </a:lnTo>
                    <a:lnTo>
                      <a:pt x="24" y="169"/>
                    </a:lnTo>
                    <a:lnTo>
                      <a:pt x="12" y="221"/>
                    </a:lnTo>
                    <a:lnTo>
                      <a:pt x="0" y="18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159" name="Freeform 173"/>
            <p:cNvSpPr>
              <a:spLocks/>
            </p:cNvSpPr>
            <p:nvPr/>
          </p:nvSpPr>
          <p:spPr bwMode="auto">
            <a:xfrm>
              <a:off x="4543" y="2457"/>
              <a:ext cx="235" cy="537"/>
            </a:xfrm>
            <a:custGeom>
              <a:avLst/>
              <a:gdLst>
                <a:gd name="T0" fmla="*/ 96 w 579"/>
                <a:gd name="T1" fmla="*/ 0 h 1322"/>
                <a:gd name="T2" fmla="*/ 73 w 579"/>
                <a:gd name="T3" fmla="*/ 21 h 1322"/>
                <a:gd name="T4" fmla="*/ 86 w 579"/>
                <a:gd name="T5" fmla="*/ 48 h 1322"/>
                <a:gd name="T6" fmla="*/ 88 w 579"/>
                <a:gd name="T7" fmla="*/ 67 h 1322"/>
                <a:gd name="T8" fmla="*/ 70 w 579"/>
                <a:gd name="T9" fmla="*/ 90 h 1322"/>
                <a:gd name="T10" fmla="*/ 83 w 579"/>
                <a:gd name="T11" fmla="*/ 122 h 1322"/>
                <a:gd name="T12" fmla="*/ 22 w 579"/>
                <a:gd name="T13" fmla="*/ 143 h 1322"/>
                <a:gd name="T14" fmla="*/ 50 w 579"/>
                <a:gd name="T15" fmla="*/ 174 h 1322"/>
                <a:gd name="T16" fmla="*/ 34 w 579"/>
                <a:gd name="T17" fmla="*/ 204 h 1322"/>
                <a:gd name="T18" fmla="*/ 48 w 579"/>
                <a:gd name="T19" fmla="*/ 241 h 1322"/>
                <a:gd name="T20" fmla="*/ 48 w 579"/>
                <a:gd name="T21" fmla="*/ 250 h 1322"/>
                <a:gd name="T22" fmla="*/ 34 w 579"/>
                <a:gd name="T23" fmla="*/ 260 h 1322"/>
                <a:gd name="T24" fmla="*/ 35 w 579"/>
                <a:gd name="T25" fmla="*/ 274 h 1322"/>
                <a:gd name="T26" fmla="*/ 50 w 579"/>
                <a:gd name="T27" fmla="*/ 280 h 1322"/>
                <a:gd name="T28" fmla="*/ 48 w 579"/>
                <a:gd name="T29" fmla="*/ 294 h 1322"/>
                <a:gd name="T30" fmla="*/ 43 w 579"/>
                <a:gd name="T31" fmla="*/ 309 h 1322"/>
                <a:gd name="T32" fmla="*/ 30 w 579"/>
                <a:gd name="T33" fmla="*/ 322 h 1322"/>
                <a:gd name="T34" fmla="*/ 17 w 579"/>
                <a:gd name="T35" fmla="*/ 329 h 1322"/>
                <a:gd name="T36" fmla="*/ 2 w 579"/>
                <a:gd name="T37" fmla="*/ 340 h 1322"/>
                <a:gd name="T38" fmla="*/ 13 w 579"/>
                <a:gd name="T39" fmla="*/ 344 h 1322"/>
                <a:gd name="T40" fmla="*/ 29 w 579"/>
                <a:gd name="T41" fmla="*/ 338 h 1322"/>
                <a:gd name="T42" fmla="*/ 43 w 579"/>
                <a:gd name="T43" fmla="*/ 334 h 1322"/>
                <a:gd name="T44" fmla="*/ 58 w 579"/>
                <a:gd name="T45" fmla="*/ 333 h 1322"/>
                <a:gd name="T46" fmla="*/ 59 w 579"/>
                <a:gd name="T47" fmla="*/ 347 h 1322"/>
                <a:gd name="T48" fmla="*/ 45 w 579"/>
                <a:gd name="T49" fmla="*/ 358 h 1322"/>
                <a:gd name="T50" fmla="*/ 30 w 579"/>
                <a:gd name="T51" fmla="*/ 368 h 1322"/>
                <a:gd name="T52" fmla="*/ 16 w 579"/>
                <a:gd name="T53" fmla="*/ 375 h 1322"/>
                <a:gd name="T54" fmla="*/ 6 w 579"/>
                <a:gd name="T55" fmla="*/ 388 h 1322"/>
                <a:gd name="T56" fmla="*/ 73 w 579"/>
                <a:gd name="T57" fmla="*/ 369 h 1322"/>
                <a:gd name="T58" fmla="*/ 72 w 579"/>
                <a:gd name="T59" fmla="*/ 393 h 1322"/>
                <a:gd name="T60" fmla="*/ 61 w 579"/>
                <a:gd name="T61" fmla="*/ 404 h 1322"/>
                <a:gd name="T62" fmla="*/ 45 w 579"/>
                <a:gd name="T63" fmla="*/ 403 h 1322"/>
                <a:gd name="T64" fmla="*/ 24 w 579"/>
                <a:gd name="T65" fmla="*/ 415 h 1322"/>
                <a:gd name="T66" fmla="*/ 6 w 579"/>
                <a:gd name="T67" fmla="*/ 420 h 1322"/>
                <a:gd name="T68" fmla="*/ 30 w 579"/>
                <a:gd name="T69" fmla="*/ 426 h 1322"/>
                <a:gd name="T70" fmla="*/ 51 w 579"/>
                <a:gd name="T71" fmla="*/ 429 h 1322"/>
                <a:gd name="T72" fmla="*/ 63 w 579"/>
                <a:gd name="T73" fmla="*/ 434 h 1322"/>
                <a:gd name="T74" fmla="*/ 53 w 579"/>
                <a:gd name="T75" fmla="*/ 445 h 1322"/>
                <a:gd name="T76" fmla="*/ 40 w 579"/>
                <a:gd name="T77" fmla="*/ 453 h 1322"/>
                <a:gd name="T78" fmla="*/ 40 w 579"/>
                <a:gd name="T79" fmla="*/ 461 h 1322"/>
                <a:gd name="T80" fmla="*/ 39 w 579"/>
                <a:gd name="T81" fmla="*/ 475 h 1322"/>
                <a:gd name="T82" fmla="*/ 37 w 579"/>
                <a:gd name="T83" fmla="*/ 493 h 1322"/>
                <a:gd name="T84" fmla="*/ 14 w 579"/>
                <a:gd name="T85" fmla="*/ 500 h 1322"/>
                <a:gd name="T86" fmla="*/ 6 w 579"/>
                <a:gd name="T87" fmla="*/ 513 h 1322"/>
                <a:gd name="T88" fmla="*/ 45 w 579"/>
                <a:gd name="T89" fmla="*/ 510 h 1322"/>
                <a:gd name="T90" fmla="*/ 82 w 579"/>
                <a:gd name="T91" fmla="*/ 458 h 1322"/>
                <a:gd name="T92" fmla="*/ 73 w 579"/>
                <a:gd name="T93" fmla="*/ 405 h 1322"/>
                <a:gd name="T94" fmla="*/ 77 w 579"/>
                <a:gd name="T95" fmla="*/ 340 h 1322"/>
                <a:gd name="T96" fmla="*/ 80 w 579"/>
                <a:gd name="T97" fmla="*/ 290 h 1322"/>
                <a:gd name="T98" fmla="*/ 85 w 579"/>
                <a:gd name="T99" fmla="*/ 257 h 1322"/>
                <a:gd name="T100" fmla="*/ 101 w 579"/>
                <a:gd name="T101" fmla="*/ 223 h 1322"/>
                <a:gd name="T102" fmla="*/ 93 w 579"/>
                <a:gd name="T103" fmla="*/ 190 h 1322"/>
                <a:gd name="T104" fmla="*/ 117 w 579"/>
                <a:gd name="T105" fmla="*/ 162 h 1322"/>
                <a:gd name="T106" fmla="*/ 141 w 579"/>
                <a:gd name="T107" fmla="*/ 114 h 1322"/>
                <a:gd name="T108" fmla="*/ 163 w 579"/>
                <a:gd name="T109" fmla="*/ 79 h 1322"/>
                <a:gd name="T110" fmla="*/ 196 w 579"/>
                <a:gd name="T111" fmla="*/ 60 h 1322"/>
                <a:gd name="T112" fmla="*/ 235 w 579"/>
                <a:gd name="T113" fmla="*/ 3 h 132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579" h="1322">
                  <a:moveTo>
                    <a:pt x="555" y="4"/>
                  </a:moveTo>
                  <a:lnTo>
                    <a:pt x="370" y="0"/>
                  </a:lnTo>
                  <a:lnTo>
                    <a:pt x="236" y="0"/>
                  </a:lnTo>
                  <a:lnTo>
                    <a:pt x="201" y="0"/>
                  </a:lnTo>
                  <a:lnTo>
                    <a:pt x="185" y="27"/>
                  </a:lnTo>
                  <a:lnTo>
                    <a:pt x="181" y="51"/>
                  </a:lnTo>
                  <a:lnTo>
                    <a:pt x="154" y="66"/>
                  </a:lnTo>
                  <a:lnTo>
                    <a:pt x="154" y="97"/>
                  </a:lnTo>
                  <a:lnTo>
                    <a:pt x="213" y="117"/>
                  </a:lnTo>
                  <a:lnTo>
                    <a:pt x="240" y="129"/>
                  </a:lnTo>
                  <a:lnTo>
                    <a:pt x="260" y="160"/>
                  </a:lnTo>
                  <a:lnTo>
                    <a:pt x="217" y="164"/>
                  </a:lnTo>
                  <a:lnTo>
                    <a:pt x="288" y="203"/>
                  </a:lnTo>
                  <a:lnTo>
                    <a:pt x="221" y="207"/>
                  </a:lnTo>
                  <a:lnTo>
                    <a:pt x="173" y="222"/>
                  </a:lnTo>
                  <a:lnTo>
                    <a:pt x="232" y="253"/>
                  </a:lnTo>
                  <a:lnTo>
                    <a:pt x="197" y="285"/>
                  </a:lnTo>
                  <a:lnTo>
                    <a:pt x="205" y="300"/>
                  </a:lnTo>
                  <a:lnTo>
                    <a:pt x="225" y="335"/>
                  </a:lnTo>
                  <a:lnTo>
                    <a:pt x="154" y="363"/>
                  </a:lnTo>
                  <a:lnTo>
                    <a:pt x="55" y="351"/>
                  </a:lnTo>
                  <a:lnTo>
                    <a:pt x="59" y="386"/>
                  </a:lnTo>
                  <a:lnTo>
                    <a:pt x="126" y="398"/>
                  </a:lnTo>
                  <a:lnTo>
                    <a:pt x="122" y="429"/>
                  </a:lnTo>
                  <a:lnTo>
                    <a:pt x="95" y="456"/>
                  </a:lnTo>
                  <a:lnTo>
                    <a:pt x="161" y="472"/>
                  </a:lnTo>
                  <a:lnTo>
                    <a:pt x="83" y="503"/>
                  </a:lnTo>
                  <a:lnTo>
                    <a:pt x="71" y="558"/>
                  </a:lnTo>
                  <a:lnTo>
                    <a:pt x="114" y="581"/>
                  </a:lnTo>
                  <a:lnTo>
                    <a:pt x="118" y="593"/>
                  </a:lnTo>
                  <a:lnTo>
                    <a:pt x="130" y="601"/>
                  </a:lnTo>
                  <a:lnTo>
                    <a:pt x="130" y="612"/>
                  </a:lnTo>
                  <a:lnTo>
                    <a:pt x="118" y="616"/>
                  </a:lnTo>
                  <a:lnTo>
                    <a:pt x="106" y="620"/>
                  </a:lnTo>
                  <a:lnTo>
                    <a:pt x="95" y="628"/>
                  </a:lnTo>
                  <a:lnTo>
                    <a:pt x="83" y="640"/>
                  </a:lnTo>
                  <a:lnTo>
                    <a:pt x="75" y="655"/>
                  </a:lnTo>
                  <a:lnTo>
                    <a:pt x="75" y="667"/>
                  </a:lnTo>
                  <a:lnTo>
                    <a:pt x="87" y="675"/>
                  </a:lnTo>
                  <a:lnTo>
                    <a:pt x="98" y="675"/>
                  </a:lnTo>
                  <a:lnTo>
                    <a:pt x="110" y="682"/>
                  </a:lnTo>
                  <a:lnTo>
                    <a:pt x="122" y="690"/>
                  </a:lnTo>
                  <a:lnTo>
                    <a:pt x="126" y="702"/>
                  </a:lnTo>
                  <a:lnTo>
                    <a:pt x="122" y="714"/>
                  </a:lnTo>
                  <a:lnTo>
                    <a:pt x="118" y="725"/>
                  </a:lnTo>
                  <a:lnTo>
                    <a:pt x="118" y="737"/>
                  </a:lnTo>
                  <a:lnTo>
                    <a:pt x="114" y="749"/>
                  </a:lnTo>
                  <a:lnTo>
                    <a:pt x="106" y="760"/>
                  </a:lnTo>
                  <a:lnTo>
                    <a:pt x="95" y="768"/>
                  </a:lnTo>
                  <a:lnTo>
                    <a:pt x="83" y="776"/>
                  </a:lnTo>
                  <a:lnTo>
                    <a:pt x="75" y="792"/>
                  </a:lnTo>
                  <a:lnTo>
                    <a:pt x="63" y="792"/>
                  </a:lnTo>
                  <a:lnTo>
                    <a:pt x="55" y="803"/>
                  </a:lnTo>
                  <a:lnTo>
                    <a:pt x="43" y="811"/>
                  </a:lnTo>
                  <a:lnTo>
                    <a:pt x="32" y="819"/>
                  </a:lnTo>
                  <a:lnTo>
                    <a:pt x="16" y="831"/>
                  </a:lnTo>
                  <a:lnTo>
                    <a:pt x="4" y="838"/>
                  </a:lnTo>
                  <a:lnTo>
                    <a:pt x="0" y="850"/>
                  </a:lnTo>
                  <a:lnTo>
                    <a:pt x="20" y="854"/>
                  </a:lnTo>
                  <a:lnTo>
                    <a:pt x="32" y="846"/>
                  </a:lnTo>
                  <a:lnTo>
                    <a:pt x="43" y="842"/>
                  </a:lnTo>
                  <a:lnTo>
                    <a:pt x="55" y="838"/>
                  </a:lnTo>
                  <a:lnTo>
                    <a:pt x="71" y="831"/>
                  </a:lnTo>
                  <a:lnTo>
                    <a:pt x="83" y="831"/>
                  </a:lnTo>
                  <a:lnTo>
                    <a:pt x="95" y="831"/>
                  </a:lnTo>
                  <a:lnTo>
                    <a:pt x="106" y="823"/>
                  </a:lnTo>
                  <a:lnTo>
                    <a:pt x="118" y="819"/>
                  </a:lnTo>
                  <a:lnTo>
                    <a:pt x="130" y="819"/>
                  </a:lnTo>
                  <a:lnTo>
                    <a:pt x="142" y="819"/>
                  </a:lnTo>
                  <a:lnTo>
                    <a:pt x="146" y="831"/>
                  </a:lnTo>
                  <a:lnTo>
                    <a:pt x="146" y="842"/>
                  </a:lnTo>
                  <a:lnTo>
                    <a:pt x="146" y="854"/>
                  </a:lnTo>
                  <a:lnTo>
                    <a:pt x="134" y="862"/>
                  </a:lnTo>
                  <a:lnTo>
                    <a:pt x="122" y="874"/>
                  </a:lnTo>
                  <a:lnTo>
                    <a:pt x="110" y="881"/>
                  </a:lnTo>
                  <a:lnTo>
                    <a:pt x="98" y="889"/>
                  </a:lnTo>
                  <a:lnTo>
                    <a:pt x="87" y="897"/>
                  </a:lnTo>
                  <a:lnTo>
                    <a:pt x="75" y="905"/>
                  </a:lnTo>
                  <a:lnTo>
                    <a:pt x="63" y="909"/>
                  </a:lnTo>
                  <a:lnTo>
                    <a:pt x="51" y="920"/>
                  </a:lnTo>
                  <a:lnTo>
                    <a:pt x="39" y="924"/>
                  </a:lnTo>
                  <a:lnTo>
                    <a:pt x="28" y="932"/>
                  </a:lnTo>
                  <a:lnTo>
                    <a:pt x="24" y="944"/>
                  </a:lnTo>
                  <a:lnTo>
                    <a:pt x="16" y="955"/>
                  </a:lnTo>
                  <a:lnTo>
                    <a:pt x="32" y="959"/>
                  </a:lnTo>
                  <a:lnTo>
                    <a:pt x="146" y="905"/>
                  </a:lnTo>
                  <a:lnTo>
                    <a:pt x="181" y="909"/>
                  </a:lnTo>
                  <a:lnTo>
                    <a:pt x="185" y="920"/>
                  </a:lnTo>
                  <a:lnTo>
                    <a:pt x="185" y="952"/>
                  </a:lnTo>
                  <a:lnTo>
                    <a:pt x="177" y="967"/>
                  </a:lnTo>
                  <a:lnTo>
                    <a:pt x="173" y="979"/>
                  </a:lnTo>
                  <a:lnTo>
                    <a:pt x="161" y="991"/>
                  </a:lnTo>
                  <a:lnTo>
                    <a:pt x="150" y="994"/>
                  </a:lnTo>
                  <a:lnTo>
                    <a:pt x="138" y="994"/>
                  </a:lnTo>
                  <a:lnTo>
                    <a:pt x="122" y="991"/>
                  </a:lnTo>
                  <a:lnTo>
                    <a:pt x="110" y="991"/>
                  </a:lnTo>
                  <a:lnTo>
                    <a:pt x="79" y="994"/>
                  </a:lnTo>
                  <a:lnTo>
                    <a:pt x="71" y="1018"/>
                  </a:lnTo>
                  <a:lnTo>
                    <a:pt x="59" y="1022"/>
                  </a:lnTo>
                  <a:lnTo>
                    <a:pt x="43" y="1026"/>
                  </a:lnTo>
                  <a:lnTo>
                    <a:pt x="32" y="1026"/>
                  </a:lnTo>
                  <a:lnTo>
                    <a:pt x="16" y="1033"/>
                  </a:lnTo>
                  <a:lnTo>
                    <a:pt x="16" y="1045"/>
                  </a:lnTo>
                  <a:lnTo>
                    <a:pt x="63" y="1049"/>
                  </a:lnTo>
                  <a:lnTo>
                    <a:pt x="75" y="1049"/>
                  </a:lnTo>
                  <a:lnTo>
                    <a:pt x="98" y="1049"/>
                  </a:lnTo>
                  <a:lnTo>
                    <a:pt x="110" y="1057"/>
                  </a:lnTo>
                  <a:lnTo>
                    <a:pt x="126" y="1057"/>
                  </a:lnTo>
                  <a:lnTo>
                    <a:pt x="138" y="1057"/>
                  </a:lnTo>
                  <a:lnTo>
                    <a:pt x="154" y="1057"/>
                  </a:lnTo>
                  <a:lnTo>
                    <a:pt x="154" y="1069"/>
                  </a:lnTo>
                  <a:lnTo>
                    <a:pt x="142" y="1076"/>
                  </a:lnTo>
                  <a:lnTo>
                    <a:pt x="130" y="1084"/>
                  </a:lnTo>
                  <a:lnTo>
                    <a:pt x="130" y="1096"/>
                  </a:lnTo>
                  <a:lnTo>
                    <a:pt x="118" y="1104"/>
                  </a:lnTo>
                  <a:lnTo>
                    <a:pt x="106" y="1104"/>
                  </a:lnTo>
                  <a:lnTo>
                    <a:pt x="98" y="1115"/>
                  </a:lnTo>
                  <a:lnTo>
                    <a:pt x="87" y="1123"/>
                  </a:lnTo>
                  <a:lnTo>
                    <a:pt x="83" y="1135"/>
                  </a:lnTo>
                  <a:lnTo>
                    <a:pt x="98" y="1135"/>
                  </a:lnTo>
                  <a:lnTo>
                    <a:pt x="98" y="1147"/>
                  </a:lnTo>
                  <a:lnTo>
                    <a:pt x="95" y="1158"/>
                  </a:lnTo>
                  <a:lnTo>
                    <a:pt x="95" y="1170"/>
                  </a:lnTo>
                  <a:lnTo>
                    <a:pt x="95" y="1182"/>
                  </a:lnTo>
                  <a:lnTo>
                    <a:pt x="95" y="1197"/>
                  </a:lnTo>
                  <a:lnTo>
                    <a:pt x="91" y="1213"/>
                  </a:lnTo>
                  <a:lnTo>
                    <a:pt x="83" y="1225"/>
                  </a:lnTo>
                  <a:lnTo>
                    <a:pt x="59" y="1228"/>
                  </a:lnTo>
                  <a:lnTo>
                    <a:pt x="35" y="1232"/>
                  </a:lnTo>
                  <a:lnTo>
                    <a:pt x="24" y="1240"/>
                  </a:lnTo>
                  <a:lnTo>
                    <a:pt x="16" y="1252"/>
                  </a:lnTo>
                  <a:lnTo>
                    <a:pt x="16" y="1264"/>
                  </a:lnTo>
                  <a:lnTo>
                    <a:pt x="16" y="1275"/>
                  </a:lnTo>
                  <a:lnTo>
                    <a:pt x="28" y="1322"/>
                  </a:lnTo>
                  <a:lnTo>
                    <a:pt x="110" y="1256"/>
                  </a:lnTo>
                  <a:lnTo>
                    <a:pt x="209" y="1201"/>
                  </a:lnTo>
                  <a:lnTo>
                    <a:pt x="189" y="1154"/>
                  </a:lnTo>
                  <a:lnTo>
                    <a:pt x="201" y="1127"/>
                  </a:lnTo>
                  <a:lnTo>
                    <a:pt x="173" y="1088"/>
                  </a:lnTo>
                  <a:lnTo>
                    <a:pt x="205" y="1037"/>
                  </a:lnTo>
                  <a:lnTo>
                    <a:pt x="181" y="998"/>
                  </a:lnTo>
                  <a:lnTo>
                    <a:pt x="201" y="944"/>
                  </a:lnTo>
                  <a:lnTo>
                    <a:pt x="181" y="889"/>
                  </a:lnTo>
                  <a:lnTo>
                    <a:pt x="189" y="838"/>
                  </a:lnTo>
                  <a:lnTo>
                    <a:pt x="173" y="807"/>
                  </a:lnTo>
                  <a:lnTo>
                    <a:pt x="201" y="737"/>
                  </a:lnTo>
                  <a:lnTo>
                    <a:pt x="197" y="714"/>
                  </a:lnTo>
                  <a:lnTo>
                    <a:pt x="177" y="682"/>
                  </a:lnTo>
                  <a:lnTo>
                    <a:pt x="185" y="647"/>
                  </a:lnTo>
                  <a:lnTo>
                    <a:pt x="209" y="632"/>
                  </a:lnTo>
                  <a:lnTo>
                    <a:pt x="193" y="573"/>
                  </a:lnTo>
                  <a:lnTo>
                    <a:pt x="197" y="565"/>
                  </a:lnTo>
                  <a:lnTo>
                    <a:pt x="248" y="550"/>
                  </a:lnTo>
                  <a:lnTo>
                    <a:pt x="248" y="538"/>
                  </a:lnTo>
                  <a:lnTo>
                    <a:pt x="221" y="476"/>
                  </a:lnTo>
                  <a:lnTo>
                    <a:pt x="228" y="468"/>
                  </a:lnTo>
                  <a:lnTo>
                    <a:pt x="284" y="464"/>
                  </a:lnTo>
                  <a:lnTo>
                    <a:pt x="299" y="448"/>
                  </a:lnTo>
                  <a:lnTo>
                    <a:pt x="288" y="398"/>
                  </a:lnTo>
                  <a:lnTo>
                    <a:pt x="299" y="359"/>
                  </a:lnTo>
                  <a:lnTo>
                    <a:pt x="339" y="339"/>
                  </a:lnTo>
                  <a:lnTo>
                    <a:pt x="347" y="281"/>
                  </a:lnTo>
                  <a:lnTo>
                    <a:pt x="362" y="265"/>
                  </a:lnTo>
                  <a:lnTo>
                    <a:pt x="394" y="246"/>
                  </a:lnTo>
                  <a:lnTo>
                    <a:pt x="402" y="195"/>
                  </a:lnTo>
                  <a:lnTo>
                    <a:pt x="425" y="168"/>
                  </a:lnTo>
                  <a:lnTo>
                    <a:pt x="469" y="144"/>
                  </a:lnTo>
                  <a:lnTo>
                    <a:pt x="484" y="148"/>
                  </a:lnTo>
                  <a:lnTo>
                    <a:pt x="496" y="82"/>
                  </a:lnTo>
                  <a:lnTo>
                    <a:pt x="512" y="58"/>
                  </a:lnTo>
                  <a:lnTo>
                    <a:pt x="579" y="8"/>
                  </a:lnTo>
                  <a:lnTo>
                    <a:pt x="555" y="4"/>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160" name="Group 174"/>
            <p:cNvGrpSpPr>
              <a:grpSpLocks/>
            </p:cNvGrpSpPr>
            <p:nvPr/>
          </p:nvGrpSpPr>
          <p:grpSpPr bwMode="auto">
            <a:xfrm>
              <a:off x="4368" y="2325"/>
              <a:ext cx="419" cy="703"/>
              <a:chOff x="2254" y="2503"/>
              <a:chExt cx="1034" cy="1733"/>
            </a:xfrm>
          </p:grpSpPr>
          <p:sp>
            <p:nvSpPr>
              <p:cNvPr id="6161" name="Freeform 175"/>
              <p:cNvSpPr>
                <a:spLocks/>
              </p:cNvSpPr>
              <p:nvPr/>
            </p:nvSpPr>
            <p:spPr bwMode="auto">
              <a:xfrm>
                <a:off x="2557" y="2503"/>
                <a:ext cx="731" cy="640"/>
              </a:xfrm>
              <a:custGeom>
                <a:avLst/>
                <a:gdLst>
                  <a:gd name="T0" fmla="*/ 574 w 731"/>
                  <a:gd name="T1" fmla="*/ 174 h 640"/>
                  <a:gd name="T2" fmla="*/ 418 w 731"/>
                  <a:gd name="T3" fmla="*/ 35 h 640"/>
                  <a:gd name="T4" fmla="*/ 242 w 731"/>
                  <a:gd name="T5" fmla="*/ 24 h 640"/>
                  <a:gd name="T6" fmla="*/ 263 w 731"/>
                  <a:gd name="T7" fmla="*/ 0 h 640"/>
                  <a:gd name="T8" fmla="*/ 449 w 731"/>
                  <a:gd name="T9" fmla="*/ 21 h 640"/>
                  <a:gd name="T10" fmla="*/ 532 w 731"/>
                  <a:gd name="T11" fmla="*/ 84 h 640"/>
                  <a:gd name="T12" fmla="*/ 602 w 731"/>
                  <a:gd name="T13" fmla="*/ 174 h 640"/>
                  <a:gd name="T14" fmla="*/ 717 w 731"/>
                  <a:gd name="T15" fmla="*/ 296 h 640"/>
                  <a:gd name="T16" fmla="*/ 723 w 731"/>
                  <a:gd name="T17" fmla="*/ 346 h 640"/>
                  <a:gd name="T18" fmla="*/ 574 w 731"/>
                  <a:gd name="T19" fmla="*/ 339 h 640"/>
                  <a:gd name="T20" fmla="*/ 364 w 731"/>
                  <a:gd name="T21" fmla="*/ 335 h 640"/>
                  <a:gd name="T22" fmla="*/ 326 w 731"/>
                  <a:gd name="T23" fmla="*/ 334 h 640"/>
                  <a:gd name="T24" fmla="*/ 333 w 731"/>
                  <a:gd name="T25" fmla="*/ 373 h 640"/>
                  <a:gd name="T26" fmla="*/ 314 w 731"/>
                  <a:gd name="T27" fmla="*/ 389 h 640"/>
                  <a:gd name="T28" fmla="*/ 297 w 731"/>
                  <a:gd name="T29" fmla="*/ 402 h 640"/>
                  <a:gd name="T30" fmla="*/ 330 w 731"/>
                  <a:gd name="T31" fmla="*/ 432 h 640"/>
                  <a:gd name="T32" fmla="*/ 375 w 731"/>
                  <a:gd name="T33" fmla="*/ 445 h 640"/>
                  <a:gd name="T34" fmla="*/ 294 w 731"/>
                  <a:gd name="T35" fmla="*/ 455 h 640"/>
                  <a:gd name="T36" fmla="*/ 238 w 731"/>
                  <a:gd name="T37" fmla="*/ 469 h 640"/>
                  <a:gd name="T38" fmla="*/ 239 w 731"/>
                  <a:gd name="T39" fmla="*/ 492 h 640"/>
                  <a:gd name="T40" fmla="*/ 330 w 731"/>
                  <a:gd name="T41" fmla="*/ 499 h 640"/>
                  <a:gd name="T42" fmla="*/ 332 w 731"/>
                  <a:gd name="T43" fmla="*/ 522 h 640"/>
                  <a:gd name="T44" fmla="*/ 239 w 731"/>
                  <a:gd name="T45" fmla="*/ 526 h 640"/>
                  <a:gd name="T46" fmla="*/ 203 w 731"/>
                  <a:gd name="T47" fmla="*/ 551 h 640"/>
                  <a:gd name="T48" fmla="*/ 200 w 731"/>
                  <a:gd name="T49" fmla="*/ 586 h 640"/>
                  <a:gd name="T50" fmla="*/ 282 w 731"/>
                  <a:gd name="T51" fmla="*/ 601 h 640"/>
                  <a:gd name="T52" fmla="*/ 282 w 731"/>
                  <a:gd name="T53" fmla="*/ 622 h 640"/>
                  <a:gd name="T54" fmla="*/ 203 w 731"/>
                  <a:gd name="T55" fmla="*/ 620 h 640"/>
                  <a:gd name="T56" fmla="*/ 169 w 731"/>
                  <a:gd name="T57" fmla="*/ 640 h 640"/>
                  <a:gd name="T58" fmla="*/ 102 w 731"/>
                  <a:gd name="T59" fmla="*/ 597 h 640"/>
                  <a:gd name="T60" fmla="*/ 0 w 731"/>
                  <a:gd name="T61" fmla="*/ 508 h 640"/>
                  <a:gd name="T62" fmla="*/ 85 w 731"/>
                  <a:gd name="T63" fmla="*/ 538 h 640"/>
                  <a:gd name="T64" fmla="*/ 171 w 731"/>
                  <a:gd name="T65" fmla="*/ 594 h 640"/>
                  <a:gd name="T66" fmla="*/ 156 w 731"/>
                  <a:gd name="T67" fmla="*/ 542 h 640"/>
                  <a:gd name="T68" fmla="*/ 188 w 731"/>
                  <a:gd name="T69" fmla="*/ 508 h 640"/>
                  <a:gd name="T70" fmla="*/ 212 w 731"/>
                  <a:gd name="T71" fmla="*/ 471 h 640"/>
                  <a:gd name="T72" fmla="*/ 238 w 731"/>
                  <a:gd name="T73" fmla="*/ 437 h 640"/>
                  <a:gd name="T74" fmla="*/ 271 w 731"/>
                  <a:gd name="T75" fmla="*/ 414 h 640"/>
                  <a:gd name="T76" fmla="*/ 269 w 731"/>
                  <a:gd name="T77" fmla="*/ 370 h 640"/>
                  <a:gd name="T78" fmla="*/ 302 w 731"/>
                  <a:gd name="T79" fmla="*/ 339 h 640"/>
                  <a:gd name="T80" fmla="*/ 322 w 731"/>
                  <a:gd name="T81" fmla="*/ 292 h 640"/>
                  <a:gd name="T82" fmla="*/ 324 w 731"/>
                  <a:gd name="T83" fmla="*/ 237 h 640"/>
                  <a:gd name="T84" fmla="*/ 267 w 731"/>
                  <a:gd name="T85" fmla="*/ 68 h 640"/>
                  <a:gd name="T86" fmla="*/ 271 w 731"/>
                  <a:gd name="T87" fmla="*/ 29 h 640"/>
                  <a:gd name="T88" fmla="*/ 322 w 731"/>
                  <a:gd name="T89" fmla="*/ 161 h 640"/>
                  <a:gd name="T90" fmla="*/ 367 w 731"/>
                  <a:gd name="T91" fmla="*/ 292 h 640"/>
                  <a:gd name="T92" fmla="*/ 403 w 731"/>
                  <a:gd name="T93" fmla="*/ 308 h 640"/>
                  <a:gd name="T94" fmla="*/ 554 w 731"/>
                  <a:gd name="T95" fmla="*/ 311 h 640"/>
                  <a:gd name="T96" fmla="*/ 700 w 731"/>
                  <a:gd name="T97" fmla="*/ 315 h 64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31" h="640">
                    <a:moveTo>
                      <a:pt x="700" y="315"/>
                    </a:moveTo>
                    <a:lnTo>
                      <a:pt x="574" y="174"/>
                    </a:lnTo>
                    <a:lnTo>
                      <a:pt x="481" y="48"/>
                    </a:lnTo>
                    <a:lnTo>
                      <a:pt x="418" y="35"/>
                    </a:lnTo>
                    <a:lnTo>
                      <a:pt x="265" y="24"/>
                    </a:lnTo>
                    <a:lnTo>
                      <a:pt x="242" y="24"/>
                    </a:lnTo>
                    <a:lnTo>
                      <a:pt x="231" y="5"/>
                    </a:lnTo>
                    <a:lnTo>
                      <a:pt x="263" y="0"/>
                    </a:lnTo>
                    <a:lnTo>
                      <a:pt x="365" y="9"/>
                    </a:lnTo>
                    <a:lnTo>
                      <a:pt x="449" y="21"/>
                    </a:lnTo>
                    <a:lnTo>
                      <a:pt x="505" y="35"/>
                    </a:lnTo>
                    <a:lnTo>
                      <a:pt x="532" y="84"/>
                    </a:lnTo>
                    <a:lnTo>
                      <a:pt x="568" y="135"/>
                    </a:lnTo>
                    <a:lnTo>
                      <a:pt x="602" y="174"/>
                    </a:lnTo>
                    <a:lnTo>
                      <a:pt x="664" y="241"/>
                    </a:lnTo>
                    <a:lnTo>
                      <a:pt x="717" y="296"/>
                    </a:lnTo>
                    <a:lnTo>
                      <a:pt x="731" y="334"/>
                    </a:lnTo>
                    <a:lnTo>
                      <a:pt x="723" y="346"/>
                    </a:lnTo>
                    <a:lnTo>
                      <a:pt x="685" y="346"/>
                    </a:lnTo>
                    <a:lnTo>
                      <a:pt x="574" y="339"/>
                    </a:lnTo>
                    <a:lnTo>
                      <a:pt x="452" y="342"/>
                    </a:lnTo>
                    <a:lnTo>
                      <a:pt x="364" y="335"/>
                    </a:lnTo>
                    <a:lnTo>
                      <a:pt x="340" y="327"/>
                    </a:lnTo>
                    <a:lnTo>
                      <a:pt x="326" y="334"/>
                    </a:lnTo>
                    <a:lnTo>
                      <a:pt x="324" y="353"/>
                    </a:lnTo>
                    <a:lnTo>
                      <a:pt x="333" y="373"/>
                    </a:lnTo>
                    <a:lnTo>
                      <a:pt x="332" y="385"/>
                    </a:lnTo>
                    <a:lnTo>
                      <a:pt x="314" y="389"/>
                    </a:lnTo>
                    <a:lnTo>
                      <a:pt x="294" y="394"/>
                    </a:lnTo>
                    <a:lnTo>
                      <a:pt x="297" y="402"/>
                    </a:lnTo>
                    <a:lnTo>
                      <a:pt x="294" y="428"/>
                    </a:lnTo>
                    <a:lnTo>
                      <a:pt x="330" y="432"/>
                    </a:lnTo>
                    <a:lnTo>
                      <a:pt x="373" y="436"/>
                    </a:lnTo>
                    <a:lnTo>
                      <a:pt x="375" y="445"/>
                    </a:lnTo>
                    <a:lnTo>
                      <a:pt x="357" y="453"/>
                    </a:lnTo>
                    <a:lnTo>
                      <a:pt x="294" y="455"/>
                    </a:lnTo>
                    <a:lnTo>
                      <a:pt x="251" y="463"/>
                    </a:lnTo>
                    <a:lnTo>
                      <a:pt x="238" y="469"/>
                    </a:lnTo>
                    <a:lnTo>
                      <a:pt x="234" y="480"/>
                    </a:lnTo>
                    <a:lnTo>
                      <a:pt x="239" y="492"/>
                    </a:lnTo>
                    <a:lnTo>
                      <a:pt x="267" y="492"/>
                    </a:lnTo>
                    <a:lnTo>
                      <a:pt x="330" y="499"/>
                    </a:lnTo>
                    <a:lnTo>
                      <a:pt x="340" y="508"/>
                    </a:lnTo>
                    <a:lnTo>
                      <a:pt x="332" y="522"/>
                    </a:lnTo>
                    <a:lnTo>
                      <a:pt x="301" y="524"/>
                    </a:lnTo>
                    <a:lnTo>
                      <a:pt x="239" y="526"/>
                    </a:lnTo>
                    <a:lnTo>
                      <a:pt x="218" y="531"/>
                    </a:lnTo>
                    <a:lnTo>
                      <a:pt x="203" y="551"/>
                    </a:lnTo>
                    <a:lnTo>
                      <a:pt x="195" y="569"/>
                    </a:lnTo>
                    <a:lnTo>
                      <a:pt x="200" y="586"/>
                    </a:lnTo>
                    <a:lnTo>
                      <a:pt x="218" y="593"/>
                    </a:lnTo>
                    <a:lnTo>
                      <a:pt x="282" y="601"/>
                    </a:lnTo>
                    <a:lnTo>
                      <a:pt x="289" y="609"/>
                    </a:lnTo>
                    <a:lnTo>
                      <a:pt x="282" y="622"/>
                    </a:lnTo>
                    <a:lnTo>
                      <a:pt x="246" y="624"/>
                    </a:lnTo>
                    <a:lnTo>
                      <a:pt x="203" y="620"/>
                    </a:lnTo>
                    <a:lnTo>
                      <a:pt x="191" y="630"/>
                    </a:lnTo>
                    <a:lnTo>
                      <a:pt x="169" y="640"/>
                    </a:lnTo>
                    <a:lnTo>
                      <a:pt x="144" y="632"/>
                    </a:lnTo>
                    <a:lnTo>
                      <a:pt x="102" y="597"/>
                    </a:lnTo>
                    <a:lnTo>
                      <a:pt x="35" y="535"/>
                    </a:lnTo>
                    <a:lnTo>
                      <a:pt x="0" y="508"/>
                    </a:lnTo>
                    <a:lnTo>
                      <a:pt x="24" y="495"/>
                    </a:lnTo>
                    <a:lnTo>
                      <a:pt x="85" y="538"/>
                    </a:lnTo>
                    <a:lnTo>
                      <a:pt x="157" y="598"/>
                    </a:lnTo>
                    <a:lnTo>
                      <a:pt x="171" y="594"/>
                    </a:lnTo>
                    <a:lnTo>
                      <a:pt x="171" y="571"/>
                    </a:lnTo>
                    <a:lnTo>
                      <a:pt x="156" y="542"/>
                    </a:lnTo>
                    <a:lnTo>
                      <a:pt x="161" y="526"/>
                    </a:lnTo>
                    <a:lnTo>
                      <a:pt x="188" y="508"/>
                    </a:lnTo>
                    <a:lnTo>
                      <a:pt x="208" y="500"/>
                    </a:lnTo>
                    <a:lnTo>
                      <a:pt x="212" y="471"/>
                    </a:lnTo>
                    <a:lnTo>
                      <a:pt x="216" y="449"/>
                    </a:lnTo>
                    <a:lnTo>
                      <a:pt x="238" y="437"/>
                    </a:lnTo>
                    <a:lnTo>
                      <a:pt x="258" y="425"/>
                    </a:lnTo>
                    <a:lnTo>
                      <a:pt x="271" y="414"/>
                    </a:lnTo>
                    <a:lnTo>
                      <a:pt x="269" y="397"/>
                    </a:lnTo>
                    <a:lnTo>
                      <a:pt x="269" y="370"/>
                    </a:lnTo>
                    <a:lnTo>
                      <a:pt x="302" y="361"/>
                    </a:lnTo>
                    <a:lnTo>
                      <a:pt x="302" y="339"/>
                    </a:lnTo>
                    <a:lnTo>
                      <a:pt x="305" y="314"/>
                    </a:lnTo>
                    <a:lnTo>
                      <a:pt x="322" y="292"/>
                    </a:lnTo>
                    <a:lnTo>
                      <a:pt x="340" y="287"/>
                    </a:lnTo>
                    <a:lnTo>
                      <a:pt x="324" y="237"/>
                    </a:lnTo>
                    <a:lnTo>
                      <a:pt x="294" y="154"/>
                    </a:lnTo>
                    <a:lnTo>
                      <a:pt x="267" y="68"/>
                    </a:lnTo>
                    <a:lnTo>
                      <a:pt x="250" y="33"/>
                    </a:lnTo>
                    <a:lnTo>
                      <a:pt x="271" y="29"/>
                    </a:lnTo>
                    <a:lnTo>
                      <a:pt x="297" y="92"/>
                    </a:lnTo>
                    <a:lnTo>
                      <a:pt x="322" y="161"/>
                    </a:lnTo>
                    <a:lnTo>
                      <a:pt x="352" y="249"/>
                    </a:lnTo>
                    <a:lnTo>
                      <a:pt x="367" y="292"/>
                    </a:lnTo>
                    <a:lnTo>
                      <a:pt x="381" y="304"/>
                    </a:lnTo>
                    <a:lnTo>
                      <a:pt x="403" y="308"/>
                    </a:lnTo>
                    <a:lnTo>
                      <a:pt x="473" y="311"/>
                    </a:lnTo>
                    <a:lnTo>
                      <a:pt x="554" y="311"/>
                    </a:lnTo>
                    <a:lnTo>
                      <a:pt x="650" y="311"/>
                    </a:lnTo>
                    <a:lnTo>
                      <a:pt x="700" y="3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2" name="Freeform 176"/>
              <p:cNvSpPr>
                <a:spLocks/>
              </p:cNvSpPr>
              <p:nvPr/>
            </p:nvSpPr>
            <p:spPr bwMode="auto">
              <a:xfrm>
                <a:off x="2351" y="2508"/>
                <a:ext cx="478" cy="650"/>
              </a:xfrm>
              <a:custGeom>
                <a:avLst/>
                <a:gdLst>
                  <a:gd name="T0" fmla="*/ 446 w 478"/>
                  <a:gd name="T1" fmla="*/ 0 h 650"/>
                  <a:gd name="T2" fmla="*/ 478 w 478"/>
                  <a:gd name="T3" fmla="*/ 20 h 650"/>
                  <a:gd name="T4" fmla="*/ 438 w 478"/>
                  <a:gd name="T5" fmla="*/ 51 h 650"/>
                  <a:gd name="T6" fmla="*/ 399 w 478"/>
                  <a:gd name="T7" fmla="*/ 69 h 650"/>
                  <a:gd name="T8" fmla="*/ 370 w 478"/>
                  <a:gd name="T9" fmla="*/ 114 h 650"/>
                  <a:gd name="T10" fmla="*/ 327 w 478"/>
                  <a:gd name="T11" fmla="*/ 128 h 650"/>
                  <a:gd name="T12" fmla="*/ 371 w 478"/>
                  <a:gd name="T13" fmla="*/ 211 h 650"/>
                  <a:gd name="T14" fmla="*/ 425 w 478"/>
                  <a:gd name="T15" fmla="*/ 285 h 650"/>
                  <a:gd name="T16" fmla="*/ 398 w 478"/>
                  <a:gd name="T17" fmla="*/ 286 h 650"/>
                  <a:gd name="T18" fmla="*/ 340 w 478"/>
                  <a:gd name="T19" fmla="*/ 211 h 650"/>
                  <a:gd name="T20" fmla="*/ 300 w 478"/>
                  <a:gd name="T21" fmla="*/ 171 h 650"/>
                  <a:gd name="T22" fmla="*/ 280 w 478"/>
                  <a:gd name="T23" fmla="*/ 177 h 650"/>
                  <a:gd name="T24" fmla="*/ 299 w 478"/>
                  <a:gd name="T25" fmla="*/ 228 h 650"/>
                  <a:gd name="T26" fmla="*/ 362 w 478"/>
                  <a:gd name="T27" fmla="*/ 324 h 650"/>
                  <a:gd name="T28" fmla="*/ 383 w 478"/>
                  <a:gd name="T29" fmla="*/ 369 h 650"/>
                  <a:gd name="T30" fmla="*/ 363 w 478"/>
                  <a:gd name="T31" fmla="*/ 375 h 650"/>
                  <a:gd name="T32" fmla="*/ 332 w 478"/>
                  <a:gd name="T33" fmla="*/ 314 h 650"/>
                  <a:gd name="T34" fmla="*/ 277 w 478"/>
                  <a:gd name="T35" fmla="*/ 243 h 650"/>
                  <a:gd name="T36" fmla="*/ 237 w 478"/>
                  <a:gd name="T37" fmla="*/ 220 h 650"/>
                  <a:gd name="T38" fmla="*/ 209 w 478"/>
                  <a:gd name="T39" fmla="*/ 226 h 650"/>
                  <a:gd name="T40" fmla="*/ 237 w 478"/>
                  <a:gd name="T41" fmla="*/ 290 h 650"/>
                  <a:gd name="T42" fmla="*/ 291 w 478"/>
                  <a:gd name="T43" fmla="*/ 368 h 650"/>
                  <a:gd name="T44" fmla="*/ 288 w 478"/>
                  <a:gd name="T45" fmla="*/ 400 h 650"/>
                  <a:gd name="T46" fmla="*/ 265 w 478"/>
                  <a:gd name="T47" fmla="*/ 353 h 650"/>
                  <a:gd name="T48" fmla="*/ 205 w 478"/>
                  <a:gd name="T49" fmla="*/ 305 h 650"/>
                  <a:gd name="T50" fmla="*/ 173 w 478"/>
                  <a:gd name="T51" fmla="*/ 318 h 650"/>
                  <a:gd name="T52" fmla="*/ 174 w 478"/>
                  <a:gd name="T53" fmla="*/ 369 h 650"/>
                  <a:gd name="T54" fmla="*/ 122 w 478"/>
                  <a:gd name="T55" fmla="*/ 379 h 650"/>
                  <a:gd name="T56" fmla="*/ 86 w 478"/>
                  <a:gd name="T57" fmla="*/ 381 h 650"/>
                  <a:gd name="T58" fmla="*/ 90 w 478"/>
                  <a:gd name="T59" fmla="*/ 442 h 650"/>
                  <a:gd name="T60" fmla="*/ 59 w 478"/>
                  <a:gd name="T61" fmla="*/ 471 h 650"/>
                  <a:gd name="T62" fmla="*/ 55 w 478"/>
                  <a:gd name="T63" fmla="*/ 510 h 650"/>
                  <a:gd name="T64" fmla="*/ 42 w 478"/>
                  <a:gd name="T65" fmla="*/ 541 h 650"/>
                  <a:gd name="T66" fmla="*/ 42 w 478"/>
                  <a:gd name="T67" fmla="*/ 599 h 650"/>
                  <a:gd name="T68" fmla="*/ 11 w 478"/>
                  <a:gd name="T69" fmla="*/ 632 h 650"/>
                  <a:gd name="T70" fmla="*/ 0 w 478"/>
                  <a:gd name="T71" fmla="*/ 620 h 650"/>
                  <a:gd name="T72" fmla="*/ 20 w 478"/>
                  <a:gd name="T73" fmla="*/ 579 h 650"/>
                  <a:gd name="T74" fmla="*/ 26 w 478"/>
                  <a:gd name="T75" fmla="*/ 526 h 650"/>
                  <a:gd name="T76" fmla="*/ 36 w 478"/>
                  <a:gd name="T77" fmla="*/ 489 h 650"/>
                  <a:gd name="T78" fmla="*/ 47 w 478"/>
                  <a:gd name="T79" fmla="*/ 455 h 650"/>
                  <a:gd name="T80" fmla="*/ 71 w 478"/>
                  <a:gd name="T81" fmla="*/ 434 h 650"/>
                  <a:gd name="T82" fmla="*/ 63 w 478"/>
                  <a:gd name="T83" fmla="*/ 373 h 650"/>
                  <a:gd name="T84" fmla="*/ 109 w 478"/>
                  <a:gd name="T85" fmla="*/ 349 h 650"/>
                  <a:gd name="T86" fmla="*/ 150 w 478"/>
                  <a:gd name="T87" fmla="*/ 352 h 650"/>
                  <a:gd name="T88" fmla="*/ 154 w 478"/>
                  <a:gd name="T89" fmla="*/ 305 h 650"/>
                  <a:gd name="T90" fmla="*/ 188 w 478"/>
                  <a:gd name="T91" fmla="*/ 285 h 650"/>
                  <a:gd name="T92" fmla="*/ 190 w 478"/>
                  <a:gd name="T93" fmla="*/ 242 h 650"/>
                  <a:gd name="T94" fmla="*/ 213 w 478"/>
                  <a:gd name="T95" fmla="*/ 195 h 650"/>
                  <a:gd name="T96" fmla="*/ 253 w 478"/>
                  <a:gd name="T97" fmla="*/ 192 h 650"/>
                  <a:gd name="T98" fmla="*/ 263 w 478"/>
                  <a:gd name="T99" fmla="*/ 149 h 650"/>
                  <a:gd name="T100" fmla="*/ 304 w 478"/>
                  <a:gd name="T101" fmla="*/ 128 h 650"/>
                  <a:gd name="T102" fmla="*/ 334 w 478"/>
                  <a:gd name="T103" fmla="*/ 81 h 650"/>
                  <a:gd name="T104" fmla="*/ 375 w 478"/>
                  <a:gd name="T105" fmla="*/ 75 h 650"/>
                  <a:gd name="T106" fmla="*/ 391 w 478"/>
                  <a:gd name="T107" fmla="*/ 24 h 650"/>
                  <a:gd name="T108" fmla="*/ 425 w 478"/>
                  <a:gd name="T109" fmla="*/ 18 h 65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8" h="650">
                    <a:moveTo>
                      <a:pt x="425" y="18"/>
                    </a:moveTo>
                    <a:lnTo>
                      <a:pt x="446" y="0"/>
                    </a:lnTo>
                    <a:lnTo>
                      <a:pt x="473" y="4"/>
                    </a:lnTo>
                    <a:lnTo>
                      <a:pt x="478" y="20"/>
                    </a:lnTo>
                    <a:lnTo>
                      <a:pt x="477" y="38"/>
                    </a:lnTo>
                    <a:lnTo>
                      <a:pt x="438" y="51"/>
                    </a:lnTo>
                    <a:lnTo>
                      <a:pt x="403" y="51"/>
                    </a:lnTo>
                    <a:lnTo>
                      <a:pt x="399" y="69"/>
                    </a:lnTo>
                    <a:lnTo>
                      <a:pt x="390" y="98"/>
                    </a:lnTo>
                    <a:lnTo>
                      <a:pt x="370" y="114"/>
                    </a:lnTo>
                    <a:lnTo>
                      <a:pt x="340" y="114"/>
                    </a:lnTo>
                    <a:lnTo>
                      <a:pt x="327" y="128"/>
                    </a:lnTo>
                    <a:lnTo>
                      <a:pt x="324" y="153"/>
                    </a:lnTo>
                    <a:lnTo>
                      <a:pt x="371" y="211"/>
                    </a:lnTo>
                    <a:lnTo>
                      <a:pt x="413" y="265"/>
                    </a:lnTo>
                    <a:lnTo>
                      <a:pt x="425" y="285"/>
                    </a:lnTo>
                    <a:lnTo>
                      <a:pt x="413" y="294"/>
                    </a:lnTo>
                    <a:lnTo>
                      <a:pt x="398" y="286"/>
                    </a:lnTo>
                    <a:lnTo>
                      <a:pt x="374" y="250"/>
                    </a:lnTo>
                    <a:lnTo>
                      <a:pt x="340" y="211"/>
                    </a:lnTo>
                    <a:lnTo>
                      <a:pt x="311" y="175"/>
                    </a:lnTo>
                    <a:lnTo>
                      <a:pt x="300" y="171"/>
                    </a:lnTo>
                    <a:lnTo>
                      <a:pt x="291" y="171"/>
                    </a:lnTo>
                    <a:lnTo>
                      <a:pt x="280" y="177"/>
                    </a:lnTo>
                    <a:lnTo>
                      <a:pt x="283" y="207"/>
                    </a:lnTo>
                    <a:lnTo>
                      <a:pt x="299" y="228"/>
                    </a:lnTo>
                    <a:lnTo>
                      <a:pt x="328" y="273"/>
                    </a:lnTo>
                    <a:lnTo>
                      <a:pt x="362" y="324"/>
                    </a:lnTo>
                    <a:lnTo>
                      <a:pt x="379" y="353"/>
                    </a:lnTo>
                    <a:lnTo>
                      <a:pt x="383" y="369"/>
                    </a:lnTo>
                    <a:lnTo>
                      <a:pt x="375" y="377"/>
                    </a:lnTo>
                    <a:lnTo>
                      <a:pt x="363" y="375"/>
                    </a:lnTo>
                    <a:lnTo>
                      <a:pt x="354" y="349"/>
                    </a:lnTo>
                    <a:lnTo>
                      <a:pt x="332" y="314"/>
                    </a:lnTo>
                    <a:lnTo>
                      <a:pt x="308" y="279"/>
                    </a:lnTo>
                    <a:lnTo>
                      <a:pt x="277" y="243"/>
                    </a:lnTo>
                    <a:lnTo>
                      <a:pt x="252" y="228"/>
                    </a:lnTo>
                    <a:lnTo>
                      <a:pt x="237" y="220"/>
                    </a:lnTo>
                    <a:lnTo>
                      <a:pt x="220" y="216"/>
                    </a:lnTo>
                    <a:lnTo>
                      <a:pt x="209" y="226"/>
                    </a:lnTo>
                    <a:lnTo>
                      <a:pt x="216" y="254"/>
                    </a:lnTo>
                    <a:lnTo>
                      <a:pt x="237" y="290"/>
                    </a:lnTo>
                    <a:lnTo>
                      <a:pt x="271" y="330"/>
                    </a:lnTo>
                    <a:lnTo>
                      <a:pt x="291" y="368"/>
                    </a:lnTo>
                    <a:lnTo>
                      <a:pt x="299" y="391"/>
                    </a:lnTo>
                    <a:lnTo>
                      <a:pt x="288" y="400"/>
                    </a:lnTo>
                    <a:lnTo>
                      <a:pt x="273" y="388"/>
                    </a:lnTo>
                    <a:lnTo>
                      <a:pt x="265" y="353"/>
                    </a:lnTo>
                    <a:lnTo>
                      <a:pt x="237" y="320"/>
                    </a:lnTo>
                    <a:lnTo>
                      <a:pt x="205" y="305"/>
                    </a:lnTo>
                    <a:lnTo>
                      <a:pt x="184" y="305"/>
                    </a:lnTo>
                    <a:lnTo>
                      <a:pt x="173" y="318"/>
                    </a:lnTo>
                    <a:lnTo>
                      <a:pt x="176" y="337"/>
                    </a:lnTo>
                    <a:lnTo>
                      <a:pt x="174" y="369"/>
                    </a:lnTo>
                    <a:lnTo>
                      <a:pt x="154" y="379"/>
                    </a:lnTo>
                    <a:lnTo>
                      <a:pt x="122" y="379"/>
                    </a:lnTo>
                    <a:lnTo>
                      <a:pt x="95" y="375"/>
                    </a:lnTo>
                    <a:lnTo>
                      <a:pt x="86" y="381"/>
                    </a:lnTo>
                    <a:lnTo>
                      <a:pt x="87" y="403"/>
                    </a:lnTo>
                    <a:lnTo>
                      <a:pt x="90" y="442"/>
                    </a:lnTo>
                    <a:lnTo>
                      <a:pt x="79" y="463"/>
                    </a:lnTo>
                    <a:lnTo>
                      <a:pt x="59" y="471"/>
                    </a:lnTo>
                    <a:lnTo>
                      <a:pt x="54" y="485"/>
                    </a:lnTo>
                    <a:lnTo>
                      <a:pt x="55" y="510"/>
                    </a:lnTo>
                    <a:lnTo>
                      <a:pt x="55" y="528"/>
                    </a:lnTo>
                    <a:lnTo>
                      <a:pt x="42" y="541"/>
                    </a:lnTo>
                    <a:lnTo>
                      <a:pt x="34" y="569"/>
                    </a:lnTo>
                    <a:lnTo>
                      <a:pt x="42" y="599"/>
                    </a:lnTo>
                    <a:lnTo>
                      <a:pt x="34" y="612"/>
                    </a:lnTo>
                    <a:lnTo>
                      <a:pt x="11" y="632"/>
                    </a:lnTo>
                    <a:lnTo>
                      <a:pt x="3" y="650"/>
                    </a:lnTo>
                    <a:lnTo>
                      <a:pt x="0" y="620"/>
                    </a:lnTo>
                    <a:lnTo>
                      <a:pt x="16" y="600"/>
                    </a:lnTo>
                    <a:lnTo>
                      <a:pt x="20" y="579"/>
                    </a:lnTo>
                    <a:lnTo>
                      <a:pt x="20" y="549"/>
                    </a:lnTo>
                    <a:lnTo>
                      <a:pt x="26" y="526"/>
                    </a:lnTo>
                    <a:lnTo>
                      <a:pt x="38" y="513"/>
                    </a:lnTo>
                    <a:lnTo>
                      <a:pt x="36" y="489"/>
                    </a:lnTo>
                    <a:lnTo>
                      <a:pt x="34" y="470"/>
                    </a:lnTo>
                    <a:lnTo>
                      <a:pt x="47" y="455"/>
                    </a:lnTo>
                    <a:lnTo>
                      <a:pt x="67" y="443"/>
                    </a:lnTo>
                    <a:lnTo>
                      <a:pt x="71" y="434"/>
                    </a:lnTo>
                    <a:lnTo>
                      <a:pt x="70" y="396"/>
                    </a:lnTo>
                    <a:lnTo>
                      <a:pt x="63" y="373"/>
                    </a:lnTo>
                    <a:lnTo>
                      <a:pt x="75" y="349"/>
                    </a:lnTo>
                    <a:lnTo>
                      <a:pt x="109" y="349"/>
                    </a:lnTo>
                    <a:lnTo>
                      <a:pt x="145" y="356"/>
                    </a:lnTo>
                    <a:lnTo>
                      <a:pt x="150" y="352"/>
                    </a:lnTo>
                    <a:lnTo>
                      <a:pt x="157" y="336"/>
                    </a:lnTo>
                    <a:lnTo>
                      <a:pt x="154" y="305"/>
                    </a:lnTo>
                    <a:lnTo>
                      <a:pt x="166" y="290"/>
                    </a:lnTo>
                    <a:lnTo>
                      <a:pt x="188" y="285"/>
                    </a:lnTo>
                    <a:lnTo>
                      <a:pt x="204" y="275"/>
                    </a:lnTo>
                    <a:lnTo>
                      <a:pt x="190" y="242"/>
                    </a:lnTo>
                    <a:lnTo>
                      <a:pt x="196" y="212"/>
                    </a:lnTo>
                    <a:lnTo>
                      <a:pt x="213" y="195"/>
                    </a:lnTo>
                    <a:lnTo>
                      <a:pt x="233" y="192"/>
                    </a:lnTo>
                    <a:lnTo>
                      <a:pt x="253" y="192"/>
                    </a:lnTo>
                    <a:lnTo>
                      <a:pt x="259" y="173"/>
                    </a:lnTo>
                    <a:lnTo>
                      <a:pt x="263" y="149"/>
                    </a:lnTo>
                    <a:lnTo>
                      <a:pt x="283" y="140"/>
                    </a:lnTo>
                    <a:lnTo>
                      <a:pt x="304" y="128"/>
                    </a:lnTo>
                    <a:lnTo>
                      <a:pt x="315" y="98"/>
                    </a:lnTo>
                    <a:lnTo>
                      <a:pt x="334" y="81"/>
                    </a:lnTo>
                    <a:lnTo>
                      <a:pt x="362" y="82"/>
                    </a:lnTo>
                    <a:lnTo>
                      <a:pt x="375" y="75"/>
                    </a:lnTo>
                    <a:lnTo>
                      <a:pt x="379" y="46"/>
                    </a:lnTo>
                    <a:lnTo>
                      <a:pt x="391" y="24"/>
                    </a:lnTo>
                    <a:lnTo>
                      <a:pt x="413" y="18"/>
                    </a:lnTo>
                    <a:lnTo>
                      <a:pt x="42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3" name="Freeform 177"/>
              <p:cNvSpPr>
                <a:spLocks/>
              </p:cNvSpPr>
              <p:nvPr/>
            </p:nvSpPr>
            <p:spPr bwMode="auto">
              <a:xfrm>
                <a:off x="2852" y="2818"/>
                <a:ext cx="436" cy="758"/>
              </a:xfrm>
              <a:custGeom>
                <a:avLst/>
                <a:gdLst>
                  <a:gd name="T0" fmla="*/ 428 w 436"/>
                  <a:gd name="T1" fmla="*/ 7 h 758"/>
                  <a:gd name="T2" fmla="*/ 418 w 436"/>
                  <a:gd name="T3" fmla="*/ 35 h 758"/>
                  <a:gd name="T4" fmla="*/ 341 w 436"/>
                  <a:gd name="T5" fmla="*/ 82 h 758"/>
                  <a:gd name="T6" fmla="*/ 323 w 436"/>
                  <a:gd name="T7" fmla="*/ 159 h 758"/>
                  <a:gd name="T8" fmla="*/ 236 w 436"/>
                  <a:gd name="T9" fmla="*/ 222 h 758"/>
                  <a:gd name="T10" fmla="*/ 204 w 436"/>
                  <a:gd name="T11" fmla="*/ 282 h 758"/>
                  <a:gd name="T12" fmla="*/ 188 w 436"/>
                  <a:gd name="T13" fmla="*/ 344 h 758"/>
                  <a:gd name="T14" fmla="*/ 169 w 436"/>
                  <a:gd name="T15" fmla="*/ 367 h 758"/>
                  <a:gd name="T16" fmla="*/ 133 w 436"/>
                  <a:gd name="T17" fmla="*/ 400 h 758"/>
                  <a:gd name="T18" fmla="*/ 145 w 436"/>
                  <a:gd name="T19" fmla="*/ 450 h 758"/>
                  <a:gd name="T20" fmla="*/ 123 w 436"/>
                  <a:gd name="T21" fmla="*/ 491 h 758"/>
                  <a:gd name="T22" fmla="*/ 70 w 436"/>
                  <a:gd name="T23" fmla="*/ 497 h 758"/>
                  <a:gd name="T24" fmla="*/ 95 w 436"/>
                  <a:gd name="T25" fmla="*/ 538 h 758"/>
                  <a:gd name="T26" fmla="*/ 99 w 436"/>
                  <a:gd name="T27" fmla="*/ 563 h 758"/>
                  <a:gd name="T28" fmla="*/ 46 w 436"/>
                  <a:gd name="T29" fmla="*/ 583 h 758"/>
                  <a:gd name="T30" fmla="*/ 59 w 436"/>
                  <a:gd name="T31" fmla="*/ 625 h 758"/>
                  <a:gd name="T32" fmla="*/ 51 w 436"/>
                  <a:gd name="T33" fmla="*/ 653 h 758"/>
                  <a:gd name="T34" fmla="*/ 26 w 436"/>
                  <a:gd name="T35" fmla="*/ 687 h 758"/>
                  <a:gd name="T36" fmla="*/ 46 w 436"/>
                  <a:gd name="T37" fmla="*/ 744 h 758"/>
                  <a:gd name="T38" fmla="*/ 20 w 436"/>
                  <a:gd name="T39" fmla="*/ 723 h 758"/>
                  <a:gd name="T40" fmla="*/ 0 w 436"/>
                  <a:gd name="T41" fmla="*/ 680 h 758"/>
                  <a:gd name="T42" fmla="*/ 30 w 436"/>
                  <a:gd name="T43" fmla="*/ 640 h 758"/>
                  <a:gd name="T44" fmla="*/ 30 w 436"/>
                  <a:gd name="T45" fmla="*/ 613 h 758"/>
                  <a:gd name="T46" fmla="*/ 20 w 436"/>
                  <a:gd name="T47" fmla="*/ 570 h 758"/>
                  <a:gd name="T48" fmla="*/ 59 w 436"/>
                  <a:gd name="T49" fmla="*/ 554 h 758"/>
                  <a:gd name="T50" fmla="*/ 74 w 436"/>
                  <a:gd name="T51" fmla="*/ 540 h 758"/>
                  <a:gd name="T52" fmla="*/ 46 w 436"/>
                  <a:gd name="T53" fmla="*/ 501 h 758"/>
                  <a:gd name="T54" fmla="*/ 54 w 436"/>
                  <a:gd name="T55" fmla="*/ 465 h 758"/>
                  <a:gd name="T56" fmla="*/ 111 w 436"/>
                  <a:gd name="T57" fmla="*/ 465 h 758"/>
                  <a:gd name="T58" fmla="*/ 119 w 436"/>
                  <a:gd name="T59" fmla="*/ 420 h 758"/>
                  <a:gd name="T60" fmla="*/ 121 w 436"/>
                  <a:gd name="T61" fmla="*/ 372 h 758"/>
                  <a:gd name="T62" fmla="*/ 155 w 436"/>
                  <a:gd name="T63" fmla="*/ 341 h 758"/>
                  <a:gd name="T64" fmla="*/ 171 w 436"/>
                  <a:gd name="T65" fmla="*/ 310 h 758"/>
                  <a:gd name="T66" fmla="*/ 188 w 436"/>
                  <a:gd name="T67" fmla="*/ 267 h 758"/>
                  <a:gd name="T68" fmla="*/ 223 w 436"/>
                  <a:gd name="T69" fmla="*/ 238 h 758"/>
                  <a:gd name="T70" fmla="*/ 240 w 436"/>
                  <a:gd name="T71" fmla="*/ 183 h 758"/>
                  <a:gd name="T72" fmla="*/ 303 w 436"/>
                  <a:gd name="T73" fmla="*/ 145 h 758"/>
                  <a:gd name="T74" fmla="*/ 323 w 436"/>
                  <a:gd name="T75" fmla="*/ 93 h 758"/>
                  <a:gd name="T76" fmla="*/ 346 w 436"/>
                  <a:gd name="T77" fmla="*/ 50 h 758"/>
                  <a:gd name="T78" fmla="*/ 400 w 436"/>
                  <a:gd name="T79" fmla="*/ 14 h 7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36" h="758">
                    <a:moveTo>
                      <a:pt x="408" y="0"/>
                    </a:moveTo>
                    <a:lnTo>
                      <a:pt x="428" y="7"/>
                    </a:lnTo>
                    <a:lnTo>
                      <a:pt x="436" y="16"/>
                    </a:lnTo>
                    <a:lnTo>
                      <a:pt x="418" y="35"/>
                    </a:lnTo>
                    <a:lnTo>
                      <a:pt x="377" y="50"/>
                    </a:lnTo>
                    <a:lnTo>
                      <a:pt x="341" y="82"/>
                    </a:lnTo>
                    <a:lnTo>
                      <a:pt x="337" y="105"/>
                    </a:lnTo>
                    <a:lnTo>
                      <a:pt x="323" y="159"/>
                    </a:lnTo>
                    <a:lnTo>
                      <a:pt x="258" y="195"/>
                    </a:lnTo>
                    <a:lnTo>
                      <a:pt x="236" y="222"/>
                    </a:lnTo>
                    <a:lnTo>
                      <a:pt x="234" y="263"/>
                    </a:lnTo>
                    <a:lnTo>
                      <a:pt x="204" y="282"/>
                    </a:lnTo>
                    <a:lnTo>
                      <a:pt x="192" y="310"/>
                    </a:lnTo>
                    <a:lnTo>
                      <a:pt x="188" y="344"/>
                    </a:lnTo>
                    <a:lnTo>
                      <a:pt x="183" y="359"/>
                    </a:lnTo>
                    <a:lnTo>
                      <a:pt x="169" y="367"/>
                    </a:lnTo>
                    <a:lnTo>
                      <a:pt x="148" y="379"/>
                    </a:lnTo>
                    <a:lnTo>
                      <a:pt x="133" y="400"/>
                    </a:lnTo>
                    <a:lnTo>
                      <a:pt x="134" y="414"/>
                    </a:lnTo>
                    <a:lnTo>
                      <a:pt x="145" y="450"/>
                    </a:lnTo>
                    <a:lnTo>
                      <a:pt x="140" y="476"/>
                    </a:lnTo>
                    <a:lnTo>
                      <a:pt x="123" y="491"/>
                    </a:lnTo>
                    <a:lnTo>
                      <a:pt x="83" y="489"/>
                    </a:lnTo>
                    <a:lnTo>
                      <a:pt x="70" y="497"/>
                    </a:lnTo>
                    <a:lnTo>
                      <a:pt x="78" y="515"/>
                    </a:lnTo>
                    <a:lnTo>
                      <a:pt x="95" y="538"/>
                    </a:lnTo>
                    <a:lnTo>
                      <a:pt x="101" y="554"/>
                    </a:lnTo>
                    <a:lnTo>
                      <a:pt x="99" y="563"/>
                    </a:lnTo>
                    <a:lnTo>
                      <a:pt x="78" y="575"/>
                    </a:lnTo>
                    <a:lnTo>
                      <a:pt x="46" y="583"/>
                    </a:lnTo>
                    <a:lnTo>
                      <a:pt x="46" y="595"/>
                    </a:lnTo>
                    <a:lnTo>
                      <a:pt x="59" y="625"/>
                    </a:lnTo>
                    <a:lnTo>
                      <a:pt x="66" y="646"/>
                    </a:lnTo>
                    <a:lnTo>
                      <a:pt x="51" y="653"/>
                    </a:lnTo>
                    <a:lnTo>
                      <a:pt x="30" y="669"/>
                    </a:lnTo>
                    <a:lnTo>
                      <a:pt x="26" y="687"/>
                    </a:lnTo>
                    <a:lnTo>
                      <a:pt x="43" y="716"/>
                    </a:lnTo>
                    <a:lnTo>
                      <a:pt x="46" y="744"/>
                    </a:lnTo>
                    <a:lnTo>
                      <a:pt x="24" y="758"/>
                    </a:lnTo>
                    <a:lnTo>
                      <a:pt x="20" y="723"/>
                    </a:lnTo>
                    <a:lnTo>
                      <a:pt x="0" y="700"/>
                    </a:lnTo>
                    <a:lnTo>
                      <a:pt x="0" y="680"/>
                    </a:lnTo>
                    <a:lnTo>
                      <a:pt x="11" y="653"/>
                    </a:lnTo>
                    <a:lnTo>
                      <a:pt x="30" y="640"/>
                    </a:lnTo>
                    <a:lnTo>
                      <a:pt x="30" y="633"/>
                    </a:lnTo>
                    <a:lnTo>
                      <a:pt x="30" y="613"/>
                    </a:lnTo>
                    <a:lnTo>
                      <a:pt x="18" y="589"/>
                    </a:lnTo>
                    <a:lnTo>
                      <a:pt x="20" y="570"/>
                    </a:lnTo>
                    <a:lnTo>
                      <a:pt x="32" y="559"/>
                    </a:lnTo>
                    <a:lnTo>
                      <a:pt x="59" y="554"/>
                    </a:lnTo>
                    <a:lnTo>
                      <a:pt x="74" y="550"/>
                    </a:lnTo>
                    <a:lnTo>
                      <a:pt x="74" y="540"/>
                    </a:lnTo>
                    <a:lnTo>
                      <a:pt x="62" y="528"/>
                    </a:lnTo>
                    <a:lnTo>
                      <a:pt x="46" y="501"/>
                    </a:lnTo>
                    <a:lnTo>
                      <a:pt x="43" y="480"/>
                    </a:lnTo>
                    <a:lnTo>
                      <a:pt x="54" y="465"/>
                    </a:lnTo>
                    <a:lnTo>
                      <a:pt x="83" y="461"/>
                    </a:lnTo>
                    <a:lnTo>
                      <a:pt x="111" y="465"/>
                    </a:lnTo>
                    <a:lnTo>
                      <a:pt x="119" y="452"/>
                    </a:lnTo>
                    <a:lnTo>
                      <a:pt x="119" y="420"/>
                    </a:lnTo>
                    <a:lnTo>
                      <a:pt x="117" y="391"/>
                    </a:lnTo>
                    <a:lnTo>
                      <a:pt x="121" y="372"/>
                    </a:lnTo>
                    <a:lnTo>
                      <a:pt x="133" y="353"/>
                    </a:lnTo>
                    <a:lnTo>
                      <a:pt x="155" y="341"/>
                    </a:lnTo>
                    <a:lnTo>
                      <a:pt x="169" y="329"/>
                    </a:lnTo>
                    <a:lnTo>
                      <a:pt x="171" y="310"/>
                    </a:lnTo>
                    <a:lnTo>
                      <a:pt x="175" y="282"/>
                    </a:lnTo>
                    <a:lnTo>
                      <a:pt x="188" y="267"/>
                    </a:lnTo>
                    <a:lnTo>
                      <a:pt x="211" y="251"/>
                    </a:lnTo>
                    <a:lnTo>
                      <a:pt x="223" y="238"/>
                    </a:lnTo>
                    <a:lnTo>
                      <a:pt x="227" y="206"/>
                    </a:lnTo>
                    <a:lnTo>
                      <a:pt x="240" y="183"/>
                    </a:lnTo>
                    <a:lnTo>
                      <a:pt x="275" y="157"/>
                    </a:lnTo>
                    <a:lnTo>
                      <a:pt x="303" y="145"/>
                    </a:lnTo>
                    <a:lnTo>
                      <a:pt x="313" y="133"/>
                    </a:lnTo>
                    <a:lnTo>
                      <a:pt x="323" y="93"/>
                    </a:lnTo>
                    <a:lnTo>
                      <a:pt x="329" y="69"/>
                    </a:lnTo>
                    <a:lnTo>
                      <a:pt x="346" y="50"/>
                    </a:lnTo>
                    <a:lnTo>
                      <a:pt x="374" y="30"/>
                    </a:lnTo>
                    <a:lnTo>
                      <a:pt x="400" y="14"/>
                    </a:lnTo>
                    <a:lnTo>
                      <a:pt x="40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4" name="Freeform 178"/>
              <p:cNvSpPr>
                <a:spLocks/>
              </p:cNvSpPr>
              <p:nvPr/>
            </p:nvSpPr>
            <p:spPr bwMode="auto">
              <a:xfrm>
                <a:off x="2734" y="2627"/>
                <a:ext cx="99" cy="172"/>
              </a:xfrm>
              <a:custGeom>
                <a:avLst/>
                <a:gdLst>
                  <a:gd name="T0" fmla="*/ 74 w 99"/>
                  <a:gd name="T1" fmla="*/ 106 h 172"/>
                  <a:gd name="T2" fmla="*/ 52 w 99"/>
                  <a:gd name="T3" fmla="*/ 61 h 172"/>
                  <a:gd name="T4" fmla="*/ 14 w 99"/>
                  <a:gd name="T5" fmla="*/ 0 h 172"/>
                  <a:gd name="T6" fmla="*/ 1 w 99"/>
                  <a:gd name="T7" fmla="*/ 5 h 172"/>
                  <a:gd name="T8" fmla="*/ 0 w 99"/>
                  <a:gd name="T9" fmla="*/ 22 h 172"/>
                  <a:gd name="T10" fmla="*/ 48 w 99"/>
                  <a:gd name="T11" fmla="*/ 95 h 172"/>
                  <a:gd name="T12" fmla="*/ 34 w 99"/>
                  <a:gd name="T13" fmla="*/ 106 h 172"/>
                  <a:gd name="T14" fmla="*/ 74 w 99"/>
                  <a:gd name="T15" fmla="*/ 152 h 172"/>
                  <a:gd name="T16" fmla="*/ 99 w 99"/>
                  <a:gd name="T17" fmla="*/ 172 h 172"/>
                  <a:gd name="T18" fmla="*/ 86 w 99"/>
                  <a:gd name="T19" fmla="*/ 130 h 172"/>
                  <a:gd name="T20" fmla="*/ 64 w 99"/>
                  <a:gd name="T21" fmla="*/ 89 h 172"/>
                  <a:gd name="T22" fmla="*/ 74 w 99"/>
                  <a:gd name="T23" fmla="*/ 106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99" h="172">
                    <a:moveTo>
                      <a:pt x="74" y="106"/>
                    </a:moveTo>
                    <a:lnTo>
                      <a:pt x="52" y="61"/>
                    </a:lnTo>
                    <a:lnTo>
                      <a:pt x="14" y="0"/>
                    </a:lnTo>
                    <a:lnTo>
                      <a:pt x="1" y="5"/>
                    </a:lnTo>
                    <a:lnTo>
                      <a:pt x="0" y="22"/>
                    </a:lnTo>
                    <a:lnTo>
                      <a:pt x="48" y="95"/>
                    </a:lnTo>
                    <a:lnTo>
                      <a:pt x="34" y="106"/>
                    </a:lnTo>
                    <a:lnTo>
                      <a:pt x="74" y="152"/>
                    </a:lnTo>
                    <a:lnTo>
                      <a:pt x="99" y="172"/>
                    </a:lnTo>
                    <a:lnTo>
                      <a:pt x="86" y="130"/>
                    </a:lnTo>
                    <a:lnTo>
                      <a:pt x="64" y="89"/>
                    </a:lnTo>
                    <a:lnTo>
                      <a:pt x="74" y="1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5" name="Freeform 179"/>
              <p:cNvSpPr>
                <a:spLocks/>
              </p:cNvSpPr>
              <p:nvPr/>
            </p:nvSpPr>
            <p:spPr bwMode="auto">
              <a:xfrm>
                <a:off x="2487" y="3042"/>
                <a:ext cx="148" cy="132"/>
              </a:xfrm>
              <a:custGeom>
                <a:avLst/>
                <a:gdLst>
                  <a:gd name="T0" fmla="*/ 7 w 148"/>
                  <a:gd name="T1" fmla="*/ 0 h 132"/>
                  <a:gd name="T2" fmla="*/ 69 w 148"/>
                  <a:gd name="T3" fmla="*/ 41 h 132"/>
                  <a:gd name="T4" fmla="*/ 126 w 148"/>
                  <a:gd name="T5" fmla="*/ 92 h 132"/>
                  <a:gd name="T6" fmla="*/ 143 w 148"/>
                  <a:gd name="T7" fmla="*/ 111 h 132"/>
                  <a:gd name="T8" fmla="*/ 148 w 148"/>
                  <a:gd name="T9" fmla="*/ 128 h 132"/>
                  <a:gd name="T10" fmla="*/ 134 w 148"/>
                  <a:gd name="T11" fmla="*/ 132 h 132"/>
                  <a:gd name="T12" fmla="*/ 115 w 148"/>
                  <a:gd name="T13" fmla="*/ 113 h 132"/>
                  <a:gd name="T14" fmla="*/ 86 w 148"/>
                  <a:gd name="T15" fmla="*/ 84 h 132"/>
                  <a:gd name="T16" fmla="*/ 41 w 148"/>
                  <a:gd name="T17" fmla="*/ 47 h 132"/>
                  <a:gd name="T18" fmla="*/ 0 w 148"/>
                  <a:gd name="T19" fmla="*/ 17 h 132"/>
                  <a:gd name="T20" fmla="*/ 7 w 148"/>
                  <a:gd name="T21" fmla="*/ 0 h 1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8" h="132">
                    <a:moveTo>
                      <a:pt x="7" y="0"/>
                    </a:moveTo>
                    <a:lnTo>
                      <a:pt x="69" y="41"/>
                    </a:lnTo>
                    <a:lnTo>
                      <a:pt x="126" y="92"/>
                    </a:lnTo>
                    <a:lnTo>
                      <a:pt x="143" y="111"/>
                    </a:lnTo>
                    <a:lnTo>
                      <a:pt x="148" y="128"/>
                    </a:lnTo>
                    <a:lnTo>
                      <a:pt x="134" y="132"/>
                    </a:lnTo>
                    <a:lnTo>
                      <a:pt x="115" y="113"/>
                    </a:lnTo>
                    <a:lnTo>
                      <a:pt x="86" y="84"/>
                    </a:lnTo>
                    <a:lnTo>
                      <a:pt x="41" y="47"/>
                    </a:lnTo>
                    <a:lnTo>
                      <a:pt x="0" y="17"/>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6" name="Freeform 180"/>
              <p:cNvSpPr>
                <a:spLocks/>
              </p:cNvSpPr>
              <p:nvPr/>
            </p:nvSpPr>
            <p:spPr bwMode="auto">
              <a:xfrm>
                <a:off x="2468" y="3148"/>
                <a:ext cx="295" cy="478"/>
              </a:xfrm>
              <a:custGeom>
                <a:avLst/>
                <a:gdLst>
                  <a:gd name="T0" fmla="*/ 146 w 295"/>
                  <a:gd name="T1" fmla="*/ 109 h 478"/>
                  <a:gd name="T2" fmla="*/ 76 w 295"/>
                  <a:gd name="T3" fmla="*/ 51 h 478"/>
                  <a:gd name="T4" fmla="*/ 39 w 295"/>
                  <a:gd name="T5" fmla="*/ 16 h 478"/>
                  <a:gd name="T6" fmla="*/ 19 w 295"/>
                  <a:gd name="T7" fmla="*/ 0 h 478"/>
                  <a:gd name="T8" fmla="*/ 0 w 295"/>
                  <a:gd name="T9" fmla="*/ 14 h 478"/>
                  <a:gd name="T10" fmla="*/ 8 w 295"/>
                  <a:gd name="T11" fmla="*/ 28 h 478"/>
                  <a:gd name="T12" fmla="*/ 32 w 295"/>
                  <a:gd name="T13" fmla="*/ 39 h 478"/>
                  <a:gd name="T14" fmla="*/ 88 w 295"/>
                  <a:gd name="T15" fmla="*/ 91 h 478"/>
                  <a:gd name="T16" fmla="*/ 132 w 295"/>
                  <a:gd name="T17" fmla="*/ 131 h 478"/>
                  <a:gd name="T18" fmla="*/ 146 w 295"/>
                  <a:gd name="T19" fmla="*/ 151 h 478"/>
                  <a:gd name="T20" fmla="*/ 146 w 295"/>
                  <a:gd name="T21" fmla="*/ 171 h 478"/>
                  <a:gd name="T22" fmla="*/ 138 w 295"/>
                  <a:gd name="T23" fmla="*/ 186 h 478"/>
                  <a:gd name="T24" fmla="*/ 108 w 295"/>
                  <a:gd name="T25" fmla="*/ 198 h 478"/>
                  <a:gd name="T26" fmla="*/ 96 w 295"/>
                  <a:gd name="T27" fmla="*/ 179 h 478"/>
                  <a:gd name="T28" fmla="*/ 90 w 295"/>
                  <a:gd name="T29" fmla="*/ 160 h 478"/>
                  <a:gd name="T30" fmla="*/ 47 w 295"/>
                  <a:gd name="T31" fmla="*/ 113 h 478"/>
                  <a:gd name="T32" fmla="*/ 7 w 295"/>
                  <a:gd name="T33" fmla="*/ 96 h 478"/>
                  <a:gd name="T34" fmla="*/ 4 w 295"/>
                  <a:gd name="T35" fmla="*/ 120 h 478"/>
                  <a:gd name="T36" fmla="*/ 47 w 295"/>
                  <a:gd name="T37" fmla="*/ 155 h 478"/>
                  <a:gd name="T38" fmla="*/ 78 w 295"/>
                  <a:gd name="T39" fmla="*/ 190 h 478"/>
                  <a:gd name="T40" fmla="*/ 84 w 295"/>
                  <a:gd name="T41" fmla="*/ 219 h 478"/>
                  <a:gd name="T42" fmla="*/ 74 w 295"/>
                  <a:gd name="T43" fmla="*/ 238 h 478"/>
                  <a:gd name="T44" fmla="*/ 72 w 295"/>
                  <a:gd name="T45" fmla="*/ 265 h 478"/>
                  <a:gd name="T46" fmla="*/ 80 w 295"/>
                  <a:gd name="T47" fmla="*/ 281 h 478"/>
                  <a:gd name="T48" fmla="*/ 62 w 295"/>
                  <a:gd name="T49" fmla="*/ 305 h 478"/>
                  <a:gd name="T50" fmla="*/ 44 w 295"/>
                  <a:gd name="T51" fmla="*/ 341 h 478"/>
                  <a:gd name="T52" fmla="*/ 52 w 295"/>
                  <a:gd name="T53" fmla="*/ 372 h 478"/>
                  <a:gd name="T54" fmla="*/ 78 w 295"/>
                  <a:gd name="T55" fmla="*/ 399 h 478"/>
                  <a:gd name="T56" fmla="*/ 86 w 295"/>
                  <a:gd name="T57" fmla="*/ 423 h 478"/>
                  <a:gd name="T58" fmla="*/ 72 w 295"/>
                  <a:gd name="T59" fmla="*/ 456 h 478"/>
                  <a:gd name="T60" fmla="*/ 68 w 295"/>
                  <a:gd name="T61" fmla="*/ 471 h 478"/>
                  <a:gd name="T62" fmla="*/ 92 w 295"/>
                  <a:gd name="T63" fmla="*/ 478 h 478"/>
                  <a:gd name="T64" fmla="*/ 104 w 295"/>
                  <a:gd name="T65" fmla="*/ 436 h 478"/>
                  <a:gd name="T66" fmla="*/ 104 w 295"/>
                  <a:gd name="T67" fmla="*/ 391 h 478"/>
                  <a:gd name="T68" fmla="*/ 92 w 295"/>
                  <a:gd name="T69" fmla="*/ 373 h 478"/>
                  <a:gd name="T70" fmla="*/ 78 w 295"/>
                  <a:gd name="T71" fmla="*/ 356 h 478"/>
                  <a:gd name="T72" fmla="*/ 76 w 295"/>
                  <a:gd name="T73" fmla="*/ 336 h 478"/>
                  <a:gd name="T74" fmla="*/ 84 w 295"/>
                  <a:gd name="T75" fmla="*/ 313 h 478"/>
                  <a:gd name="T76" fmla="*/ 108 w 295"/>
                  <a:gd name="T77" fmla="*/ 294 h 478"/>
                  <a:gd name="T78" fmla="*/ 146 w 295"/>
                  <a:gd name="T79" fmla="*/ 290 h 478"/>
                  <a:gd name="T80" fmla="*/ 178 w 295"/>
                  <a:gd name="T81" fmla="*/ 269 h 478"/>
                  <a:gd name="T82" fmla="*/ 171 w 295"/>
                  <a:gd name="T83" fmla="*/ 259 h 478"/>
                  <a:gd name="T84" fmla="*/ 134 w 295"/>
                  <a:gd name="T85" fmla="*/ 267 h 478"/>
                  <a:gd name="T86" fmla="*/ 110 w 295"/>
                  <a:gd name="T87" fmla="*/ 267 h 478"/>
                  <a:gd name="T88" fmla="*/ 98 w 295"/>
                  <a:gd name="T89" fmla="*/ 250 h 478"/>
                  <a:gd name="T90" fmla="*/ 110 w 295"/>
                  <a:gd name="T91" fmla="*/ 226 h 478"/>
                  <a:gd name="T92" fmla="*/ 138 w 295"/>
                  <a:gd name="T93" fmla="*/ 211 h 478"/>
                  <a:gd name="T94" fmla="*/ 155 w 295"/>
                  <a:gd name="T95" fmla="*/ 188 h 478"/>
                  <a:gd name="T96" fmla="*/ 227 w 295"/>
                  <a:gd name="T97" fmla="*/ 176 h 478"/>
                  <a:gd name="T98" fmla="*/ 279 w 295"/>
                  <a:gd name="T99" fmla="*/ 164 h 478"/>
                  <a:gd name="T100" fmla="*/ 295 w 295"/>
                  <a:gd name="T101" fmla="*/ 137 h 478"/>
                  <a:gd name="T102" fmla="*/ 266 w 295"/>
                  <a:gd name="T103" fmla="*/ 139 h 478"/>
                  <a:gd name="T104" fmla="*/ 190 w 295"/>
                  <a:gd name="T105" fmla="*/ 159 h 478"/>
                  <a:gd name="T106" fmla="*/ 170 w 295"/>
                  <a:gd name="T107" fmla="*/ 160 h 478"/>
                  <a:gd name="T108" fmla="*/ 170 w 295"/>
                  <a:gd name="T109" fmla="*/ 141 h 478"/>
                  <a:gd name="T110" fmla="*/ 167 w 295"/>
                  <a:gd name="T111" fmla="*/ 120 h 478"/>
                  <a:gd name="T112" fmla="*/ 178 w 295"/>
                  <a:gd name="T113" fmla="*/ 100 h 478"/>
                  <a:gd name="T114" fmla="*/ 194 w 295"/>
                  <a:gd name="T115" fmla="*/ 83 h 478"/>
                  <a:gd name="T116" fmla="*/ 191 w 295"/>
                  <a:gd name="T117" fmla="*/ 66 h 478"/>
                  <a:gd name="T118" fmla="*/ 170 w 295"/>
                  <a:gd name="T119" fmla="*/ 54 h 478"/>
                  <a:gd name="T120" fmla="*/ 154 w 295"/>
                  <a:gd name="T121" fmla="*/ 96 h 478"/>
                  <a:gd name="T122" fmla="*/ 146 w 295"/>
                  <a:gd name="T123" fmla="*/ 109 h 47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95" h="478">
                    <a:moveTo>
                      <a:pt x="146" y="109"/>
                    </a:moveTo>
                    <a:lnTo>
                      <a:pt x="76" y="51"/>
                    </a:lnTo>
                    <a:lnTo>
                      <a:pt x="39" y="16"/>
                    </a:lnTo>
                    <a:lnTo>
                      <a:pt x="19" y="0"/>
                    </a:lnTo>
                    <a:lnTo>
                      <a:pt x="0" y="14"/>
                    </a:lnTo>
                    <a:lnTo>
                      <a:pt x="8" y="28"/>
                    </a:lnTo>
                    <a:lnTo>
                      <a:pt x="32" y="39"/>
                    </a:lnTo>
                    <a:lnTo>
                      <a:pt x="88" y="91"/>
                    </a:lnTo>
                    <a:lnTo>
                      <a:pt x="132" y="131"/>
                    </a:lnTo>
                    <a:lnTo>
                      <a:pt x="146" y="151"/>
                    </a:lnTo>
                    <a:lnTo>
                      <a:pt x="146" y="171"/>
                    </a:lnTo>
                    <a:lnTo>
                      <a:pt x="138" y="186"/>
                    </a:lnTo>
                    <a:lnTo>
                      <a:pt x="108" y="198"/>
                    </a:lnTo>
                    <a:lnTo>
                      <a:pt x="96" y="179"/>
                    </a:lnTo>
                    <a:lnTo>
                      <a:pt x="90" y="160"/>
                    </a:lnTo>
                    <a:lnTo>
                      <a:pt x="47" y="113"/>
                    </a:lnTo>
                    <a:lnTo>
                      <a:pt x="7" y="96"/>
                    </a:lnTo>
                    <a:lnTo>
                      <a:pt x="4" y="120"/>
                    </a:lnTo>
                    <a:lnTo>
                      <a:pt x="47" y="155"/>
                    </a:lnTo>
                    <a:lnTo>
                      <a:pt x="78" y="190"/>
                    </a:lnTo>
                    <a:lnTo>
                      <a:pt x="84" y="219"/>
                    </a:lnTo>
                    <a:lnTo>
                      <a:pt x="74" y="238"/>
                    </a:lnTo>
                    <a:lnTo>
                      <a:pt x="72" y="265"/>
                    </a:lnTo>
                    <a:lnTo>
                      <a:pt x="80" y="281"/>
                    </a:lnTo>
                    <a:lnTo>
                      <a:pt x="62" y="305"/>
                    </a:lnTo>
                    <a:lnTo>
                      <a:pt x="44" y="341"/>
                    </a:lnTo>
                    <a:lnTo>
                      <a:pt x="52" y="372"/>
                    </a:lnTo>
                    <a:lnTo>
                      <a:pt x="78" y="399"/>
                    </a:lnTo>
                    <a:lnTo>
                      <a:pt x="86" y="423"/>
                    </a:lnTo>
                    <a:lnTo>
                      <a:pt x="72" y="456"/>
                    </a:lnTo>
                    <a:lnTo>
                      <a:pt x="68" y="471"/>
                    </a:lnTo>
                    <a:lnTo>
                      <a:pt x="92" y="478"/>
                    </a:lnTo>
                    <a:lnTo>
                      <a:pt x="104" y="436"/>
                    </a:lnTo>
                    <a:lnTo>
                      <a:pt x="104" y="391"/>
                    </a:lnTo>
                    <a:lnTo>
                      <a:pt x="92" y="373"/>
                    </a:lnTo>
                    <a:lnTo>
                      <a:pt x="78" y="356"/>
                    </a:lnTo>
                    <a:lnTo>
                      <a:pt x="76" y="336"/>
                    </a:lnTo>
                    <a:lnTo>
                      <a:pt x="84" y="313"/>
                    </a:lnTo>
                    <a:lnTo>
                      <a:pt x="108" y="294"/>
                    </a:lnTo>
                    <a:lnTo>
                      <a:pt x="146" y="290"/>
                    </a:lnTo>
                    <a:lnTo>
                      <a:pt x="178" y="269"/>
                    </a:lnTo>
                    <a:lnTo>
                      <a:pt x="171" y="259"/>
                    </a:lnTo>
                    <a:lnTo>
                      <a:pt x="134" y="267"/>
                    </a:lnTo>
                    <a:lnTo>
                      <a:pt x="110" y="267"/>
                    </a:lnTo>
                    <a:lnTo>
                      <a:pt x="98" y="250"/>
                    </a:lnTo>
                    <a:lnTo>
                      <a:pt x="110" y="226"/>
                    </a:lnTo>
                    <a:lnTo>
                      <a:pt x="138" y="211"/>
                    </a:lnTo>
                    <a:lnTo>
                      <a:pt x="155" y="188"/>
                    </a:lnTo>
                    <a:lnTo>
                      <a:pt x="227" y="176"/>
                    </a:lnTo>
                    <a:lnTo>
                      <a:pt x="279" y="164"/>
                    </a:lnTo>
                    <a:lnTo>
                      <a:pt x="295" y="137"/>
                    </a:lnTo>
                    <a:lnTo>
                      <a:pt x="266" y="139"/>
                    </a:lnTo>
                    <a:lnTo>
                      <a:pt x="190" y="159"/>
                    </a:lnTo>
                    <a:lnTo>
                      <a:pt x="170" y="160"/>
                    </a:lnTo>
                    <a:lnTo>
                      <a:pt x="170" y="141"/>
                    </a:lnTo>
                    <a:lnTo>
                      <a:pt x="167" y="120"/>
                    </a:lnTo>
                    <a:lnTo>
                      <a:pt x="178" y="100"/>
                    </a:lnTo>
                    <a:lnTo>
                      <a:pt x="194" y="83"/>
                    </a:lnTo>
                    <a:lnTo>
                      <a:pt x="191" y="66"/>
                    </a:lnTo>
                    <a:lnTo>
                      <a:pt x="170" y="54"/>
                    </a:lnTo>
                    <a:lnTo>
                      <a:pt x="154" y="96"/>
                    </a:lnTo>
                    <a:lnTo>
                      <a:pt x="146"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7" name="Freeform 181"/>
              <p:cNvSpPr>
                <a:spLocks/>
              </p:cNvSpPr>
              <p:nvPr/>
            </p:nvSpPr>
            <p:spPr bwMode="auto">
              <a:xfrm>
                <a:off x="2270" y="3113"/>
                <a:ext cx="186" cy="781"/>
              </a:xfrm>
              <a:custGeom>
                <a:avLst/>
                <a:gdLst>
                  <a:gd name="T0" fmla="*/ 75 w 186"/>
                  <a:gd name="T1" fmla="*/ 34 h 781"/>
                  <a:gd name="T2" fmla="*/ 81 w 186"/>
                  <a:gd name="T3" fmla="*/ 78 h 781"/>
                  <a:gd name="T4" fmla="*/ 73 w 186"/>
                  <a:gd name="T5" fmla="*/ 108 h 781"/>
                  <a:gd name="T6" fmla="*/ 49 w 186"/>
                  <a:gd name="T7" fmla="*/ 155 h 781"/>
                  <a:gd name="T8" fmla="*/ 77 w 186"/>
                  <a:gd name="T9" fmla="*/ 205 h 781"/>
                  <a:gd name="T10" fmla="*/ 63 w 186"/>
                  <a:gd name="T11" fmla="*/ 221 h 781"/>
                  <a:gd name="T12" fmla="*/ 39 w 186"/>
                  <a:gd name="T13" fmla="*/ 268 h 781"/>
                  <a:gd name="T14" fmla="*/ 71 w 186"/>
                  <a:gd name="T15" fmla="*/ 304 h 781"/>
                  <a:gd name="T16" fmla="*/ 35 w 186"/>
                  <a:gd name="T17" fmla="*/ 328 h 781"/>
                  <a:gd name="T18" fmla="*/ 47 w 186"/>
                  <a:gd name="T19" fmla="*/ 366 h 781"/>
                  <a:gd name="T20" fmla="*/ 49 w 186"/>
                  <a:gd name="T21" fmla="*/ 398 h 781"/>
                  <a:gd name="T22" fmla="*/ 19 w 186"/>
                  <a:gd name="T23" fmla="*/ 436 h 781"/>
                  <a:gd name="T24" fmla="*/ 49 w 186"/>
                  <a:gd name="T25" fmla="*/ 477 h 781"/>
                  <a:gd name="T26" fmla="*/ 23 w 186"/>
                  <a:gd name="T27" fmla="*/ 515 h 781"/>
                  <a:gd name="T28" fmla="*/ 44 w 186"/>
                  <a:gd name="T29" fmla="*/ 558 h 781"/>
                  <a:gd name="T30" fmla="*/ 23 w 186"/>
                  <a:gd name="T31" fmla="*/ 585 h 781"/>
                  <a:gd name="T32" fmla="*/ 7 w 186"/>
                  <a:gd name="T33" fmla="*/ 665 h 781"/>
                  <a:gd name="T34" fmla="*/ 4 w 186"/>
                  <a:gd name="T35" fmla="*/ 743 h 781"/>
                  <a:gd name="T36" fmla="*/ 31 w 186"/>
                  <a:gd name="T37" fmla="*/ 731 h 781"/>
                  <a:gd name="T38" fmla="*/ 36 w 186"/>
                  <a:gd name="T39" fmla="*/ 687 h 781"/>
                  <a:gd name="T40" fmla="*/ 142 w 186"/>
                  <a:gd name="T41" fmla="*/ 773 h 781"/>
                  <a:gd name="T42" fmla="*/ 186 w 186"/>
                  <a:gd name="T43" fmla="*/ 777 h 781"/>
                  <a:gd name="T44" fmla="*/ 116 w 186"/>
                  <a:gd name="T45" fmla="*/ 724 h 781"/>
                  <a:gd name="T46" fmla="*/ 49 w 186"/>
                  <a:gd name="T47" fmla="*/ 657 h 781"/>
                  <a:gd name="T48" fmla="*/ 44 w 186"/>
                  <a:gd name="T49" fmla="*/ 589 h 781"/>
                  <a:gd name="T50" fmla="*/ 69 w 186"/>
                  <a:gd name="T51" fmla="*/ 562 h 781"/>
                  <a:gd name="T52" fmla="*/ 47 w 186"/>
                  <a:gd name="T53" fmla="*/ 520 h 781"/>
                  <a:gd name="T54" fmla="*/ 80 w 186"/>
                  <a:gd name="T55" fmla="*/ 479 h 781"/>
                  <a:gd name="T56" fmla="*/ 55 w 186"/>
                  <a:gd name="T57" fmla="*/ 436 h 781"/>
                  <a:gd name="T58" fmla="*/ 75 w 186"/>
                  <a:gd name="T59" fmla="*/ 401 h 781"/>
                  <a:gd name="T60" fmla="*/ 75 w 186"/>
                  <a:gd name="T61" fmla="*/ 366 h 781"/>
                  <a:gd name="T62" fmla="*/ 65 w 186"/>
                  <a:gd name="T63" fmla="*/ 343 h 781"/>
                  <a:gd name="T64" fmla="*/ 93 w 186"/>
                  <a:gd name="T65" fmla="*/ 307 h 781"/>
                  <a:gd name="T66" fmla="*/ 61 w 186"/>
                  <a:gd name="T67" fmla="*/ 264 h 781"/>
                  <a:gd name="T68" fmla="*/ 93 w 186"/>
                  <a:gd name="T69" fmla="*/ 225 h 781"/>
                  <a:gd name="T70" fmla="*/ 100 w 186"/>
                  <a:gd name="T71" fmla="*/ 185 h 781"/>
                  <a:gd name="T72" fmla="*/ 75 w 186"/>
                  <a:gd name="T73" fmla="*/ 144 h 781"/>
                  <a:gd name="T74" fmla="*/ 101 w 186"/>
                  <a:gd name="T75" fmla="*/ 93 h 781"/>
                  <a:gd name="T76" fmla="*/ 92 w 186"/>
                  <a:gd name="T77" fmla="*/ 34 h 781"/>
                  <a:gd name="T78" fmla="*/ 89 w 186"/>
                  <a:gd name="T79" fmla="*/ 7 h 78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6" h="781">
                    <a:moveTo>
                      <a:pt x="89" y="7"/>
                    </a:moveTo>
                    <a:lnTo>
                      <a:pt x="75" y="34"/>
                    </a:lnTo>
                    <a:lnTo>
                      <a:pt x="73" y="57"/>
                    </a:lnTo>
                    <a:lnTo>
                      <a:pt x="81" y="78"/>
                    </a:lnTo>
                    <a:lnTo>
                      <a:pt x="84" y="98"/>
                    </a:lnTo>
                    <a:lnTo>
                      <a:pt x="73" y="108"/>
                    </a:lnTo>
                    <a:lnTo>
                      <a:pt x="55" y="132"/>
                    </a:lnTo>
                    <a:lnTo>
                      <a:pt x="49" y="155"/>
                    </a:lnTo>
                    <a:lnTo>
                      <a:pt x="61" y="178"/>
                    </a:lnTo>
                    <a:lnTo>
                      <a:pt x="77" y="205"/>
                    </a:lnTo>
                    <a:lnTo>
                      <a:pt x="73" y="213"/>
                    </a:lnTo>
                    <a:lnTo>
                      <a:pt x="63" y="221"/>
                    </a:lnTo>
                    <a:lnTo>
                      <a:pt x="36" y="252"/>
                    </a:lnTo>
                    <a:lnTo>
                      <a:pt x="39" y="268"/>
                    </a:lnTo>
                    <a:lnTo>
                      <a:pt x="63" y="293"/>
                    </a:lnTo>
                    <a:lnTo>
                      <a:pt x="71" y="304"/>
                    </a:lnTo>
                    <a:lnTo>
                      <a:pt x="61" y="316"/>
                    </a:lnTo>
                    <a:lnTo>
                      <a:pt x="35" y="328"/>
                    </a:lnTo>
                    <a:lnTo>
                      <a:pt x="35" y="347"/>
                    </a:lnTo>
                    <a:lnTo>
                      <a:pt x="47" y="366"/>
                    </a:lnTo>
                    <a:lnTo>
                      <a:pt x="55" y="383"/>
                    </a:lnTo>
                    <a:lnTo>
                      <a:pt x="49" y="398"/>
                    </a:lnTo>
                    <a:lnTo>
                      <a:pt x="23" y="417"/>
                    </a:lnTo>
                    <a:lnTo>
                      <a:pt x="19" y="436"/>
                    </a:lnTo>
                    <a:lnTo>
                      <a:pt x="40" y="453"/>
                    </a:lnTo>
                    <a:lnTo>
                      <a:pt x="49" y="477"/>
                    </a:lnTo>
                    <a:lnTo>
                      <a:pt x="39" y="491"/>
                    </a:lnTo>
                    <a:lnTo>
                      <a:pt x="23" y="515"/>
                    </a:lnTo>
                    <a:lnTo>
                      <a:pt x="31" y="534"/>
                    </a:lnTo>
                    <a:lnTo>
                      <a:pt x="44" y="558"/>
                    </a:lnTo>
                    <a:lnTo>
                      <a:pt x="27" y="573"/>
                    </a:lnTo>
                    <a:lnTo>
                      <a:pt x="23" y="585"/>
                    </a:lnTo>
                    <a:lnTo>
                      <a:pt x="20" y="652"/>
                    </a:lnTo>
                    <a:lnTo>
                      <a:pt x="7" y="665"/>
                    </a:lnTo>
                    <a:lnTo>
                      <a:pt x="7" y="724"/>
                    </a:lnTo>
                    <a:lnTo>
                      <a:pt x="4" y="743"/>
                    </a:lnTo>
                    <a:lnTo>
                      <a:pt x="0" y="763"/>
                    </a:lnTo>
                    <a:lnTo>
                      <a:pt x="31" y="731"/>
                    </a:lnTo>
                    <a:lnTo>
                      <a:pt x="35" y="692"/>
                    </a:lnTo>
                    <a:lnTo>
                      <a:pt x="36" y="687"/>
                    </a:lnTo>
                    <a:lnTo>
                      <a:pt x="92" y="726"/>
                    </a:lnTo>
                    <a:lnTo>
                      <a:pt x="142" y="773"/>
                    </a:lnTo>
                    <a:lnTo>
                      <a:pt x="168" y="781"/>
                    </a:lnTo>
                    <a:lnTo>
                      <a:pt x="186" y="777"/>
                    </a:lnTo>
                    <a:lnTo>
                      <a:pt x="174" y="765"/>
                    </a:lnTo>
                    <a:lnTo>
                      <a:pt x="116" y="724"/>
                    </a:lnTo>
                    <a:lnTo>
                      <a:pt x="69" y="679"/>
                    </a:lnTo>
                    <a:lnTo>
                      <a:pt x="49" y="657"/>
                    </a:lnTo>
                    <a:lnTo>
                      <a:pt x="47" y="640"/>
                    </a:lnTo>
                    <a:lnTo>
                      <a:pt x="44" y="589"/>
                    </a:lnTo>
                    <a:lnTo>
                      <a:pt x="61" y="571"/>
                    </a:lnTo>
                    <a:lnTo>
                      <a:pt x="69" y="562"/>
                    </a:lnTo>
                    <a:lnTo>
                      <a:pt x="63" y="543"/>
                    </a:lnTo>
                    <a:lnTo>
                      <a:pt x="47" y="520"/>
                    </a:lnTo>
                    <a:lnTo>
                      <a:pt x="57" y="504"/>
                    </a:lnTo>
                    <a:lnTo>
                      <a:pt x="80" y="479"/>
                    </a:lnTo>
                    <a:lnTo>
                      <a:pt x="75" y="460"/>
                    </a:lnTo>
                    <a:lnTo>
                      <a:pt x="55" y="436"/>
                    </a:lnTo>
                    <a:lnTo>
                      <a:pt x="53" y="421"/>
                    </a:lnTo>
                    <a:lnTo>
                      <a:pt x="75" y="401"/>
                    </a:lnTo>
                    <a:lnTo>
                      <a:pt x="81" y="385"/>
                    </a:lnTo>
                    <a:lnTo>
                      <a:pt x="75" y="366"/>
                    </a:lnTo>
                    <a:lnTo>
                      <a:pt x="63" y="351"/>
                    </a:lnTo>
                    <a:lnTo>
                      <a:pt x="65" y="343"/>
                    </a:lnTo>
                    <a:lnTo>
                      <a:pt x="89" y="320"/>
                    </a:lnTo>
                    <a:lnTo>
                      <a:pt x="93" y="307"/>
                    </a:lnTo>
                    <a:lnTo>
                      <a:pt x="85" y="289"/>
                    </a:lnTo>
                    <a:lnTo>
                      <a:pt x="61" y="264"/>
                    </a:lnTo>
                    <a:lnTo>
                      <a:pt x="65" y="248"/>
                    </a:lnTo>
                    <a:lnTo>
                      <a:pt x="93" y="225"/>
                    </a:lnTo>
                    <a:lnTo>
                      <a:pt x="105" y="206"/>
                    </a:lnTo>
                    <a:lnTo>
                      <a:pt x="100" y="185"/>
                    </a:lnTo>
                    <a:lnTo>
                      <a:pt x="71" y="158"/>
                    </a:lnTo>
                    <a:lnTo>
                      <a:pt x="75" y="144"/>
                    </a:lnTo>
                    <a:lnTo>
                      <a:pt x="100" y="112"/>
                    </a:lnTo>
                    <a:lnTo>
                      <a:pt x="101" y="93"/>
                    </a:lnTo>
                    <a:lnTo>
                      <a:pt x="92" y="65"/>
                    </a:lnTo>
                    <a:lnTo>
                      <a:pt x="92" y="34"/>
                    </a:lnTo>
                    <a:lnTo>
                      <a:pt x="109" y="0"/>
                    </a:lnTo>
                    <a:lnTo>
                      <a:pt x="89"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8" name="Freeform 182"/>
              <p:cNvSpPr>
                <a:spLocks/>
              </p:cNvSpPr>
              <p:nvPr/>
            </p:nvSpPr>
            <p:spPr bwMode="auto">
              <a:xfrm>
                <a:off x="2254" y="3542"/>
                <a:ext cx="659" cy="694"/>
              </a:xfrm>
              <a:custGeom>
                <a:avLst/>
                <a:gdLst>
                  <a:gd name="T0" fmla="*/ 639 w 659"/>
                  <a:gd name="T1" fmla="*/ 50 h 694"/>
                  <a:gd name="T2" fmla="*/ 635 w 659"/>
                  <a:gd name="T3" fmla="*/ 110 h 694"/>
                  <a:gd name="T4" fmla="*/ 629 w 659"/>
                  <a:gd name="T5" fmla="*/ 176 h 694"/>
                  <a:gd name="T6" fmla="*/ 647 w 659"/>
                  <a:gd name="T7" fmla="*/ 246 h 694"/>
                  <a:gd name="T8" fmla="*/ 637 w 659"/>
                  <a:gd name="T9" fmla="*/ 293 h 694"/>
                  <a:gd name="T10" fmla="*/ 651 w 659"/>
                  <a:gd name="T11" fmla="*/ 349 h 694"/>
                  <a:gd name="T12" fmla="*/ 643 w 659"/>
                  <a:gd name="T13" fmla="*/ 388 h 694"/>
                  <a:gd name="T14" fmla="*/ 641 w 659"/>
                  <a:gd name="T15" fmla="*/ 450 h 694"/>
                  <a:gd name="T16" fmla="*/ 641 w 659"/>
                  <a:gd name="T17" fmla="*/ 504 h 694"/>
                  <a:gd name="T18" fmla="*/ 451 w 659"/>
                  <a:gd name="T19" fmla="*/ 623 h 694"/>
                  <a:gd name="T20" fmla="*/ 352 w 659"/>
                  <a:gd name="T21" fmla="*/ 694 h 694"/>
                  <a:gd name="T22" fmla="*/ 114 w 659"/>
                  <a:gd name="T23" fmla="*/ 537 h 694"/>
                  <a:gd name="T24" fmla="*/ 0 w 659"/>
                  <a:gd name="T25" fmla="*/ 450 h 694"/>
                  <a:gd name="T26" fmla="*/ 26 w 659"/>
                  <a:gd name="T27" fmla="*/ 376 h 694"/>
                  <a:gd name="T28" fmla="*/ 24 w 659"/>
                  <a:gd name="T29" fmla="*/ 298 h 694"/>
                  <a:gd name="T30" fmla="*/ 47 w 659"/>
                  <a:gd name="T31" fmla="*/ 320 h 694"/>
                  <a:gd name="T32" fmla="*/ 157 w 659"/>
                  <a:gd name="T33" fmla="*/ 396 h 694"/>
                  <a:gd name="T34" fmla="*/ 185 w 659"/>
                  <a:gd name="T35" fmla="*/ 439 h 694"/>
                  <a:gd name="T36" fmla="*/ 42 w 659"/>
                  <a:gd name="T37" fmla="*/ 353 h 694"/>
                  <a:gd name="T38" fmla="*/ 34 w 659"/>
                  <a:gd name="T39" fmla="*/ 410 h 694"/>
                  <a:gd name="T40" fmla="*/ 35 w 659"/>
                  <a:gd name="T41" fmla="*/ 459 h 694"/>
                  <a:gd name="T42" fmla="*/ 246 w 659"/>
                  <a:gd name="T43" fmla="*/ 599 h 694"/>
                  <a:gd name="T44" fmla="*/ 392 w 659"/>
                  <a:gd name="T45" fmla="*/ 642 h 694"/>
                  <a:gd name="T46" fmla="*/ 574 w 659"/>
                  <a:gd name="T47" fmla="*/ 520 h 694"/>
                  <a:gd name="T48" fmla="*/ 624 w 659"/>
                  <a:gd name="T49" fmla="*/ 463 h 694"/>
                  <a:gd name="T50" fmla="*/ 624 w 659"/>
                  <a:gd name="T51" fmla="*/ 403 h 694"/>
                  <a:gd name="T52" fmla="*/ 494 w 659"/>
                  <a:gd name="T53" fmla="*/ 434 h 694"/>
                  <a:gd name="T54" fmla="*/ 553 w 659"/>
                  <a:gd name="T55" fmla="*/ 391 h 694"/>
                  <a:gd name="T56" fmla="*/ 624 w 659"/>
                  <a:gd name="T57" fmla="*/ 322 h 694"/>
                  <a:gd name="T58" fmla="*/ 529 w 659"/>
                  <a:gd name="T59" fmla="*/ 322 h 694"/>
                  <a:gd name="T60" fmla="*/ 435 w 659"/>
                  <a:gd name="T61" fmla="*/ 333 h 694"/>
                  <a:gd name="T62" fmla="*/ 596 w 659"/>
                  <a:gd name="T63" fmla="*/ 273 h 694"/>
                  <a:gd name="T64" fmla="*/ 628 w 659"/>
                  <a:gd name="T65" fmla="*/ 226 h 694"/>
                  <a:gd name="T66" fmla="*/ 562 w 659"/>
                  <a:gd name="T67" fmla="*/ 210 h 694"/>
                  <a:gd name="T68" fmla="*/ 413 w 659"/>
                  <a:gd name="T69" fmla="*/ 282 h 694"/>
                  <a:gd name="T70" fmla="*/ 476 w 659"/>
                  <a:gd name="T71" fmla="*/ 230 h 694"/>
                  <a:gd name="T72" fmla="*/ 601 w 659"/>
                  <a:gd name="T73" fmla="*/ 167 h 694"/>
                  <a:gd name="T74" fmla="*/ 613 w 659"/>
                  <a:gd name="T75" fmla="*/ 122 h 694"/>
                  <a:gd name="T76" fmla="*/ 562 w 659"/>
                  <a:gd name="T77" fmla="*/ 110 h 694"/>
                  <a:gd name="T78" fmla="*/ 415 w 659"/>
                  <a:gd name="T79" fmla="*/ 180 h 694"/>
                  <a:gd name="T80" fmla="*/ 491 w 659"/>
                  <a:gd name="T81" fmla="*/ 114 h 694"/>
                  <a:gd name="T82" fmla="*/ 608 w 659"/>
                  <a:gd name="T83" fmla="*/ 69 h 694"/>
                  <a:gd name="T84" fmla="*/ 645 w 659"/>
                  <a:gd name="T85" fmla="*/ 0 h 69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59" h="694">
                    <a:moveTo>
                      <a:pt x="645" y="0"/>
                    </a:moveTo>
                    <a:lnTo>
                      <a:pt x="649" y="22"/>
                    </a:lnTo>
                    <a:lnTo>
                      <a:pt x="639" y="50"/>
                    </a:lnTo>
                    <a:lnTo>
                      <a:pt x="628" y="71"/>
                    </a:lnTo>
                    <a:lnTo>
                      <a:pt x="629" y="90"/>
                    </a:lnTo>
                    <a:lnTo>
                      <a:pt x="635" y="110"/>
                    </a:lnTo>
                    <a:lnTo>
                      <a:pt x="639" y="129"/>
                    </a:lnTo>
                    <a:lnTo>
                      <a:pt x="628" y="153"/>
                    </a:lnTo>
                    <a:lnTo>
                      <a:pt x="629" y="176"/>
                    </a:lnTo>
                    <a:lnTo>
                      <a:pt x="641" y="200"/>
                    </a:lnTo>
                    <a:lnTo>
                      <a:pt x="649" y="222"/>
                    </a:lnTo>
                    <a:lnTo>
                      <a:pt x="647" y="246"/>
                    </a:lnTo>
                    <a:lnTo>
                      <a:pt x="637" y="263"/>
                    </a:lnTo>
                    <a:lnTo>
                      <a:pt x="629" y="278"/>
                    </a:lnTo>
                    <a:lnTo>
                      <a:pt x="637" y="293"/>
                    </a:lnTo>
                    <a:lnTo>
                      <a:pt x="652" y="306"/>
                    </a:lnTo>
                    <a:lnTo>
                      <a:pt x="659" y="332"/>
                    </a:lnTo>
                    <a:lnTo>
                      <a:pt x="651" y="349"/>
                    </a:lnTo>
                    <a:lnTo>
                      <a:pt x="637" y="361"/>
                    </a:lnTo>
                    <a:lnTo>
                      <a:pt x="629" y="376"/>
                    </a:lnTo>
                    <a:lnTo>
                      <a:pt x="643" y="388"/>
                    </a:lnTo>
                    <a:lnTo>
                      <a:pt x="655" y="404"/>
                    </a:lnTo>
                    <a:lnTo>
                      <a:pt x="652" y="426"/>
                    </a:lnTo>
                    <a:lnTo>
                      <a:pt x="641" y="450"/>
                    </a:lnTo>
                    <a:lnTo>
                      <a:pt x="651" y="461"/>
                    </a:lnTo>
                    <a:lnTo>
                      <a:pt x="656" y="489"/>
                    </a:lnTo>
                    <a:lnTo>
                      <a:pt x="641" y="504"/>
                    </a:lnTo>
                    <a:lnTo>
                      <a:pt x="565" y="549"/>
                    </a:lnTo>
                    <a:lnTo>
                      <a:pt x="499" y="584"/>
                    </a:lnTo>
                    <a:lnTo>
                      <a:pt x="451" y="623"/>
                    </a:lnTo>
                    <a:lnTo>
                      <a:pt x="401" y="657"/>
                    </a:lnTo>
                    <a:lnTo>
                      <a:pt x="368" y="689"/>
                    </a:lnTo>
                    <a:lnTo>
                      <a:pt x="352" y="694"/>
                    </a:lnTo>
                    <a:lnTo>
                      <a:pt x="291" y="663"/>
                    </a:lnTo>
                    <a:lnTo>
                      <a:pt x="208" y="604"/>
                    </a:lnTo>
                    <a:lnTo>
                      <a:pt x="114" y="537"/>
                    </a:lnTo>
                    <a:lnTo>
                      <a:pt x="43" y="490"/>
                    </a:lnTo>
                    <a:lnTo>
                      <a:pt x="10" y="474"/>
                    </a:lnTo>
                    <a:lnTo>
                      <a:pt x="0" y="450"/>
                    </a:lnTo>
                    <a:lnTo>
                      <a:pt x="0" y="420"/>
                    </a:lnTo>
                    <a:lnTo>
                      <a:pt x="8" y="400"/>
                    </a:lnTo>
                    <a:lnTo>
                      <a:pt x="26" y="376"/>
                    </a:lnTo>
                    <a:lnTo>
                      <a:pt x="18" y="349"/>
                    </a:lnTo>
                    <a:lnTo>
                      <a:pt x="20" y="324"/>
                    </a:lnTo>
                    <a:lnTo>
                      <a:pt x="24" y="298"/>
                    </a:lnTo>
                    <a:lnTo>
                      <a:pt x="34" y="254"/>
                    </a:lnTo>
                    <a:lnTo>
                      <a:pt x="43" y="302"/>
                    </a:lnTo>
                    <a:lnTo>
                      <a:pt x="47" y="320"/>
                    </a:lnTo>
                    <a:lnTo>
                      <a:pt x="66" y="337"/>
                    </a:lnTo>
                    <a:lnTo>
                      <a:pt x="102" y="359"/>
                    </a:lnTo>
                    <a:lnTo>
                      <a:pt x="157" y="396"/>
                    </a:lnTo>
                    <a:lnTo>
                      <a:pt x="183" y="414"/>
                    </a:lnTo>
                    <a:lnTo>
                      <a:pt x="193" y="427"/>
                    </a:lnTo>
                    <a:lnTo>
                      <a:pt x="185" y="439"/>
                    </a:lnTo>
                    <a:lnTo>
                      <a:pt x="160" y="423"/>
                    </a:lnTo>
                    <a:lnTo>
                      <a:pt x="97" y="384"/>
                    </a:lnTo>
                    <a:lnTo>
                      <a:pt x="42" y="353"/>
                    </a:lnTo>
                    <a:lnTo>
                      <a:pt x="55" y="380"/>
                    </a:lnTo>
                    <a:lnTo>
                      <a:pt x="54" y="395"/>
                    </a:lnTo>
                    <a:lnTo>
                      <a:pt x="34" y="410"/>
                    </a:lnTo>
                    <a:lnTo>
                      <a:pt x="28" y="418"/>
                    </a:lnTo>
                    <a:lnTo>
                      <a:pt x="31" y="442"/>
                    </a:lnTo>
                    <a:lnTo>
                      <a:pt x="35" y="459"/>
                    </a:lnTo>
                    <a:lnTo>
                      <a:pt x="81" y="489"/>
                    </a:lnTo>
                    <a:lnTo>
                      <a:pt x="173" y="552"/>
                    </a:lnTo>
                    <a:lnTo>
                      <a:pt x="246" y="599"/>
                    </a:lnTo>
                    <a:lnTo>
                      <a:pt x="301" y="638"/>
                    </a:lnTo>
                    <a:lnTo>
                      <a:pt x="354" y="665"/>
                    </a:lnTo>
                    <a:lnTo>
                      <a:pt x="392" y="642"/>
                    </a:lnTo>
                    <a:lnTo>
                      <a:pt x="444" y="599"/>
                    </a:lnTo>
                    <a:lnTo>
                      <a:pt x="503" y="552"/>
                    </a:lnTo>
                    <a:lnTo>
                      <a:pt x="574" y="520"/>
                    </a:lnTo>
                    <a:lnTo>
                      <a:pt x="608" y="493"/>
                    </a:lnTo>
                    <a:lnTo>
                      <a:pt x="633" y="478"/>
                    </a:lnTo>
                    <a:lnTo>
                      <a:pt x="624" y="463"/>
                    </a:lnTo>
                    <a:lnTo>
                      <a:pt x="617" y="438"/>
                    </a:lnTo>
                    <a:lnTo>
                      <a:pt x="621" y="426"/>
                    </a:lnTo>
                    <a:lnTo>
                      <a:pt x="624" y="403"/>
                    </a:lnTo>
                    <a:lnTo>
                      <a:pt x="613" y="391"/>
                    </a:lnTo>
                    <a:lnTo>
                      <a:pt x="569" y="406"/>
                    </a:lnTo>
                    <a:lnTo>
                      <a:pt x="494" y="434"/>
                    </a:lnTo>
                    <a:lnTo>
                      <a:pt x="478" y="430"/>
                    </a:lnTo>
                    <a:lnTo>
                      <a:pt x="487" y="410"/>
                    </a:lnTo>
                    <a:lnTo>
                      <a:pt x="553" y="391"/>
                    </a:lnTo>
                    <a:lnTo>
                      <a:pt x="592" y="365"/>
                    </a:lnTo>
                    <a:lnTo>
                      <a:pt x="613" y="336"/>
                    </a:lnTo>
                    <a:lnTo>
                      <a:pt x="624" y="322"/>
                    </a:lnTo>
                    <a:lnTo>
                      <a:pt x="609" y="301"/>
                    </a:lnTo>
                    <a:lnTo>
                      <a:pt x="578" y="310"/>
                    </a:lnTo>
                    <a:lnTo>
                      <a:pt x="529" y="322"/>
                    </a:lnTo>
                    <a:lnTo>
                      <a:pt x="459" y="341"/>
                    </a:lnTo>
                    <a:lnTo>
                      <a:pt x="424" y="352"/>
                    </a:lnTo>
                    <a:lnTo>
                      <a:pt x="435" y="333"/>
                    </a:lnTo>
                    <a:lnTo>
                      <a:pt x="486" y="318"/>
                    </a:lnTo>
                    <a:lnTo>
                      <a:pt x="542" y="289"/>
                    </a:lnTo>
                    <a:lnTo>
                      <a:pt x="596" y="273"/>
                    </a:lnTo>
                    <a:lnTo>
                      <a:pt x="612" y="259"/>
                    </a:lnTo>
                    <a:lnTo>
                      <a:pt x="620" y="247"/>
                    </a:lnTo>
                    <a:lnTo>
                      <a:pt x="628" y="226"/>
                    </a:lnTo>
                    <a:lnTo>
                      <a:pt x="621" y="208"/>
                    </a:lnTo>
                    <a:lnTo>
                      <a:pt x="601" y="196"/>
                    </a:lnTo>
                    <a:lnTo>
                      <a:pt x="562" y="210"/>
                    </a:lnTo>
                    <a:lnTo>
                      <a:pt x="499" y="235"/>
                    </a:lnTo>
                    <a:lnTo>
                      <a:pt x="443" y="269"/>
                    </a:lnTo>
                    <a:lnTo>
                      <a:pt x="413" y="282"/>
                    </a:lnTo>
                    <a:lnTo>
                      <a:pt x="409" y="267"/>
                    </a:lnTo>
                    <a:lnTo>
                      <a:pt x="417" y="254"/>
                    </a:lnTo>
                    <a:lnTo>
                      <a:pt x="476" y="230"/>
                    </a:lnTo>
                    <a:lnTo>
                      <a:pt x="531" y="200"/>
                    </a:lnTo>
                    <a:lnTo>
                      <a:pt x="569" y="176"/>
                    </a:lnTo>
                    <a:lnTo>
                      <a:pt x="601" y="167"/>
                    </a:lnTo>
                    <a:lnTo>
                      <a:pt x="608" y="152"/>
                    </a:lnTo>
                    <a:lnTo>
                      <a:pt x="605" y="133"/>
                    </a:lnTo>
                    <a:lnTo>
                      <a:pt x="613" y="122"/>
                    </a:lnTo>
                    <a:lnTo>
                      <a:pt x="609" y="112"/>
                    </a:lnTo>
                    <a:lnTo>
                      <a:pt x="596" y="105"/>
                    </a:lnTo>
                    <a:lnTo>
                      <a:pt x="562" y="110"/>
                    </a:lnTo>
                    <a:lnTo>
                      <a:pt x="498" y="133"/>
                    </a:lnTo>
                    <a:lnTo>
                      <a:pt x="443" y="165"/>
                    </a:lnTo>
                    <a:lnTo>
                      <a:pt x="415" y="180"/>
                    </a:lnTo>
                    <a:lnTo>
                      <a:pt x="404" y="163"/>
                    </a:lnTo>
                    <a:lnTo>
                      <a:pt x="423" y="148"/>
                    </a:lnTo>
                    <a:lnTo>
                      <a:pt x="491" y="114"/>
                    </a:lnTo>
                    <a:lnTo>
                      <a:pt x="550" y="90"/>
                    </a:lnTo>
                    <a:lnTo>
                      <a:pt x="596" y="77"/>
                    </a:lnTo>
                    <a:lnTo>
                      <a:pt x="608" y="69"/>
                    </a:lnTo>
                    <a:lnTo>
                      <a:pt x="621" y="30"/>
                    </a:lnTo>
                    <a:lnTo>
                      <a:pt x="633" y="14"/>
                    </a:lnTo>
                    <a:lnTo>
                      <a:pt x="64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9" name="Freeform 183"/>
              <p:cNvSpPr>
                <a:spLocks/>
              </p:cNvSpPr>
              <p:nvPr/>
            </p:nvSpPr>
            <p:spPr bwMode="auto">
              <a:xfrm>
                <a:off x="2534" y="3750"/>
                <a:ext cx="81" cy="380"/>
              </a:xfrm>
              <a:custGeom>
                <a:avLst/>
                <a:gdLst>
                  <a:gd name="T0" fmla="*/ 33 w 81"/>
                  <a:gd name="T1" fmla="*/ 0 h 380"/>
                  <a:gd name="T2" fmla="*/ 50 w 81"/>
                  <a:gd name="T3" fmla="*/ 44 h 380"/>
                  <a:gd name="T4" fmla="*/ 50 w 81"/>
                  <a:gd name="T5" fmla="*/ 61 h 380"/>
                  <a:gd name="T6" fmla="*/ 33 w 81"/>
                  <a:gd name="T7" fmla="*/ 87 h 380"/>
                  <a:gd name="T8" fmla="*/ 28 w 81"/>
                  <a:gd name="T9" fmla="*/ 106 h 380"/>
                  <a:gd name="T10" fmla="*/ 30 w 81"/>
                  <a:gd name="T11" fmla="*/ 125 h 380"/>
                  <a:gd name="T12" fmla="*/ 47 w 81"/>
                  <a:gd name="T13" fmla="*/ 146 h 380"/>
                  <a:gd name="T14" fmla="*/ 54 w 81"/>
                  <a:gd name="T15" fmla="*/ 170 h 380"/>
                  <a:gd name="T16" fmla="*/ 41 w 81"/>
                  <a:gd name="T17" fmla="*/ 188 h 380"/>
                  <a:gd name="T18" fmla="*/ 34 w 81"/>
                  <a:gd name="T19" fmla="*/ 210 h 380"/>
                  <a:gd name="T20" fmla="*/ 43 w 81"/>
                  <a:gd name="T21" fmla="*/ 235 h 380"/>
                  <a:gd name="T22" fmla="*/ 67 w 81"/>
                  <a:gd name="T23" fmla="*/ 258 h 380"/>
                  <a:gd name="T24" fmla="*/ 71 w 81"/>
                  <a:gd name="T25" fmla="*/ 283 h 380"/>
                  <a:gd name="T26" fmla="*/ 55 w 81"/>
                  <a:gd name="T27" fmla="*/ 298 h 380"/>
                  <a:gd name="T28" fmla="*/ 47 w 81"/>
                  <a:gd name="T29" fmla="*/ 317 h 380"/>
                  <a:gd name="T30" fmla="*/ 63 w 81"/>
                  <a:gd name="T31" fmla="*/ 336 h 380"/>
                  <a:gd name="T32" fmla="*/ 81 w 81"/>
                  <a:gd name="T33" fmla="*/ 362 h 380"/>
                  <a:gd name="T34" fmla="*/ 81 w 81"/>
                  <a:gd name="T35" fmla="*/ 380 h 380"/>
                  <a:gd name="T36" fmla="*/ 64 w 81"/>
                  <a:gd name="T37" fmla="*/ 358 h 380"/>
                  <a:gd name="T38" fmla="*/ 45 w 81"/>
                  <a:gd name="T39" fmla="*/ 343 h 380"/>
                  <a:gd name="T40" fmla="*/ 26 w 81"/>
                  <a:gd name="T41" fmla="*/ 323 h 380"/>
                  <a:gd name="T42" fmla="*/ 26 w 81"/>
                  <a:gd name="T43" fmla="*/ 314 h 380"/>
                  <a:gd name="T44" fmla="*/ 33 w 81"/>
                  <a:gd name="T45" fmla="*/ 291 h 380"/>
                  <a:gd name="T46" fmla="*/ 51 w 81"/>
                  <a:gd name="T47" fmla="*/ 280 h 380"/>
                  <a:gd name="T48" fmla="*/ 50 w 81"/>
                  <a:gd name="T49" fmla="*/ 262 h 380"/>
                  <a:gd name="T50" fmla="*/ 30 w 81"/>
                  <a:gd name="T51" fmla="*/ 253 h 380"/>
                  <a:gd name="T52" fmla="*/ 17 w 81"/>
                  <a:gd name="T53" fmla="*/ 235 h 380"/>
                  <a:gd name="T54" fmla="*/ 9 w 81"/>
                  <a:gd name="T55" fmla="*/ 218 h 380"/>
                  <a:gd name="T56" fmla="*/ 13 w 81"/>
                  <a:gd name="T57" fmla="*/ 203 h 380"/>
                  <a:gd name="T58" fmla="*/ 21 w 81"/>
                  <a:gd name="T59" fmla="*/ 184 h 380"/>
                  <a:gd name="T60" fmla="*/ 30 w 81"/>
                  <a:gd name="T61" fmla="*/ 168 h 380"/>
                  <a:gd name="T62" fmla="*/ 28 w 81"/>
                  <a:gd name="T63" fmla="*/ 159 h 380"/>
                  <a:gd name="T64" fmla="*/ 16 w 81"/>
                  <a:gd name="T65" fmla="*/ 128 h 380"/>
                  <a:gd name="T66" fmla="*/ 3 w 81"/>
                  <a:gd name="T67" fmla="*/ 103 h 380"/>
                  <a:gd name="T68" fmla="*/ 0 w 81"/>
                  <a:gd name="T69" fmla="*/ 91 h 380"/>
                  <a:gd name="T70" fmla="*/ 13 w 81"/>
                  <a:gd name="T71" fmla="*/ 63 h 380"/>
                  <a:gd name="T72" fmla="*/ 30 w 81"/>
                  <a:gd name="T73" fmla="*/ 48 h 380"/>
                  <a:gd name="T74" fmla="*/ 28 w 81"/>
                  <a:gd name="T75" fmla="*/ 36 h 380"/>
                  <a:gd name="T76" fmla="*/ 33 w 81"/>
                  <a:gd name="T77" fmla="*/ 0 h 38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81" h="380">
                    <a:moveTo>
                      <a:pt x="33" y="0"/>
                    </a:moveTo>
                    <a:lnTo>
                      <a:pt x="50" y="44"/>
                    </a:lnTo>
                    <a:lnTo>
                      <a:pt x="50" y="61"/>
                    </a:lnTo>
                    <a:lnTo>
                      <a:pt x="33" y="87"/>
                    </a:lnTo>
                    <a:lnTo>
                      <a:pt x="28" y="106"/>
                    </a:lnTo>
                    <a:lnTo>
                      <a:pt x="30" y="125"/>
                    </a:lnTo>
                    <a:lnTo>
                      <a:pt x="47" y="146"/>
                    </a:lnTo>
                    <a:lnTo>
                      <a:pt x="54" y="170"/>
                    </a:lnTo>
                    <a:lnTo>
                      <a:pt x="41" y="188"/>
                    </a:lnTo>
                    <a:lnTo>
                      <a:pt x="34" y="210"/>
                    </a:lnTo>
                    <a:lnTo>
                      <a:pt x="43" y="235"/>
                    </a:lnTo>
                    <a:lnTo>
                      <a:pt x="67" y="258"/>
                    </a:lnTo>
                    <a:lnTo>
                      <a:pt x="71" y="283"/>
                    </a:lnTo>
                    <a:lnTo>
                      <a:pt x="55" y="298"/>
                    </a:lnTo>
                    <a:lnTo>
                      <a:pt x="47" y="317"/>
                    </a:lnTo>
                    <a:lnTo>
                      <a:pt x="63" y="336"/>
                    </a:lnTo>
                    <a:lnTo>
                      <a:pt x="81" y="362"/>
                    </a:lnTo>
                    <a:lnTo>
                      <a:pt x="81" y="380"/>
                    </a:lnTo>
                    <a:lnTo>
                      <a:pt x="64" y="358"/>
                    </a:lnTo>
                    <a:lnTo>
                      <a:pt x="45" y="343"/>
                    </a:lnTo>
                    <a:lnTo>
                      <a:pt x="26" y="323"/>
                    </a:lnTo>
                    <a:lnTo>
                      <a:pt x="26" y="314"/>
                    </a:lnTo>
                    <a:lnTo>
                      <a:pt x="33" y="291"/>
                    </a:lnTo>
                    <a:lnTo>
                      <a:pt x="51" y="280"/>
                    </a:lnTo>
                    <a:lnTo>
                      <a:pt x="50" y="262"/>
                    </a:lnTo>
                    <a:lnTo>
                      <a:pt x="30" y="253"/>
                    </a:lnTo>
                    <a:lnTo>
                      <a:pt x="17" y="235"/>
                    </a:lnTo>
                    <a:lnTo>
                      <a:pt x="9" y="218"/>
                    </a:lnTo>
                    <a:lnTo>
                      <a:pt x="13" y="203"/>
                    </a:lnTo>
                    <a:lnTo>
                      <a:pt x="21" y="184"/>
                    </a:lnTo>
                    <a:lnTo>
                      <a:pt x="30" y="168"/>
                    </a:lnTo>
                    <a:lnTo>
                      <a:pt x="28" y="159"/>
                    </a:lnTo>
                    <a:lnTo>
                      <a:pt x="16" y="128"/>
                    </a:lnTo>
                    <a:lnTo>
                      <a:pt x="3" y="103"/>
                    </a:lnTo>
                    <a:lnTo>
                      <a:pt x="0" y="91"/>
                    </a:lnTo>
                    <a:lnTo>
                      <a:pt x="13" y="63"/>
                    </a:lnTo>
                    <a:lnTo>
                      <a:pt x="30" y="48"/>
                    </a:lnTo>
                    <a:lnTo>
                      <a:pt x="28" y="36"/>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47288" name="Text Box 184"/>
          <p:cNvSpPr txBox="1">
            <a:spLocks noChangeArrowheads="1"/>
          </p:cNvSpPr>
          <p:nvPr/>
        </p:nvSpPr>
        <p:spPr bwMode="auto">
          <a:xfrm>
            <a:off x="6096001" y="5356226"/>
            <a:ext cx="3806825"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20000"/>
              </a:spcBef>
              <a:buClr>
                <a:schemeClr val="accent2"/>
              </a:buClr>
              <a:buFont typeface="Monotype Sorts" pitchFamily="2" charset="2"/>
              <a:buNone/>
            </a:pPr>
            <a:r>
              <a:rPr kumimoji="1" lang="en-US" altLang="en-US" sz="2800" i="1" dirty="0">
                <a:latin typeface="Comic Sans MS" panose="030F0702030302020204" pitchFamily="66" charset="0"/>
              </a:rPr>
              <a:t>Impersonal computing</a:t>
            </a:r>
            <a:endParaRPr kumimoji="1" lang="en-US" altLang="en-US" sz="3200" dirty="0">
              <a:latin typeface="Comic Sans MS" panose="030F0702030302020204" pitchFamily="66" charset="0"/>
            </a:endParaRPr>
          </a:p>
        </p:txBody>
      </p:sp>
    </p:spTree>
    <p:extLst>
      <p:ext uri="{BB962C8B-B14F-4D97-AF65-F5344CB8AC3E}">
        <p14:creationId xmlns:p14="http://schemas.microsoft.com/office/powerpoint/2010/main" val="24997174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7109"/>
                                        </p:tgtEl>
                                        <p:attrNameLst>
                                          <p:attrName>style.visibility</p:attrName>
                                        </p:attrNameLst>
                                      </p:cBhvr>
                                      <p:to>
                                        <p:strVal val="visible"/>
                                      </p:to>
                                    </p:set>
                                    <p:anim calcmode="lin" valueType="num">
                                      <p:cBhvr additive="base">
                                        <p:cTn id="7" dur="500" fill="hold"/>
                                        <p:tgtEl>
                                          <p:spTgt spid="47109"/>
                                        </p:tgtEl>
                                        <p:attrNameLst>
                                          <p:attrName>ppt_x</p:attrName>
                                        </p:attrNameLst>
                                      </p:cBhvr>
                                      <p:tavLst>
                                        <p:tav tm="0">
                                          <p:val>
                                            <p:strVal val="0-#ppt_w/2"/>
                                          </p:val>
                                        </p:tav>
                                        <p:tav tm="100000">
                                          <p:val>
                                            <p:strVal val="#ppt_x"/>
                                          </p:val>
                                        </p:tav>
                                      </p:tavLst>
                                    </p:anim>
                                    <p:anim calcmode="lin" valueType="num">
                                      <p:cBhvr additive="base">
                                        <p:cTn id="8" dur="500" fill="hold"/>
                                        <p:tgtEl>
                                          <p:spTgt spid="4710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47188"/>
                                        </p:tgtEl>
                                        <p:attrNameLst>
                                          <p:attrName>style.visibility</p:attrName>
                                        </p:attrNameLst>
                                      </p:cBhvr>
                                      <p:to>
                                        <p:strVal val="visible"/>
                                      </p:to>
                                    </p:set>
                                    <p:anim calcmode="lin" valueType="num">
                                      <p:cBhvr additive="base">
                                        <p:cTn id="13" dur="500" fill="hold"/>
                                        <p:tgtEl>
                                          <p:spTgt spid="47188"/>
                                        </p:tgtEl>
                                        <p:attrNameLst>
                                          <p:attrName>ppt_x</p:attrName>
                                        </p:attrNameLst>
                                      </p:cBhvr>
                                      <p:tavLst>
                                        <p:tav tm="0">
                                          <p:val>
                                            <p:strVal val="1+#ppt_w/2"/>
                                          </p:val>
                                        </p:tav>
                                        <p:tav tm="100000">
                                          <p:val>
                                            <p:strVal val="#ppt_x"/>
                                          </p:val>
                                        </p:tav>
                                      </p:tavLst>
                                    </p:anim>
                                    <p:anim calcmode="lin" valueType="num">
                                      <p:cBhvr additive="base">
                                        <p:cTn id="14" dur="500" fill="hold"/>
                                        <p:tgtEl>
                                          <p:spTgt spid="4718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nodeType="clickEffect">
                                  <p:stCondLst>
                                    <p:cond delay="0"/>
                                  </p:stCondLst>
                                  <p:childTnLst>
                                    <p:set>
                                      <p:cBhvr>
                                        <p:cTn id="18" dur="1" fill="hold">
                                          <p:stCondLst>
                                            <p:cond delay="0"/>
                                          </p:stCondLst>
                                        </p:cTn>
                                        <p:tgtEl>
                                          <p:spTgt spid="47213"/>
                                        </p:tgtEl>
                                        <p:attrNameLst>
                                          <p:attrName>style.visibility</p:attrName>
                                        </p:attrNameLst>
                                      </p:cBhvr>
                                      <p:to>
                                        <p:strVal val="visible"/>
                                      </p:to>
                                    </p:set>
                                    <p:anim calcmode="lin" valueType="num">
                                      <p:cBhvr additive="base">
                                        <p:cTn id="19" dur="500" fill="hold"/>
                                        <p:tgtEl>
                                          <p:spTgt spid="47213"/>
                                        </p:tgtEl>
                                        <p:attrNameLst>
                                          <p:attrName>ppt_x</p:attrName>
                                        </p:attrNameLst>
                                      </p:cBhvr>
                                      <p:tavLst>
                                        <p:tav tm="0">
                                          <p:val>
                                            <p:strVal val="#ppt_x"/>
                                          </p:val>
                                        </p:tav>
                                        <p:tav tm="100000">
                                          <p:val>
                                            <p:strVal val="#ppt_x"/>
                                          </p:val>
                                        </p:tav>
                                      </p:tavLst>
                                    </p:anim>
                                    <p:anim calcmode="lin" valueType="num">
                                      <p:cBhvr additive="base">
                                        <p:cTn id="20" dur="500" fill="hold"/>
                                        <p:tgtEl>
                                          <p:spTgt spid="47213"/>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47108"/>
                                        </p:tgtEl>
                                        <p:attrNameLst>
                                          <p:attrName>style.visibility</p:attrName>
                                        </p:attrNameLst>
                                      </p:cBhvr>
                                      <p:to>
                                        <p:strVal val="visible"/>
                                      </p:to>
                                    </p:set>
                                    <p:anim calcmode="lin" valueType="num">
                                      <p:cBhvr additive="base">
                                        <p:cTn id="25" dur="500" fill="hold"/>
                                        <p:tgtEl>
                                          <p:spTgt spid="47108"/>
                                        </p:tgtEl>
                                        <p:attrNameLst>
                                          <p:attrName>ppt_x</p:attrName>
                                        </p:attrNameLst>
                                      </p:cBhvr>
                                      <p:tavLst>
                                        <p:tav tm="0">
                                          <p:val>
                                            <p:strVal val="1+#ppt_w/2"/>
                                          </p:val>
                                        </p:tav>
                                        <p:tav tm="100000">
                                          <p:val>
                                            <p:strVal val="#ppt_x"/>
                                          </p:val>
                                        </p:tav>
                                      </p:tavLst>
                                    </p:anim>
                                    <p:anim calcmode="lin" valueType="num">
                                      <p:cBhvr additive="base">
                                        <p:cTn id="26" dur="500" fill="hold"/>
                                        <p:tgtEl>
                                          <p:spTgt spid="4710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47288"/>
                                        </p:tgtEl>
                                        <p:attrNameLst>
                                          <p:attrName>style.visibility</p:attrName>
                                        </p:attrNameLst>
                                      </p:cBhvr>
                                      <p:to>
                                        <p:strVal val="visible"/>
                                      </p:to>
                                    </p:set>
                                    <p:animEffect transition="in" filter="dissolve">
                                      <p:cBhvr>
                                        <p:cTn id="31" dur="500"/>
                                        <p:tgtEl>
                                          <p:spTgt spid="47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88"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Batch Processing systems</a:t>
            </a:r>
          </a:p>
        </p:txBody>
      </p:sp>
      <p:sp>
        <p:nvSpPr>
          <p:cNvPr id="7" name="Content Placeholder 6"/>
          <p:cNvSpPr>
            <a:spLocks noGrp="1"/>
          </p:cNvSpPr>
          <p:nvPr>
            <p:ph idx="1"/>
          </p:nvPr>
        </p:nvSpPr>
        <p:spPr>
          <a:xfrm>
            <a:off x="335360" y="1846263"/>
            <a:ext cx="11665296" cy="4022725"/>
          </a:xfrm>
        </p:spPr>
        <p:txBody>
          <a:bodyPr/>
          <a:lstStyle/>
          <a:p>
            <a:pPr algn="l"/>
            <a:r>
              <a:rPr lang="en-GB" sz="2600" b="0" i="1" dirty="0">
                <a:solidFill>
                  <a:srgbClr val="222222"/>
                </a:solidFill>
                <a:effectLst/>
                <a:latin typeface="Times New Roman" panose="02020603050405020304" pitchFamily="18" charset="0"/>
                <a:cs typeface="Times New Roman" panose="02020603050405020304" pitchFamily="18" charset="0"/>
              </a:rPr>
              <a:t>Batch processing</a:t>
            </a:r>
            <a:r>
              <a:rPr lang="en-GB" sz="2600" b="0" i="0" dirty="0">
                <a:solidFill>
                  <a:srgbClr val="222222"/>
                </a:solidFill>
                <a:effectLst/>
                <a:latin typeface="Times New Roman" panose="02020603050405020304" pitchFamily="18" charset="0"/>
                <a:cs typeface="Times New Roman" panose="02020603050405020304" pitchFamily="18" charset="0"/>
              </a:rPr>
              <a:t> is a method of running high-volume, repetitive data jobs. </a:t>
            </a:r>
            <a:endParaRPr lang="en-GB" sz="2600" dirty="0">
              <a:solidFill>
                <a:srgbClr val="222222"/>
              </a:solidFill>
              <a:latin typeface="Times New Roman" panose="02020603050405020304" pitchFamily="18" charset="0"/>
              <a:cs typeface="Times New Roman" panose="02020603050405020304" pitchFamily="18" charset="0"/>
            </a:endParaRPr>
          </a:p>
          <a:p>
            <a:pPr algn="l"/>
            <a:r>
              <a:rPr lang="en-GB" sz="2600" b="1" i="0" dirty="0">
                <a:solidFill>
                  <a:srgbClr val="222222"/>
                </a:solidFill>
                <a:effectLst/>
                <a:latin typeface="Times New Roman" panose="02020603050405020304" pitchFamily="18" charset="0"/>
                <a:cs typeface="Times New Roman" panose="02020603050405020304" pitchFamily="18" charset="0"/>
              </a:rPr>
              <a:t>The batch method allows users to process data when computing resources are available, and with little or no user interaction.</a:t>
            </a:r>
          </a:p>
          <a:p>
            <a:pPr algn="l"/>
            <a:r>
              <a:rPr lang="en-GB" sz="2600" b="0" i="0" dirty="0">
                <a:solidFill>
                  <a:srgbClr val="00B050"/>
                </a:solidFill>
                <a:effectLst/>
                <a:latin typeface="Times New Roman" panose="02020603050405020304" pitchFamily="18" charset="0"/>
                <a:cs typeface="Times New Roman" panose="02020603050405020304" pitchFamily="18" charset="0"/>
              </a:rPr>
              <a:t>With batch processing, users collect and store data, and then process the data during an event known as a “batch window.”</a:t>
            </a:r>
          </a:p>
          <a:p>
            <a:pPr algn="l"/>
            <a:r>
              <a:rPr lang="en-GB" sz="2600" b="0" i="0" dirty="0">
                <a:solidFill>
                  <a:srgbClr val="222222"/>
                </a:solidFill>
                <a:effectLst/>
                <a:latin typeface="Times New Roman" panose="02020603050405020304" pitchFamily="18" charset="0"/>
                <a:cs typeface="Times New Roman" panose="02020603050405020304" pitchFamily="18" charset="0"/>
              </a:rPr>
              <a:t> This is achieved by placing a list of the commands to start the required jobs into a BATCH FILE that can be executed as if it were a single program:</a:t>
            </a:r>
          </a:p>
          <a:p>
            <a:pPr algn="l"/>
            <a:r>
              <a:rPr lang="en-GB" sz="2600" b="0" i="0" dirty="0">
                <a:solidFill>
                  <a:srgbClr val="222222"/>
                </a:solidFill>
                <a:effectLst/>
                <a:latin typeface="Times New Roman" panose="02020603050405020304" pitchFamily="18" charset="0"/>
                <a:cs typeface="Times New Roman" panose="02020603050405020304" pitchFamily="18" charset="0"/>
              </a:rPr>
              <a:t> hence batch processing is most often used in operating systems that have a COMMAND LINE user interface. </a:t>
            </a:r>
          </a:p>
          <a:p>
            <a:endParaRPr lang="en-US" sz="26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3ED17CE-1431-4C0C-B098-7E4F348255B5}" type="slidenum">
              <a:rPr lang="en-GB" altLang="en-US" smtClean="0"/>
              <a:pPr/>
              <a:t>6</a:t>
            </a:fld>
            <a:endParaRPr lang="en-GB" altLang="en-US"/>
          </a:p>
        </p:txBody>
      </p:sp>
    </p:spTree>
    <p:extLst>
      <p:ext uri="{BB962C8B-B14F-4D97-AF65-F5344CB8AC3E}">
        <p14:creationId xmlns:p14="http://schemas.microsoft.com/office/powerpoint/2010/main" val="622756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DC6D4-B453-1D91-28A3-D772AB127E0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Batch Processing systems</a:t>
            </a:r>
            <a:endParaRPr lang="en-US" dirty="0"/>
          </a:p>
        </p:txBody>
      </p:sp>
      <p:sp>
        <p:nvSpPr>
          <p:cNvPr id="3" name="Content Placeholder 2">
            <a:extLst>
              <a:ext uri="{FF2B5EF4-FFF2-40B4-BE49-F238E27FC236}">
                <a16:creationId xmlns:a16="http://schemas.microsoft.com/office/drawing/2014/main" id="{8FF86701-F2A9-8541-A09F-7D3E55E57DFF}"/>
              </a:ext>
            </a:extLst>
          </p:cNvPr>
          <p:cNvSpPr>
            <a:spLocks noGrp="1"/>
          </p:cNvSpPr>
          <p:nvPr>
            <p:ph idx="1"/>
          </p:nvPr>
        </p:nvSpPr>
        <p:spPr/>
        <p:txBody>
          <a:bodyPr/>
          <a:lstStyle/>
          <a:p>
            <a:pPr>
              <a:lnSpc>
                <a:spcPct val="150000"/>
              </a:lnSpc>
            </a:pPr>
            <a:r>
              <a:rPr lang="en-GB" sz="2600" b="0" i="0" dirty="0">
                <a:solidFill>
                  <a:srgbClr val="0070C0"/>
                </a:solidFill>
                <a:effectLst/>
                <a:latin typeface="Times New Roman" panose="02020603050405020304" pitchFamily="18" charset="0"/>
                <a:cs typeface="Times New Roman" panose="02020603050405020304" pitchFamily="18" charset="0"/>
              </a:rPr>
              <a:t>Indeed, batch processing was the normal mode of working in the early days of mainframe computers, but modern personal computer applications typically require frequent user interaction, making them unsuitable for batch execution.</a:t>
            </a:r>
          </a:p>
          <a:p>
            <a:pPr>
              <a:lnSpc>
                <a:spcPct val="150000"/>
              </a:lnSpc>
            </a:pPr>
            <a:endParaRPr lang="en-US" sz="2600" dirty="0"/>
          </a:p>
        </p:txBody>
      </p:sp>
      <p:sp>
        <p:nvSpPr>
          <p:cNvPr id="4" name="Slide Number Placeholder 3">
            <a:extLst>
              <a:ext uri="{FF2B5EF4-FFF2-40B4-BE49-F238E27FC236}">
                <a16:creationId xmlns:a16="http://schemas.microsoft.com/office/drawing/2014/main" id="{B64A7C38-829F-B2BF-3F0B-488D57B9AA2B}"/>
              </a:ext>
            </a:extLst>
          </p:cNvPr>
          <p:cNvSpPr>
            <a:spLocks noGrp="1"/>
          </p:cNvSpPr>
          <p:nvPr>
            <p:ph type="sldNum" sz="quarter" idx="12"/>
          </p:nvPr>
        </p:nvSpPr>
        <p:spPr/>
        <p:txBody>
          <a:bodyPr/>
          <a:lstStyle/>
          <a:p>
            <a:pPr>
              <a:defRPr/>
            </a:pPr>
            <a:fld id="{0CA33DAF-8E01-46BA-8B98-C3F739052EA6}" type="slidenum">
              <a:rPr lang="en-GB" altLang="en-US" smtClean="0"/>
              <a:pPr>
                <a:defRPr/>
              </a:pPr>
              <a:t>7</a:t>
            </a:fld>
            <a:endParaRPr lang="en-GB" altLang="en-US"/>
          </a:p>
        </p:txBody>
      </p:sp>
    </p:spTree>
    <p:extLst>
      <p:ext uri="{BB962C8B-B14F-4D97-AF65-F5344CB8AC3E}">
        <p14:creationId xmlns:p14="http://schemas.microsoft.com/office/powerpoint/2010/main" val="2065633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14400" y="609600"/>
            <a:ext cx="9790112" cy="1143000"/>
          </a:xfrm>
        </p:spPr>
        <p:txBody>
          <a:bodyPr>
            <a:normAutofit fontScale="90000"/>
          </a:bodyPr>
          <a:lstStyle/>
          <a:p>
            <a:pPr eaLnBrk="1" hangingPunct="1"/>
            <a:r>
              <a:rPr lang="en-US" altLang="en-US" dirty="0">
                <a:latin typeface="Times New Roman" panose="02020603050405020304" pitchFamily="18" charset="0"/>
                <a:cs typeface="Times New Roman" panose="02020603050405020304" pitchFamily="18" charset="0"/>
              </a:rPr>
              <a:t>Example Paradigm Shifts: </a:t>
            </a:r>
            <a:r>
              <a:rPr lang="en-US" altLang="en-US" dirty="0">
                <a:solidFill>
                  <a:srgbClr val="FF0000"/>
                </a:solidFill>
                <a:latin typeface="Times New Roman" panose="02020603050405020304" pitchFamily="18" charset="0"/>
                <a:cs typeface="Times New Roman" panose="02020603050405020304" pitchFamily="18" charset="0"/>
              </a:rPr>
              <a:t>Time-sharing</a:t>
            </a:r>
            <a:br>
              <a:rPr lang="en-US" altLang="en-US" dirty="0">
                <a:latin typeface="Times New Roman" panose="02020603050405020304" pitchFamily="18" charset="0"/>
                <a:cs typeface="Times New Roman" panose="02020603050405020304" pitchFamily="18" charset="0"/>
              </a:rPr>
            </a:br>
            <a:endParaRPr lang="en-US" altLang="en-US" dirty="0">
              <a:latin typeface="Times New Roman" panose="02020603050405020304" pitchFamily="18" charset="0"/>
              <a:cs typeface="Times New Roman" panose="02020603050405020304" pitchFamily="18" charset="0"/>
            </a:endParaRPr>
          </a:p>
        </p:txBody>
      </p:sp>
      <p:sp>
        <p:nvSpPr>
          <p:cNvPr id="7171" name="Rectangle 3"/>
          <p:cNvSpPr>
            <a:spLocks noGrp="1" noChangeArrowheads="1"/>
          </p:cNvSpPr>
          <p:nvPr>
            <p:ph type="body" sz="half" idx="1"/>
          </p:nvPr>
        </p:nvSpPr>
        <p:spPr>
          <a:xfrm>
            <a:off x="2372127" y="2757708"/>
            <a:ext cx="2941116" cy="2390774"/>
          </a:xfrm>
        </p:spPr>
        <p:txBody>
          <a:bodyPr/>
          <a:lstStyle/>
          <a:p>
            <a:pPr eaLnBrk="1" hangingPunct="1"/>
            <a:r>
              <a:rPr lang="en-US" altLang="en-US" sz="2600" dirty="0">
                <a:solidFill>
                  <a:srgbClr val="FF0000"/>
                </a:solidFill>
                <a:latin typeface="Times New Roman" panose="02020603050405020304" pitchFamily="18" charset="0"/>
                <a:cs typeface="Times New Roman" panose="02020603050405020304" pitchFamily="18" charset="0"/>
              </a:rPr>
              <a:t>Time-sharing</a:t>
            </a:r>
            <a:endParaRPr lang="en-US" altLang="en-US" sz="2600" dirty="0">
              <a:latin typeface="Times New Roman" panose="02020603050405020304" pitchFamily="18" charset="0"/>
              <a:cs typeface="Times New Roman" panose="02020603050405020304" pitchFamily="18" charset="0"/>
            </a:endParaRPr>
          </a:p>
          <a:p>
            <a:pPr eaLnBrk="1" hangingPunct="1"/>
            <a:endParaRPr lang="en-US" altLang="en-US" sz="2600" dirty="0">
              <a:latin typeface="Times New Roman" panose="02020603050405020304" pitchFamily="18" charset="0"/>
              <a:cs typeface="Times New Roman" panose="02020603050405020304" pitchFamily="18" charset="0"/>
            </a:endParaRPr>
          </a:p>
        </p:txBody>
      </p:sp>
      <p:grpSp>
        <p:nvGrpSpPr>
          <p:cNvPr id="52228" name="Group 4"/>
          <p:cNvGrpSpPr>
            <a:grpSpLocks/>
          </p:cNvGrpSpPr>
          <p:nvPr/>
        </p:nvGrpSpPr>
        <p:grpSpPr bwMode="auto">
          <a:xfrm>
            <a:off x="5562600" y="3705226"/>
            <a:ext cx="1201738" cy="1019175"/>
            <a:chOff x="2207" y="2252"/>
            <a:chExt cx="757" cy="621"/>
          </a:xfrm>
        </p:grpSpPr>
        <p:sp>
          <p:nvSpPr>
            <p:cNvPr id="7273" name="Freeform 5"/>
            <p:cNvSpPr>
              <a:spLocks/>
            </p:cNvSpPr>
            <p:nvPr/>
          </p:nvSpPr>
          <p:spPr bwMode="auto">
            <a:xfrm>
              <a:off x="2250" y="2252"/>
              <a:ext cx="274" cy="223"/>
            </a:xfrm>
            <a:custGeom>
              <a:avLst/>
              <a:gdLst>
                <a:gd name="T0" fmla="*/ 172 w 549"/>
                <a:gd name="T1" fmla="*/ 59 h 446"/>
                <a:gd name="T2" fmla="*/ 151 w 549"/>
                <a:gd name="T3" fmla="*/ 32 h 446"/>
                <a:gd name="T4" fmla="*/ 127 w 549"/>
                <a:gd name="T5" fmla="*/ 14 h 446"/>
                <a:gd name="T6" fmla="*/ 101 w 549"/>
                <a:gd name="T7" fmla="*/ 4 h 446"/>
                <a:gd name="T8" fmla="*/ 80 w 549"/>
                <a:gd name="T9" fmla="*/ 0 h 446"/>
                <a:gd name="T10" fmla="*/ 52 w 549"/>
                <a:gd name="T11" fmla="*/ 6 h 446"/>
                <a:gd name="T12" fmla="*/ 30 w 549"/>
                <a:gd name="T13" fmla="*/ 18 h 446"/>
                <a:gd name="T14" fmla="*/ 13 w 549"/>
                <a:gd name="T15" fmla="*/ 34 h 446"/>
                <a:gd name="T16" fmla="*/ 4 w 549"/>
                <a:gd name="T17" fmla="*/ 61 h 446"/>
                <a:gd name="T18" fmla="*/ 0 w 549"/>
                <a:gd name="T19" fmla="*/ 88 h 446"/>
                <a:gd name="T20" fmla="*/ 6 w 549"/>
                <a:gd name="T21" fmla="*/ 117 h 446"/>
                <a:gd name="T22" fmla="*/ 14 w 549"/>
                <a:gd name="T23" fmla="*/ 152 h 446"/>
                <a:gd name="T24" fmla="*/ 34 w 549"/>
                <a:gd name="T25" fmla="*/ 183 h 446"/>
                <a:gd name="T26" fmla="*/ 53 w 549"/>
                <a:gd name="T27" fmla="*/ 202 h 446"/>
                <a:gd name="T28" fmla="*/ 80 w 549"/>
                <a:gd name="T29" fmla="*/ 216 h 446"/>
                <a:gd name="T30" fmla="*/ 105 w 549"/>
                <a:gd name="T31" fmla="*/ 223 h 446"/>
                <a:gd name="T32" fmla="*/ 133 w 549"/>
                <a:gd name="T33" fmla="*/ 223 h 446"/>
                <a:gd name="T34" fmla="*/ 155 w 549"/>
                <a:gd name="T35" fmla="*/ 212 h 446"/>
                <a:gd name="T36" fmla="*/ 172 w 549"/>
                <a:gd name="T37" fmla="*/ 198 h 446"/>
                <a:gd name="T38" fmla="*/ 183 w 549"/>
                <a:gd name="T39" fmla="*/ 176 h 446"/>
                <a:gd name="T40" fmla="*/ 187 w 549"/>
                <a:gd name="T41" fmla="*/ 159 h 446"/>
                <a:gd name="T42" fmla="*/ 189 w 549"/>
                <a:gd name="T43" fmla="*/ 134 h 446"/>
                <a:gd name="T44" fmla="*/ 183 w 549"/>
                <a:gd name="T45" fmla="*/ 109 h 446"/>
                <a:gd name="T46" fmla="*/ 180 w 549"/>
                <a:gd name="T47" fmla="*/ 84 h 446"/>
                <a:gd name="T48" fmla="*/ 217 w 549"/>
                <a:gd name="T49" fmla="*/ 63 h 446"/>
                <a:gd name="T50" fmla="*/ 256 w 549"/>
                <a:gd name="T51" fmla="*/ 49 h 446"/>
                <a:gd name="T52" fmla="*/ 270 w 549"/>
                <a:gd name="T53" fmla="*/ 38 h 446"/>
                <a:gd name="T54" fmla="*/ 274 w 549"/>
                <a:gd name="T55" fmla="*/ 21 h 446"/>
                <a:gd name="T56" fmla="*/ 265 w 549"/>
                <a:gd name="T57" fmla="*/ 13 h 446"/>
                <a:gd name="T58" fmla="*/ 249 w 549"/>
                <a:gd name="T59" fmla="*/ 7 h 446"/>
                <a:gd name="T60" fmla="*/ 229 w 549"/>
                <a:gd name="T61" fmla="*/ 16 h 446"/>
                <a:gd name="T62" fmla="*/ 208 w 549"/>
                <a:gd name="T63" fmla="*/ 41 h 446"/>
                <a:gd name="T64" fmla="*/ 172 w 549"/>
                <a:gd name="T65" fmla="*/ 59 h 44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549" h="446">
                  <a:moveTo>
                    <a:pt x="344" y="118"/>
                  </a:moveTo>
                  <a:lnTo>
                    <a:pt x="302" y="63"/>
                  </a:lnTo>
                  <a:lnTo>
                    <a:pt x="255" y="27"/>
                  </a:lnTo>
                  <a:lnTo>
                    <a:pt x="202" y="7"/>
                  </a:lnTo>
                  <a:lnTo>
                    <a:pt x="160" y="0"/>
                  </a:lnTo>
                  <a:lnTo>
                    <a:pt x="104" y="12"/>
                  </a:lnTo>
                  <a:lnTo>
                    <a:pt x="61" y="35"/>
                  </a:lnTo>
                  <a:lnTo>
                    <a:pt x="26" y="68"/>
                  </a:lnTo>
                  <a:lnTo>
                    <a:pt x="8" y="121"/>
                  </a:lnTo>
                  <a:lnTo>
                    <a:pt x="0" y="175"/>
                  </a:lnTo>
                  <a:lnTo>
                    <a:pt x="12" y="233"/>
                  </a:lnTo>
                  <a:lnTo>
                    <a:pt x="28" y="303"/>
                  </a:lnTo>
                  <a:lnTo>
                    <a:pt x="68" y="365"/>
                  </a:lnTo>
                  <a:lnTo>
                    <a:pt x="106" y="404"/>
                  </a:lnTo>
                  <a:lnTo>
                    <a:pt x="160" y="432"/>
                  </a:lnTo>
                  <a:lnTo>
                    <a:pt x="210" y="446"/>
                  </a:lnTo>
                  <a:lnTo>
                    <a:pt x="266" y="446"/>
                  </a:lnTo>
                  <a:lnTo>
                    <a:pt x="311" y="424"/>
                  </a:lnTo>
                  <a:lnTo>
                    <a:pt x="344" y="396"/>
                  </a:lnTo>
                  <a:lnTo>
                    <a:pt x="367" y="351"/>
                  </a:lnTo>
                  <a:lnTo>
                    <a:pt x="375" y="318"/>
                  </a:lnTo>
                  <a:lnTo>
                    <a:pt x="379" y="268"/>
                  </a:lnTo>
                  <a:lnTo>
                    <a:pt x="367" y="217"/>
                  </a:lnTo>
                  <a:lnTo>
                    <a:pt x="361" y="167"/>
                  </a:lnTo>
                  <a:lnTo>
                    <a:pt x="435" y="125"/>
                  </a:lnTo>
                  <a:lnTo>
                    <a:pt x="513" y="97"/>
                  </a:lnTo>
                  <a:lnTo>
                    <a:pt x="541" y="76"/>
                  </a:lnTo>
                  <a:lnTo>
                    <a:pt x="549" y="41"/>
                  </a:lnTo>
                  <a:lnTo>
                    <a:pt x="530" y="26"/>
                  </a:lnTo>
                  <a:lnTo>
                    <a:pt x="499" y="14"/>
                  </a:lnTo>
                  <a:lnTo>
                    <a:pt x="459" y="32"/>
                  </a:lnTo>
                  <a:lnTo>
                    <a:pt x="417" y="82"/>
                  </a:lnTo>
                  <a:lnTo>
                    <a:pt x="344"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74" name="Freeform 6"/>
            <p:cNvSpPr>
              <a:spLocks/>
            </p:cNvSpPr>
            <p:nvPr/>
          </p:nvSpPr>
          <p:spPr bwMode="auto">
            <a:xfrm>
              <a:off x="2350" y="2476"/>
              <a:ext cx="231" cy="383"/>
            </a:xfrm>
            <a:custGeom>
              <a:avLst/>
              <a:gdLst>
                <a:gd name="T0" fmla="*/ 31 w 461"/>
                <a:gd name="T1" fmla="*/ 132 h 766"/>
                <a:gd name="T2" fmla="*/ 11 w 461"/>
                <a:gd name="T3" fmla="*/ 111 h 766"/>
                <a:gd name="T4" fmla="*/ 2 w 461"/>
                <a:gd name="T5" fmla="*/ 87 h 766"/>
                <a:gd name="T6" fmla="*/ 0 w 461"/>
                <a:gd name="T7" fmla="*/ 67 h 766"/>
                <a:gd name="T8" fmla="*/ 7 w 461"/>
                <a:gd name="T9" fmla="*/ 48 h 766"/>
                <a:gd name="T10" fmla="*/ 16 w 461"/>
                <a:gd name="T11" fmla="*/ 31 h 766"/>
                <a:gd name="T12" fmla="*/ 38 w 461"/>
                <a:gd name="T13" fmla="*/ 17 h 766"/>
                <a:gd name="T14" fmla="*/ 61 w 461"/>
                <a:gd name="T15" fmla="*/ 3 h 766"/>
                <a:gd name="T16" fmla="*/ 95 w 461"/>
                <a:gd name="T17" fmla="*/ 0 h 766"/>
                <a:gd name="T18" fmla="*/ 116 w 461"/>
                <a:gd name="T19" fmla="*/ 6 h 766"/>
                <a:gd name="T20" fmla="*/ 131 w 461"/>
                <a:gd name="T21" fmla="*/ 17 h 766"/>
                <a:gd name="T22" fmla="*/ 156 w 461"/>
                <a:gd name="T23" fmla="*/ 38 h 766"/>
                <a:gd name="T24" fmla="*/ 174 w 461"/>
                <a:gd name="T25" fmla="*/ 70 h 766"/>
                <a:gd name="T26" fmla="*/ 191 w 461"/>
                <a:gd name="T27" fmla="*/ 101 h 766"/>
                <a:gd name="T28" fmla="*/ 205 w 461"/>
                <a:gd name="T29" fmla="*/ 154 h 766"/>
                <a:gd name="T30" fmla="*/ 213 w 461"/>
                <a:gd name="T31" fmla="*/ 194 h 766"/>
                <a:gd name="T32" fmla="*/ 219 w 461"/>
                <a:gd name="T33" fmla="*/ 242 h 766"/>
                <a:gd name="T34" fmla="*/ 224 w 461"/>
                <a:gd name="T35" fmla="*/ 280 h 766"/>
                <a:gd name="T36" fmla="*/ 231 w 461"/>
                <a:gd name="T37" fmla="*/ 310 h 766"/>
                <a:gd name="T38" fmla="*/ 231 w 461"/>
                <a:gd name="T39" fmla="*/ 337 h 766"/>
                <a:gd name="T40" fmla="*/ 224 w 461"/>
                <a:gd name="T41" fmla="*/ 358 h 766"/>
                <a:gd name="T42" fmla="*/ 213 w 461"/>
                <a:gd name="T43" fmla="*/ 372 h 766"/>
                <a:gd name="T44" fmla="*/ 195 w 461"/>
                <a:gd name="T45" fmla="*/ 379 h 766"/>
                <a:gd name="T46" fmla="*/ 173 w 461"/>
                <a:gd name="T47" fmla="*/ 383 h 766"/>
                <a:gd name="T48" fmla="*/ 70 w 461"/>
                <a:gd name="T49" fmla="*/ 379 h 766"/>
                <a:gd name="T50" fmla="*/ 48 w 461"/>
                <a:gd name="T51" fmla="*/ 365 h 766"/>
                <a:gd name="T52" fmla="*/ 34 w 461"/>
                <a:gd name="T53" fmla="*/ 334 h 766"/>
                <a:gd name="T54" fmla="*/ 29 w 461"/>
                <a:gd name="T55" fmla="*/ 305 h 766"/>
                <a:gd name="T56" fmla="*/ 31 w 461"/>
                <a:gd name="T57" fmla="*/ 264 h 766"/>
                <a:gd name="T58" fmla="*/ 41 w 461"/>
                <a:gd name="T59" fmla="*/ 236 h 766"/>
                <a:gd name="T60" fmla="*/ 57 w 461"/>
                <a:gd name="T61" fmla="*/ 218 h 766"/>
                <a:gd name="T62" fmla="*/ 61 w 461"/>
                <a:gd name="T63" fmla="*/ 204 h 766"/>
                <a:gd name="T64" fmla="*/ 57 w 461"/>
                <a:gd name="T65" fmla="*/ 190 h 766"/>
                <a:gd name="T66" fmla="*/ 50 w 461"/>
                <a:gd name="T67" fmla="*/ 169 h 766"/>
                <a:gd name="T68" fmla="*/ 38 w 461"/>
                <a:gd name="T69" fmla="*/ 150 h 766"/>
                <a:gd name="T70" fmla="*/ 31 w 461"/>
                <a:gd name="T71" fmla="*/ 132 h 76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61" h="766">
                  <a:moveTo>
                    <a:pt x="62" y="264"/>
                  </a:moveTo>
                  <a:lnTo>
                    <a:pt x="21" y="222"/>
                  </a:lnTo>
                  <a:lnTo>
                    <a:pt x="4" y="174"/>
                  </a:lnTo>
                  <a:lnTo>
                    <a:pt x="0" y="134"/>
                  </a:lnTo>
                  <a:lnTo>
                    <a:pt x="14" y="96"/>
                  </a:lnTo>
                  <a:lnTo>
                    <a:pt x="32" y="61"/>
                  </a:lnTo>
                  <a:lnTo>
                    <a:pt x="76" y="33"/>
                  </a:lnTo>
                  <a:lnTo>
                    <a:pt x="121" y="5"/>
                  </a:lnTo>
                  <a:lnTo>
                    <a:pt x="189" y="0"/>
                  </a:lnTo>
                  <a:lnTo>
                    <a:pt x="231" y="12"/>
                  </a:lnTo>
                  <a:lnTo>
                    <a:pt x="262" y="33"/>
                  </a:lnTo>
                  <a:lnTo>
                    <a:pt x="312" y="75"/>
                  </a:lnTo>
                  <a:lnTo>
                    <a:pt x="348" y="140"/>
                  </a:lnTo>
                  <a:lnTo>
                    <a:pt x="381" y="202"/>
                  </a:lnTo>
                  <a:lnTo>
                    <a:pt x="409" y="308"/>
                  </a:lnTo>
                  <a:lnTo>
                    <a:pt x="426" y="387"/>
                  </a:lnTo>
                  <a:lnTo>
                    <a:pt x="438" y="483"/>
                  </a:lnTo>
                  <a:lnTo>
                    <a:pt x="447" y="559"/>
                  </a:lnTo>
                  <a:lnTo>
                    <a:pt x="461" y="619"/>
                  </a:lnTo>
                  <a:lnTo>
                    <a:pt x="461" y="673"/>
                  </a:lnTo>
                  <a:lnTo>
                    <a:pt x="447" y="716"/>
                  </a:lnTo>
                  <a:lnTo>
                    <a:pt x="426" y="744"/>
                  </a:lnTo>
                  <a:lnTo>
                    <a:pt x="390" y="758"/>
                  </a:lnTo>
                  <a:lnTo>
                    <a:pt x="345" y="766"/>
                  </a:lnTo>
                  <a:lnTo>
                    <a:pt x="140" y="757"/>
                  </a:lnTo>
                  <a:lnTo>
                    <a:pt x="96" y="730"/>
                  </a:lnTo>
                  <a:lnTo>
                    <a:pt x="68" y="668"/>
                  </a:lnTo>
                  <a:lnTo>
                    <a:pt x="57" y="609"/>
                  </a:lnTo>
                  <a:lnTo>
                    <a:pt x="62" y="527"/>
                  </a:lnTo>
                  <a:lnTo>
                    <a:pt x="82" y="471"/>
                  </a:lnTo>
                  <a:lnTo>
                    <a:pt x="113" y="435"/>
                  </a:lnTo>
                  <a:lnTo>
                    <a:pt x="121" y="407"/>
                  </a:lnTo>
                  <a:lnTo>
                    <a:pt x="113" y="379"/>
                  </a:lnTo>
                  <a:lnTo>
                    <a:pt x="99" y="337"/>
                  </a:lnTo>
                  <a:lnTo>
                    <a:pt x="76" y="300"/>
                  </a:lnTo>
                  <a:lnTo>
                    <a:pt x="62" y="2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75" name="Freeform 7"/>
            <p:cNvSpPr>
              <a:spLocks/>
            </p:cNvSpPr>
            <p:nvPr/>
          </p:nvSpPr>
          <p:spPr bwMode="auto">
            <a:xfrm>
              <a:off x="2207" y="2509"/>
              <a:ext cx="195" cy="353"/>
            </a:xfrm>
            <a:custGeom>
              <a:avLst/>
              <a:gdLst>
                <a:gd name="T0" fmla="*/ 119 w 389"/>
                <a:gd name="T1" fmla="*/ 57 h 707"/>
                <a:gd name="T2" fmla="*/ 145 w 389"/>
                <a:gd name="T3" fmla="*/ 18 h 707"/>
                <a:gd name="T4" fmla="*/ 163 w 389"/>
                <a:gd name="T5" fmla="*/ 4 h 707"/>
                <a:gd name="T6" fmla="*/ 183 w 389"/>
                <a:gd name="T7" fmla="*/ 0 h 707"/>
                <a:gd name="T8" fmla="*/ 195 w 389"/>
                <a:gd name="T9" fmla="*/ 35 h 707"/>
                <a:gd name="T10" fmla="*/ 177 w 389"/>
                <a:gd name="T11" fmla="*/ 64 h 707"/>
                <a:gd name="T12" fmla="*/ 163 w 389"/>
                <a:gd name="T13" fmla="*/ 75 h 707"/>
                <a:gd name="T14" fmla="*/ 137 w 389"/>
                <a:gd name="T15" fmla="*/ 102 h 707"/>
                <a:gd name="T16" fmla="*/ 112 w 389"/>
                <a:gd name="T17" fmla="*/ 145 h 707"/>
                <a:gd name="T18" fmla="*/ 101 w 389"/>
                <a:gd name="T19" fmla="*/ 197 h 707"/>
                <a:gd name="T20" fmla="*/ 97 w 389"/>
                <a:gd name="T21" fmla="*/ 244 h 707"/>
                <a:gd name="T22" fmla="*/ 95 w 389"/>
                <a:gd name="T23" fmla="*/ 286 h 707"/>
                <a:gd name="T24" fmla="*/ 97 w 389"/>
                <a:gd name="T25" fmla="*/ 317 h 707"/>
                <a:gd name="T26" fmla="*/ 105 w 389"/>
                <a:gd name="T27" fmla="*/ 317 h 707"/>
                <a:gd name="T28" fmla="*/ 126 w 389"/>
                <a:gd name="T29" fmla="*/ 300 h 707"/>
                <a:gd name="T30" fmla="*/ 151 w 389"/>
                <a:gd name="T31" fmla="*/ 310 h 707"/>
                <a:gd name="T32" fmla="*/ 134 w 389"/>
                <a:gd name="T33" fmla="*/ 325 h 707"/>
                <a:gd name="T34" fmla="*/ 102 w 389"/>
                <a:gd name="T35" fmla="*/ 339 h 707"/>
                <a:gd name="T36" fmla="*/ 91 w 389"/>
                <a:gd name="T37" fmla="*/ 352 h 707"/>
                <a:gd name="T38" fmla="*/ 63 w 389"/>
                <a:gd name="T39" fmla="*/ 353 h 707"/>
                <a:gd name="T40" fmla="*/ 36 w 389"/>
                <a:gd name="T41" fmla="*/ 342 h 707"/>
                <a:gd name="T42" fmla="*/ 0 w 389"/>
                <a:gd name="T43" fmla="*/ 325 h 707"/>
                <a:gd name="T44" fmla="*/ 4 w 389"/>
                <a:gd name="T45" fmla="*/ 304 h 707"/>
                <a:gd name="T46" fmla="*/ 16 w 389"/>
                <a:gd name="T47" fmla="*/ 300 h 707"/>
                <a:gd name="T48" fmla="*/ 45 w 389"/>
                <a:gd name="T49" fmla="*/ 321 h 707"/>
                <a:gd name="T50" fmla="*/ 29 w 389"/>
                <a:gd name="T51" fmla="*/ 289 h 707"/>
                <a:gd name="T52" fmla="*/ 38 w 389"/>
                <a:gd name="T53" fmla="*/ 283 h 707"/>
                <a:gd name="T54" fmla="*/ 52 w 389"/>
                <a:gd name="T55" fmla="*/ 286 h 707"/>
                <a:gd name="T56" fmla="*/ 68 w 389"/>
                <a:gd name="T57" fmla="*/ 310 h 707"/>
                <a:gd name="T58" fmla="*/ 68 w 389"/>
                <a:gd name="T59" fmla="*/ 258 h 707"/>
                <a:gd name="T60" fmla="*/ 68 w 389"/>
                <a:gd name="T61" fmla="*/ 204 h 707"/>
                <a:gd name="T62" fmla="*/ 76 w 389"/>
                <a:gd name="T63" fmla="*/ 155 h 707"/>
                <a:gd name="T64" fmla="*/ 90 w 389"/>
                <a:gd name="T65" fmla="*/ 114 h 707"/>
                <a:gd name="T66" fmla="*/ 104 w 389"/>
                <a:gd name="T67" fmla="*/ 77 h 707"/>
                <a:gd name="T68" fmla="*/ 119 w 389"/>
                <a:gd name="T69" fmla="*/ 57 h 70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89" h="707">
                  <a:moveTo>
                    <a:pt x="238" y="115"/>
                  </a:moveTo>
                  <a:lnTo>
                    <a:pt x="290" y="37"/>
                  </a:lnTo>
                  <a:lnTo>
                    <a:pt x="325" y="8"/>
                  </a:lnTo>
                  <a:lnTo>
                    <a:pt x="366" y="0"/>
                  </a:lnTo>
                  <a:lnTo>
                    <a:pt x="389" y="70"/>
                  </a:lnTo>
                  <a:lnTo>
                    <a:pt x="353" y="129"/>
                  </a:lnTo>
                  <a:lnTo>
                    <a:pt x="325" y="151"/>
                  </a:lnTo>
                  <a:lnTo>
                    <a:pt x="273" y="205"/>
                  </a:lnTo>
                  <a:lnTo>
                    <a:pt x="224" y="290"/>
                  </a:lnTo>
                  <a:lnTo>
                    <a:pt x="201" y="395"/>
                  </a:lnTo>
                  <a:lnTo>
                    <a:pt x="193" y="488"/>
                  </a:lnTo>
                  <a:lnTo>
                    <a:pt x="189" y="573"/>
                  </a:lnTo>
                  <a:lnTo>
                    <a:pt x="193" y="634"/>
                  </a:lnTo>
                  <a:lnTo>
                    <a:pt x="210" y="634"/>
                  </a:lnTo>
                  <a:lnTo>
                    <a:pt x="251" y="601"/>
                  </a:lnTo>
                  <a:lnTo>
                    <a:pt x="301" y="620"/>
                  </a:lnTo>
                  <a:lnTo>
                    <a:pt x="268" y="651"/>
                  </a:lnTo>
                  <a:lnTo>
                    <a:pt x="203" y="679"/>
                  </a:lnTo>
                  <a:lnTo>
                    <a:pt x="182" y="704"/>
                  </a:lnTo>
                  <a:lnTo>
                    <a:pt x="125" y="707"/>
                  </a:lnTo>
                  <a:lnTo>
                    <a:pt x="72" y="684"/>
                  </a:lnTo>
                  <a:lnTo>
                    <a:pt x="0" y="651"/>
                  </a:lnTo>
                  <a:lnTo>
                    <a:pt x="8" y="609"/>
                  </a:lnTo>
                  <a:lnTo>
                    <a:pt x="32" y="601"/>
                  </a:lnTo>
                  <a:lnTo>
                    <a:pt x="89" y="642"/>
                  </a:lnTo>
                  <a:lnTo>
                    <a:pt x="58" y="578"/>
                  </a:lnTo>
                  <a:lnTo>
                    <a:pt x="75" y="566"/>
                  </a:lnTo>
                  <a:lnTo>
                    <a:pt x="103" y="573"/>
                  </a:lnTo>
                  <a:lnTo>
                    <a:pt x="136" y="620"/>
                  </a:lnTo>
                  <a:lnTo>
                    <a:pt x="136" y="517"/>
                  </a:lnTo>
                  <a:lnTo>
                    <a:pt x="136" y="409"/>
                  </a:lnTo>
                  <a:lnTo>
                    <a:pt x="151" y="311"/>
                  </a:lnTo>
                  <a:lnTo>
                    <a:pt x="179" y="228"/>
                  </a:lnTo>
                  <a:lnTo>
                    <a:pt x="207" y="155"/>
                  </a:lnTo>
                  <a:lnTo>
                    <a:pt x="238" y="1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76" name="Freeform 8"/>
            <p:cNvSpPr>
              <a:spLocks/>
            </p:cNvSpPr>
            <p:nvPr/>
          </p:nvSpPr>
          <p:spPr bwMode="auto">
            <a:xfrm>
              <a:off x="2426" y="2490"/>
              <a:ext cx="356" cy="383"/>
            </a:xfrm>
            <a:custGeom>
              <a:avLst/>
              <a:gdLst>
                <a:gd name="T0" fmla="*/ 41 w 711"/>
                <a:gd name="T1" fmla="*/ 3 h 766"/>
                <a:gd name="T2" fmla="*/ 62 w 711"/>
                <a:gd name="T3" fmla="*/ 4 h 766"/>
                <a:gd name="T4" fmla="*/ 92 w 711"/>
                <a:gd name="T5" fmla="*/ 18 h 766"/>
                <a:gd name="T6" fmla="*/ 125 w 711"/>
                <a:gd name="T7" fmla="*/ 48 h 766"/>
                <a:gd name="T8" fmla="*/ 162 w 711"/>
                <a:gd name="T9" fmla="*/ 90 h 766"/>
                <a:gd name="T10" fmla="*/ 203 w 711"/>
                <a:gd name="T11" fmla="*/ 148 h 766"/>
                <a:gd name="T12" fmla="*/ 235 w 711"/>
                <a:gd name="T13" fmla="*/ 211 h 766"/>
                <a:gd name="T14" fmla="*/ 252 w 711"/>
                <a:gd name="T15" fmla="*/ 284 h 766"/>
                <a:gd name="T16" fmla="*/ 270 w 711"/>
                <a:gd name="T17" fmla="*/ 327 h 766"/>
                <a:gd name="T18" fmla="*/ 280 w 711"/>
                <a:gd name="T19" fmla="*/ 351 h 766"/>
                <a:gd name="T20" fmla="*/ 302 w 711"/>
                <a:gd name="T21" fmla="*/ 358 h 766"/>
                <a:gd name="T22" fmla="*/ 333 w 711"/>
                <a:gd name="T23" fmla="*/ 358 h 766"/>
                <a:gd name="T24" fmla="*/ 349 w 711"/>
                <a:gd name="T25" fmla="*/ 358 h 766"/>
                <a:gd name="T26" fmla="*/ 356 w 711"/>
                <a:gd name="T27" fmla="*/ 376 h 766"/>
                <a:gd name="T28" fmla="*/ 335 w 711"/>
                <a:gd name="T29" fmla="*/ 382 h 766"/>
                <a:gd name="T30" fmla="*/ 305 w 711"/>
                <a:gd name="T31" fmla="*/ 379 h 766"/>
                <a:gd name="T32" fmla="*/ 277 w 711"/>
                <a:gd name="T33" fmla="*/ 376 h 766"/>
                <a:gd name="T34" fmla="*/ 259 w 711"/>
                <a:gd name="T35" fmla="*/ 361 h 766"/>
                <a:gd name="T36" fmla="*/ 245 w 711"/>
                <a:gd name="T37" fmla="*/ 365 h 766"/>
                <a:gd name="T38" fmla="*/ 240 w 711"/>
                <a:gd name="T39" fmla="*/ 379 h 766"/>
                <a:gd name="T40" fmla="*/ 221 w 711"/>
                <a:gd name="T41" fmla="*/ 383 h 766"/>
                <a:gd name="T42" fmla="*/ 211 w 711"/>
                <a:gd name="T43" fmla="*/ 375 h 766"/>
                <a:gd name="T44" fmla="*/ 217 w 711"/>
                <a:gd name="T45" fmla="*/ 358 h 766"/>
                <a:gd name="T46" fmla="*/ 236 w 711"/>
                <a:gd name="T47" fmla="*/ 337 h 766"/>
                <a:gd name="T48" fmla="*/ 238 w 711"/>
                <a:gd name="T49" fmla="*/ 309 h 766"/>
                <a:gd name="T50" fmla="*/ 229 w 711"/>
                <a:gd name="T51" fmla="*/ 282 h 766"/>
                <a:gd name="T52" fmla="*/ 210 w 711"/>
                <a:gd name="T53" fmla="*/ 229 h 766"/>
                <a:gd name="T54" fmla="*/ 185 w 711"/>
                <a:gd name="T55" fmla="*/ 190 h 766"/>
                <a:gd name="T56" fmla="*/ 161 w 711"/>
                <a:gd name="T57" fmla="*/ 150 h 766"/>
                <a:gd name="T58" fmla="*/ 136 w 711"/>
                <a:gd name="T59" fmla="*/ 120 h 766"/>
                <a:gd name="T60" fmla="*/ 101 w 711"/>
                <a:gd name="T61" fmla="*/ 87 h 766"/>
                <a:gd name="T62" fmla="*/ 62 w 711"/>
                <a:gd name="T63" fmla="*/ 66 h 766"/>
                <a:gd name="T64" fmla="*/ 10 w 711"/>
                <a:gd name="T65" fmla="*/ 45 h 766"/>
                <a:gd name="T66" fmla="*/ 0 w 711"/>
                <a:gd name="T67" fmla="*/ 18 h 766"/>
                <a:gd name="T68" fmla="*/ 17 w 711"/>
                <a:gd name="T69" fmla="*/ 0 h 766"/>
                <a:gd name="T70" fmla="*/ 41 w 711"/>
                <a:gd name="T71" fmla="*/ 3 h 76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11" h="766">
                  <a:moveTo>
                    <a:pt x="82" y="5"/>
                  </a:moveTo>
                  <a:lnTo>
                    <a:pt x="124" y="8"/>
                  </a:lnTo>
                  <a:lnTo>
                    <a:pt x="183" y="36"/>
                  </a:lnTo>
                  <a:lnTo>
                    <a:pt x="250" y="96"/>
                  </a:lnTo>
                  <a:lnTo>
                    <a:pt x="323" y="180"/>
                  </a:lnTo>
                  <a:lnTo>
                    <a:pt x="406" y="295"/>
                  </a:lnTo>
                  <a:lnTo>
                    <a:pt x="470" y="421"/>
                  </a:lnTo>
                  <a:lnTo>
                    <a:pt x="504" y="567"/>
                  </a:lnTo>
                  <a:lnTo>
                    <a:pt x="540" y="654"/>
                  </a:lnTo>
                  <a:lnTo>
                    <a:pt x="560" y="702"/>
                  </a:lnTo>
                  <a:lnTo>
                    <a:pt x="603" y="715"/>
                  </a:lnTo>
                  <a:lnTo>
                    <a:pt x="666" y="715"/>
                  </a:lnTo>
                  <a:lnTo>
                    <a:pt x="697" y="716"/>
                  </a:lnTo>
                  <a:lnTo>
                    <a:pt x="711" y="752"/>
                  </a:lnTo>
                  <a:lnTo>
                    <a:pt x="669" y="763"/>
                  </a:lnTo>
                  <a:lnTo>
                    <a:pt x="610" y="758"/>
                  </a:lnTo>
                  <a:lnTo>
                    <a:pt x="554" y="752"/>
                  </a:lnTo>
                  <a:lnTo>
                    <a:pt x="518" y="721"/>
                  </a:lnTo>
                  <a:lnTo>
                    <a:pt x="490" y="730"/>
                  </a:lnTo>
                  <a:lnTo>
                    <a:pt x="479" y="758"/>
                  </a:lnTo>
                  <a:lnTo>
                    <a:pt x="442" y="766"/>
                  </a:lnTo>
                  <a:lnTo>
                    <a:pt x="421" y="749"/>
                  </a:lnTo>
                  <a:lnTo>
                    <a:pt x="434" y="715"/>
                  </a:lnTo>
                  <a:lnTo>
                    <a:pt x="471" y="673"/>
                  </a:lnTo>
                  <a:lnTo>
                    <a:pt x="476" y="618"/>
                  </a:lnTo>
                  <a:lnTo>
                    <a:pt x="457" y="563"/>
                  </a:lnTo>
                  <a:lnTo>
                    <a:pt x="420" y="457"/>
                  </a:lnTo>
                  <a:lnTo>
                    <a:pt x="370" y="379"/>
                  </a:lnTo>
                  <a:lnTo>
                    <a:pt x="322" y="300"/>
                  </a:lnTo>
                  <a:lnTo>
                    <a:pt x="272" y="239"/>
                  </a:lnTo>
                  <a:lnTo>
                    <a:pt x="202" y="174"/>
                  </a:lnTo>
                  <a:lnTo>
                    <a:pt x="124" y="131"/>
                  </a:lnTo>
                  <a:lnTo>
                    <a:pt x="19" y="89"/>
                  </a:lnTo>
                  <a:lnTo>
                    <a:pt x="0" y="36"/>
                  </a:lnTo>
                  <a:lnTo>
                    <a:pt x="33" y="0"/>
                  </a:lnTo>
                  <a:lnTo>
                    <a:pt x="8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77" name="Freeform 9"/>
            <p:cNvSpPr>
              <a:spLocks/>
            </p:cNvSpPr>
            <p:nvPr/>
          </p:nvSpPr>
          <p:spPr bwMode="auto">
            <a:xfrm>
              <a:off x="2498" y="2575"/>
              <a:ext cx="466" cy="279"/>
            </a:xfrm>
            <a:custGeom>
              <a:avLst/>
              <a:gdLst>
                <a:gd name="T0" fmla="*/ 23 w 932"/>
                <a:gd name="T1" fmla="*/ 192 h 558"/>
                <a:gd name="T2" fmla="*/ 4 w 932"/>
                <a:gd name="T3" fmla="*/ 205 h 558"/>
                <a:gd name="T4" fmla="*/ 0 w 932"/>
                <a:gd name="T5" fmla="*/ 227 h 558"/>
                <a:gd name="T6" fmla="*/ 4 w 932"/>
                <a:gd name="T7" fmla="*/ 265 h 558"/>
                <a:gd name="T8" fmla="*/ 21 w 932"/>
                <a:gd name="T9" fmla="*/ 279 h 558"/>
                <a:gd name="T10" fmla="*/ 67 w 932"/>
                <a:gd name="T11" fmla="*/ 268 h 558"/>
                <a:gd name="T12" fmla="*/ 117 w 932"/>
                <a:gd name="T13" fmla="*/ 238 h 558"/>
                <a:gd name="T14" fmla="*/ 182 w 932"/>
                <a:gd name="T15" fmla="*/ 201 h 558"/>
                <a:gd name="T16" fmla="*/ 228 w 932"/>
                <a:gd name="T17" fmla="*/ 180 h 558"/>
                <a:gd name="T18" fmla="*/ 256 w 932"/>
                <a:gd name="T19" fmla="*/ 177 h 558"/>
                <a:gd name="T20" fmla="*/ 298 w 932"/>
                <a:gd name="T21" fmla="*/ 174 h 558"/>
                <a:gd name="T22" fmla="*/ 322 w 932"/>
                <a:gd name="T23" fmla="*/ 171 h 558"/>
                <a:gd name="T24" fmla="*/ 352 w 932"/>
                <a:gd name="T25" fmla="*/ 153 h 558"/>
                <a:gd name="T26" fmla="*/ 380 w 932"/>
                <a:gd name="T27" fmla="*/ 145 h 558"/>
                <a:gd name="T28" fmla="*/ 394 w 932"/>
                <a:gd name="T29" fmla="*/ 145 h 558"/>
                <a:gd name="T30" fmla="*/ 417 w 932"/>
                <a:gd name="T31" fmla="*/ 145 h 558"/>
                <a:gd name="T32" fmla="*/ 424 w 932"/>
                <a:gd name="T33" fmla="*/ 135 h 558"/>
                <a:gd name="T34" fmla="*/ 427 w 932"/>
                <a:gd name="T35" fmla="*/ 106 h 558"/>
                <a:gd name="T36" fmla="*/ 440 w 932"/>
                <a:gd name="T37" fmla="*/ 76 h 558"/>
                <a:gd name="T38" fmla="*/ 459 w 932"/>
                <a:gd name="T39" fmla="*/ 46 h 558"/>
                <a:gd name="T40" fmla="*/ 466 w 932"/>
                <a:gd name="T41" fmla="*/ 32 h 558"/>
                <a:gd name="T42" fmla="*/ 461 w 932"/>
                <a:gd name="T43" fmla="*/ 14 h 558"/>
                <a:gd name="T44" fmla="*/ 433 w 932"/>
                <a:gd name="T45" fmla="*/ 0 h 558"/>
                <a:gd name="T46" fmla="*/ 413 w 932"/>
                <a:gd name="T47" fmla="*/ 4 h 558"/>
                <a:gd name="T48" fmla="*/ 392 w 932"/>
                <a:gd name="T49" fmla="*/ 67 h 558"/>
                <a:gd name="T50" fmla="*/ 384 w 932"/>
                <a:gd name="T51" fmla="*/ 117 h 558"/>
                <a:gd name="T52" fmla="*/ 370 w 932"/>
                <a:gd name="T53" fmla="*/ 124 h 558"/>
                <a:gd name="T54" fmla="*/ 312 w 932"/>
                <a:gd name="T55" fmla="*/ 128 h 558"/>
                <a:gd name="T56" fmla="*/ 250 w 932"/>
                <a:gd name="T57" fmla="*/ 135 h 558"/>
                <a:gd name="T58" fmla="*/ 210 w 932"/>
                <a:gd name="T59" fmla="*/ 132 h 558"/>
                <a:gd name="T60" fmla="*/ 189 w 932"/>
                <a:gd name="T61" fmla="*/ 142 h 558"/>
                <a:gd name="T62" fmla="*/ 147 w 932"/>
                <a:gd name="T63" fmla="*/ 156 h 558"/>
                <a:gd name="T64" fmla="*/ 77 w 932"/>
                <a:gd name="T65" fmla="*/ 177 h 558"/>
                <a:gd name="T66" fmla="*/ 23 w 932"/>
                <a:gd name="T67" fmla="*/ 192 h 55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32" h="558">
                  <a:moveTo>
                    <a:pt x="45" y="384"/>
                  </a:moveTo>
                  <a:lnTo>
                    <a:pt x="8" y="410"/>
                  </a:lnTo>
                  <a:lnTo>
                    <a:pt x="0" y="454"/>
                  </a:lnTo>
                  <a:lnTo>
                    <a:pt x="8" y="530"/>
                  </a:lnTo>
                  <a:lnTo>
                    <a:pt x="42" y="558"/>
                  </a:lnTo>
                  <a:lnTo>
                    <a:pt x="134" y="536"/>
                  </a:lnTo>
                  <a:lnTo>
                    <a:pt x="233" y="475"/>
                  </a:lnTo>
                  <a:lnTo>
                    <a:pt x="364" y="402"/>
                  </a:lnTo>
                  <a:lnTo>
                    <a:pt x="456" y="360"/>
                  </a:lnTo>
                  <a:lnTo>
                    <a:pt x="512" y="353"/>
                  </a:lnTo>
                  <a:lnTo>
                    <a:pt x="596" y="348"/>
                  </a:lnTo>
                  <a:lnTo>
                    <a:pt x="644" y="342"/>
                  </a:lnTo>
                  <a:lnTo>
                    <a:pt x="703" y="306"/>
                  </a:lnTo>
                  <a:lnTo>
                    <a:pt x="760" y="289"/>
                  </a:lnTo>
                  <a:lnTo>
                    <a:pt x="788" y="289"/>
                  </a:lnTo>
                  <a:lnTo>
                    <a:pt x="834" y="289"/>
                  </a:lnTo>
                  <a:lnTo>
                    <a:pt x="848" y="269"/>
                  </a:lnTo>
                  <a:lnTo>
                    <a:pt x="854" y="211"/>
                  </a:lnTo>
                  <a:lnTo>
                    <a:pt x="880" y="151"/>
                  </a:lnTo>
                  <a:lnTo>
                    <a:pt x="918" y="92"/>
                  </a:lnTo>
                  <a:lnTo>
                    <a:pt x="932" y="64"/>
                  </a:lnTo>
                  <a:lnTo>
                    <a:pt x="922" y="28"/>
                  </a:lnTo>
                  <a:lnTo>
                    <a:pt x="866" y="0"/>
                  </a:lnTo>
                  <a:lnTo>
                    <a:pt x="826" y="8"/>
                  </a:lnTo>
                  <a:lnTo>
                    <a:pt x="784" y="134"/>
                  </a:lnTo>
                  <a:lnTo>
                    <a:pt x="768" y="233"/>
                  </a:lnTo>
                  <a:lnTo>
                    <a:pt x="740" y="247"/>
                  </a:lnTo>
                  <a:lnTo>
                    <a:pt x="624" y="256"/>
                  </a:lnTo>
                  <a:lnTo>
                    <a:pt x="499" y="269"/>
                  </a:lnTo>
                  <a:lnTo>
                    <a:pt x="420" y="264"/>
                  </a:lnTo>
                  <a:lnTo>
                    <a:pt x="378" y="283"/>
                  </a:lnTo>
                  <a:lnTo>
                    <a:pt x="294" y="311"/>
                  </a:lnTo>
                  <a:lnTo>
                    <a:pt x="154" y="353"/>
                  </a:lnTo>
                  <a:lnTo>
                    <a:pt x="45" y="3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78" name="Freeform 10"/>
            <p:cNvSpPr>
              <a:spLocks/>
            </p:cNvSpPr>
            <p:nvPr/>
          </p:nvSpPr>
          <p:spPr bwMode="auto">
            <a:xfrm>
              <a:off x="2408" y="2530"/>
              <a:ext cx="379" cy="319"/>
            </a:xfrm>
            <a:custGeom>
              <a:avLst/>
              <a:gdLst>
                <a:gd name="T0" fmla="*/ 14 w 759"/>
                <a:gd name="T1" fmla="*/ 241 h 638"/>
                <a:gd name="T2" fmla="*/ 0 w 759"/>
                <a:gd name="T3" fmla="*/ 256 h 638"/>
                <a:gd name="T4" fmla="*/ 0 w 759"/>
                <a:gd name="T5" fmla="*/ 277 h 638"/>
                <a:gd name="T6" fmla="*/ 9 w 759"/>
                <a:gd name="T7" fmla="*/ 309 h 638"/>
                <a:gd name="T8" fmla="*/ 27 w 759"/>
                <a:gd name="T9" fmla="*/ 319 h 638"/>
                <a:gd name="T10" fmla="*/ 66 w 759"/>
                <a:gd name="T11" fmla="*/ 302 h 638"/>
                <a:gd name="T12" fmla="*/ 105 w 759"/>
                <a:gd name="T13" fmla="*/ 265 h 638"/>
                <a:gd name="T14" fmla="*/ 157 w 759"/>
                <a:gd name="T15" fmla="*/ 222 h 638"/>
                <a:gd name="T16" fmla="*/ 193 w 759"/>
                <a:gd name="T17" fmla="*/ 195 h 638"/>
                <a:gd name="T18" fmla="*/ 218 w 759"/>
                <a:gd name="T19" fmla="*/ 187 h 638"/>
                <a:gd name="T20" fmla="*/ 255 w 759"/>
                <a:gd name="T21" fmla="*/ 177 h 638"/>
                <a:gd name="T22" fmla="*/ 276 w 759"/>
                <a:gd name="T23" fmla="*/ 171 h 638"/>
                <a:gd name="T24" fmla="*/ 298 w 759"/>
                <a:gd name="T25" fmla="*/ 151 h 638"/>
                <a:gd name="T26" fmla="*/ 323 w 759"/>
                <a:gd name="T27" fmla="*/ 138 h 638"/>
                <a:gd name="T28" fmla="*/ 335 w 759"/>
                <a:gd name="T29" fmla="*/ 135 h 638"/>
                <a:gd name="T30" fmla="*/ 355 w 759"/>
                <a:gd name="T31" fmla="*/ 131 h 638"/>
                <a:gd name="T32" fmla="*/ 359 w 759"/>
                <a:gd name="T33" fmla="*/ 121 h 638"/>
                <a:gd name="T34" fmla="*/ 358 w 759"/>
                <a:gd name="T35" fmla="*/ 96 h 638"/>
                <a:gd name="T36" fmla="*/ 364 w 759"/>
                <a:gd name="T37" fmla="*/ 66 h 638"/>
                <a:gd name="T38" fmla="*/ 375 w 759"/>
                <a:gd name="T39" fmla="*/ 36 h 638"/>
                <a:gd name="T40" fmla="*/ 379 w 759"/>
                <a:gd name="T41" fmla="*/ 23 h 638"/>
                <a:gd name="T42" fmla="*/ 372 w 759"/>
                <a:gd name="T43" fmla="*/ 9 h 638"/>
                <a:gd name="T44" fmla="*/ 344 w 759"/>
                <a:gd name="T45" fmla="*/ 0 h 638"/>
                <a:gd name="T46" fmla="*/ 328 w 759"/>
                <a:gd name="T47" fmla="*/ 6 h 638"/>
                <a:gd name="T48" fmla="*/ 319 w 759"/>
                <a:gd name="T49" fmla="*/ 67 h 638"/>
                <a:gd name="T50" fmla="*/ 321 w 759"/>
                <a:gd name="T51" fmla="*/ 111 h 638"/>
                <a:gd name="T52" fmla="*/ 311 w 759"/>
                <a:gd name="T53" fmla="*/ 120 h 638"/>
                <a:gd name="T54" fmla="*/ 259 w 759"/>
                <a:gd name="T55" fmla="*/ 135 h 638"/>
                <a:gd name="T56" fmla="*/ 205 w 759"/>
                <a:gd name="T57" fmla="*/ 151 h 638"/>
                <a:gd name="T58" fmla="*/ 169 w 759"/>
                <a:gd name="T59" fmla="*/ 156 h 638"/>
                <a:gd name="T60" fmla="*/ 153 w 759"/>
                <a:gd name="T61" fmla="*/ 168 h 638"/>
                <a:gd name="T62" fmla="*/ 118 w 759"/>
                <a:gd name="T63" fmla="*/ 188 h 638"/>
                <a:gd name="T64" fmla="*/ 59 w 759"/>
                <a:gd name="T65" fmla="*/ 218 h 638"/>
                <a:gd name="T66" fmla="*/ 14 w 759"/>
                <a:gd name="T67" fmla="*/ 241 h 63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759" h="638">
                  <a:moveTo>
                    <a:pt x="28" y="482"/>
                  </a:moveTo>
                  <a:lnTo>
                    <a:pt x="0" y="511"/>
                  </a:lnTo>
                  <a:lnTo>
                    <a:pt x="0" y="553"/>
                  </a:lnTo>
                  <a:lnTo>
                    <a:pt x="18" y="617"/>
                  </a:lnTo>
                  <a:lnTo>
                    <a:pt x="54" y="638"/>
                  </a:lnTo>
                  <a:lnTo>
                    <a:pt x="132" y="603"/>
                  </a:lnTo>
                  <a:lnTo>
                    <a:pt x="211" y="530"/>
                  </a:lnTo>
                  <a:lnTo>
                    <a:pt x="314" y="443"/>
                  </a:lnTo>
                  <a:lnTo>
                    <a:pt x="387" y="390"/>
                  </a:lnTo>
                  <a:lnTo>
                    <a:pt x="437" y="373"/>
                  </a:lnTo>
                  <a:lnTo>
                    <a:pt x="510" y="354"/>
                  </a:lnTo>
                  <a:lnTo>
                    <a:pt x="552" y="342"/>
                  </a:lnTo>
                  <a:lnTo>
                    <a:pt x="597" y="301"/>
                  </a:lnTo>
                  <a:lnTo>
                    <a:pt x="647" y="276"/>
                  </a:lnTo>
                  <a:lnTo>
                    <a:pt x="670" y="269"/>
                  </a:lnTo>
                  <a:lnTo>
                    <a:pt x="710" y="262"/>
                  </a:lnTo>
                  <a:lnTo>
                    <a:pt x="718" y="242"/>
                  </a:lnTo>
                  <a:lnTo>
                    <a:pt x="717" y="191"/>
                  </a:lnTo>
                  <a:lnTo>
                    <a:pt x="729" y="132"/>
                  </a:lnTo>
                  <a:lnTo>
                    <a:pt x="751" y="71"/>
                  </a:lnTo>
                  <a:lnTo>
                    <a:pt x="759" y="46"/>
                  </a:lnTo>
                  <a:lnTo>
                    <a:pt x="745" y="17"/>
                  </a:lnTo>
                  <a:lnTo>
                    <a:pt x="689" y="0"/>
                  </a:lnTo>
                  <a:lnTo>
                    <a:pt x="656" y="12"/>
                  </a:lnTo>
                  <a:lnTo>
                    <a:pt x="639" y="133"/>
                  </a:lnTo>
                  <a:lnTo>
                    <a:pt x="642" y="222"/>
                  </a:lnTo>
                  <a:lnTo>
                    <a:pt x="622" y="239"/>
                  </a:lnTo>
                  <a:lnTo>
                    <a:pt x="518" y="269"/>
                  </a:lnTo>
                  <a:lnTo>
                    <a:pt x="410" y="301"/>
                  </a:lnTo>
                  <a:lnTo>
                    <a:pt x="339" y="312"/>
                  </a:lnTo>
                  <a:lnTo>
                    <a:pt x="306" y="335"/>
                  </a:lnTo>
                  <a:lnTo>
                    <a:pt x="236" y="376"/>
                  </a:lnTo>
                  <a:lnTo>
                    <a:pt x="118" y="435"/>
                  </a:lnTo>
                  <a:lnTo>
                    <a:pt x="28" y="4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52235" name="Group 11"/>
          <p:cNvGrpSpPr>
            <a:grpSpLocks/>
          </p:cNvGrpSpPr>
          <p:nvPr/>
        </p:nvGrpSpPr>
        <p:grpSpPr bwMode="auto">
          <a:xfrm>
            <a:off x="6253164" y="3152776"/>
            <a:ext cx="2998787" cy="1255713"/>
            <a:chOff x="2979" y="1920"/>
            <a:chExt cx="1889" cy="764"/>
          </a:xfrm>
        </p:grpSpPr>
        <p:grpSp>
          <p:nvGrpSpPr>
            <p:cNvPr id="7254" name="Group 12"/>
            <p:cNvGrpSpPr>
              <a:grpSpLocks/>
            </p:cNvGrpSpPr>
            <p:nvPr/>
          </p:nvGrpSpPr>
          <p:grpSpPr bwMode="auto">
            <a:xfrm>
              <a:off x="2979" y="1920"/>
              <a:ext cx="717" cy="764"/>
              <a:chOff x="2607" y="1922"/>
              <a:chExt cx="717" cy="764"/>
            </a:xfrm>
          </p:grpSpPr>
          <p:sp>
            <p:nvSpPr>
              <p:cNvPr id="7261" name="Freeform 13"/>
              <p:cNvSpPr>
                <a:spLocks/>
              </p:cNvSpPr>
              <p:nvPr/>
            </p:nvSpPr>
            <p:spPr bwMode="auto">
              <a:xfrm>
                <a:off x="2619" y="1929"/>
                <a:ext cx="701" cy="749"/>
              </a:xfrm>
              <a:custGeom>
                <a:avLst/>
                <a:gdLst>
                  <a:gd name="T0" fmla="*/ 145 w 1401"/>
                  <a:gd name="T1" fmla="*/ 454 h 1500"/>
                  <a:gd name="T2" fmla="*/ 85 w 1401"/>
                  <a:gd name="T3" fmla="*/ 492 h 1500"/>
                  <a:gd name="T4" fmla="*/ 11 w 1401"/>
                  <a:gd name="T5" fmla="*/ 540 h 1500"/>
                  <a:gd name="T6" fmla="*/ 3 w 1401"/>
                  <a:gd name="T7" fmla="*/ 588 h 1500"/>
                  <a:gd name="T8" fmla="*/ 0 w 1401"/>
                  <a:gd name="T9" fmla="*/ 679 h 1500"/>
                  <a:gd name="T10" fmla="*/ 110 w 1401"/>
                  <a:gd name="T11" fmla="*/ 692 h 1500"/>
                  <a:gd name="T12" fmla="*/ 235 w 1401"/>
                  <a:gd name="T13" fmla="*/ 698 h 1500"/>
                  <a:gd name="T14" fmla="*/ 419 w 1401"/>
                  <a:gd name="T15" fmla="*/ 724 h 1500"/>
                  <a:gd name="T16" fmla="*/ 555 w 1401"/>
                  <a:gd name="T17" fmla="*/ 749 h 1500"/>
                  <a:gd name="T18" fmla="*/ 617 w 1401"/>
                  <a:gd name="T19" fmla="*/ 669 h 1500"/>
                  <a:gd name="T20" fmla="*/ 701 w 1401"/>
                  <a:gd name="T21" fmla="*/ 506 h 1500"/>
                  <a:gd name="T22" fmla="*/ 698 w 1401"/>
                  <a:gd name="T23" fmla="*/ 453 h 1500"/>
                  <a:gd name="T24" fmla="*/ 680 w 1401"/>
                  <a:gd name="T25" fmla="*/ 429 h 1500"/>
                  <a:gd name="T26" fmla="*/ 618 w 1401"/>
                  <a:gd name="T27" fmla="*/ 423 h 1500"/>
                  <a:gd name="T28" fmla="*/ 669 w 1401"/>
                  <a:gd name="T29" fmla="*/ 297 h 1500"/>
                  <a:gd name="T30" fmla="*/ 679 w 1401"/>
                  <a:gd name="T31" fmla="*/ 257 h 1500"/>
                  <a:gd name="T32" fmla="*/ 680 w 1401"/>
                  <a:gd name="T33" fmla="*/ 154 h 1500"/>
                  <a:gd name="T34" fmla="*/ 677 w 1401"/>
                  <a:gd name="T35" fmla="*/ 77 h 1500"/>
                  <a:gd name="T36" fmla="*/ 658 w 1401"/>
                  <a:gd name="T37" fmla="*/ 39 h 1500"/>
                  <a:gd name="T38" fmla="*/ 638 w 1401"/>
                  <a:gd name="T39" fmla="*/ 36 h 1500"/>
                  <a:gd name="T40" fmla="*/ 588 w 1401"/>
                  <a:gd name="T41" fmla="*/ 36 h 1500"/>
                  <a:gd name="T42" fmla="*/ 506 w 1401"/>
                  <a:gd name="T43" fmla="*/ 28 h 1500"/>
                  <a:gd name="T44" fmla="*/ 455 w 1401"/>
                  <a:gd name="T45" fmla="*/ 12 h 1500"/>
                  <a:gd name="T46" fmla="*/ 399 w 1401"/>
                  <a:gd name="T47" fmla="*/ 0 h 1500"/>
                  <a:gd name="T48" fmla="*/ 376 w 1401"/>
                  <a:gd name="T49" fmla="*/ 2 h 1500"/>
                  <a:gd name="T50" fmla="*/ 324 w 1401"/>
                  <a:gd name="T51" fmla="*/ 16 h 1500"/>
                  <a:gd name="T52" fmla="*/ 250 w 1401"/>
                  <a:gd name="T53" fmla="*/ 24 h 1500"/>
                  <a:gd name="T54" fmla="*/ 154 w 1401"/>
                  <a:gd name="T55" fmla="*/ 41 h 1500"/>
                  <a:gd name="T56" fmla="*/ 117 w 1401"/>
                  <a:gd name="T57" fmla="*/ 57 h 1500"/>
                  <a:gd name="T58" fmla="*/ 79 w 1401"/>
                  <a:gd name="T59" fmla="*/ 85 h 1500"/>
                  <a:gd name="T60" fmla="*/ 65 w 1401"/>
                  <a:gd name="T61" fmla="*/ 134 h 1500"/>
                  <a:gd name="T62" fmla="*/ 53 w 1401"/>
                  <a:gd name="T63" fmla="*/ 217 h 1500"/>
                  <a:gd name="T64" fmla="*/ 41 w 1401"/>
                  <a:gd name="T65" fmla="*/ 315 h 1500"/>
                  <a:gd name="T66" fmla="*/ 38 w 1401"/>
                  <a:gd name="T67" fmla="*/ 374 h 1500"/>
                  <a:gd name="T68" fmla="*/ 47 w 1401"/>
                  <a:gd name="T69" fmla="*/ 410 h 1500"/>
                  <a:gd name="T70" fmla="*/ 65 w 1401"/>
                  <a:gd name="T71" fmla="*/ 431 h 1500"/>
                  <a:gd name="T72" fmla="*/ 89 w 1401"/>
                  <a:gd name="T73" fmla="*/ 441 h 1500"/>
                  <a:gd name="T74" fmla="*/ 145 w 1401"/>
                  <a:gd name="T75" fmla="*/ 454 h 150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401" h="1500">
                    <a:moveTo>
                      <a:pt x="289" y="909"/>
                    </a:moveTo>
                    <a:lnTo>
                      <a:pt x="169" y="985"/>
                    </a:lnTo>
                    <a:lnTo>
                      <a:pt x="21" y="1082"/>
                    </a:lnTo>
                    <a:lnTo>
                      <a:pt x="6" y="1178"/>
                    </a:lnTo>
                    <a:lnTo>
                      <a:pt x="0" y="1360"/>
                    </a:lnTo>
                    <a:lnTo>
                      <a:pt x="220" y="1385"/>
                    </a:lnTo>
                    <a:lnTo>
                      <a:pt x="469" y="1397"/>
                    </a:lnTo>
                    <a:lnTo>
                      <a:pt x="838" y="1450"/>
                    </a:lnTo>
                    <a:lnTo>
                      <a:pt x="1110" y="1500"/>
                    </a:lnTo>
                    <a:lnTo>
                      <a:pt x="1234" y="1340"/>
                    </a:lnTo>
                    <a:lnTo>
                      <a:pt x="1401" y="1013"/>
                    </a:lnTo>
                    <a:lnTo>
                      <a:pt x="1396" y="908"/>
                    </a:lnTo>
                    <a:lnTo>
                      <a:pt x="1360" y="859"/>
                    </a:lnTo>
                    <a:lnTo>
                      <a:pt x="1236" y="847"/>
                    </a:lnTo>
                    <a:lnTo>
                      <a:pt x="1337" y="594"/>
                    </a:lnTo>
                    <a:lnTo>
                      <a:pt x="1357" y="514"/>
                    </a:lnTo>
                    <a:lnTo>
                      <a:pt x="1360" y="308"/>
                    </a:lnTo>
                    <a:lnTo>
                      <a:pt x="1354" y="154"/>
                    </a:lnTo>
                    <a:lnTo>
                      <a:pt x="1315" y="78"/>
                    </a:lnTo>
                    <a:lnTo>
                      <a:pt x="1275" y="73"/>
                    </a:lnTo>
                    <a:lnTo>
                      <a:pt x="1175" y="73"/>
                    </a:lnTo>
                    <a:lnTo>
                      <a:pt x="1012" y="56"/>
                    </a:lnTo>
                    <a:lnTo>
                      <a:pt x="909" y="25"/>
                    </a:lnTo>
                    <a:lnTo>
                      <a:pt x="797" y="0"/>
                    </a:lnTo>
                    <a:lnTo>
                      <a:pt x="752" y="5"/>
                    </a:lnTo>
                    <a:lnTo>
                      <a:pt x="647" y="33"/>
                    </a:lnTo>
                    <a:lnTo>
                      <a:pt x="500" y="48"/>
                    </a:lnTo>
                    <a:lnTo>
                      <a:pt x="308" y="82"/>
                    </a:lnTo>
                    <a:lnTo>
                      <a:pt x="233" y="114"/>
                    </a:lnTo>
                    <a:lnTo>
                      <a:pt x="158" y="171"/>
                    </a:lnTo>
                    <a:lnTo>
                      <a:pt x="130" y="269"/>
                    </a:lnTo>
                    <a:lnTo>
                      <a:pt x="105" y="434"/>
                    </a:lnTo>
                    <a:lnTo>
                      <a:pt x="81" y="631"/>
                    </a:lnTo>
                    <a:lnTo>
                      <a:pt x="76" y="749"/>
                    </a:lnTo>
                    <a:lnTo>
                      <a:pt x="93" y="821"/>
                    </a:lnTo>
                    <a:lnTo>
                      <a:pt x="129" y="863"/>
                    </a:lnTo>
                    <a:lnTo>
                      <a:pt x="177" y="884"/>
                    </a:lnTo>
                    <a:lnTo>
                      <a:pt x="289" y="909"/>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62" name="Freeform 14"/>
              <p:cNvSpPr>
                <a:spLocks/>
              </p:cNvSpPr>
              <p:nvPr/>
            </p:nvSpPr>
            <p:spPr bwMode="auto">
              <a:xfrm>
                <a:off x="2727" y="2032"/>
                <a:ext cx="389" cy="348"/>
              </a:xfrm>
              <a:custGeom>
                <a:avLst/>
                <a:gdLst>
                  <a:gd name="T0" fmla="*/ 19 w 777"/>
                  <a:gd name="T1" fmla="*/ 72 h 696"/>
                  <a:gd name="T2" fmla="*/ 32 w 777"/>
                  <a:gd name="T3" fmla="*/ 16 h 696"/>
                  <a:gd name="T4" fmla="*/ 44 w 777"/>
                  <a:gd name="T5" fmla="*/ 2 h 696"/>
                  <a:gd name="T6" fmla="*/ 68 w 777"/>
                  <a:gd name="T7" fmla="*/ 0 h 696"/>
                  <a:gd name="T8" fmla="*/ 167 w 777"/>
                  <a:gd name="T9" fmla="*/ 13 h 696"/>
                  <a:gd name="T10" fmla="*/ 289 w 777"/>
                  <a:gd name="T11" fmla="*/ 30 h 696"/>
                  <a:gd name="T12" fmla="*/ 359 w 777"/>
                  <a:gd name="T13" fmla="*/ 43 h 696"/>
                  <a:gd name="T14" fmla="*/ 375 w 777"/>
                  <a:gd name="T15" fmla="*/ 56 h 696"/>
                  <a:gd name="T16" fmla="*/ 383 w 777"/>
                  <a:gd name="T17" fmla="*/ 79 h 696"/>
                  <a:gd name="T18" fmla="*/ 387 w 777"/>
                  <a:gd name="T19" fmla="*/ 170 h 696"/>
                  <a:gd name="T20" fmla="*/ 389 w 777"/>
                  <a:gd name="T21" fmla="*/ 271 h 696"/>
                  <a:gd name="T22" fmla="*/ 383 w 777"/>
                  <a:gd name="T23" fmla="*/ 334 h 696"/>
                  <a:gd name="T24" fmla="*/ 375 w 777"/>
                  <a:gd name="T25" fmla="*/ 345 h 696"/>
                  <a:gd name="T26" fmla="*/ 352 w 777"/>
                  <a:gd name="T27" fmla="*/ 348 h 696"/>
                  <a:gd name="T28" fmla="*/ 248 w 777"/>
                  <a:gd name="T29" fmla="*/ 330 h 696"/>
                  <a:gd name="T30" fmla="*/ 91 w 777"/>
                  <a:gd name="T31" fmla="*/ 297 h 696"/>
                  <a:gd name="T32" fmla="*/ 13 w 777"/>
                  <a:gd name="T33" fmla="*/ 276 h 696"/>
                  <a:gd name="T34" fmla="*/ 2 w 777"/>
                  <a:gd name="T35" fmla="*/ 259 h 696"/>
                  <a:gd name="T36" fmla="*/ 0 w 777"/>
                  <a:gd name="T37" fmla="*/ 225 h 696"/>
                  <a:gd name="T38" fmla="*/ 5 w 777"/>
                  <a:gd name="T39" fmla="*/ 147 h 696"/>
                  <a:gd name="T40" fmla="*/ 19 w 777"/>
                  <a:gd name="T41" fmla="*/ 72 h 6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77" h="696">
                    <a:moveTo>
                      <a:pt x="37" y="143"/>
                    </a:moveTo>
                    <a:lnTo>
                      <a:pt x="64" y="32"/>
                    </a:lnTo>
                    <a:lnTo>
                      <a:pt x="87" y="4"/>
                    </a:lnTo>
                    <a:lnTo>
                      <a:pt x="135" y="0"/>
                    </a:lnTo>
                    <a:lnTo>
                      <a:pt x="334" y="25"/>
                    </a:lnTo>
                    <a:lnTo>
                      <a:pt x="577" y="60"/>
                    </a:lnTo>
                    <a:lnTo>
                      <a:pt x="718" y="85"/>
                    </a:lnTo>
                    <a:lnTo>
                      <a:pt x="749" y="112"/>
                    </a:lnTo>
                    <a:lnTo>
                      <a:pt x="766" y="158"/>
                    </a:lnTo>
                    <a:lnTo>
                      <a:pt x="774" y="340"/>
                    </a:lnTo>
                    <a:lnTo>
                      <a:pt x="777" y="541"/>
                    </a:lnTo>
                    <a:lnTo>
                      <a:pt x="766" y="668"/>
                    </a:lnTo>
                    <a:lnTo>
                      <a:pt x="749" y="690"/>
                    </a:lnTo>
                    <a:lnTo>
                      <a:pt x="704" y="696"/>
                    </a:lnTo>
                    <a:lnTo>
                      <a:pt x="496" y="659"/>
                    </a:lnTo>
                    <a:lnTo>
                      <a:pt x="182" y="593"/>
                    </a:lnTo>
                    <a:lnTo>
                      <a:pt x="25" y="551"/>
                    </a:lnTo>
                    <a:lnTo>
                      <a:pt x="4" y="517"/>
                    </a:lnTo>
                    <a:lnTo>
                      <a:pt x="0" y="449"/>
                    </a:lnTo>
                    <a:lnTo>
                      <a:pt x="9" y="293"/>
                    </a:lnTo>
                    <a:lnTo>
                      <a:pt x="37" y="143"/>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7263" name="Group 15"/>
              <p:cNvGrpSpPr>
                <a:grpSpLocks/>
              </p:cNvGrpSpPr>
              <p:nvPr/>
            </p:nvGrpSpPr>
            <p:grpSpPr bwMode="auto">
              <a:xfrm>
                <a:off x="2607" y="1922"/>
                <a:ext cx="717" cy="764"/>
                <a:chOff x="2607" y="1922"/>
                <a:chExt cx="717" cy="764"/>
              </a:xfrm>
            </p:grpSpPr>
            <p:sp>
              <p:nvSpPr>
                <p:cNvPr id="7264" name="Freeform 16"/>
                <p:cNvSpPr>
                  <a:spLocks/>
                </p:cNvSpPr>
                <p:nvPr/>
              </p:nvSpPr>
              <p:spPr bwMode="auto">
                <a:xfrm>
                  <a:off x="2607" y="2347"/>
                  <a:ext cx="717" cy="339"/>
                </a:xfrm>
                <a:custGeom>
                  <a:avLst/>
                  <a:gdLst>
                    <a:gd name="T0" fmla="*/ 12 w 1434"/>
                    <a:gd name="T1" fmla="*/ 119 h 677"/>
                    <a:gd name="T2" fmla="*/ 108 w 1434"/>
                    <a:gd name="T3" fmla="*/ 59 h 677"/>
                    <a:gd name="T4" fmla="*/ 108 w 1434"/>
                    <a:gd name="T5" fmla="*/ 76 h 677"/>
                    <a:gd name="T6" fmla="*/ 42 w 1434"/>
                    <a:gd name="T7" fmla="*/ 120 h 677"/>
                    <a:gd name="T8" fmla="*/ 145 w 1434"/>
                    <a:gd name="T9" fmla="*/ 131 h 677"/>
                    <a:gd name="T10" fmla="*/ 358 w 1434"/>
                    <a:gd name="T11" fmla="*/ 167 h 677"/>
                    <a:gd name="T12" fmla="*/ 472 w 1434"/>
                    <a:gd name="T13" fmla="*/ 176 h 677"/>
                    <a:gd name="T14" fmla="*/ 545 w 1434"/>
                    <a:gd name="T15" fmla="*/ 174 h 677"/>
                    <a:gd name="T16" fmla="*/ 565 w 1434"/>
                    <a:gd name="T17" fmla="*/ 172 h 677"/>
                    <a:gd name="T18" fmla="*/ 676 w 1434"/>
                    <a:gd name="T19" fmla="*/ 17 h 677"/>
                    <a:gd name="T20" fmla="*/ 638 w 1434"/>
                    <a:gd name="T21" fmla="*/ 0 h 677"/>
                    <a:gd name="T22" fmla="*/ 697 w 1434"/>
                    <a:gd name="T23" fmla="*/ 0 h 677"/>
                    <a:gd name="T24" fmla="*/ 717 w 1434"/>
                    <a:gd name="T25" fmla="*/ 22 h 677"/>
                    <a:gd name="T26" fmla="*/ 716 w 1434"/>
                    <a:gd name="T27" fmla="*/ 86 h 677"/>
                    <a:gd name="T28" fmla="*/ 691 w 1434"/>
                    <a:gd name="T29" fmla="*/ 134 h 677"/>
                    <a:gd name="T30" fmla="*/ 611 w 1434"/>
                    <a:gd name="T31" fmla="*/ 290 h 677"/>
                    <a:gd name="T32" fmla="*/ 577 w 1434"/>
                    <a:gd name="T33" fmla="*/ 337 h 677"/>
                    <a:gd name="T34" fmla="*/ 554 w 1434"/>
                    <a:gd name="T35" fmla="*/ 339 h 677"/>
                    <a:gd name="T36" fmla="*/ 381 w 1434"/>
                    <a:gd name="T37" fmla="*/ 308 h 677"/>
                    <a:gd name="T38" fmla="*/ 199 w 1434"/>
                    <a:gd name="T39" fmla="*/ 284 h 677"/>
                    <a:gd name="T40" fmla="*/ 27 w 1434"/>
                    <a:gd name="T41" fmla="*/ 269 h 677"/>
                    <a:gd name="T42" fmla="*/ 0 w 1434"/>
                    <a:gd name="T43" fmla="*/ 267 h 677"/>
                    <a:gd name="T44" fmla="*/ 6 w 1434"/>
                    <a:gd name="T45" fmla="*/ 218 h 677"/>
                    <a:gd name="T46" fmla="*/ 9 w 1434"/>
                    <a:gd name="T47" fmla="*/ 169 h 677"/>
                    <a:gd name="T48" fmla="*/ 13 w 1434"/>
                    <a:gd name="T49" fmla="*/ 143 h 677"/>
                    <a:gd name="T50" fmla="*/ 24 w 1434"/>
                    <a:gd name="T51" fmla="*/ 162 h 677"/>
                    <a:gd name="T52" fmla="*/ 21 w 1434"/>
                    <a:gd name="T53" fmla="*/ 202 h 677"/>
                    <a:gd name="T54" fmla="*/ 20 w 1434"/>
                    <a:gd name="T55" fmla="*/ 243 h 677"/>
                    <a:gd name="T56" fmla="*/ 68 w 1434"/>
                    <a:gd name="T57" fmla="*/ 259 h 677"/>
                    <a:gd name="T58" fmla="*/ 182 w 1434"/>
                    <a:gd name="T59" fmla="*/ 266 h 677"/>
                    <a:gd name="T60" fmla="*/ 279 w 1434"/>
                    <a:gd name="T61" fmla="*/ 273 h 677"/>
                    <a:gd name="T62" fmla="*/ 359 w 1434"/>
                    <a:gd name="T63" fmla="*/ 286 h 677"/>
                    <a:gd name="T64" fmla="*/ 478 w 1434"/>
                    <a:gd name="T65" fmla="*/ 305 h 677"/>
                    <a:gd name="T66" fmla="*/ 555 w 1434"/>
                    <a:gd name="T67" fmla="*/ 316 h 677"/>
                    <a:gd name="T68" fmla="*/ 561 w 1434"/>
                    <a:gd name="T69" fmla="*/ 295 h 677"/>
                    <a:gd name="T70" fmla="*/ 561 w 1434"/>
                    <a:gd name="T71" fmla="*/ 247 h 677"/>
                    <a:gd name="T72" fmla="*/ 562 w 1434"/>
                    <a:gd name="T73" fmla="*/ 194 h 677"/>
                    <a:gd name="T74" fmla="*/ 571 w 1434"/>
                    <a:gd name="T75" fmla="*/ 208 h 677"/>
                    <a:gd name="T76" fmla="*/ 572 w 1434"/>
                    <a:gd name="T77" fmla="*/ 267 h 677"/>
                    <a:gd name="T78" fmla="*/ 579 w 1434"/>
                    <a:gd name="T79" fmla="*/ 298 h 677"/>
                    <a:gd name="T80" fmla="*/ 594 w 1434"/>
                    <a:gd name="T81" fmla="*/ 285 h 677"/>
                    <a:gd name="T82" fmla="*/ 623 w 1434"/>
                    <a:gd name="T83" fmla="*/ 232 h 677"/>
                    <a:gd name="T84" fmla="*/ 666 w 1434"/>
                    <a:gd name="T85" fmla="*/ 155 h 677"/>
                    <a:gd name="T86" fmla="*/ 698 w 1434"/>
                    <a:gd name="T87" fmla="*/ 93 h 677"/>
                    <a:gd name="T88" fmla="*/ 705 w 1434"/>
                    <a:gd name="T89" fmla="*/ 75 h 677"/>
                    <a:gd name="T90" fmla="*/ 701 w 1434"/>
                    <a:gd name="T91" fmla="*/ 28 h 677"/>
                    <a:gd name="T92" fmla="*/ 691 w 1434"/>
                    <a:gd name="T93" fmla="*/ 22 h 677"/>
                    <a:gd name="T94" fmla="*/ 659 w 1434"/>
                    <a:gd name="T95" fmla="*/ 73 h 677"/>
                    <a:gd name="T96" fmla="*/ 608 w 1434"/>
                    <a:gd name="T97" fmla="*/ 138 h 677"/>
                    <a:gd name="T98" fmla="*/ 569 w 1434"/>
                    <a:gd name="T99" fmla="*/ 188 h 677"/>
                    <a:gd name="T100" fmla="*/ 539 w 1434"/>
                    <a:gd name="T101" fmla="*/ 192 h 677"/>
                    <a:gd name="T102" fmla="*/ 435 w 1434"/>
                    <a:gd name="T103" fmla="*/ 189 h 677"/>
                    <a:gd name="T104" fmla="*/ 309 w 1434"/>
                    <a:gd name="T105" fmla="*/ 176 h 677"/>
                    <a:gd name="T106" fmla="*/ 189 w 1434"/>
                    <a:gd name="T107" fmla="*/ 158 h 677"/>
                    <a:gd name="T108" fmla="*/ 51 w 1434"/>
                    <a:gd name="T109" fmla="*/ 136 h 677"/>
                    <a:gd name="T110" fmla="*/ 12 w 1434"/>
                    <a:gd name="T111" fmla="*/ 119 h 67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434" h="677">
                      <a:moveTo>
                        <a:pt x="23" y="237"/>
                      </a:moveTo>
                      <a:lnTo>
                        <a:pt x="216" y="118"/>
                      </a:lnTo>
                      <a:lnTo>
                        <a:pt x="216" y="152"/>
                      </a:lnTo>
                      <a:lnTo>
                        <a:pt x="84" y="239"/>
                      </a:lnTo>
                      <a:lnTo>
                        <a:pt x="289" y="261"/>
                      </a:lnTo>
                      <a:lnTo>
                        <a:pt x="715" y="334"/>
                      </a:lnTo>
                      <a:lnTo>
                        <a:pt x="944" y="352"/>
                      </a:lnTo>
                      <a:lnTo>
                        <a:pt x="1090" y="348"/>
                      </a:lnTo>
                      <a:lnTo>
                        <a:pt x="1130" y="343"/>
                      </a:lnTo>
                      <a:lnTo>
                        <a:pt x="1351" y="34"/>
                      </a:lnTo>
                      <a:lnTo>
                        <a:pt x="1276" y="0"/>
                      </a:lnTo>
                      <a:lnTo>
                        <a:pt x="1393" y="0"/>
                      </a:lnTo>
                      <a:lnTo>
                        <a:pt x="1434" y="43"/>
                      </a:lnTo>
                      <a:lnTo>
                        <a:pt x="1432" y="171"/>
                      </a:lnTo>
                      <a:lnTo>
                        <a:pt x="1382" y="267"/>
                      </a:lnTo>
                      <a:lnTo>
                        <a:pt x="1222" y="579"/>
                      </a:lnTo>
                      <a:lnTo>
                        <a:pt x="1154" y="673"/>
                      </a:lnTo>
                      <a:lnTo>
                        <a:pt x="1107" y="677"/>
                      </a:lnTo>
                      <a:lnTo>
                        <a:pt x="762" y="615"/>
                      </a:lnTo>
                      <a:lnTo>
                        <a:pt x="398" y="567"/>
                      </a:lnTo>
                      <a:lnTo>
                        <a:pt x="53" y="537"/>
                      </a:lnTo>
                      <a:lnTo>
                        <a:pt x="0" y="533"/>
                      </a:lnTo>
                      <a:lnTo>
                        <a:pt x="11" y="435"/>
                      </a:lnTo>
                      <a:lnTo>
                        <a:pt x="18" y="338"/>
                      </a:lnTo>
                      <a:lnTo>
                        <a:pt x="25" y="286"/>
                      </a:lnTo>
                      <a:lnTo>
                        <a:pt x="48" y="323"/>
                      </a:lnTo>
                      <a:lnTo>
                        <a:pt x="42" y="404"/>
                      </a:lnTo>
                      <a:lnTo>
                        <a:pt x="40" y="486"/>
                      </a:lnTo>
                      <a:lnTo>
                        <a:pt x="135" y="517"/>
                      </a:lnTo>
                      <a:lnTo>
                        <a:pt x="364" y="531"/>
                      </a:lnTo>
                      <a:lnTo>
                        <a:pt x="558" y="545"/>
                      </a:lnTo>
                      <a:lnTo>
                        <a:pt x="718" y="572"/>
                      </a:lnTo>
                      <a:lnTo>
                        <a:pt x="956" y="610"/>
                      </a:lnTo>
                      <a:lnTo>
                        <a:pt x="1109" y="632"/>
                      </a:lnTo>
                      <a:lnTo>
                        <a:pt x="1121" y="590"/>
                      </a:lnTo>
                      <a:lnTo>
                        <a:pt x="1121" y="494"/>
                      </a:lnTo>
                      <a:lnTo>
                        <a:pt x="1124" y="388"/>
                      </a:lnTo>
                      <a:lnTo>
                        <a:pt x="1141" y="416"/>
                      </a:lnTo>
                      <a:lnTo>
                        <a:pt x="1144" y="534"/>
                      </a:lnTo>
                      <a:lnTo>
                        <a:pt x="1157" y="596"/>
                      </a:lnTo>
                      <a:lnTo>
                        <a:pt x="1188" y="570"/>
                      </a:lnTo>
                      <a:lnTo>
                        <a:pt x="1245" y="463"/>
                      </a:lnTo>
                      <a:lnTo>
                        <a:pt x="1331" y="310"/>
                      </a:lnTo>
                      <a:lnTo>
                        <a:pt x="1395" y="186"/>
                      </a:lnTo>
                      <a:lnTo>
                        <a:pt x="1409" y="150"/>
                      </a:lnTo>
                      <a:lnTo>
                        <a:pt x="1401" y="56"/>
                      </a:lnTo>
                      <a:lnTo>
                        <a:pt x="1381" y="43"/>
                      </a:lnTo>
                      <a:lnTo>
                        <a:pt x="1318" y="146"/>
                      </a:lnTo>
                      <a:lnTo>
                        <a:pt x="1216" y="275"/>
                      </a:lnTo>
                      <a:lnTo>
                        <a:pt x="1138" y="376"/>
                      </a:lnTo>
                      <a:lnTo>
                        <a:pt x="1077" y="383"/>
                      </a:lnTo>
                      <a:lnTo>
                        <a:pt x="869" y="377"/>
                      </a:lnTo>
                      <a:lnTo>
                        <a:pt x="617" y="352"/>
                      </a:lnTo>
                      <a:lnTo>
                        <a:pt x="378" y="315"/>
                      </a:lnTo>
                      <a:lnTo>
                        <a:pt x="102" y="272"/>
                      </a:lnTo>
                      <a:lnTo>
                        <a:pt x="23" y="2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65" name="Freeform 17"/>
                <p:cNvSpPr>
                  <a:spLocks/>
                </p:cNvSpPr>
                <p:nvPr/>
              </p:nvSpPr>
              <p:spPr bwMode="auto">
                <a:xfrm>
                  <a:off x="2755" y="2396"/>
                  <a:ext cx="357" cy="105"/>
                </a:xfrm>
                <a:custGeom>
                  <a:avLst/>
                  <a:gdLst>
                    <a:gd name="T0" fmla="*/ 12 w 716"/>
                    <a:gd name="T1" fmla="*/ 10 h 211"/>
                    <a:gd name="T2" fmla="*/ 39 w 716"/>
                    <a:gd name="T3" fmla="*/ 0 h 211"/>
                    <a:gd name="T4" fmla="*/ 50 w 716"/>
                    <a:gd name="T5" fmla="*/ 5 h 211"/>
                    <a:gd name="T6" fmla="*/ 40 w 716"/>
                    <a:gd name="T7" fmla="*/ 22 h 211"/>
                    <a:gd name="T8" fmla="*/ 19 w 716"/>
                    <a:gd name="T9" fmla="*/ 30 h 211"/>
                    <a:gd name="T10" fmla="*/ 52 w 716"/>
                    <a:gd name="T11" fmla="*/ 53 h 211"/>
                    <a:gd name="T12" fmla="*/ 104 w 716"/>
                    <a:gd name="T13" fmla="*/ 64 h 211"/>
                    <a:gd name="T14" fmla="*/ 151 w 716"/>
                    <a:gd name="T15" fmla="*/ 67 h 211"/>
                    <a:gd name="T16" fmla="*/ 184 w 716"/>
                    <a:gd name="T17" fmla="*/ 70 h 211"/>
                    <a:gd name="T18" fmla="*/ 248 w 716"/>
                    <a:gd name="T19" fmla="*/ 74 h 211"/>
                    <a:gd name="T20" fmla="*/ 289 w 716"/>
                    <a:gd name="T21" fmla="*/ 76 h 211"/>
                    <a:gd name="T22" fmla="*/ 317 w 716"/>
                    <a:gd name="T23" fmla="*/ 73 h 211"/>
                    <a:gd name="T24" fmla="*/ 343 w 716"/>
                    <a:gd name="T25" fmla="*/ 62 h 211"/>
                    <a:gd name="T26" fmla="*/ 342 w 716"/>
                    <a:gd name="T27" fmla="*/ 50 h 211"/>
                    <a:gd name="T28" fmla="*/ 357 w 716"/>
                    <a:gd name="T29" fmla="*/ 56 h 211"/>
                    <a:gd name="T30" fmla="*/ 347 w 716"/>
                    <a:gd name="T31" fmla="*/ 94 h 211"/>
                    <a:gd name="T32" fmla="*/ 307 w 716"/>
                    <a:gd name="T33" fmla="*/ 105 h 211"/>
                    <a:gd name="T34" fmla="*/ 223 w 716"/>
                    <a:gd name="T35" fmla="*/ 96 h 211"/>
                    <a:gd name="T36" fmla="*/ 137 w 716"/>
                    <a:gd name="T37" fmla="*/ 91 h 211"/>
                    <a:gd name="T38" fmla="*/ 89 w 716"/>
                    <a:gd name="T39" fmla="*/ 89 h 211"/>
                    <a:gd name="T40" fmla="*/ 33 w 716"/>
                    <a:gd name="T41" fmla="*/ 65 h 211"/>
                    <a:gd name="T42" fmla="*/ 5 w 716"/>
                    <a:gd name="T43" fmla="*/ 52 h 211"/>
                    <a:gd name="T44" fmla="*/ 0 w 716"/>
                    <a:gd name="T45" fmla="*/ 28 h 211"/>
                    <a:gd name="T46" fmla="*/ 12 w 716"/>
                    <a:gd name="T47" fmla="*/ 10 h 21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16" h="211">
                      <a:moveTo>
                        <a:pt x="24" y="20"/>
                      </a:moveTo>
                      <a:lnTo>
                        <a:pt x="78" y="0"/>
                      </a:lnTo>
                      <a:lnTo>
                        <a:pt x="101" y="11"/>
                      </a:lnTo>
                      <a:lnTo>
                        <a:pt x="80" y="45"/>
                      </a:lnTo>
                      <a:lnTo>
                        <a:pt x="39" y="61"/>
                      </a:lnTo>
                      <a:lnTo>
                        <a:pt x="104" y="106"/>
                      </a:lnTo>
                      <a:lnTo>
                        <a:pt x="209" y="129"/>
                      </a:lnTo>
                      <a:lnTo>
                        <a:pt x="303" y="135"/>
                      </a:lnTo>
                      <a:lnTo>
                        <a:pt x="370" y="140"/>
                      </a:lnTo>
                      <a:lnTo>
                        <a:pt x="498" y="148"/>
                      </a:lnTo>
                      <a:lnTo>
                        <a:pt x="579" y="152"/>
                      </a:lnTo>
                      <a:lnTo>
                        <a:pt x="635" y="146"/>
                      </a:lnTo>
                      <a:lnTo>
                        <a:pt x="688" y="124"/>
                      </a:lnTo>
                      <a:lnTo>
                        <a:pt x="686" y="101"/>
                      </a:lnTo>
                      <a:lnTo>
                        <a:pt x="716" y="113"/>
                      </a:lnTo>
                      <a:lnTo>
                        <a:pt x="695" y="188"/>
                      </a:lnTo>
                      <a:lnTo>
                        <a:pt x="616" y="211"/>
                      </a:lnTo>
                      <a:lnTo>
                        <a:pt x="447" y="193"/>
                      </a:lnTo>
                      <a:lnTo>
                        <a:pt x="275" y="182"/>
                      </a:lnTo>
                      <a:lnTo>
                        <a:pt x="178" y="179"/>
                      </a:lnTo>
                      <a:lnTo>
                        <a:pt x="66" y="131"/>
                      </a:lnTo>
                      <a:lnTo>
                        <a:pt x="11" y="104"/>
                      </a:lnTo>
                      <a:lnTo>
                        <a:pt x="0" y="56"/>
                      </a:lnTo>
                      <a:lnTo>
                        <a:pt x="24"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66" name="Freeform 18"/>
                <p:cNvSpPr>
                  <a:spLocks/>
                </p:cNvSpPr>
                <p:nvPr/>
              </p:nvSpPr>
              <p:spPr bwMode="auto">
                <a:xfrm>
                  <a:off x="2679" y="2519"/>
                  <a:ext cx="41" cy="36"/>
                </a:xfrm>
                <a:custGeom>
                  <a:avLst/>
                  <a:gdLst>
                    <a:gd name="T0" fmla="*/ 7 w 81"/>
                    <a:gd name="T1" fmla="*/ 0 h 72"/>
                    <a:gd name="T2" fmla="*/ 41 w 81"/>
                    <a:gd name="T3" fmla="*/ 4 h 72"/>
                    <a:gd name="T4" fmla="*/ 37 w 81"/>
                    <a:gd name="T5" fmla="*/ 36 h 72"/>
                    <a:gd name="T6" fmla="*/ 0 w 81"/>
                    <a:gd name="T7" fmla="*/ 31 h 72"/>
                    <a:gd name="T8" fmla="*/ 7 w 81"/>
                    <a:gd name="T9" fmla="*/ 0 h 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72">
                      <a:moveTo>
                        <a:pt x="14" y="0"/>
                      </a:moveTo>
                      <a:lnTo>
                        <a:pt x="81" y="8"/>
                      </a:lnTo>
                      <a:lnTo>
                        <a:pt x="73" y="72"/>
                      </a:lnTo>
                      <a:lnTo>
                        <a:pt x="0" y="61"/>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67" name="Freeform 19"/>
                <p:cNvSpPr>
                  <a:spLocks/>
                </p:cNvSpPr>
                <p:nvPr/>
              </p:nvSpPr>
              <p:spPr bwMode="auto">
                <a:xfrm>
                  <a:off x="2749" y="2526"/>
                  <a:ext cx="40" cy="36"/>
                </a:xfrm>
                <a:custGeom>
                  <a:avLst/>
                  <a:gdLst>
                    <a:gd name="T0" fmla="*/ 7 w 80"/>
                    <a:gd name="T1" fmla="*/ 0 h 72"/>
                    <a:gd name="T2" fmla="*/ 40 w 80"/>
                    <a:gd name="T3" fmla="*/ 4 h 72"/>
                    <a:gd name="T4" fmla="*/ 37 w 80"/>
                    <a:gd name="T5" fmla="*/ 36 h 72"/>
                    <a:gd name="T6" fmla="*/ 0 w 80"/>
                    <a:gd name="T7" fmla="*/ 31 h 72"/>
                    <a:gd name="T8" fmla="*/ 7 w 80"/>
                    <a:gd name="T9" fmla="*/ 0 h 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72">
                      <a:moveTo>
                        <a:pt x="13" y="0"/>
                      </a:moveTo>
                      <a:lnTo>
                        <a:pt x="80" y="8"/>
                      </a:lnTo>
                      <a:lnTo>
                        <a:pt x="73" y="72"/>
                      </a:lnTo>
                      <a:lnTo>
                        <a:pt x="0" y="61"/>
                      </a:lnTo>
                      <a:lnTo>
                        <a:pt x="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68" name="Freeform 20"/>
                <p:cNvSpPr>
                  <a:spLocks/>
                </p:cNvSpPr>
                <p:nvPr/>
              </p:nvSpPr>
              <p:spPr bwMode="auto">
                <a:xfrm>
                  <a:off x="2973" y="2560"/>
                  <a:ext cx="151" cy="40"/>
                </a:xfrm>
                <a:custGeom>
                  <a:avLst/>
                  <a:gdLst>
                    <a:gd name="T0" fmla="*/ 3 w 302"/>
                    <a:gd name="T1" fmla="*/ 0 h 80"/>
                    <a:gd name="T2" fmla="*/ 150 w 302"/>
                    <a:gd name="T3" fmla="*/ 14 h 80"/>
                    <a:gd name="T4" fmla="*/ 151 w 302"/>
                    <a:gd name="T5" fmla="*/ 40 h 80"/>
                    <a:gd name="T6" fmla="*/ 0 w 302"/>
                    <a:gd name="T7" fmla="*/ 26 h 80"/>
                    <a:gd name="T8" fmla="*/ 3 w 302"/>
                    <a:gd name="T9" fmla="*/ 0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2" h="80">
                      <a:moveTo>
                        <a:pt x="6" y="0"/>
                      </a:moveTo>
                      <a:lnTo>
                        <a:pt x="300" y="28"/>
                      </a:lnTo>
                      <a:lnTo>
                        <a:pt x="302" y="80"/>
                      </a:lnTo>
                      <a:lnTo>
                        <a:pt x="0" y="5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69" name="Freeform 21"/>
                <p:cNvSpPr>
                  <a:spLocks/>
                </p:cNvSpPr>
                <p:nvPr/>
              </p:nvSpPr>
              <p:spPr bwMode="auto">
                <a:xfrm>
                  <a:off x="2649" y="1922"/>
                  <a:ext cx="659" cy="512"/>
                </a:xfrm>
                <a:custGeom>
                  <a:avLst/>
                  <a:gdLst>
                    <a:gd name="T0" fmla="*/ 37 w 1318"/>
                    <a:gd name="T1" fmla="*/ 429 h 1022"/>
                    <a:gd name="T2" fmla="*/ 22 w 1318"/>
                    <a:gd name="T3" fmla="*/ 407 h 1022"/>
                    <a:gd name="T4" fmla="*/ 16 w 1318"/>
                    <a:gd name="T5" fmla="*/ 374 h 1022"/>
                    <a:gd name="T6" fmla="*/ 24 w 1318"/>
                    <a:gd name="T7" fmla="*/ 303 h 1022"/>
                    <a:gd name="T8" fmla="*/ 42 w 1318"/>
                    <a:gd name="T9" fmla="*/ 187 h 1022"/>
                    <a:gd name="T10" fmla="*/ 59 w 1318"/>
                    <a:gd name="T11" fmla="*/ 100 h 1022"/>
                    <a:gd name="T12" fmla="*/ 73 w 1318"/>
                    <a:gd name="T13" fmla="*/ 81 h 1022"/>
                    <a:gd name="T14" fmla="*/ 96 w 1318"/>
                    <a:gd name="T15" fmla="*/ 59 h 1022"/>
                    <a:gd name="T16" fmla="*/ 147 w 1318"/>
                    <a:gd name="T17" fmla="*/ 47 h 1022"/>
                    <a:gd name="T18" fmla="*/ 233 w 1318"/>
                    <a:gd name="T19" fmla="*/ 37 h 1022"/>
                    <a:gd name="T20" fmla="*/ 305 w 1318"/>
                    <a:gd name="T21" fmla="*/ 30 h 1022"/>
                    <a:gd name="T22" fmla="*/ 338 w 1318"/>
                    <a:gd name="T23" fmla="*/ 16 h 1022"/>
                    <a:gd name="T24" fmla="*/ 394 w 1318"/>
                    <a:gd name="T25" fmla="*/ 20 h 1022"/>
                    <a:gd name="T26" fmla="*/ 488 w 1318"/>
                    <a:gd name="T27" fmla="*/ 44 h 1022"/>
                    <a:gd name="T28" fmla="*/ 569 w 1318"/>
                    <a:gd name="T29" fmla="*/ 52 h 1022"/>
                    <a:gd name="T30" fmla="*/ 603 w 1318"/>
                    <a:gd name="T31" fmla="*/ 51 h 1022"/>
                    <a:gd name="T32" fmla="*/ 631 w 1318"/>
                    <a:gd name="T33" fmla="*/ 62 h 1022"/>
                    <a:gd name="T34" fmla="*/ 642 w 1318"/>
                    <a:gd name="T35" fmla="*/ 112 h 1022"/>
                    <a:gd name="T36" fmla="*/ 640 w 1318"/>
                    <a:gd name="T37" fmla="*/ 204 h 1022"/>
                    <a:gd name="T38" fmla="*/ 640 w 1318"/>
                    <a:gd name="T39" fmla="*/ 276 h 1022"/>
                    <a:gd name="T40" fmla="*/ 630 w 1318"/>
                    <a:gd name="T41" fmla="*/ 307 h 1022"/>
                    <a:gd name="T42" fmla="*/ 596 w 1318"/>
                    <a:gd name="T43" fmla="*/ 382 h 1022"/>
                    <a:gd name="T44" fmla="*/ 555 w 1318"/>
                    <a:gd name="T45" fmla="*/ 458 h 1022"/>
                    <a:gd name="T46" fmla="*/ 531 w 1318"/>
                    <a:gd name="T47" fmla="*/ 486 h 1022"/>
                    <a:gd name="T48" fmla="*/ 517 w 1318"/>
                    <a:gd name="T49" fmla="*/ 498 h 1022"/>
                    <a:gd name="T50" fmla="*/ 534 w 1318"/>
                    <a:gd name="T51" fmla="*/ 512 h 1022"/>
                    <a:gd name="T52" fmla="*/ 559 w 1318"/>
                    <a:gd name="T53" fmla="*/ 482 h 1022"/>
                    <a:gd name="T54" fmla="*/ 598 w 1318"/>
                    <a:gd name="T55" fmla="*/ 413 h 1022"/>
                    <a:gd name="T56" fmla="*/ 634 w 1318"/>
                    <a:gd name="T57" fmla="*/ 341 h 1022"/>
                    <a:gd name="T58" fmla="*/ 646 w 1318"/>
                    <a:gd name="T59" fmla="*/ 305 h 1022"/>
                    <a:gd name="T60" fmla="*/ 654 w 1318"/>
                    <a:gd name="T61" fmla="*/ 270 h 1022"/>
                    <a:gd name="T62" fmla="*/ 656 w 1318"/>
                    <a:gd name="T63" fmla="*/ 210 h 1022"/>
                    <a:gd name="T64" fmla="*/ 659 w 1318"/>
                    <a:gd name="T65" fmla="*/ 119 h 1022"/>
                    <a:gd name="T66" fmla="*/ 650 w 1318"/>
                    <a:gd name="T67" fmla="*/ 69 h 1022"/>
                    <a:gd name="T68" fmla="*/ 637 w 1318"/>
                    <a:gd name="T69" fmla="*/ 44 h 1022"/>
                    <a:gd name="T70" fmla="*/ 612 w 1318"/>
                    <a:gd name="T71" fmla="*/ 34 h 1022"/>
                    <a:gd name="T72" fmla="*/ 579 w 1318"/>
                    <a:gd name="T73" fmla="*/ 39 h 1022"/>
                    <a:gd name="T74" fmla="*/ 528 w 1318"/>
                    <a:gd name="T75" fmla="*/ 35 h 1022"/>
                    <a:gd name="T76" fmla="*/ 466 w 1318"/>
                    <a:gd name="T77" fmla="*/ 24 h 1022"/>
                    <a:gd name="T78" fmla="*/ 401 w 1318"/>
                    <a:gd name="T79" fmla="*/ 5 h 1022"/>
                    <a:gd name="T80" fmla="*/ 358 w 1318"/>
                    <a:gd name="T81" fmla="*/ 0 h 1022"/>
                    <a:gd name="T82" fmla="*/ 334 w 1318"/>
                    <a:gd name="T83" fmla="*/ 5 h 1022"/>
                    <a:gd name="T84" fmla="*/ 280 w 1318"/>
                    <a:gd name="T85" fmla="*/ 22 h 1022"/>
                    <a:gd name="T86" fmla="*/ 183 w 1318"/>
                    <a:gd name="T87" fmla="*/ 31 h 1022"/>
                    <a:gd name="T88" fmla="*/ 87 w 1318"/>
                    <a:gd name="T89" fmla="*/ 47 h 1022"/>
                    <a:gd name="T90" fmla="*/ 56 w 1318"/>
                    <a:gd name="T91" fmla="*/ 75 h 1022"/>
                    <a:gd name="T92" fmla="*/ 34 w 1318"/>
                    <a:gd name="T93" fmla="*/ 114 h 1022"/>
                    <a:gd name="T94" fmla="*/ 19 w 1318"/>
                    <a:gd name="T95" fmla="*/ 198 h 1022"/>
                    <a:gd name="T96" fmla="*/ 10 w 1318"/>
                    <a:gd name="T97" fmla="*/ 279 h 1022"/>
                    <a:gd name="T98" fmla="*/ 0 w 1318"/>
                    <a:gd name="T99" fmla="*/ 363 h 1022"/>
                    <a:gd name="T100" fmla="*/ 8 w 1318"/>
                    <a:gd name="T101" fmla="*/ 412 h 1022"/>
                    <a:gd name="T102" fmla="*/ 19 w 1318"/>
                    <a:gd name="T103" fmla="*/ 440 h 1022"/>
                    <a:gd name="T104" fmla="*/ 43 w 1318"/>
                    <a:gd name="T105" fmla="*/ 453 h 1022"/>
                    <a:gd name="T106" fmla="*/ 57 w 1318"/>
                    <a:gd name="T107" fmla="*/ 450 h 1022"/>
                    <a:gd name="T108" fmla="*/ 37 w 1318"/>
                    <a:gd name="T109" fmla="*/ 429 h 10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318" h="1022">
                      <a:moveTo>
                        <a:pt x="73" y="856"/>
                      </a:moveTo>
                      <a:lnTo>
                        <a:pt x="43" y="812"/>
                      </a:lnTo>
                      <a:lnTo>
                        <a:pt x="31" y="747"/>
                      </a:lnTo>
                      <a:lnTo>
                        <a:pt x="48" y="604"/>
                      </a:lnTo>
                      <a:lnTo>
                        <a:pt x="84" y="373"/>
                      </a:lnTo>
                      <a:lnTo>
                        <a:pt x="118" y="200"/>
                      </a:lnTo>
                      <a:lnTo>
                        <a:pt x="146" y="161"/>
                      </a:lnTo>
                      <a:lnTo>
                        <a:pt x="191" y="118"/>
                      </a:lnTo>
                      <a:lnTo>
                        <a:pt x="294" y="94"/>
                      </a:lnTo>
                      <a:lnTo>
                        <a:pt x="466" y="74"/>
                      </a:lnTo>
                      <a:lnTo>
                        <a:pt x="609" y="59"/>
                      </a:lnTo>
                      <a:lnTo>
                        <a:pt x="675" y="32"/>
                      </a:lnTo>
                      <a:lnTo>
                        <a:pt x="787" y="39"/>
                      </a:lnTo>
                      <a:lnTo>
                        <a:pt x="976" y="88"/>
                      </a:lnTo>
                      <a:lnTo>
                        <a:pt x="1137" y="104"/>
                      </a:lnTo>
                      <a:lnTo>
                        <a:pt x="1206" y="101"/>
                      </a:lnTo>
                      <a:lnTo>
                        <a:pt x="1261" y="124"/>
                      </a:lnTo>
                      <a:lnTo>
                        <a:pt x="1283" y="223"/>
                      </a:lnTo>
                      <a:lnTo>
                        <a:pt x="1280" y="407"/>
                      </a:lnTo>
                      <a:lnTo>
                        <a:pt x="1280" y="550"/>
                      </a:lnTo>
                      <a:lnTo>
                        <a:pt x="1259" y="612"/>
                      </a:lnTo>
                      <a:lnTo>
                        <a:pt x="1191" y="763"/>
                      </a:lnTo>
                      <a:lnTo>
                        <a:pt x="1110" y="915"/>
                      </a:lnTo>
                      <a:lnTo>
                        <a:pt x="1062" y="971"/>
                      </a:lnTo>
                      <a:lnTo>
                        <a:pt x="1034" y="994"/>
                      </a:lnTo>
                      <a:lnTo>
                        <a:pt x="1067" y="1022"/>
                      </a:lnTo>
                      <a:lnTo>
                        <a:pt x="1118" y="962"/>
                      </a:lnTo>
                      <a:lnTo>
                        <a:pt x="1196" y="825"/>
                      </a:lnTo>
                      <a:lnTo>
                        <a:pt x="1267" y="680"/>
                      </a:lnTo>
                      <a:lnTo>
                        <a:pt x="1292" y="609"/>
                      </a:lnTo>
                      <a:lnTo>
                        <a:pt x="1308" y="539"/>
                      </a:lnTo>
                      <a:lnTo>
                        <a:pt x="1312" y="419"/>
                      </a:lnTo>
                      <a:lnTo>
                        <a:pt x="1318" y="237"/>
                      </a:lnTo>
                      <a:lnTo>
                        <a:pt x="1300" y="138"/>
                      </a:lnTo>
                      <a:lnTo>
                        <a:pt x="1273" y="88"/>
                      </a:lnTo>
                      <a:lnTo>
                        <a:pt x="1224" y="68"/>
                      </a:lnTo>
                      <a:lnTo>
                        <a:pt x="1157" y="77"/>
                      </a:lnTo>
                      <a:lnTo>
                        <a:pt x="1056" y="70"/>
                      </a:lnTo>
                      <a:lnTo>
                        <a:pt x="931" y="48"/>
                      </a:lnTo>
                      <a:lnTo>
                        <a:pt x="802" y="9"/>
                      </a:lnTo>
                      <a:lnTo>
                        <a:pt x="715" y="0"/>
                      </a:lnTo>
                      <a:lnTo>
                        <a:pt x="668" y="9"/>
                      </a:lnTo>
                      <a:lnTo>
                        <a:pt x="560" y="43"/>
                      </a:lnTo>
                      <a:lnTo>
                        <a:pt x="365" y="62"/>
                      </a:lnTo>
                      <a:lnTo>
                        <a:pt x="174" y="93"/>
                      </a:lnTo>
                      <a:lnTo>
                        <a:pt x="112" y="149"/>
                      </a:lnTo>
                      <a:lnTo>
                        <a:pt x="68" y="228"/>
                      </a:lnTo>
                      <a:lnTo>
                        <a:pt x="37" y="396"/>
                      </a:lnTo>
                      <a:lnTo>
                        <a:pt x="20" y="556"/>
                      </a:lnTo>
                      <a:lnTo>
                        <a:pt x="0" y="725"/>
                      </a:lnTo>
                      <a:lnTo>
                        <a:pt x="15" y="822"/>
                      </a:lnTo>
                      <a:lnTo>
                        <a:pt x="37" y="879"/>
                      </a:lnTo>
                      <a:lnTo>
                        <a:pt x="85" y="904"/>
                      </a:lnTo>
                      <a:lnTo>
                        <a:pt x="113" y="899"/>
                      </a:lnTo>
                      <a:lnTo>
                        <a:pt x="73" y="8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70" name="Freeform 22"/>
                <p:cNvSpPr>
                  <a:spLocks/>
                </p:cNvSpPr>
                <p:nvPr/>
              </p:nvSpPr>
              <p:spPr bwMode="auto">
                <a:xfrm>
                  <a:off x="2683" y="1967"/>
                  <a:ext cx="605" cy="472"/>
                </a:xfrm>
                <a:custGeom>
                  <a:avLst/>
                  <a:gdLst>
                    <a:gd name="T0" fmla="*/ 0 w 1210"/>
                    <a:gd name="T1" fmla="*/ 388 h 943"/>
                    <a:gd name="T2" fmla="*/ 90 w 1210"/>
                    <a:gd name="T3" fmla="*/ 408 h 943"/>
                    <a:gd name="T4" fmla="*/ 215 w 1210"/>
                    <a:gd name="T5" fmla="*/ 431 h 943"/>
                    <a:gd name="T6" fmla="*/ 317 w 1210"/>
                    <a:gd name="T7" fmla="*/ 448 h 943"/>
                    <a:gd name="T8" fmla="*/ 409 w 1210"/>
                    <a:gd name="T9" fmla="*/ 451 h 943"/>
                    <a:gd name="T10" fmla="*/ 470 w 1210"/>
                    <a:gd name="T11" fmla="*/ 451 h 943"/>
                    <a:gd name="T12" fmla="*/ 488 w 1210"/>
                    <a:gd name="T13" fmla="*/ 445 h 943"/>
                    <a:gd name="T14" fmla="*/ 496 w 1210"/>
                    <a:gd name="T15" fmla="*/ 401 h 943"/>
                    <a:gd name="T16" fmla="*/ 493 w 1210"/>
                    <a:gd name="T17" fmla="*/ 281 h 943"/>
                    <a:gd name="T18" fmla="*/ 489 w 1210"/>
                    <a:gd name="T19" fmla="*/ 135 h 943"/>
                    <a:gd name="T20" fmla="*/ 484 w 1210"/>
                    <a:gd name="T21" fmla="*/ 83 h 943"/>
                    <a:gd name="T22" fmla="*/ 475 w 1210"/>
                    <a:gd name="T23" fmla="*/ 62 h 943"/>
                    <a:gd name="T24" fmla="*/ 315 w 1210"/>
                    <a:gd name="T25" fmla="*/ 54 h 943"/>
                    <a:gd name="T26" fmla="*/ 163 w 1210"/>
                    <a:gd name="T27" fmla="*/ 33 h 943"/>
                    <a:gd name="T28" fmla="*/ 79 w 1210"/>
                    <a:gd name="T29" fmla="*/ 20 h 943"/>
                    <a:gd name="T30" fmla="*/ 49 w 1210"/>
                    <a:gd name="T31" fmla="*/ 20 h 943"/>
                    <a:gd name="T32" fmla="*/ 68 w 1210"/>
                    <a:gd name="T33" fmla="*/ 2 h 943"/>
                    <a:gd name="T34" fmla="*/ 104 w 1210"/>
                    <a:gd name="T35" fmla="*/ 12 h 943"/>
                    <a:gd name="T36" fmla="*/ 209 w 1210"/>
                    <a:gd name="T37" fmla="*/ 25 h 943"/>
                    <a:gd name="T38" fmla="*/ 308 w 1210"/>
                    <a:gd name="T39" fmla="*/ 35 h 943"/>
                    <a:gd name="T40" fmla="*/ 398 w 1210"/>
                    <a:gd name="T41" fmla="*/ 41 h 943"/>
                    <a:gd name="T42" fmla="*/ 482 w 1210"/>
                    <a:gd name="T43" fmla="*/ 47 h 943"/>
                    <a:gd name="T44" fmla="*/ 552 w 1210"/>
                    <a:gd name="T45" fmla="*/ 27 h 943"/>
                    <a:gd name="T46" fmla="*/ 594 w 1210"/>
                    <a:gd name="T47" fmla="*/ 0 h 943"/>
                    <a:gd name="T48" fmla="*/ 605 w 1210"/>
                    <a:gd name="T49" fmla="*/ 19 h 943"/>
                    <a:gd name="T50" fmla="*/ 568 w 1210"/>
                    <a:gd name="T51" fmla="*/ 35 h 943"/>
                    <a:gd name="T52" fmla="*/ 514 w 1210"/>
                    <a:gd name="T53" fmla="*/ 58 h 943"/>
                    <a:gd name="T54" fmla="*/ 496 w 1210"/>
                    <a:gd name="T55" fmla="*/ 67 h 943"/>
                    <a:gd name="T56" fmla="*/ 502 w 1210"/>
                    <a:gd name="T57" fmla="*/ 145 h 943"/>
                    <a:gd name="T58" fmla="*/ 505 w 1210"/>
                    <a:gd name="T59" fmla="*/ 220 h 943"/>
                    <a:gd name="T60" fmla="*/ 507 w 1210"/>
                    <a:gd name="T61" fmla="*/ 288 h 943"/>
                    <a:gd name="T62" fmla="*/ 507 w 1210"/>
                    <a:gd name="T63" fmla="*/ 354 h 943"/>
                    <a:gd name="T64" fmla="*/ 510 w 1210"/>
                    <a:gd name="T65" fmla="*/ 404 h 943"/>
                    <a:gd name="T66" fmla="*/ 509 w 1210"/>
                    <a:gd name="T67" fmla="*/ 446 h 943"/>
                    <a:gd name="T68" fmla="*/ 498 w 1210"/>
                    <a:gd name="T69" fmla="*/ 466 h 943"/>
                    <a:gd name="T70" fmla="*/ 426 w 1210"/>
                    <a:gd name="T71" fmla="*/ 472 h 943"/>
                    <a:gd name="T72" fmla="*/ 303 w 1210"/>
                    <a:gd name="T73" fmla="*/ 461 h 943"/>
                    <a:gd name="T74" fmla="*/ 177 w 1210"/>
                    <a:gd name="T75" fmla="*/ 436 h 943"/>
                    <a:gd name="T76" fmla="*/ 84 w 1210"/>
                    <a:gd name="T77" fmla="*/ 421 h 943"/>
                    <a:gd name="T78" fmla="*/ 7 w 1210"/>
                    <a:gd name="T79" fmla="*/ 407 h 943"/>
                    <a:gd name="T80" fmla="*/ 0 w 1210"/>
                    <a:gd name="T81" fmla="*/ 388 h 94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210" h="943">
                      <a:moveTo>
                        <a:pt x="0" y="775"/>
                      </a:moveTo>
                      <a:lnTo>
                        <a:pt x="179" y="816"/>
                      </a:lnTo>
                      <a:lnTo>
                        <a:pt x="429" y="861"/>
                      </a:lnTo>
                      <a:lnTo>
                        <a:pt x="633" y="895"/>
                      </a:lnTo>
                      <a:lnTo>
                        <a:pt x="818" y="901"/>
                      </a:lnTo>
                      <a:lnTo>
                        <a:pt x="939" y="901"/>
                      </a:lnTo>
                      <a:lnTo>
                        <a:pt x="975" y="890"/>
                      </a:lnTo>
                      <a:lnTo>
                        <a:pt x="991" y="802"/>
                      </a:lnTo>
                      <a:lnTo>
                        <a:pt x="985" y="562"/>
                      </a:lnTo>
                      <a:lnTo>
                        <a:pt x="977" y="270"/>
                      </a:lnTo>
                      <a:lnTo>
                        <a:pt x="967" y="165"/>
                      </a:lnTo>
                      <a:lnTo>
                        <a:pt x="949" y="123"/>
                      </a:lnTo>
                      <a:lnTo>
                        <a:pt x="630" y="107"/>
                      </a:lnTo>
                      <a:lnTo>
                        <a:pt x="325" y="65"/>
                      </a:lnTo>
                      <a:lnTo>
                        <a:pt x="157" y="40"/>
                      </a:lnTo>
                      <a:lnTo>
                        <a:pt x="98" y="40"/>
                      </a:lnTo>
                      <a:lnTo>
                        <a:pt x="135" y="4"/>
                      </a:lnTo>
                      <a:lnTo>
                        <a:pt x="207" y="23"/>
                      </a:lnTo>
                      <a:lnTo>
                        <a:pt x="417" y="50"/>
                      </a:lnTo>
                      <a:lnTo>
                        <a:pt x="616" y="70"/>
                      </a:lnTo>
                      <a:lnTo>
                        <a:pt x="795" y="82"/>
                      </a:lnTo>
                      <a:lnTo>
                        <a:pt x="963" y="93"/>
                      </a:lnTo>
                      <a:lnTo>
                        <a:pt x="1103" y="54"/>
                      </a:lnTo>
                      <a:lnTo>
                        <a:pt x="1187" y="0"/>
                      </a:lnTo>
                      <a:lnTo>
                        <a:pt x="1210" y="37"/>
                      </a:lnTo>
                      <a:lnTo>
                        <a:pt x="1135" y="70"/>
                      </a:lnTo>
                      <a:lnTo>
                        <a:pt x="1027" y="116"/>
                      </a:lnTo>
                      <a:lnTo>
                        <a:pt x="992" y="133"/>
                      </a:lnTo>
                      <a:lnTo>
                        <a:pt x="1003" y="289"/>
                      </a:lnTo>
                      <a:lnTo>
                        <a:pt x="1009" y="440"/>
                      </a:lnTo>
                      <a:lnTo>
                        <a:pt x="1013" y="576"/>
                      </a:lnTo>
                      <a:lnTo>
                        <a:pt x="1014" y="708"/>
                      </a:lnTo>
                      <a:lnTo>
                        <a:pt x="1019" y="808"/>
                      </a:lnTo>
                      <a:lnTo>
                        <a:pt x="1017" y="892"/>
                      </a:lnTo>
                      <a:lnTo>
                        <a:pt x="995" y="931"/>
                      </a:lnTo>
                      <a:lnTo>
                        <a:pt x="851" y="943"/>
                      </a:lnTo>
                      <a:lnTo>
                        <a:pt x="605" y="921"/>
                      </a:lnTo>
                      <a:lnTo>
                        <a:pt x="353" y="872"/>
                      </a:lnTo>
                      <a:lnTo>
                        <a:pt x="168" y="842"/>
                      </a:lnTo>
                      <a:lnTo>
                        <a:pt x="14" y="814"/>
                      </a:lnTo>
                      <a:lnTo>
                        <a:pt x="0" y="7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71" name="Freeform 23"/>
                <p:cNvSpPr>
                  <a:spLocks/>
                </p:cNvSpPr>
                <p:nvPr/>
              </p:nvSpPr>
              <p:spPr bwMode="auto">
                <a:xfrm>
                  <a:off x="2788" y="2027"/>
                  <a:ext cx="334" cy="362"/>
                </a:xfrm>
                <a:custGeom>
                  <a:avLst/>
                  <a:gdLst>
                    <a:gd name="T0" fmla="*/ 0 w 669"/>
                    <a:gd name="T1" fmla="*/ 0 h 725"/>
                    <a:gd name="T2" fmla="*/ 123 w 669"/>
                    <a:gd name="T3" fmla="*/ 15 h 725"/>
                    <a:gd name="T4" fmla="*/ 211 w 669"/>
                    <a:gd name="T5" fmla="*/ 25 h 725"/>
                    <a:gd name="T6" fmla="*/ 306 w 669"/>
                    <a:gd name="T7" fmla="*/ 42 h 725"/>
                    <a:gd name="T8" fmla="*/ 320 w 669"/>
                    <a:gd name="T9" fmla="*/ 54 h 725"/>
                    <a:gd name="T10" fmla="*/ 328 w 669"/>
                    <a:gd name="T11" fmla="*/ 74 h 725"/>
                    <a:gd name="T12" fmla="*/ 334 w 669"/>
                    <a:gd name="T13" fmla="*/ 165 h 725"/>
                    <a:gd name="T14" fmla="*/ 334 w 669"/>
                    <a:gd name="T15" fmla="*/ 269 h 725"/>
                    <a:gd name="T16" fmla="*/ 331 w 669"/>
                    <a:gd name="T17" fmla="*/ 340 h 725"/>
                    <a:gd name="T18" fmla="*/ 320 w 669"/>
                    <a:gd name="T19" fmla="*/ 360 h 725"/>
                    <a:gd name="T20" fmla="*/ 299 w 669"/>
                    <a:gd name="T21" fmla="*/ 362 h 725"/>
                    <a:gd name="T22" fmla="*/ 191 w 669"/>
                    <a:gd name="T23" fmla="*/ 333 h 725"/>
                    <a:gd name="T24" fmla="*/ 307 w 669"/>
                    <a:gd name="T25" fmla="*/ 342 h 725"/>
                    <a:gd name="T26" fmla="*/ 315 w 669"/>
                    <a:gd name="T27" fmla="*/ 338 h 725"/>
                    <a:gd name="T28" fmla="*/ 320 w 669"/>
                    <a:gd name="T29" fmla="*/ 290 h 725"/>
                    <a:gd name="T30" fmla="*/ 322 w 669"/>
                    <a:gd name="T31" fmla="*/ 221 h 725"/>
                    <a:gd name="T32" fmla="*/ 318 w 669"/>
                    <a:gd name="T33" fmla="*/ 128 h 725"/>
                    <a:gd name="T34" fmla="*/ 312 w 669"/>
                    <a:gd name="T35" fmla="*/ 68 h 725"/>
                    <a:gd name="T36" fmla="*/ 299 w 669"/>
                    <a:gd name="T37" fmla="*/ 57 h 725"/>
                    <a:gd name="T38" fmla="*/ 231 w 669"/>
                    <a:gd name="T39" fmla="*/ 43 h 725"/>
                    <a:gd name="T40" fmla="*/ 137 w 669"/>
                    <a:gd name="T41" fmla="*/ 32 h 725"/>
                    <a:gd name="T42" fmla="*/ 60 w 669"/>
                    <a:gd name="T43" fmla="*/ 17 h 725"/>
                    <a:gd name="T44" fmla="*/ 0 w 669"/>
                    <a:gd name="T45" fmla="*/ 0 h 72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69" h="725">
                      <a:moveTo>
                        <a:pt x="0" y="0"/>
                      </a:moveTo>
                      <a:lnTo>
                        <a:pt x="247" y="30"/>
                      </a:lnTo>
                      <a:lnTo>
                        <a:pt x="422" y="50"/>
                      </a:lnTo>
                      <a:lnTo>
                        <a:pt x="613" y="84"/>
                      </a:lnTo>
                      <a:lnTo>
                        <a:pt x="641" y="109"/>
                      </a:lnTo>
                      <a:lnTo>
                        <a:pt x="656" y="148"/>
                      </a:lnTo>
                      <a:lnTo>
                        <a:pt x="669" y="331"/>
                      </a:lnTo>
                      <a:lnTo>
                        <a:pt x="669" y="538"/>
                      </a:lnTo>
                      <a:lnTo>
                        <a:pt x="663" y="681"/>
                      </a:lnTo>
                      <a:lnTo>
                        <a:pt x="641" y="721"/>
                      </a:lnTo>
                      <a:lnTo>
                        <a:pt x="599" y="725"/>
                      </a:lnTo>
                      <a:lnTo>
                        <a:pt x="383" y="666"/>
                      </a:lnTo>
                      <a:lnTo>
                        <a:pt x="614" y="684"/>
                      </a:lnTo>
                      <a:lnTo>
                        <a:pt x="630" y="676"/>
                      </a:lnTo>
                      <a:lnTo>
                        <a:pt x="641" y="580"/>
                      </a:lnTo>
                      <a:lnTo>
                        <a:pt x="644" y="443"/>
                      </a:lnTo>
                      <a:lnTo>
                        <a:pt x="636" y="257"/>
                      </a:lnTo>
                      <a:lnTo>
                        <a:pt x="624" y="137"/>
                      </a:lnTo>
                      <a:lnTo>
                        <a:pt x="599" y="114"/>
                      </a:lnTo>
                      <a:lnTo>
                        <a:pt x="462" y="87"/>
                      </a:lnTo>
                      <a:lnTo>
                        <a:pt x="274" y="64"/>
                      </a:lnTo>
                      <a:lnTo>
                        <a:pt x="121" y="3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72" name="Freeform 24"/>
                <p:cNvSpPr>
                  <a:spLocks/>
                </p:cNvSpPr>
                <p:nvPr/>
              </p:nvSpPr>
              <p:spPr bwMode="auto">
                <a:xfrm>
                  <a:off x="2723" y="2023"/>
                  <a:ext cx="352" cy="361"/>
                </a:xfrm>
                <a:custGeom>
                  <a:avLst/>
                  <a:gdLst>
                    <a:gd name="T0" fmla="*/ 200 w 705"/>
                    <a:gd name="T1" fmla="*/ 21 h 721"/>
                    <a:gd name="T2" fmla="*/ 79 w 705"/>
                    <a:gd name="T3" fmla="*/ 2 h 721"/>
                    <a:gd name="T4" fmla="*/ 44 w 705"/>
                    <a:gd name="T5" fmla="*/ 0 h 721"/>
                    <a:gd name="T6" fmla="*/ 35 w 705"/>
                    <a:gd name="T7" fmla="*/ 13 h 721"/>
                    <a:gd name="T8" fmla="*/ 25 w 705"/>
                    <a:gd name="T9" fmla="*/ 39 h 721"/>
                    <a:gd name="T10" fmla="*/ 9 w 705"/>
                    <a:gd name="T11" fmla="*/ 110 h 721"/>
                    <a:gd name="T12" fmla="*/ 2 w 705"/>
                    <a:gd name="T13" fmla="*/ 180 h 721"/>
                    <a:gd name="T14" fmla="*/ 0 w 705"/>
                    <a:gd name="T15" fmla="*/ 253 h 721"/>
                    <a:gd name="T16" fmla="*/ 11 w 705"/>
                    <a:gd name="T17" fmla="*/ 281 h 721"/>
                    <a:gd name="T18" fmla="*/ 16 w 705"/>
                    <a:gd name="T19" fmla="*/ 291 h 721"/>
                    <a:gd name="T20" fmla="*/ 93 w 705"/>
                    <a:gd name="T21" fmla="*/ 311 h 721"/>
                    <a:gd name="T22" fmla="*/ 190 w 705"/>
                    <a:gd name="T23" fmla="*/ 330 h 721"/>
                    <a:gd name="T24" fmla="*/ 264 w 705"/>
                    <a:gd name="T25" fmla="*/ 343 h 721"/>
                    <a:gd name="T26" fmla="*/ 352 w 705"/>
                    <a:gd name="T27" fmla="*/ 361 h 721"/>
                    <a:gd name="T28" fmla="*/ 350 w 705"/>
                    <a:gd name="T29" fmla="*/ 349 h 721"/>
                    <a:gd name="T30" fmla="*/ 282 w 705"/>
                    <a:gd name="T31" fmla="*/ 333 h 721"/>
                    <a:gd name="T32" fmla="*/ 193 w 705"/>
                    <a:gd name="T33" fmla="*/ 313 h 721"/>
                    <a:gd name="T34" fmla="*/ 72 w 705"/>
                    <a:gd name="T35" fmla="*/ 291 h 721"/>
                    <a:gd name="T36" fmla="*/ 28 w 705"/>
                    <a:gd name="T37" fmla="*/ 271 h 721"/>
                    <a:gd name="T38" fmla="*/ 16 w 705"/>
                    <a:gd name="T39" fmla="*/ 259 h 721"/>
                    <a:gd name="T40" fmla="*/ 14 w 705"/>
                    <a:gd name="T41" fmla="*/ 237 h 721"/>
                    <a:gd name="T42" fmla="*/ 16 w 705"/>
                    <a:gd name="T43" fmla="*/ 177 h 721"/>
                    <a:gd name="T44" fmla="*/ 27 w 705"/>
                    <a:gd name="T45" fmla="*/ 105 h 721"/>
                    <a:gd name="T46" fmla="*/ 44 w 705"/>
                    <a:gd name="T47" fmla="*/ 33 h 721"/>
                    <a:gd name="T48" fmla="*/ 54 w 705"/>
                    <a:gd name="T49" fmla="*/ 17 h 721"/>
                    <a:gd name="T50" fmla="*/ 137 w 705"/>
                    <a:gd name="T51" fmla="*/ 19 h 721"/>
                    <a:gd name="T52" fmla="*/ 200 w 705"/>
                    <a:gd name="T53" fmla="*/ 21 h 72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705" h="721">
                      <a:moveTo>
                        <a:pt x="400" y="42"/>
                      </a:moveTo>
                      <a:lnTo>
                        <a:pt x="159" y="3"/>
                      </a:lnTo>
                      <a:lnTo>
                        <a:pt x="89" y="0"/>
                      </a:lnTo>
                      <a:lnTo>
                        <a:pt x="70" y="26"/>
                      </a:lnTo>
                      <a:lnTo>
                        <a:pt x="50" y="77"/>
                      </a:lnTo>
                      <a:lnTo>
                        <a:pt x="19" y="219"/>
                      </a:lnTo>
                      <a:lnTo>
                        <a:pt x="4" y="360"/>
                      </a:lnTo>
                      <a:lnTo>
                        <a:pt x="0" y="505"/>
                      </a:lnTo>
                      <a:lnTo>
                        <a:pt x="22" y="562"/>
                      </a:lnTo>
                      <a:lnTo>
                        <a:pt x="33" y="581"/>
                      </a:lnTo>
                      <a:lnTo>
                        <a:pt x="186" y="621"/>
                      </a:lnTo>
                      <a:lnTo>
                        <a:pt x="381" y="660"/>
                      </a:lnTo>
                      <a:lnTo>
                        <a:pt x="529" y="685"/>
                      </a:lnTo>
                      <a:lnTo>
                        <a:pt x="705" y="721"/>
                      </a:lnTo>
                      <a:lnTo>
                        <a:pt x="700" y="697"/>
                      </a:lnTo>
                      <a:lnTo>
                        <a:pt x="565" y="666"/>
                      </a:lnTo>
                      <a:lnTo>
                        <a:pt x="386" y="626"/>
                      </a:lnTo>
                      <a:lnTo>
                        <a:pt x="144" y="582"/>
                      </a:lnTo>
                      <a:lnTo>
                        <a:pt x="56" y="542"/>
                      </a:lnTo>
                      <a:lnTo>
                        <a:pt x="32" y="517"/>
                      </a:lnTo>
                      <a:lnTo>
                        <a:pt x="28" y="474"/>
                      </a:lnTo>
                      <a:lnTo>
                        <a:pt x="33" y="354"/>
                      </a:lnTo>
                      <a:lnTo>
                        <a:pt x="55" y="209"/>
                      </a:lnTo>
                      <a:lnTo>
                        <a:pt x="88" y="66"/>
                      </a:lnTo>
                      <a:lnTo>
                        <a:pt x="108" y="34"/>
                      </a:lnTo>
                      <a:lnTo>
                        <a:pt x="274" y="37"/>
                      </a:lnTo>
                      <a:lnTo>
                        <a:pt x="40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7255" name="Freeform 25"/>
            <p:cNvSpPr>
              <a:spLocks/>
            </p:cNvSpPr>
            <p:nvPr/>
          </p:nvSpPr>
          <p:spPr bwMode="auto">
            <a:xfrm>
              <a:off x="3631" y="2094"/>
              <a:ext cx="627" cy="234"/>
            </a:xfrm>
            <a:custGeom>
              <a:avLst/>
              <a:gdLst>
                <a:gd name="T0" fmla="*/ 16 w 807"/>
                <a:gd name="T1" fmla="*/ 71 h 301"/>
                <a:gd name="T2" fmla="*/ 35 w 807"/>
                <a:gd name="T3" fmla="*/ 71 h 301"/>
                <a:gd name="T4" fmla="*/ 78 w 807"/>
                <a:gd name="T5" fmla="*/ 58 h 301"/>
                <a:gd name="T6" fmla="*/ 120 w 807"/>
                <a:gd name="T7" fmla="*/ 21 h 301"/>
                <a:gd name="T8" fmla="*/ 153 w 807"/>
                <a:gd name="T9" fmla="*/ 0 h 301"/>
                <a:gd name="T10" fmla="*/ 165 w 807"/>
                <a:gd name="T11" fmla="*/ 4 h 301"/>
                <a:gd name="T12" fmla="*/ 191 w 807"/>
                <a:gd name="T13" fmla="*/ 46 h 301"/>
                <a:gd name="T14" fmla="*/ 216 w 807"/>
                <a:gd name="T15" fmla="*/ 100 h 301"/>
                <a:gd name="T16" fmla="*/ 265 w 807"/>
                <a:gd name="T17" fmla="*/ 58 h 301"/>
                <a:gd name="T18" fmla="*/ 281 w 807"/>
                <a:gd name="T19" fmla="*/ 37 h 301"/>
                <a:gd name="T20" fmla="*/ 293 w 807"/>
                <a:gd name="T21" fmla="*/ 35 h 301"/>
                <a:gd name="T22" fmla="*/ 309 w 807"/>
                <a:gd name="T23" fmla="*/ 37 h 301"/>
                <a:gd name="T24" fmla="*/ 332 w 807"/>
                <a:gd name="T25" fmla="*/ 66 h 301"/>
                <a:gd name="T26" fmla="*/ 348 w 807"/>
                <a:gd name="T27" fmla="*/ 97 h 301"/>
                <a:gd name="T28" fmla="*/ 371 w 807"/>
                <a:gd name="T29" fmla="*/ 128 h 301"/>
                <a:gd name="T30" fmla="*/ 387 w 807"/>
                <a:gd name="T31" fmla="*/ 126 h 301"/>
                <a:gd name="T32" fmla="*/ 411 w 807"/>
                <a:gd name="T33" fmla="*/ 96 h 301"/>
                <a:gd name="T34" fmla="*/ 436 w 807"/>
                <a:gd name="T35" fmla="*/ 68 h 301"/>
                <a:gd name="T36" fmla="*/ 450 w 807"/>
                <a:gd name="T37" fmla="*/ 66 h 301"/>
                <a:gd name="T38" fmla="*/ 469 w 807"/>
                <a:gd name="T39" fmla="*/ 77 h 301"/>
                <a:gd name="T40" fmla="*/ 482 w 807"/>
                <a:gd name="T41" fmla="*/ 87 h 301"/>
                <a:gd name="T42" fmla="*/ 496 w 807"/>
                <a:gd name="T43" fmla="*/ 126 h 301"/>
                <a:gd name="T44" fmla="*/ 521 w 807"/>
                <a:gd name="T45" fmla="*/ 155 h 301"/>
                <a:gd name="T46" fmla="*/ 538 w 807"/>
                <a:gd name="T47" fmla="*/ 169 h 301"/>
                <a:gd name="T48" fmla="*/ 568 w 807"/>
                <a:gd name="T49" fmla="*/ 138 h 301"/>
                <a:gd name="T50" fmla="*/ 608 w 807"/>
                <a:gd name="T51" fmla="*/ 118 h 301"/>
                <a:gd name="T52" fmla="*/ 627 w 807"/>
                <a:gd name="T53" fmla="*/ 122 h 301"/>
                <a:gd name="T54" fmla="*/ 619 w 807"/>
                <a:gd name="T55" fmla="*/ 147 h 301"/>
                <a:gd name="T56" fmla="*/ 578 w 807"/>
                <a:gd name="T57" fmla="*/ 176 h 301"/>
                <a:gd name="T58" fmla="*/ 545 w 807"/>
                <a:gd name="T59" fmla="*/ 215 h 301"/>
                <a:gd name="T60" fmla="*/ 517 w 807"/>
                <a:gd name="T61" fmla="*/ 234 h 301"/>
                <a:gd name="T62" fmla="*/ 499 w 807"/>
                <a:gd name="T63" fmla="*/ 224 h 301"/>
                <a:gd name="T64" fmla="*/ 464 w 807"/>
                <a:gd name="T65" fmla="*/ 178 h 301"/>
                <a:gd name="T66" fmla="*/ 437 w 807"/>
                <a:gd name="T67" fmla="*/ 132 h 301"/>
                <a:gd name="T68" fmla="*/ 401 w 807"/>
                <a:gd name="T69" fmla="*/ 169 h 301"/>
                <a:gd name="T70" fmla="*/ 395 w 807"/>
                <a:gd name="T71" fmla="*/ 190 h 301"/>
                <a:gd name="T72" fmla="*/ 367 w 807"/>
                <a:gd name="T73" fmla="*/ 203 h 301"/>
                <a:gd name="T74" fmla="*/ 344 w 807"/>
                <a:gd name="T75" fmla="*/ 205 h 301"/>
                <a:gd name="T76" fmla="*/ 324 w 807"/>
                <a:gd name="T77" fmla="*/ 178 h 301"/>
                <a:gd name="T78" fmla="*/ 295 w 807"/>
                <a:gd name="T79" fmla="*/ 131 h 301"/>
                <a:gd name="T80" fmla="*/ 281 w 807"/>
                <a:gd name="T81" fmla="*/ 97 h 301"/>
                <a:gd name="T82" fmla="*/ 250 w 807"/>
                <a:gd name="T83" fmla="*/ 128 h 301"/>
                <a:gd name="T84" fmla="*/ 236 w 807"/>
                <a:gd name="T85" fmla="*/ 143 h 301"/>
                <a:gd name="T86" fmla="*/ 230 w 807"/>
                <a:gd name="T87" fmla="*/ 169 h 301"/>
                <a:gd name="T88" fmla="*/ 218 w 807"/>
                <a:gd name="T89" fmla="*/ 182 h 301"/>
                <a:gd name="T90" fmla="*/ 197 w 807"/>
                <a:gd name="T91" fmla="*/ 182 h 301"/>
                <a:gd name="T92" fmla="*/ 169 w 807"/>
                <a:gd name="T93" fmla="*/ 162 h 301"/>
                <a:gd name="T94" fmla="*/ 147 w 807"/>
                <a:gd name="T95" fmla="*/ 118 h 301"/>
                <a:gd name="T96" fmla="*/ 122 w 807"/>
                <a:gd name="T97" fmla="*/ 75 h 301"/>
                <a:gd name="T98" fmla="*/ 83 w 807"/>
                <a:gd name="T99" fmla="*/ 97 h 301"/>
                <a:gd name="T100" fmla="*/ 45 w 807"/>
                <a:gd name="T101" fmla="*/ 118 h 301"/>
                <a:gd name="T102" fmla="*/ 0 w 807"/>
                <a:gd name="T103" fmla="*/ 118 h 301"/>
                <a:gd name="T104" fmla="*/ 16 w 807"/>
                <a:gd name="T105" fmla="*/ 71 h 30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07" h="301">
                  <a:moveTo>
                    <a:pt x="21" y="91"/>
                  </a:moveTo>
                  <a:lnTo>
                    <a:pt x="45" y="91"/>
                  </a:lnTo>
                  <a:lnTo>
                    <a:pt x="100" y="75"/>
                  </a:lnTo>
                  <a:lnTo>
                    <a:pt x="155" y="27"/>
                  </a:lnTo>
                  <a:lnTo>
                    <a:pt x="197" y="0"/>
                  </a:lnTo>
                  <a:lnTo>
                    <a:pt x="212" y="5"/>
                  </a:lnTo>
                  <a:lnTo>
                    <a:pt x="246" y="59"/>
                  </a:lnTo>
                  <a:lnTo>
                    <a:pt x="278" y="128"/>
                  </a:lnTo>
                  <a:lnTo>
                    <a:pt x="341" y="75"/>
                  </a:lnTo>
                  <a:lnTo>
                    <a:pt x="362" y="48"/>
                  </a:lnTo>
                  <a:lnTo>
                    <a:pt x="377" y="45"/>
                  </a:lnTo>
                  <a:lnTo>
                    <a:pt x="398" y="48"/>
                  </a:lnTo>
                  <a:lnTo>
                    <a:pt x="427" y="85"/>
                  </a:lnTo>
                  <a:lnTo>
                    <a:pt x="448" y="125"/>
                  </a:lnTo>
                  <a:lnTo>
                    <a:pt x="477" y="165"/>
                  </a:lnTo>
                  <a:lnTo>
                    <a:pt x="498" y="162"/>
                  </a:lnTo>
                  <a:lnTo>
                    <a:pt x="529" y="123"/>
                  </a:lnTo>
                  <a:lnTo>
                    <a:pt x="561" y="88"/>
                  </a:lnTo>
                  <a:lnTo>
                    <a:pt x="579" y="85"/>
                  </a:lnTo>
                  <a:lnTo>
                    <a:pt x="603" y="99"/>
                  </a:lnTo>
                  <a:lnTo>
                    <a:pt x="621" y="112"/>
                  </a:lnTo>
                  <a:lnTo>
                    <a:pt x="639" y="162"/>
                  </a:lnTo>
                  <a:lnTo>
                    <a:pt x="671" y="200"/>
                  </a:lnTo>
                  <a:lnTo>
                    <a:pt x="692" y="218"/>
                  </a:lnTo>
                  <a:lnTo>
                    <a:pt x="731" y="178"/>
                  </a:lnTo>
                  <a:lnTo>
                    <a:pt x="783" y="152"/>
                  </a:lnTo>
                  <a:lnTo>
                    <a:pt x="807" y="157"/>
                  </a:lnTo>
                  <a:lnTo>
                    <a:pt x="797" y="189"/>
                  </a:lnTo>
                  <a:lnTo>
                    <a:pt x="744" y="226"/>
                  </a:lnTo>
                  <a:lnTo>
                    <a:pt x="702" y="277"/>
                  </a:lnTo>
                  <a:lnTo>
                    <a:pt x="666" y="301"/>
                  </a:lnTo>
                  <a:lnTo>
                    <a:pt x="642" y="288"/>
                  </a:lnTo>
                  <a:lnTo>
                    <a:pt x="597" y="229"/>
                  </a:lnTo>
                  <a:lnTo>
                    <a:pt x="563" y="170"/>
                  </a:lnTo>
                  <a:lnTo>
                    <a:pt x="516" y="218"/>
                  </a:lnTo>
                  <a:lnTo>
                    <a:pt x="508" y="245"/>
                  </a:lnTo>
                  <a:lnTo>
                    <a:pt x="472" y="261"/>
                  </a:lnTo>
                  <a:lnTo>
                    <a:pt x="443" y="264"/>
                  </a:lnTo>
                  <a:lnTo>
                    <a:pt x="417" y="229"/>
                  </a:lnTo>
                  <a:lnTo>
                    <a:pt x="380" y="168"/>
                  </a:lnTo>
                  <a:lnTo>
                    <a:pt x="362" y="125"/>
                  </a:lnTo>
                  <a:lnTo>
                    <a:pt x="322" y="165"/>
                  </a:lnTo>
                  <a:lnTo>
                    <a:pt x="304" y="184"/>
                  </a:lnTo>
                  <a:lnTo>
                    <a:pt x="296" y="218"/>
                  </a:lnTo>
                  <a:lnTo>
                    <a:pt x="280" y="234"/>
                  </a:lnTo>
                  <a:lnTo>
                    <a:pt x="254" y="234"/>
                  </a:lnTo>
                  <a:lnTo>
                    <a:pt x="217" y="208"/>
                  </a:lnTo>
                  <a:lnTo>
                    <a:pt x="189" y="152"/>
                  </a:lnTo>
                  <a:lnTo>
                    <a:pt x="157" y="96"/>
                  </a:lnTo>
                  <a:lnTo>
                    <a:pt x="107" y="125"/>
                  </a:lnTo>
                  <a:lnTo>
                    <a:pt x="58" y="152"/>
                  </a:lnTo>
                  <a:lnTo>
                    <a:pt x="0" y="152"/>
                  </a:lnTo>
                  <a:lnTo>
                    <a:pt x="21" y="91"/>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56" name="Freeform 26"/>
            <p:cNvSpPr>
              <a:spLocks/>
            </p:cNvSpPr>
            <p:nvPr/>
          </p:nvSpPr>
          <p:spPr bwMode="auto">
            <a:xfrm>
              <a:off x="3637" y="2085"/>
              <a:ext cx="629" cy="190"/>
            </a:xfrm>
            <a:custGeom>
              <a:avLst/>
              <a:gdLst>
                <a:gd name="T0" fmla="*/ 36 w 810"/>
                <a:gd name="T1" fmla="*/ 87 h 245"/>
                <a:gd name="T2" fmla="*/ 85 w 810"/>
                <a:gd name="T3" fmla="*/ 64 h 245"/>
                <a:gd name="T4" fmla="*/ 140 w 810"/>
                <a:gd name="T5" fmla="*/ 21 h 245"/>
                <a:gd name="T6" fmla="*/ 158 w 810"/>
                <a:gd name="T7" fmla="*/ 28 h 245"/>
                <a:gd name="T8" fmla="*/ 197 w 810"/>
                <a:gd name="T9" fmla="*/ 116 h 245"/>
                <a:gd name="T10" fmla="*/ 222 w 810"/>
                <a:gd name="T11" fmla="*/ 116 h 245"/>
                <a:gd name="T12" fmla="*/ 269 w 810"/>
                <a:gd name="T13" fmla="*/ 64 h 245"/>
                <a:gd name="T14" fmla="*/ 298 w 810"/>
                <a:gd name="T15" fmla="*/ 52 h 245"/>
                <a:gd name="T16" fmla="*/ 338 w 810"/>
                <a:gd name="T17" fmla="*/ 119 h 245"/>
                <a:gd name="T18" fmla="*/ 376 w 810"/>
                <a:gd name="T19" fmla="*/ 153 h 245"/>
                <a:gd name="T20" fmla="*/ 408 w 810"/>
                <a:gd name="T21" fmla="*/ 114 h 245"/>
                <a:gd name="T22" fmla="*/ 443 w 810"/>
                <a:gd name="T23" fmla="*/ 84 h 245"/>
                <a:gd name="T24" fmla="*/ 485 w 810"/>
                <a:gd name="T25" fmla="*/ 143 h 245"/>
                <a:gd name="T26" fmla="*/ 522 w 810"/>
                <a:gd name="T27" fmla="*/ 190 h 245"/>
                <a:gd name="T28" fmla="*/ 564 w 810"/>
                <a:gd name="T29" fmla="*/ 164 h 245"/>
                <a:gd name="T30" fmla="*/ 606 w 810"/>
                <a:gd name="T31" fmla="*/ 139 h 245"/>
                <a:gd name="T32" fmla="*/ 607 w 810"/>
                <a:gd name="T33" fmla="*/ 116 h 245"/>
                <a:gd name="T34" fmla="*/ 528 w 810"/>
                <a:gd name="T35" fmla="*/ 165 h 245"/>
                <a:gd name="T36" fmla="*/ 495 w 810"/>
                <a:gd name="T37" fmla="*/ 128 h 245"/>
                <a:gd name="T38" fmla="*/ 464 w 810"/>
                <a:gd name="T39" fmla="*/ 80 h 245"/>
                <a:gd name="T40" fmla="*/ 425 w 810"/>
                <a:gd name="T41" fmla="*/ 71 h 245"/>
                <a:gd name="T42" fmla="*/ 387 w 810"/>
                <a:gd name="T43" fmla="*/ 116 h 245"/>
                <a:gd name="T44" fmla="*/ 367 w 810"/>
                <a:gd name="T45" fmla="*/ 126 h 245"/>
                <a:gd name="T46" fmla="*/ 322 w 810"/>
                <a:gd name="T47" fmla="*/ 62 h 245"/>
                <a:gd name="T48" fmla="*/ 298 w 810"/>
                <a:gd name="T49" fmla="*/ 36 h 245"/>
                <a:gd name="T50" fmla="*/ 265 w 810"/>
                <a:gd name="T51" fmla="*/ 47 h 245"/>
                <a:gd name="T52" fmla="*/ 220 w 810"/>
                <a:gd name="T53" fmla="*/ 89 h 245"/>
                <a:gd name="T54" fmla="*/ 189 w 810"/>
                <a:gd name="T55" fmla="*/ 52 h 245"/>
                <a:gd name="T56" fmla="*/ 156 w 810"/>
                <a:gd name="T57" fmla="*/ 0 h 245"/>
                <a:gd name="T58" fmla="*/ 113 w 810"/>
                <a:gd name="T59" fmla="*/ 18 h 245"/>
                <a:gd name="T60" fmla="*/ 57 w 810"/>
                <a:gd name="T61" fmla="*/ 64 h 245"/>
                <a:gd name="T62" fmla="*/ 11 w 810"/>
                <a:gd name="T63" fmla="*/ 74 h 245"/>
                <a:gd name="T64" fmla="*/ 6 w 810"/>
                <a:gd name="T65" fmla="*/ 89 h 24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10" h="245">
                  <a:moveTo>
                    <a:pt x="8" y="115"/>
                  </a:moveTo>
                  <a:lnTo>
                    <a:pt x="47" y="112"/>
                  </a:lnTo>
                  <a:lnTo>
                    <a:pt x="81" y="99"/>
                  </a:lnTo>
                  <a:lnTo>
                    <a:pt x="110" y="83"/>
                  </a:lnTo>
                  <a:lnTo>
                    <a:pt x="148" y="55"/>
                  </a:lnTo>
                  <a:lnTo>
                    <a:pt x="180" y="27"/>
                  </a:lnTo>
                  <a:lnTo>
                    <a:pt x="191" y="24"/>
                  </a:lnTo>
                  <a:lnTo>
                    <a:pt x="204" y="36"/>
                  </a:lnTo>
                  <a:lnTo>
                    <a:pt x="240" y="108"/>
                  </a:lnTo>
                  <a:lnTo>
                    <a:pt x="254" y="149"/>
                  </a:lnTo>
                  <a:lnTo>
                    <a:pt x="263" y="163"/>
                  </a:lnTo>
                  <a:lnTo>
                    <a:pt x="286" y="149"/>
                  </a:lnTo>
                  <a:lnTo>
                    <a:pt x="318" y="112"/>
                  </a:lnTo>
                  <a:lnTo>
                    <a:pt x="346" y="83"/>
                  </a:lnTo>
                  <a:lnTo>
                    <a:pt x="364" y="64"/>
                  </a:lnTo>
                  <a:lnTo>
                    <a:pt x="384" y="67"/>
                  </a:lnTo>
                  <a:lnTo>
                    <a:pt x="397" y="88"/>
                  </a:lnTo>
                  <a:lnTo>
                    <a:pt x="435" y="153"/>
                  </a:lnTo>
                  <a:lnTo>
                    <a:pt x="463" y="189"/>
                  </a:lnTo>
                  <a:lnTo>
                    <a:pt x="484" y="197"/>
                  </a:lnTo>
                  <a:lnTo>
                    <a:pt x="506" y="179"/>
                  </a:lnTo>
                  <a:lnTo>
                    <a:pt x="526" y="147"/>
                  </a:lnTo>
                  <a:lnTo>
                    <a:pt x="557" y="112"/>
                  </a:lnTo>
                  <a:lnTo>
                    <a:pt x="570" y="108"/>
                  </a:lnTo>
                  <a:lnTo>
                    <a:pt x="602" y="129"/>
                  </a:lnTo>
                  <a:lnTo>
                    <a:pt x="624" y="185"/>
                  </a:lnTo>
                  <a:lnTo>
                    <a:pt x="653" y="228"/>
                  </a:lnTo>
                  <a:lnTo>
                    <a:pt x="672" y="245"/>
                  </a:lnTo>
                  <a:lnTo>
                    <a:pt x="691" y="244"/>
                  </a:lnTo>
                  <a:lnTo>
                    <a:pt x="726" y="212"/>
                  </a:lnTo>
                  <a:lnTo>
                    <a:pt x="763" y="187"/>
                  </a:lnTo>
                  <a:lnTo>
                    <a:pt x="781" y="179"/>
                  </a:lnTo>
                  <a:lnTo>
                    <a:pt x="810" y="167"/>
                  </a:lnTo>
                  <a:lnTo>
                    <a:pt x="782" y="149"/>
                  </a:lnTo>
                  <a:lnTo>
                    <a:pt x="720" y="179"/>
                  </a:lnTo>
                  <a:lnTo>
                    <a:pt x="680" y="213"/>
                  </a:lnTo>
                  <a:lnTo>
                    <a:pt x="661" y="199"/>
                  </a:lnTo>
                  <a:lnTo>
                    <a:pt x="637" y="165"/>
                  </a:lnTo>
                  <a:lnTo>
                    <a:pt x="620" y="120"/>
                  </a:lnTo>
                  <a:lnTo>
                    <a:pt x="598" y="103"/>
                  </a:lnTo>
                  <a:lnTo>
                    <a:pt x="574" y="88"/>
                  </a:lnTo>
                  <a:lnTo>
                    <a:pt x="547" y="91"/>
                  </a:lnTo>
                  <a:lnTo>
                    <a:pt x="527" y="111"/>
                  </a:lnTo>
                  <a:lnTo>
                    <a:pt x="499" y="149"/>
                  </a:lnTo>
                  <a:lnTo>
                    <a:pt x="486" y="163"/>
                  </a:lnTo>
                  <a:lnTo>
                    <a:pt x="472" y="163"/>
                  </a:lnTo>
                  <a:lnTo>
                    <a:pt x="444" y="131"/>
                  </a:lnTo>
                  <a:lnTo>
                    <a:pt x="415" y="80"/>
                  </a:lnTo>
                  <a:lnTo>
                    <a:pt x="400" y="55"/>
                  </a:lnTo>
                  <a:lnTo>
                    <a:pt x="384" y="47"/>
                  </a:lnTo>
                  <a:lnTo>
                    <a:pt x="362" y="44"/>
                  </a:lnTo>
                  <a:lnTo>
                    <a:pt x="341" y="60"/>
                  </a:lnTo>
                  <a:lnTo>
                    <a:pt x="313" y="91"/>
                  </a:lnTo>
                  <a:lnTo>
                    <a:pt x="283" y="115"/>
                  </a:lnTo>
                  <a:lnTo>
                    <a:pt x="270" y="123"/>
                  </a:lnTo>
                  <a:lnTo>
                    <a:pt x="244" y="67"/>
                  </a:lnTo>
                  <a:lnTo>
                    <a:pt x="220" y="20"/>
                  </a:lnTo>
                  <a:lnTo>
                    <a:pt x="201" y="0"/>
                  </a:lnTo>
                  <a:lnTo>
                    <a:pt x="177" y="3"/>
                  </a:lnTo>
                  <a:lnTo>
                    <a:pt x="145" y="23"/>
                  </a:lnTo>
                  <a:lnTo>
                    <a:pt x="109" y="56"/>
                  </a:lnTo>
                  <a:lnTo>
                    <a:pt x="73" y="83"/>
                  </a:lnTo>
                  <a:lnTo>
                    <a:pt x="50" y="91"/>
                  </a:lnTo>
                  <a:lnTo>
                    <a:pt x="14" y="96"/>
                  </a:lnTo>
                  <a:lnTo>
                    <a:pt x="0" y="100"/>
                  </a:lnTo>
                  <a:lnTo>
                    <a:pt x="8" y="1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57" name="Freeform 27"/>
            <p:cNvSpPr>
              <a:spLocks/>
            </p:cNvSpPr>
            <p:nvPr/>
          </p:nvSpPr>
          <p:spPr bwMode="auto">
            <a:xfrm>
              <a:off x="3626" y="2112"/>
              <a:ext cx="634" cy="223"/>
            </a:xfrm>
            <a:custGeom>
              <a:avLst/>
              <a:gdLst>
                <a:gd name="T0" fmla="*/ 42 w 816"/>
                <a:gd name="T1" fmla="*/ 92 h 287"/>
                <a:gd name="T2" fmla="*/ 88 w 816"/>
                <a:gd name="T3" fmla="*/ 74 h 287"/>
                <a:gd name="T4" fmla="*/ 121 w 816"/>
                <a:gd name="T5" fmla="*/ 56 h 287"/>
                <a:gd name="T6" fmla="*/ 112 w 816"/>
                <a:gd name="T7" fmla="*/ 19 h 287"/>
                <a:gd name="T8" fmla="*/ 131 w 816"/>
                <a:gd name="T9" fmla="*/ 22 h 287"/>
                <a:gd name="T10" fmla="*/ 157 w 816"/>
                <a:gd name="T11" fmla="*/ 84 h 287"/>
                <a:gd name="T12" fmla="*/ 185 w 816"/>
                <a:gd name="T13" fmla="*/ 139 h 287"/>
                <a:gd name="T14" fmla="*/ 210 w 816"/>
                <a:gd name="T15" fmla="*/ 155 h 287"/>
                <a:gd name="T16" fmla="*/ 231 w 816"/>
                <a:gd name="T17" fmla="*/ 139 h 287"/>
                <a:gd name="T18" fmla="*/ 214 w 816"/>
                <a:gd name="T19" fmla="*/ 99 h 287"/>
                <a:gd name="T20" fmla="*/ 240 w 816"/>
                <a:gd name="T21" fmla="*/ 115 h 287"/>
                <a:gd name="T22" fmla="*/ 263 w 816"/>
                <a:gd name="T23" fmla="*/ 47 h 287"/>
                <a:gd name="T24" fmla="*/ 288 w 816"/>
                <a:gd name="T25" fmla="*/ 40 h 287"/>
                <a:gd name="T26" fmla="*/ 298 w 816"/>
                <a:gd name="T27" fmla="*/ 84 h 287"/>
                <a:gd name="T28" fmla="*/ 329 w 816"/>
                <a:gd name="T29" fmla="*/ 136 h 287"/>
                <a:gd name="T30" fmla="*/ 356 w 816"/>
                <a:gd name="T31" fmla="*/ 177 h 287"/>
                <a:gd name="T32" fmla="*/ 393 w 816"/>
                <a:gd name="T33" fmla="*/ 170 h 287"/>
                <a:gd name="T34" fmla="*/ 390 w 816"/>
                <a:gd name="T35" fmla="*/ 137 h 287"/>
                <a:gd name="T36" fmla="*/ 396 w 816"/>
                <a:gd name="T37" fmla="*/ 112 h 287"/>
                <a:gd name="T38" fmla="*/ 433 w 816"/>
                <a:gd name="T39" fmla="*/ 106 h 287"/>
                <a:gd name="T40" fmla="*/ 439 w 816"/>
                <a:gd name="T41" fmla="*/ 58 h 287"/>
                <a:gd name="T42" fmla="*/ 441 w 816"/>
                <a:gd name="T43" fmla="*/ 74 h 287"/>
                <a:gd name="T44" fmla="*/ 457 w 816"/>
                <a:gd name="T45" fmla="*/ 127 h 287"/>
                <a:gd name="T46" fmla="*/ 496 w 816"/>
                <a:gd name="T47" fmla="*/ 179 h 287"/>
                <a:gd name="T48" fmla="*/ 530 w 816"/>
                <a:gd name="T49" fmla="*/ 202 h 287"/>
                <a:gd name="T50" fmla="*/ 545 w 816"/>
                <a:gd name="T51" fmla="*/ 186 h 287"/>
                <a:gd name="T52" fmla="*/ 552 w 816"/>
                <a:gd name="T53" fmla="*/ 152 h 287"/>
                <a:gd name="T54" fmla="*/ 584 w 816"/>
                <a:gd name="T55" fmla="*/ 146 h 287"/>
                <a:gd name="T56" fmla="*/ 634 w 816"/>
                <a:gd name="T57" fmla="*/ 121 h 287"/>
                <a:gd name="T58" fmla="*/ 588 w 816"/>
                <a:gd name="T59" fmla="*/ 161 h 287"/>
                <a:gd name="T60" fmla="*/ 559 w 816"/>
                <a:gd name="T61" fmla="*/ 195 h 287"/>
                <a:gd name="T62" fmla="*/ 518 w 816"/>
                <a:gd name="T63" fmla="*/ 223 h 287"/>
                <a:gd name="T64" fmla="*/ 462 w 816"/>
                <a:gd name="T65" fmla="*/ 161 h 287"/>
                <a:gd name="T66" fmla="*/ 434 w 816"/>
                <a:gd name="T67" fmla="*/ 133 h 287"/>
                <a:gd name="T68" fmla="*/ 405 w 816"/>
                <a:gd name="T69" fmla="*/ 170 h 287"/>
                <a:gd name="T70" fmla="*/ 355 w 816"/>
                <a:gd name="T71" fmla="*/ 196 h 287"/>
                <a:gd name="T72" fmla="*/ 319 w 816"/>
                <a:gd name="T73" fmla="*/ 146 h 287"/>
                <a:gd name="T74" fmla="*/ 283 w 816"/>
                <a:gd name="T75" fmla="*/ 90 h 287"/>
                <a:gd name="T76" fmla="*/ 246 w 816"/>
                <a:gd name="T77" fmla="*/ 137 h 287"/>
                <a:gd name="T78" fmla="*/ 231 w 816"/>
                <a:gd name="T79" fmla="*/ 165 h 287"/>
                <a:gd name="T80" fmla="*/ 184 w 816"/>
                <a:gd name="T81" fmla="*/ 159 h 287"/>
                <a:gd name="T82" fmla="*/ 152 w 816"/>
                <a:gd name="T83" fmla="*/ 106 h 287"/>
                <a:gd name="T84" fmla="*/ 124 w 816"/>
                <a:gd name="T85" fmla="*/ 68 h 287"/>
                <a:gd name="T86" fmla="*/ 57 w 816"/>
                <a:gd name="T87" fmla="*/ 106 h 287"/>
                <a:gd name="T88" fmla="*/ 0 w 816"/>
                <a:gd name="T89" fmla="*/ 109 h 2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816" h="287">
                  <a:moveTo>
                    <a:pt x="17" y="116"/>
                  </a:moveTo>
                  <a:lnTo>
                    <a:pt x="54" y="119"/>
                  </a:lnTo>
                  <a:lnTo>
                    <a:pt x="81" y="107"/>
                  </a:lnTo>
                  <a:lnTo>
                    <a:pt x="113" y="95"/>
                  </a:lnTo>
                  <a:lnTo>
                    <a:pt x="132" y="79"/>
                  </a:lnTo>
                  <a:lnTo>
                    <a:pt x="156" y="72"/>
                  </a:lnTo>
                  <a:lnTo>
                    <a:pt x="162" y="67"/>
                  </a:lnTo>
                  <a:lnTo>
                    <a:pt x="144" y="24"/>
                  </a:lnTo>
                  <a:lnTo>
                    <a:pt x="174" y="0"/>
                  </a:lnTo>
                  <a:lnTo>
                    <a:pt x="168" y="28"/>
                  </a:lnTo>
                  <a:lnTo>
                    <a:pt x="179" y="55"/>
                  </a:lnTo>
                  <a:lnTo>
                    <a:pt x="202" y="108"/>
                  </a:lnTo>
                  <a:lnTo>
                    <a:pt x="221" y="144"/>
                  </a:lnTo>
                  <a:lnTo>
                    <a:pt x="238" y="179"/>
                  </a:lnTo>
                  <a:lnTo>
                    <a:pt x="257" y="192"/>
                  </a:lnTo>
                  <a:lnTo>
                    <a:pt x="270" y="200"/>
                  </a:lnTo>
                  <a:lnTo>
                    <a:pt x="288" y="199"/>
                  </a:lnTo>
                  <a:lnTo>
                    <a:pt x="297" y="179"/>
                  </a:lnTo>
                  <a:lnTo>
                    <a:pt x="296" y="164"/>
                  </a:lnTo>
                  <a:lnTo>
                    <a:pt x="276" y="127"/>
                  </a:lnTo>
                  <a:lnTo>
                    <a:pt x="297" y="111"/>
                  </a:lnTo>
                  <a:lnTo>
                    <a:pt x="309" y="148"/>
                  </a:lnTo>
                  <a:lnTo>
                    <a:pt x="360" y="92"/>
                  </a:lnTo>
                  <a:lnTo>
                    <a:pt x="339" y="60"/>
                  </a:lnTo>
                  <a:lnTo>
                    <a:pt x="372" y="28"/>
                  </a:lnTo>
                  <a:lnTo>
                    <a:pt x="371" y="52"/>
                  </a:lnTo>
                  <a:lnTo>
                    <a:pt x="372" y="79"/>
                  </a:lnTo>
                  <a:lnTo>
                    <a:pt x="384" y="108"/>
                  </a:lnTo>
                  <a:lnTo>
                    <a:pt x="399" y="143"/>
                  </a:lnTo>
                  <a:lnTo>
                    <a:pt x="423" y="175"/>
                  </a:lnTo>
                  <a:lnTo>
                    <a:pt x="443" y="203"/>
                  </a:lnTo>
                  <a:lnTo>
                    <a:pt x="458" y="228"/>
                  </a:lnTo>
                  <a:lnTo>
                    <a:pt x="478" y="227"/>
                  </a:lnTo>
                  <a:lnTo>
                    <a:pt x="506" y="219"/>
                  </a:lnTo>
                  <a:lnTo>
                    <a:pt x="508" y="199"/>
                  </a:lnTo>
                  <a:lnTo>
                    <a:pt x="502" y="176"/>
                  </a:lnTo>
                  <a:lnTo>
                    <a:pt x="481" y="147"/>
                  </a:lnTo>
                  <a:lnTo>
                    <a:pt x="510" y="144"/>
                  </a:lnTo>
                  <a:lnTo>
                    <a:pt x="525" y="172"/>
                  </a:lnTo>
                  <a:lnTo>
                    <a:pt x="557" y="136"/>
                  </a:lnTo>
                  <a:lnTo>
                    <a:pt x="545" y="103"/>
                  </a:lnTo>
                  <a:lnTo>
                    <a:pt x="565" y="75"/>
                  </a:lnTo>
                  <a:lnTo>
                    <a:pt x="571" y="64"/>
                  </a:lnTo>
                  <a:lnTo>
                    <a:pt x="568" y="95"/>
                  </a:lnTo>
                  <a:lnTo>
                    <a:pt x="575" y="124"/>
                  </a:lnTo>
                  <a:lnTo>
                    <a:pt x="588" y="164"/>
                  </a:lnTo>
                  <a:lnTo>
                    <a:pt x="612" y="199"/>
                  </a:lnTo>
                  <a:lnTo>
                    <a:pt x="638" y="231"/>
                  </a:lnTo>
                  <a:lnTo>
                    <a:pt x="667" y="255"/>
                  </a:lnTo>
                  <a:lnTo>
                    <a:pt x="682" y="260"/>
                  </a:lnTo>
                  <a:lnTo>
                    <a:pt x="698" y="248"/>
                  </a:lnTo>
                  <a:lnTo>
                    <a:pt x="702" y="239"/>
                  </a:lnTo>
                  <a:lnTo>
                    <a:pt x="686" y="200"/>
                  </a:lnTo>
                  <a:lnTo>
                    <a:pt x="710" y="195"/>
                  </a:lnTo>
                  <a:lnTo>
                    <a:pt x="716" y="227"/>
                  </a:lnTo>
                  <a:lnTo>
                    <a:pt x="752" y="188"/>
                  </a:lnTo>
                  <a:lnTo>
                    <a:pt x="795" y="163"/>
                  </a:lnTo>
                  <a:lnTo>
                    <a:pt x="816" y="156"/>
                  </a:lnTo>
                  <a:lnTo>
                    <a:pt x="803" y="180"/>
                  </a:lnTo>
                  <a:lnTo>
                    <a:pt x="757" y="207"/>
                  </a:lnTo>
                  <a:lnTo>
                    <a:pt x="730" y="235"/>
                  </a:lnTo>
                  <a:lnTo>
                    <a:pt x="720" y="251"/>
                  </a:lnTo>
                  <a:lnTo>
                    <a:pt x="698" y="275"/>
                  </a:lnTo>
                  <a:lnTo>
                    <a:pt x="667" y="287"/>
                  </a:lnTo>
                  <a:lnTo>
                    <a:pt x="627" y="252"/>
                  </a:lnTo>
                  <a:lnTo>
                    <a:pt x="595" y="207"/>
                  </a:lnTo>
                  <a:lnTo>
                    <a:pt x="567" y="171"/>
                  </a:lnTo>
                  <a:lnTo>
                    <a:pt x="559" y="171"/>
                  </a:lnTo>
                  <a:lnTo>
                    <a:pt x="529" y="199"/>
                  </a:lnTo>
                  <a:lnTo>
                    <a:pt x="521" y="219"/>
                  </a:lnTo>
                  <a:lnTo>
                    <a:pt x="498" y="243"/>
                  </a:lnTo>
                  <a:lnTo>
                    <a:pt x="457" y="252"/>
                  </a:lnTo>
                  <a:lnTo>
                    <a:pt x="434" y="235"/>
                  </a:lnTo>
                  <a:lnTo>
                    <a:pt x="411" y="188"/>
                  </a:lnTo>
                  <a:lnTo>
                    <a:pt x="386" y="156"/>
                  </a:lnTo>
                  <a:lnTo>
                    <a:pt x="364" y="116"/>
                  </a:lnTo>
                  <a:lnTo>
                    <a:pt x="324" y="164"/>
                  </a:lnTo>
                  <a:lnTo>
                    <a:pt x="317" y="176"/>
                  </a:lnTo>
                  <a:lnTo>
                    <a:pt x="316" y="196"/>
                  </a:lnTo>
                  <a:lnTo>
                    <a:pt x="297" y="212"/>
                  </a:lnTo>
                  <a:lnTo>
                    <a:pt x="266" y="220"/>
                  </a:lnTo>
                  <a:lnTo>
                    <a:pt x="237" y="204"/>
                  </a:lnTo>
                  <a:lnTo>
                    <a:pt x="210" y="171"/>
                  </a:lnTo>
                  <a:lnTo>
                    <a:pt x="195" y="136"/>
                  </a:lnTo>
                  <a:lnTo>
                    <a:pt x="174" y="100"/>
                  </a:lnTo>
                  <a:lnTo>
                    <a:pt x="160" y="87"/>
                  </a:lnTo>
                  <a:lnTo>
                    <a:pt x="109" y="115"/>
                  </a:lnTo>
                  <a:lnTo>
                    <a:pt x="73" y="136"/>
                  </a:lnTo>
                  <a:lnTo>
                    <a:pt x="34" y="143"/>
                  </a:lnTo>
                  <a:lnTo>
                    <a:pt x="0" y="140"/>
                  </a:lnTo>
                  <a:lnTo>
                    <a:pt x="17"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58" name="Freeform 28"/>
            <p:cNvSpPr>
              <a:spLocks/>
            </p:cNvSpPr>
            <p:nvPr/>
          </p:nvSpPr>
          <p:spPr bwMode="auto">
            <a:xfrm>
              <a:off x="4233" y="2136"/>
              <a:ext cx="627" cy="234"/>
            </a:xfrm>
            <a:custGeom>
              <a:avLst/>
              <a:gdLst>
                <a:gd name="T0" fmla="*/ 16 w 807"/>
                <a:gd name="T1" fmla="*/ 71 h 301"/>
                <a:gd name="T2" fmla="*/ 35 w 807"/>
                <a:gd name="T3" fmla="*/ 71 h 301"/>
                <a:gd name="T4" fmla="*/ 78 w 807"/>
                <a:gd name="T5" fmla="*/ 58 h 301"/>
                <a:gd name="T6" fmla="*/ 120 w 807"/>
                <a:gd name="T7" fmla="*/ 21 h 301"/>
                <a:gd name="T8" fmla="*/ 153 w 807"/>
                <a:gd name="T9" fmla="*/ 0 h 301"/>
                <a:gd name="T10" fmla="*/ 165 w 807"/>
                <a:gd name="T11" fmla="*/ 4 h 301"/>
                <a:gd name="T12" fmla="*/ 191 w 807"/>
                <a:gd name="T13" fmla="*/ 46 h 301"/>
                <a:gd name="T14" fmla="*/ 216 w 807"/>
                <a:gd name="T15" fmla="*/ 100 h 301"/>
                <a:gd name="T16" fmla="*/ 265 w 807"/>
                <a:gd name="T17" fmla="*/ 58 h 301"/>
                <a:gd name="T18" fmla="*/ 281 w 807"/>
                <a:gd name="T19" fmla="*/ 37 h 301"/>
                <a:gd name="T20" fmla="*/ 293 w 807"/>
                <a:gd name="T21" fmla="*/ 35 h 301"/>
                <a:gd name="T22" fmla="*/ 309 w 807"/>
                <a:gd name="T23" fmla="*/ 37 h 301"/>
                <a:gd name="T24" fmla="*/ 332 w 807"/>
                <a:gd name="T25" fmla="*/ 66 h 301"/>
                <a:gd name="T26" fmla="*/ 348 w 807"/>
                <a:gd name="T27" fmla="*/ 97 h 301"/>
                <a:gd name="T28" fmla="*/ 371 w 807"/>
                <a:gd name="T29" fmla="*/ 128 h 301"/>
                <a:gd name="T30" fmla="*/ 387 w 807"/>
                <a:gd name="T31" fmla="*/ 126 h 301"/>
                <a:gd name="T32" fmla="*/ 411 w 807"/>
                <a:gd name="T33" fmla="*/ 96 h 301"/>
                <a:gd name="T34" fmla="*/ 436 w 807"/>
                <a:gd name="T35" fmla="*/ 68 h 301"/>
                <a:gd name="T36" fmla="*/ 450 w 807"/>
                <a:gd name="T37" fmla="*/ 66 h 301"/>
                <a:gd name="T38" fmla="*/ 469 w 807"/>
                <a:gd name="T39" fmla="*/ 77 h 301"/>
                <a:gd name="T40" fmla="*/ 482 w 807"/>
                <a:gd name="T41" fmla="*/ 87 h 301"/>
                <a:gd name="T42" fmla="*/ 496 w 807"/>
                <a:gd name="T43" fmla="*/ 126 h 301"/>
                <a:gd name="T44" fmla="*/ 521 w 807"/>
                <a:gd name="T45" fmla="*/ 155 h 301"/>
                <a:gd name="T46" fmla="*/ 538 w 807"/>
                <a:gd name="T47" fmla="*/ 169 h 301"/>
                <a:gd name="T48" fmla="*/ 568 w 807"/>
                <a:gd name="T49" fmla="*/ 138 h 301"/>
                <a:gd name="T50" fmla="*/ 608 w 807"/>
                <a:gd name="T51" fmla="*/ 118 h 301"/>
                <a:gd name="T52" fmla="*/ 627 w 807"/>
                <a:gd name="T53" fmla="*/ 122 h 301"/>
                <a:gd name="T54" fmla="*/ 619 w 807"/>
                <a:gd name="T55" fmla="*/ 147 h 301"/>
                <a:gd name="T56" fmla="*/ 578 w 807"/>
                <a:gd name="T57" fmla="*/ 176 h 301"/>
                <a:gd name="T58" fmla="*/ 545 w 807"/>
                <a:gd name="T59" fmla="*/ 215 h 301"/>
                <a:gd name="T60" fmla="*/ 517 w 807"/>
                <a:gd name="T61" fmla="*/ 234 h 301"/>
                <a:gd name="T62" fmla="*/ 499 w 807"/>
                <a:gd name="T63" fmla="*/ 224 h 301"/>
                <a:gd name="T64" fmla="*/ 464 w 807"/>
                <a:gd name="T65" fmla="*/ 178 h 301"/>
                <a:gd name="T66" fmla="*/ 437 w 807"/>
                <a:gd name="T67" fmla="*/ 132 h 301"/>
                <a:gd name="T68" fmla="*/ 401 w 807"/>
                <a:gd name="T69" fmla="*/ 169 h 301"/>
                <a:gd name="T70" fmla="*/ 395 w 807"/>
                <a:gd name="T71" fmla="*/ 190 h 301"/>
                <a:gd name="T72" fmla="*/ 367 w 807"/>
                <a:gd name="T73" fmla="*/ 203 h 301"/>
                <a:gd name="T74" fmla="*/ 344 w 807"/>
                <a:gd name="T75" fmla="*/ 205 h 301"/>
                <a:gd name="T76" fmla="*/ 324 w 807"/>
                <a:gd name="T77" fmla="*/ 178 h 301"/>
                <a:gd name="T78" fmla="*/ 295 w 807"/>
                <a:gd name="T79" fmla="*/ 131 h 301"/>
                <a:gd name="T80" fmla="*/ 281 w 807"/>
                <a:gd name="T81" fmla="*/ 97 h 301"/>
                <a:gd name="T82" fmla="*/ 250 w 807"/>
                <a:gd name="T83" fmla="*/ 128 h 301"/>
                <a:gd name="T84" fmla="*/ 236 w 807"/>
                <a:gd name="T85" fmla="*/ 143 h 301"/>
                <a:gd name="T86" fmla="*/ 230 w 807"/>
                <a:gd name="T87" fmla="*/ 169 h 301"/>
                <a:gd name="T88" fmla="*/ 218 w 807"/>
                <a:gd name="T89" fmla="*/ 182 h 301"/>
                <a:gd name="T90" fmla="*/ 197 w 807"/>
                <a:gd name="T91" fmla="*/ 182 h 301"/>
                <a:gd name="T92" fmla="*/ 169 w 807"/>
                <a:gd name="T93" fmla="*/ 162 h 301"/>
                <a:gd name="T94" fmla="*/ 147 w 807"/>
                <a:gd name="T95" fmla="*/ 118 h 301"/>
                <a:gd name="T96" fmla="*/ 122 w 807"/>
                <a:gd name="T97" fmla="*/ 75 h 301"/>
                <a:gd name="T98" fmla="*/ 83 w 807"/>
                <a:gd name="T99" fmla="*/ 97 h 301"/>
                <a:gd name="T100" fmla="*/ 45 w 807"/>
                <a:gd name="T101" fmla="*/ 118 h 301"/>
                <a:gd name="T102" fmla="*/ 0 w 807"/>
                <a:gd name="T103" fmla="*/ 118 h 301"/>
                <a:gd name="T104" fmla="*/ 16 w 807"/>
                <a:gd name="T105" fmla="*/ 71 h 30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07" h="301">
                  <a:moveTo>
                    <a:pt x="21" y="91"/>
                  </a:moveTo>
                  <a:lnTo>
                    <a:pt x="45" y="91"/>
                  </a:lnTo>
                  <a:lnTo>
                    <a:pt x="100" y="75"/>
                  </a:lnTo>
                  <a:lnTo>
                    <a:pt x="155" y="27"/>
                  </a:lnTo>
                  <a:lnTo>
                    <a:pt x="197" y="0"/>
                  </a:lnTo>
                  <a:lnTo>
                    <a:pt x="212" y="5"/>
                  </a:lnTo>
                  <a:lnTo>
                    <a:pt x="246" y="59"/>
                  </a:lnTo>
                  <a:lnTo>
                    <a:pt x="278" y="128"/>
                  </a:lnTo>
                  <a:lnTo>
                    <a:pt x="341" y="75"/>
                  </a:lnTo>
                  <a:lnTo>
                    <a:pt x="362" y="48"/>
                  </a:lnTo>
                  <a:lnTo>
                    <a:pt x="377" y="45"/>
                  </a:lnTo>
                  <a:lnTo>
                    <a:pt x="398" y="48"/>
                  </a:lnTo>
                  <a:lnTo>
                    <a:pt x="427" y="85"/>
                  </a:lnTo>
                  <a:lnTo>
                    <a:pt x="448" y="125"/>
                  </a:lnTo>
                  <a:lnTo>
                    <a:pt x="477" y="165"/>
                  </a:lnTo>
                  <a:lnTo>
                    <a:pt x="498" y="162"/>
                  </a:lnTo>
                  <a:lnTo>
                    <a:pt x="529" y="123"/>
                  </a:lnTo>
                  <a:lnTo>
                    <a:pt x="561" y="88"/>
                  </a:lnTo>
                  <a:lnTo>
                    <a:pt x="579" y="85"/>
                  </a:lnTo>
                  <a:lnTo>
                    <a:pt x="603" y="99"/>
                  </a:lnTo>
                  <a:lnTo>
                    <a:pt x="621" y="112"/>
                  </a:lnTo>
                  <a:lnTo>
                    <a:pt x="639" y="162"/>
                  </a:lnTo>
                  <a:lnTo>
                    <a:pt x="671" y="200"/>
                  </a:lnTo>
                  <a:lnTo>
                    <a:pt x="692" y="218"/>
                  </a:lnTo>
                  <a:lnTo>
                    <a:pt x="731" y="178"/>
                  </a:lnTo>
                  <a:lnTo>
                    <a:pt x="783" y="152"/>
                  </a:lnTo>
                  <a:lnTo>
                    <a:pt x="807" y="157"/>
                  </a:lnTo>
                  <a:lnTo>
                    <a:pt x="797" y="189"/>
                  </a:lnTo>
                  <a:lnTo>
                    <a:pt x="744" y="226"/>
                  </a:lnTo>
                  <a:lnTo>
                    <a:pt x="702" y="277"/>
                  </a:lnTo>
                  <a:lnTo>
                    <a:pt x="666" y="301"/>
                  </a:lnTo>
                  <a:lnTo>
                    <a:pt x="642" y="288"/>
                  </a:lnTo>
                  <a:lnTo>
                    <a:pt x="597" y="229"/>
                  </a:lnTo>
                  <a:lnTo>
                    <a:pt x="563" y="170"/>
                  </a:lnTo>
                  <a:lnTo>
                    <a:pt x="516" y="218"/>
                  </a:lnTo>
                  <a:lnTo>
                    <a:pt x="508" y="245"/>
                  </a:lnTo>
                  <a:lnTo>
                    <a:pt x="472" y="261"/>
                  </a:lnTo>
                  <a:lnTo>
                    <a:pt x="443" y="264"/>
                  </a:lnTo>
                  <a:lnTo>
                    <a:pt x="417" y="229"/>
                  </a:lnTo>
                  <a:lnTo>
                    <a:pt x="380" y="168"/>
                  </a:lnTo>
                  <a:lnTo>
                    <a:pt x="362" y="125"/>
                  </a:lnTo>
                  <a:lnTo>
                    <a:pt x="322" y="165"/>
                  </a:lnTo>
                  <a:lnTo>
                    <a:pt x="304" y="184"/>
                  </a:lnTo>
                  <a:lnTo>
                    <a:pt x="296" y="218"/>
                  </a:lnTo>
                  <a:lnTo>
                    <a:pt x="280" y="234"/>
                  </a:lnTo>
                  <a:lnTo>
                    <a:pt x="254" y="234"/>
                  </a:lnTo>
                  <a:lnTo>
                    <a:pt x="217" y="208"/>
                  </a:lnTo>
                  <a:lnTo>
                    <a:pt x="189" y="152"/>
                  </a:lnTo>
                  <a:lnTo>
                    <a:pt x="157" y="96"/>
                  </a:lnTo>
                  <a:lnTo>
                    <a:pt x="107" y="125"/>
                  </a:lnTo>
                  <a:lnTo>
                    <a:pt x="58" y="152"/>
                  </a:lnTo>
                  <a:lnTo>
                    <a:pt x="0" y="152"/>
                  </a:lnTo>
                  <a:lnTo>
                    <a:pt x="21" y="91"/>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59" name="Freeform 29"/>
            <p:cNvSpPr>
              <a:spLocks/>
            </p:cNvSpPr>
            <p:nvPr/>
          </p:nvSpPr>
          <p:spPr bwMode="auto">
            <a:xfrm>
              <a:off x="4239" y="2127"/>
              <a:ext cx="629" cy="190"/>
            </a:xfrm>
            <a:custGeom>
              <a:avLst/>
              <a:gdLst>
                <a:gd name="T0" fmla="*/ 36 w 810"/>
                <a:gd name="T1" fmla="*/ 87 h 245"/>
                <a:gd name="T2" fmla="*/ 85 w 810"/>
                <a:gd name="T3" fmla="*/ 64 h 245"/>
                <a:gd name="T4" fmla="*/ 140 w 810"/>
                <a:gd name="T5" fmla="*/ 21 h 245"/>
                <a:gd name="T6" fmla="*/ 158 w 810"/>
                <a:gd name="T7" fmla="*/ 28 h 245"/>
                <a:gd name="T8" fmla="*/ 197 w 810"/>
                <a:gd name="T9" fmla="*/ 116 h 245"/>
                <a:gd name="T10" fmla="*/ 222 w 810"/>
                <a:gd name="T11" fmla="*/ 116 h 245"/>
                <a:gd name="T12" fmla="*/ 269 w 810"/>
                <a:gd name="T13" fmla="*/ 64 h 245"/>
                <a:gd name="T14" fmla="*/ 298 w 810"/>
                <a:gd name="T15" fmla="*/ 52 h 245"/>
                <a:gd name="T16" fmla="*/ 338 w 810"/>
                <a:gd name="T17" fmla="*/ 119 h 245"/>
                <a:gd name="T18" fmla="*/ 376 w 810"/>
                <a:gd name="T19" fmla="*/ 153 h 245"/>
                <a:gd name="T20" fmla="*/ 408 w 810"/>
                <a:gd name="T21" fmla="*/ 114 h 245"/>
                <a:gd name="T22" fmla="*/ 443 w 810"/>
                <a:gd name="T23" fmla="*/ 84 h 245"/>
                <a:gd name="T24" fmla="*/ 485 w 810"/>
                <a:gd name="T25" fmla="*/ 143 h 245"/>
                <a:gd name="T26" fmla="*/ 522 w 810"/>
                <a:gd name="T27" fmla="*/ 190 h 245"/>
                <a:gd name="T28" fmla="*/ 564 w 810"/>
                <a:gd name="T29" fmla="*/ 164 h 245"/>
                <a:gd name="T30" fmla="*/ 606 w 810"/>
                <a:gd name="T31" fmla="*/ 139 h 245"/>
                <a:gd name="T32" fmla="*/ 607 w 810"/>
                <a:gd name="T33" fmla="*/ 116 h 245"/>
                <a:gd name="T34" fmla="*/ 528 w 810"/>
                <a:gd name="T35" fmla="*/ 165 h 245"/>
                <a:gd name="T36" fmla="*/ 495 w 810"/>
                <a:gd name="T37" fmla="*/ 128 h 245"/>
                <a:gd name="T38" fmla="*/ 464 w 810"/>
                <a:gd name="T39" fmla="*/ 80 h 245"/>
                <a:gd name="T40" fmla="*/ 425 w 810"/>
                <a:gd name="T41" fmla="*/ 71 h 245"/>
                <a:gd name="T42" fmla="*/ 387 w 810"/>
                <a:gd name="T43" fmla="*/ 116 h 245"/>
                <a:gd name="T44" fmla="*/ 367 w 810"/>
                <a:gd name="T45" fmla="*/ 126 h 245"/>
                <a:gd name="T46" fmla="*/ 322 w 810"/>
                <a:gd name="T47" fmla="*/ 62 h 245"/>
                <a:gd name="T48" fmla="*/ 298 w 810"/>
                <a:gd name="T49" fmla="*/ 36 h 245"/>
                <a:gd name="T50" fmla="*/ 265 w 810"/>
                <a:gd name="T51" fmla="*/ 47 h 245"/>
                <a:gd name="T52" fmla="*/ 220 w 810"/>
                <a:gd name="T53" fmla="*/ 89 h 245"/>
                <a:gd name="T54" fmla="*/ 189 w 810"/>
                <a:gd name="T55" fmla="*/ 52 h 245"/>
                <a:gd name="T56" fmla="*/ 156 w 810"/>
                <a:gd name="T57" fmla="*/ 0 h 245"/>
                <a:gd name="T58" fmla="*/ 113 w 810"/>
                <a:gd name="T59" fmla="*/ 18 h 245"/>
                <a:gd name="T60" fmla="*/ 57 w 810"/>
                <a:gd name="T61" fmla="*/ 64 h 245"/>
                <a:gd name="T62" fmla="*/ 11 w 810"/>
                <a:gd name="T63" fmla="*/ 74 h 245"/>
                <a:gd name="T64" fmla="*/ 6 w 810"/>
                <a:gd name="T65" fmla="*/ 89 h 24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10" h="245">
                  <a:moveTo>
                    <a:pt x="8" y="115"/>
                  </a:moveTo>
                  <a:lnTo>
                    <a:pt x="47" y="112"/>
                  </a:lnTo>
                  <a:lnTo>
                    <a:pt x="81" y="99"/>
                  </a:lnTo>
                  <a:lnTo>
                    <a:pt x="110" y="83"/>
                  </a:lnTo>
                  <a:lnTo>
                    <a:pt x="148" y="55"/>
                  </a:lnTo>
                  <a:lnTo>
                    <a:pt x="180" y="27"/>
                  </a:lnTo>
                  <a:lnTo>
                    <a:pt x="191" y="24"/>
                  </a:lnTo>
                  <a:lnTo>
                    <a:pt x="204" y="36"/>
                  </a:lnTo>
                  <a:lnTo>
                    <a:pt x="240" y="108"/>
                  </a:lnTo>
                  <a:lnTo>
                    <a:pt x="254" y="149"/>
                  </a:lnTo>
                  <a:lnTo>
                    <a:pt x="263" y="163"/>
                  </a:lnTo>
                  <a:lnTo>
                    <a:pt x="286" y="149"/>
                  </a:lnTo>
                  <a:lnTo>
                    <a:pt x="318" y="112"/>
                  </a:lnTo>
                  <a:lnTo>
                    <a:pt x="346" y="83"/>
                  </a:lnTo>
                  <a:lnTo>
                    <a:pt x="364" y="64"/>
                  </a:lnTo>
                  <a:lnTo>
                    <a:pt x="384" y="67"/>
                  </a:lnTo>
                  <a:lnTo>
                    <a:pt x="397" y="88"/>
                  </a:lnTo>
                  <a:lnTo>
                    <a:pt x="435" y="153"/>
                  </a:lnTo>
                  <a:lnTo>
                    <a:pt x="463" y="189"/>
                  </a:lnTo>
                  <a:lnTo>
                    <a:pt x="484" y="197"/>
                  </a:lnTo>
                  <a:lnTo>
                    <a:pt x="506" y="179"/>
                  </a:lnTo>
                  <a:lnTo>
                    <a:pt x="526" y="147"/>
                  </a:lnTo>
                  <a:lnTo>
                    <a:pt x="557" y="112"/>
                  </a:lnTo>
                  <a:lnTo>
                    <a:pt x="570" y="108"/>
                  </a:lnTo>
                  <a:lnTo>
                    <a:pt x="602" y="129"/>
                  </a:lnTo>
                  <a:lnTo>
                    <a:pt x="624" y="185"/>
                  </a:lnTo>
                  <a:lnTo>
                    <a:pt x="653" y="228"/>
                  </a:lnTo>
                  <a:lnTo>
                    <a:pt x="672" y="245"/>
                  </a:lnTo>
                  <a:lnTo>
                    <a:pt x="691" y="244"/>
                  </a:lnTo>
                  <a:lnTo>
                    <a:pt x="726" y="212"/>
                  </a:lnTo>
                  <a:lnTo>
                    <a:pt x="763" y="187"/>
                  </a:lnTo>
                  <a:lnTo>
                    <a:pt x="781" y="179"/>
                  </a:lnTo>
                  <a:lnTo>
                    <a:pt x="810" y="167"/>
                  </a:lnTo>
                  <a:lnTo>
                    <a:pt x="782" y="149"/>
                  </a:lnTo>
                  <a:lnTo>
                    <a:pt x="720" y="179"/>
                  </a:lnTo>
                  <a:lnTo>
                    <a:pt x="680" y="213"/>
                  </a:lnTo>
                  <a:lnTo>
                    <a:pt x="661" y="199"/>
                  </a:lnTo>
                  <a:lnTo>
                    <a:pt x="637" y="165"/>
                  </a:lnTo>
                  <a:lnTo>
                    <a:pt x="620" y="120"/>
                  </a:lnTo>
                  <a:lnTo>
                    <a:pt x="598" y="103"/>
                  </a:lnTo>
                  <a:lnTo>
                    <a:pt x="574" y="88"/>
                  </a:lnTo>
                  <a:lnTo>
                    <a:pt x="547" y="91"/>
                  </a:lnTo>
                  <a:lnTo>
                    <a:pt x="527" y="111"/>
                  </a:lnTo>
                  <a:lnTo>
                    <a:pt x="499" y="149"/>
                  </a:lnTo>
                  <a:lnTo>
                    <a:pt x="486" y="163"/>
                  </a:lnTo>
                  <a:lnTo>
                    <a:pt x="472" y="163"/>
                  </a:lnTo>
                  <a:lnTo>
                    <a:pt x="444" y="131"/>
                  </a:lnTo>
                  <a:lnTo>
                    <a:pt x="415" y="80"/>
                  </a:lnTo>
                  <a:lnTo>
                    <a:pt x="400" y="55"/>
                  </a:lnTo>
                  <a:lnTo>
                    <a:pt x="384" y="47"/>
                  </a:lnTo>
                  <a:lnTo>
                    <a:pt x="362" y="44"/>
                  </a:lnTo>
                  <a:lnTo>
                    <a:pt x="341" y="60"/>
                  </a:lnTo>
                  <a:lnTo>
                    <a:pt x="313" y="91"/>
                  </a:lnTo>
                  <a:lnTo>
                    <a:pt x="283" y="115"/>
                  </a:lnTo>
                  <a:lnTo>
                    <a:pt x="270" y="123"/>
                  </a:lnTo>
                  <a:lnTo>
                    <a:pt x="244" y="67"/>
                  </a:lnTo>
                  <a:lnTo>
                    <a:pt x="220" y="20"/>
                  </a:lnTo>
                  <a:lnTo>
                    <a:pt x="201" y="0"/>
                  </a:lnTo>
                  <a:lnTo>
                    <a:pt x="177" y="3"/>
                  </a:lnTo>
                  <a:lnTo>
                    <a:pt x="145" y="23"/>
                  </a:lnTo>
                  <a:lnTo>
                    <a:pt x="109" y="56"/>
                  </a:lnTo>
                  <a:lnTo>
                    <a:pt x="73" y="83"/>
                  </a:lnTo>
                  <a:lnTo>
                    <a:pt x="50" y="91"/>
                  </a:lnTo>
                  <a:lnTo>
                    <a:pt x="14" y="96"/>
                  </a:lnTo>
                  <a:lnTo>
                    <a:pt x="0" y="100"/>
                  </a:lnTo>
                  <a:lnTo>
                    <a:pt x="8" y="1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60" name="Freeform 30"/>
            <p:cNvSpPr>
              <a:spLocks/>
            </p:cNvSpPr>
            <p:nvPr/>
          </p:nvSpPr>
          <p:spPr bwMode="auto">
            <a:xfrm>
              <a:off x="4228" y="2154"/>
              <a:ext cx="634" cy="223"/>
            </a:xfrm>
            <a:custGeom>
              <a:avLst/>
              <a:gdLst>
                <a:gd name="T0" fmla="*/ 42 w 816"/>
                <a:gd name="T1" fmla="*/ 92 h 287"/>
                <a:gd name="T2" fmla="*/ 88 w 816"/>
                <a:gd name="T3" fmla="*/ 74 h 287"/>
                <a:gd name="T4" fmla="*/ 121 w 816"/>
                <a:gd name="T5" fmla="*/ 56 h 287"/>
                <a:gd name="T6" fmla="*/ 112 w 816"/>
                <a:gd name="T7" fmla="*/ 19 h 287"/>
                <a:gd name="T8" fmla="*/ 131 w 816"/>
                <a:gd name="T9" fmla="*/ 22 h 287"/>
                <a:gd name="T10" fmla="*/ 157 w 816"/>
                <a:gd name="T11" fmla="*/ 84 h 287"/>
                <a:gd name="T12" fmla="*/ 185 w 816"/>
                <a:gd name="T13" fmla="*/ 139 h 287"/>
                <a:gd name="T14" fmla="*/ 210 w 816"/>
                <a:gd name="T15" fmla="*/ 155 h 287"/>
                <a:gd name="T16" fmla="*/ 231 w 816"/>
                <a:gd name="T17" fmla="*/ 139 h 287"/>
                <a:gd name="T18" fmla="*/ 214 w 816"/>
                <a:gd name="T19" fmla="*/ 99 h 287"/>
                <a:gd name="T20" fmla="*/ 240 w 816"/>
                <a:gd name="T21" fmla="*/ 115 h 287"/>
                <a:gd name="T22" fmla="*/ 263 w 816"/>
                <a:gd name="T23" fmla="*/ 47 h 287"/>
                <a:gd name="T24" fmla="*/ 288 w 816"/>
                <a:gd name="T25" fmla="*/ 40 h 287"/>
                <a:gd name="T26" fmla="*/ 298 w 816"/>
                <a:gd name="T27" fmla="*/ 84 h 287"/>
                <a:gd name="T28" fmla="*/ 329 w 816"/>
                <a:gd name="T29" fmla="*/ 136 h 287"/>
                <a:gd name="T30" fmla="*/ 356 w 816"/>
                <a:gd name="T31" fmla="*/ 177 h 287"/>
                <a:gd name="T32" fmla="*/ 393 w 816"/>
                <a:gd name="T33" fmla="*/ 170 h 287"/>
                <a:gd name="T34" fmla="*/ 390 w 816"/>
                <a:gd name="T35" fmla="*/ 137 h 287"/>
                <a:gd name="T36" fmla="*/ 396 w 816"/>
                <a:gd name="T37" fmla="*/ 112 h 287"/>
                <a:gd name="T38" fmla="*/ 433 w 816"/>
                <a:gd name="T39" fmla="*/ 106 h 287"/>
                <a:gd name="T40" fmla="*/ 439 w 816"/>
                <a:gd name="T41" fmla="*/ 58 h 287"/>
                <a:gd name="T42" fmla="*/ 441 w 816"/>
                <a:gd name="T43" fmla="*/ 74 h 287"/>
                <a:gd name="T44" fmla="*/ 457 w 816"/>
                <a:gd name="T45" fmla="*/ 127 h 287"/>
                <a:gd name="T46" fmla="*/ 496 w 816"/>
                <a:gd name="T47" fmla="*/ 179 h 287"/>
                <a:gd name="T48" fmla="*/ 530 w 816"/>
                <a:gd name="T49" fmla="*/ 202 h 287"/>
                <a:gd name="T50" fmla="*/ 545 w 816"/>
                <a:gd name="T51" fmla="*/ 186 h 287"/>
                <a:gd name="T52" fmla="*/ 552 w 816"/>
                <a:gd name="T53" fmla="*/ 152 h 287"/>
                <a:gd name="T54" fmla="*/ 584 w 816"/>
                <a:gd name="T55" fmla="*/ 146 h 287"/>
                <a:gd name="T56" fmla="*/ 634 w 816"/>
                <a:gd name="T57" fmla="*/ 121 h 287"/>
                <a:gd name="T58" fmla="*/ 588 w 816"/>
                <a:gd name="T59" fmla="*/ 161 h 287"/>
                <a:gd name="T60" fmla="*/ 559 w 816"/>
                <a:gd name="T61" fmla="*/ 195 h 287"/>
                <a:gd name="T62" fmla="*/ 518 w 816"/>
                <a:gd name="T63" fmla="*/ 223 h 287"/>
                <a:gd name="T64" fmla="*/ 462 w 816"/>
                <a:gd name="T65" fmla="*/ 161 h 287"/>
                <a:gd name="T66" fmla="*/ 434 w 816"/>
                <a:gd name="T67" fmla="*/ 133 h 287"/>
                <a:gd name="T68" fmla="*/ 405 w 816"/>
                <a:gd name="T69" fmla="*/ 170 h 287"/>
                <a:gd name="T70" fmla="*/ 355 w 816"/>
                <a:gd name="T71" fmla="*/ 196 h 287"/>
                <a:gd name="T72" fmla="*/ 319 w 816"/>
                <a:gd name="T73" fmla="*/ 146 h 287"/>
                <a:gd name="T74" fmla="*/ 283 w 816"/>
                <a:gd name="T75" fmla="*/ 90 h 287"/>
                <a:gd name="T76" fmla="*/ 246 w 816"/>
                <a:gd name="T77" fmla="*/ 137 h 287"/>
                <a:gd name="T78" fmla="*/ 231 w 816"/>
                <a:gd name="T79" fmla="*/ 165 h 287"/>
                <a:gd name="T80" fmla="*/ 184 w 816"/>
                <a:gd name="T81" fmla="*/ 159 h 287"/>
                <a:gd name="T82" fmla="*/ 152 w 816"/>
                <a:gd name="T83" fmla="*/ 106 h 287"/>
                <a:gd name="T84" fmla="*/ 124 w 816"/>
                <a:gd name="T85" fmla="*/ 68 h 287"/>
                <a:gd name="T86" fmla="*/ 57 w 816"/>
                <a:gd name="T87" fmla="*/ 106 h 287"/>
                <a:gd name="T88" fmla="*/ 0 w 816"/>
                <a:gd name="T89" fmla="*/ 109 h 2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816" h="287">
                  <a:moveTo>
                    <a:pt x="17" y="116"/>
                  </a:moveTo>
                  <a:lnTo>
                    <a:pt x="54" y="119"/>
                  </a:lnTo>
                  <a:lnTo>
                    <a:pt x="81" y="107"/>
                  </a:lnTo>
                  <a:lnTo>
                    <a:pt x="113" y="95"/>
                  </a:lnTo>
                  <a:lnTo>
                    <a:pt x="132" y="79"/>
                  </a:lnTo>
                  <a:lnTo>
                    <a:pt x="156" y="72"/>
                  </a:lnTo>
                  <a:lnTo>
                    <a:pt x="162" y="67"/>
                  </a:lnTo>
                  <a:lnTo>
                    <a:pt x="144" y="24"/>
                  </a:lnTo>
                  <a:lnTo>
                    <a:pt x="174" y="0"/>
                  </a:lnTo>
                  <a:lnTo>
                    <a:pt x="168" y="28"/>
                  </a:lnTo>
                  <a:lnTo>
                    <a:pt x="179" y="55"/>
                  </a:lnTo>
                  <a:lnTo>
                    <a:pt x="202" y="108"/>
                  </a:lnTo>
                  <a:lnTo>
                    <a:pt x="221" y="144"/>
                  </a:lnTo>
                  <a:lnTo>
                    <a:pt x="238" y="179"/>
                  </a:lnTo>
                  <a:lnTo>
                    <a:pt x="257" y="192"/>
                  </a:lnTo>
                  <a:lnTo>
                    <a:pt x="270" y="200"/>
                  </a:lnTo>
                  <a:lnTo>
                    <a:pt x="288" y="199"/>
                  </a:lnTo>
                  <a:lnTo>
                    <a:pt x="297" y="179"/>
                  </a:lnTo>
                  <a:lnTo>
                    <a:pt x="296" y="164"/>
                  </a:lnTo>
                  <a:lnTo>
                    <a:pt x="276" y="127"/>
                  </a:lnTo>
                  <a:lnTo>
                    <a:pt x="297" y="111"/>
                  </a:lnTo>
                  <a:lnTo>
                    <a:pt x="309" y="148"/>
                  </a:lnTo>
                  <a:lnTo>
                    <a:pt x="360" y="92"/>
                  </a:lnTo>
                  <a:lnTo>
                    <a:pt x="339" y="60"/>
                  </a:lnTo>
                  <a:lnTo>
                    <a:pt x="372" y="28"/>
                  </a:lnTo>
                  <a:lnTo>
                    <a:pt x="371" y="52"/>
                  </a:lnTo>
                  <a:lnTo>
                    <a:pt x="372" y="79"/>
                  </a:lnTo>
                  <a:lnTo>
                    <a:pt x="384" y="108"/>
                  </a:lnTo>
                  <a:lnTo>
                    <a:pt x="399" y="143"/>
                  </a:lnTo>
                  <a:lnTo>
                    <a:pt x="423" y="175"/>
                  </a:lnTo>
                  <a:lnTo>
                    <a:pt x="443" y="203"/>
                  </a:lnTo>
                  <a:lnTo>
                    <a:pt x="458" y="228"/>
                  </a:lnTo>
                  <a:lnTo>
                    <a:pt x="478" y="227"/>
                  </a:lnTo>
                  <a:lnTo>
                    <a:pt x="506" y="219"/>
                  </a:lnTo>
                  <a:lnTo>
                    <a:pt x="508" y="199"/>
                  </a:lnTo>
                  <a:lnTo>
                    <a:pt x="502" y="176"/>
                  </a:lnTo>
                  <a:lnTo>
                    <a:pt x="481" y="147"/>
                  </a:lnTo>
                  <a:lnTo>
                    <a:pt x="510" y="144"/>
                  </a:lnTo>
                  <a:lnTo>
                    <a:pt x="525" y="172"/>
                  </a:lnTo>
                  <a:lnTo>
                    <a:pt x="557" y="136"/>
                  </a:lnTo>
                  <a:lnTo>
                    <a:pt x="545" y="103"/>
                  </a:lnTo>
                  <a:lnTo>
                    <a:pt x="565" y="75"/>
                  </a:lnTo>
                  <a:lnTo>
                    <a:pt x="571" y="64"/>
                  </a:lnTo>
                  <a:lnTo>
                    <a:pt x="568" y="95"/>
                  </a:lnTo>
                  <a:lnTo>
                    <a:pt x="575" y="124"/>
                  </a:lnTo>
                  <a:lnTo>
                    <a:pt x="588" y="164"/>
                  </a:lnTo>
                  <a:lnTo>
                    <a:pt x="612" y="199"/>
                  </a:lnTo>
                  <a:lnTo>
                    <a:pt x="638" y="231"/>
                  </a:lnTo>
                  <a:lnTo>
                    <a:pt x="667" y="255"/>
                  </a:lnTo>
                  <a:lnTo>
                    <a:pt x="682" y="260"/>
                  </a:lnTo>
                  <a:lnTo>
                    <a:pt x="698" y="248"/>
                  </a:lnTo>
                  <a:lnTo>
                    <a:pt x="702" y="239"/>
                  </a:lnTo>
                  <a:lnTo>
                    <a:pt x="686" y="200"/>
                  </a:lnTo>
                  <a:lnTo>
                    <a:pt x="710" y="195"/>
                  </a:lnTo>
                  <a:lnTo>
                    <a:pt x="716" y="227"/>
                  </a:lnTo>
                  <a:lnTo>
                    <a:pt x="752" y="188"/>
                  </a:lnTo>
                  <a:lnTo>
                    <a:pt x="795" y="163"/>
                  </a:lnTo>
                  <a:lnTo>
                    <a:pt x="816" y="156"/>
                  </a:lnTo>
                  <a:lnTo>
                    <a:pt x="803" y="180"/>
                  </a:lnTo>
                  <a:lnTo>
                    <a:pt x="757" y="207"/>
                  </a:lnTo>
                  <a:lnTo>
                    <a:pt x="730" y="235"/>
                  </a:lnTo>
                  <a:lnTo>
                    <a:pt x="720" y="251"/>
                  </a:lnTo>
                  <a:lnTo>
                    <a:pt x="698" y="275"/>
                  </a:lnTo>
                  <a:lnTo>
                    <a:pt x="667" y="287"/>
                  </a:lnTo>
                  <a:lnTo>
                    <a:pt x="627" y="252"/>
                  </a:lnTo>
                  <a:lnTo>
                    <a:pt x="595" y="207"/>
                  </a:lnTo>
                  <a:lnTo>
                    <a:pt x="567" y="171"/>
                  </a:lnTo>
                  <a:lnTo>
                    <a:pt x="559" y="171"/>
                  </a:lnTo>
                  <a:lnTo>
                    <a:pt x="529" y="199"/>
                  </a:lnTo>
                  <a:lnTo>
                    <a:pt x="521" y="219"/>
                  </a:lnTo>
                  <a:lnTo>
                    <a:pt x="498" y="243"/>
                  </a:lnTo>
                  <a:lnTo>
                    <a:pt x="457" y="252"/>
                  </a:lnTo>
                  <a:lnTo>
                    <a:pt x="434" y="235"/>
                  </a:lnTo>
                  <a:lnTo>
                    <a:pt x="411" y="188"/>
                  </a:lnTo>
                  <a:lnTo>
                    <a:pt x="386" y="156"/>
                  </a:lnTo>
                  <a:lnTo>
                    <a:pt x="364" y="116"/>
                  </a:lnTo>
                  <a:lnTo>
                    <a:pt x="324" y="164"/>
                  </a:lnTo>
                  <a:lnTo>
                    <a:pt x="317" y="176"/>
                  </a:lnTo>
                  <a:lnTo>
                    <a:pt x="316" y="196"/>
                  </a:lnTo>
                  <a:lnTo>
                    <a:pt x="297" y="212"/>
                  </a:lnTo>
                  <a:lnTo>
                    <a:pt x="266" y="220"/>
                  </a:lnTo>
                  <a:lnTo>
                    <a:pt x="237" y="204"/>
                  </a:lnTo>
                  <a:lnTo>
                    <a:pt x="210" y="171"/>
                  </a:lnTo>
                  <a:lnTo>
                    <a:pt x="195" y="136"/>
                  </a:lnTo>
                  <a:lnTo>
                    <a:pt x="174" y="100"/>
                  </a:lnTo>
                  <a:lnTo>
                    <a:pt x="160" y="87"/>
                  </a:lnTo>
                  <a:lnTo>
                    <a:pt x="109" y="115"/>
                  </a:lnTo>
                  <a:lnTo>
                    <a:pt x="73" y="136"/>
                  </a:lnTo>
                  <a:lnTo>
                    <a:pt x="34" y="143"/>
                  </a:lnTo>
                  <a:lnTo>
                    <a:pt x="0" y="140"/>
                  </a:lnTo>
                  <a:lnTo>
                    <a:pt x="17"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52255" name="Group 31"/>
          <p:cNvGrpSpPr>
            <a:grpSpLocks/>
          </p:cNvGrpSpPr>
          <p:nvPr/>
        </p:nvGrpSpPr>
        <p:grpSpPr bwMode="auto">
          <a:xfrm>
            <a:off x="8997950" y="2995614"/>
            <a:ext cx="1517650" cy="1627187"/>
            <a:chOff x="-48" y="96"/>
            <a:chExt cx="1629" cy="1690"/>
          </a:xfrm>
        </p:grpSpPr>
        <p:grpSp>
          <p:nvGrpSpPr>
            <p:cNvPr id="7176" name="Group 32"/>
            <p:cNvGrpSpPr>
              <a:grpSpLocks/>
            </p:cNvGrpSpPr>
            <p:nvPr/>
          </p:nvGrpSpPr>
          <p:grpSpPr bwMode="auto">
            <a:xfrm>
              <a:off x="576" y="96"/>
              <a:ext cx="1005" cy="1402"/>
              <a:chOff x="3" y="0"/>
              <a:chExt cx="1348" cy="1978"/>
            </a:xfrm>
          </p:grpSpPr>
          <p:sp>
            <p:nvSpPr>
              <p:cNvPr id="7216" name="Freeform 33"/>
              <p:cNvSpPr>
                <a:spLocks/>
              </p:cNvSpPr>
              <p:nvPr/>
            </p:nvSpPr>
            <p:spPr bwMode="auto">
              <a:xfrm>
                <a:off x="20" y="8"/>
                <a:ext cx="1295" cy="1970"/>
              </a:xfrm>
              <a:custGeom>
                <a:avLst/>
                <a:gdLst>
                  <a:gd name="T0" fmla="*/ 65 w 1295"/>
                  <a:gd name="T1" fmla="*/ 88 h 1970"/>
                  <a:gd name="T2" fmla="*/ 351 w 1295"/>
                  <a:gd name="T3" fmla="*/ 42 h 1970"/>
                  <a:gd name="T4" fmla="*/ 691 w 1295"/>
                  <a:gd name="T5" fmla="*/ 0 h 1970"/>
                  <a:gd name="T6" fmla="*/ 1054 w 1295"/>
                  <a:gd name="T7" fmla="*/ 88 h 1970"/>
                  <a:gd name="T8" fmla="*/ 1268 w 1295"/>
                  <a:gd name="T9" fmla="*/ 164 h 1970"/>
                  <a:gd name="T10" fmla="*/ 1295 w 1295"/>
                  <a:gd name="T11" fmla="*/ 194 h 1970"/>
                  <a:gd name="T12" fmla="*/ 1131 w 1295"/>
                  <a:gd name="T13" fmla="*/ 232 h 1970"/>
                  <a:gd name="T14" fmla="*/ 810 w 1295"/>
                  <a:gd name="T15" fmla="*/ 332 h 1970"/>
                  <a:gd name="T16" fmla="*/ 493 w 1295"/>
                  <a:gd name="T17" fmla="*/ 438 h 1970"/>
                  <a:gd name="T18" fmla="*/ 462 w 1295"/>
                  <a:gd name="T19" fmla="*/ 709 h 1970"/>
                  <a:gd name="T20" fmla="*/ 458 w 1295"/>
                  <a:gd name="T21" fmla="*/ 1071 h 1970"/>
                  <a:gd name="T22" fmla="*/ 443 w 1295"/>
                  <a:gd name="T23" fmla="*/ 1638 h 1970"/>
                  <a:gd name="T24" fmla="*/ 439 w 1295"/>
                  <a:gd name="T25" fmla="*/ 1970 h 1970"/>
                  <a:gd name="T26" fmla="*/ 340 w 1295"/>
                  <a:gd name="T27" fmla="*/ 1894 h 1970"/>
                  <a:gd name="T28" fmla="*/ 241 w 1295"/>
                  <a:gd name="T29" fmla="*/ 1753 h 1970"/>
                  <a:gd name="T30" fmla="*/ 153 w 1295"/>
                  <a:gd name="T31" fmla="*/ 1661 h 1970"/>
                  <a:gd name="T32" fmla="*/ 0 w 1295"/>
                  <a:gd name="T33" fmla="*/ 1494 h 1970"/>
                  <a:gd name="T34" fmla="*/ 8 w 1295"/>
                  <a:gd name="T35" fmla="*/ 1174 h 1970"/>
                  <a:gd name="T36" fmla="*/ 23 w 1295"/>
                  <a:gd name="T37" fmla="*/ 918 h 1970"/>
                  <a:gd name="T38" fmla="*/ 19 w 1295"/>
                  <a:gd name="T39" fmla="*/ 690 h 1970"/>
                  <a:gd name="T40" fmla="*/ 27 w 1295"/>
                  <a:gd name="T41" fmla="*/ 465 h 1970"/>
                  <a:gd name="T42" fmla="*/ 34 w 1295"/>
                  <a:gd name="T43" fmla="*/ 225 h 1970"/>
                  <a:gd name="T44" fmla="*/ 65 w 1295"/>
                  <a:gd name="T45" fmla="*/ 88 h 197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95" h="1970">
                    <a:moveTo>
                      <a:pt x="65" y="88"/>
                    </a:moveTo>
                    <a:lnTo>
                      <a:pt x="351" y="42"/>
                    </a:lnTo>
                    <a:lnTo>
                      <a:pt x="691" y="0"/>
                    </a:lnTo>
                    <a:lnTo>
                      <a:pt x="1054" y="88"/>
                    </a:lnTo>
                    <a:lnTo>
                      <a:pt x="1268" y="164"/>
                    </a:lnTo>
                    <a:lnTo>
                      <a:pt x="1295" y="194"/>
                    </a:lnTo>
                    <a:lnTo>
                      <a:pt x="1131" y="232"/>
                    </a:lnTo>
                    <a:lnTo>
                      <a:pt x="810" y="332"/>
                    </a:lnTo>
                    <a:lnTo>
                      <a:pt x="493" y="438"/>
                    </a:lnTo>
                    <a:lnTo>
                      <a:pt x="462" y="709"/>
                    </a:lnTo>
                    <a:lnTo>
                      <a:pt x="458" y="1071"/>
                    </a:lnTo>
                    <a:lnTo>
                      <a:pt x="443" y="1638"/>
                    </a:lnTo>
                    <a:lnTo>
                      <a:pt x="439" y="1970"/>
                    </a:lnTo>
                    <a:lnTo>
                      <a:pt x="340" y="1894"/>
                    </a:lnTo>
                    <a:lnTo>
                      <a:pt x="241" y="1753"/>
                    </a:lnTo>
                    <a:lnTo>
                      <a:pt x="153" y="1661"/>
                    </a:lnTo>
                    <a:lnTo>
                      <a:pt x="0" y="1494"/>
                    </a:lnTo>
                    <a:lnTo>
                      <a:pt x="8" y="1174"/>
                    </a:lnTo>
                    <a:lnTo>
                      <a:pt x="23" y="918"/>
                    </a:lnTo>
                    <a:lnTo>
                      <a:pt x="19" y="690"/>
                    </a:lnTo>
                    <a:lnTo>
                      <a:pt x="27" y="465"/>
                    </a:lnTo>
                    <a:lnTo>
                      <a:pt x="34" y="225"/>
                    </a:lnTo>
                    <a:lnTo>
                      <a:pt x="65" y="88"/>
                    </a:ln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7" name="Freeform 34"/>
              <p:cNvSpPr>
                <a:spLocks/>
              </p:cNvSpPr>
              <p:nvPr/>
            </p:nvSpPr>
            <p:spPr bwMode="auto">
              <a:xfrm>
                <a:off x="453" y="197"/>
                <a:ext cx="885" cy="1777"/>
              </a:xfrm>
              <a:custGeom>
                <a:avLst/>
                <a:gdLst>
                  <a:gd name="T0" fmla="*/ 61 w 885"/>
                  <a:gd name="T1" fmla="*/ 233 h 1777"/>
                  <a:gd name="T2" fmla="*/ 314 w 885"/>
                  <a:gd name="T3" fmla="*/ 172 h 1777"/>
                  <a:gd name="T4" fmla="*/ 636 w 885"/>
                  <a:gd name="T5" fmla="*/ 65 h 1777"/>
                  <a:gd name="T6" fmla="*/ 885 w 885"/>
                  <a:gd name="T7" fmla="*/ 0 h 1777"/>
                  <a:gd name="T8" fmla="*/ 881 w 885"/>
                  <a:gd name="T9" fmla="*/ 141 h 1777"/>
                  <a:gd name="T10" fmla="*/ 881 w 885"/>
                  <a:gd name="T11" fmla="*/ 309 h 1777"/>
                  <a:gd name="T12" fmla="*/ 874 w 885"/>
                  <a:gd name="T13" fmla="*/ 496 h 1777"/>
                  <a:gd name="T14" fmla="*/ 854 w 885"/>
                  <a:gd name="T15" fmla="*/ 778 h 1777"/>
                  <a:gd name="T16" fmla="*/ 858 w 885"/>
                  <a:gd name="T17" fmla="*/ 991 h 1777"/>
                  <a:gd name="T18" fmla="*/ 858 w 885"/>
                  <a:gd name="T19" fmla="*/ 1258 h 1777"/>
                  <a:gd name="T20" fmla="*/ 851 w 885"/>
                  <a:gd name="T21" fmla="*/ 1422 h 1777"/>
                  <a:gd name="T22" fmla="*/ 820 w 885"/>
                  <a:gd name="T23" fmla="*/ 1476 h 1777"/>
                  <a:gd name="T24" fmla="*/ 605 w 885"/>
                  <a:gd name="T25" fmla="*/ 1556 h 1777"/>
                  <a:gd name="T26" fmla="*/ 234 w 885"/>
                  <a:gd name="T27" fmla="*/ 1697 h 1777"/>
                  <a:gd name="T28" fmla="*/ 0 w 885"/>
                  <a:gd name="T29" fmla="*/ 1777 h 1777"/>
                  <a:gd name="T30" fmla="*/ 8 w 885"/>
                  <a:gd name="T31" fmla="*/ 1663 h 1777"/>
                  <a:gd name="T32" fmla="*/ 15 w 885"/>
                  <a:gd name="T33" fmla="*/ 1236 h 1777"/>
                  <a:gd name="T34" fmla="*/ 19 w 885"/>
                  <a:gd name="T35" fmla="*/ 847 h 1777"/>
                  <a:gd name="T36" fmla="*/ 27 w 885"/>
                  <a:gd name="T37" fmla="*/ 591 h 1777"/>
                  <a:gd name="T38" fmla="*/ 38 w 885"/>
                  <a:gd name="T39" fmla="*/ 351 h 1777"/>
                  <a:gd name="T40" fmla="*/ 61 w 885"/>
                  <a:gd name="T41" fmla="*/ 233 h 177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85" h="1777">
                    <a:moveTo>
                      <a:pt x="61" y="233"/>
                    </a:moveTo>
                    <a:lnTo>
                      <a:pt x="314" y="172"/>
                    </a:lnTo>
                    <a:lnTo>
                      <a:pt x="636" y="65"/>
                    </a:lnTo>
                    <a:lnTo>
                      <a:pt x="885" y="0"/>
                    </a:lnTo>
                    <a:lnTo>
                      <a:pt x="881" y="141"/>
                    </a:lnTo>
                    <a:lnTo>
                      <a:pt x="881" y="309"/>
                    </a:lnTo>
                    <a:lnTo>
                      <a:pt x="874" y="496"/>
                    </a:lnTo>
                    <a:lnTo>
                      <a:pt x="854" y="778"/>
                    </a:lnTo>
                    <a:lnTo>
                      <a:pt x="858" y="991"/>
                    </a:lnTo>
                    <a:lnTo>
                      <a:pt x="858" y="1258"/>
                    </a:lnTo>
                    <a:lnTo>
                      <a:pt x="851" y="1422"/>
                    </a:lnTo>
                    <a:lnTo>
                      <a:pt x="820" y="1476"/>
                    </a:lnTo>
                    <a:lnTo>
                      <a:pt x="605" y="1556"/>
                    </a:lnTo>
                    <a:lnTo>
                      <a:pt x="234" y="1697"/>
                    </a:lnTo>
                    <a:lnTo>
                      <a:pt x="0" y="1777"/>
                    </a:lnTo>
                    <a:lnTo>
                      <a:pt x="8" y="1663"/>
                    </a:lnTo>
                    <a:lnTo>
                      <a:pt x="15" y="1236"/>
                    </a:lnTo>
                    <a:lnTo>
                      <a:pt x="19" y="847"/>
                    </a:lnTo>
                    <a:lnTo>
                      <a:pt x="27" y="591"/>
                    </a:lnTo>
                    <a:lnTo>
                      <a:pt x="38" y="351"/>
                    </a:lnTo>
                    <a:lnTo>
                      <a:pt x="61" y="233"/>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7218" name="Group 35"/>
              <p:cNvGrpSpPr>
                <a:grpSpLocks/>
              </p:cNvGrpSpPr>
              <p:nvPr/>
            </p:nvGrpSpPr>
            <p:grpSpPr bwMode="auto">
              <a:xfrm>
                <a:off x="3" y="0"/>
                <a:ext cx="1348" cy="1976"/>
                <a:chOff x="3" y="0"/>
                <a:chExt cx="1348" cy="1976"/>
              </a:xfrm>
            </p:grpSpPr>
            <p:sp>
              <p:nvSpPr>
                <p:cNvPr id="7219" name="Oval 36"/>
                <p:cNvSpPr>
                  <a:spLocks noChangeArrowheads="1"/>
                </p:cNvSpPr>
                <p:nvPr/>
              </p:nvSpPr>
              <p:spPr bwMode="auto">
                <a:xfrm>
                  <a:off x="1163" y="311"/>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7220" name="Oval 37"/>
                <p:cNvSpPr>
                  <a:spLocks noChangeArrowheads="1"/>
                </p:cNvSpPr>
                <p:nvPr/>
              </p:nvSpPr>
              <p:spPr bwMode="auto">
                <a:xfrm>
                  <a:off x="1163" y="410"/>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7221" name="Oval 38"/>
                <p:cNvSpPr>
                  <a:spLocks noChangeArrowheads="1"/>
                </p:cNvSpPr>
                <p:nvPr/>
              </p:nvSpPr>
              <p:spPr bwMode="auto">
                <a:xfrm>
                  <a:off x="1163" y="512"/>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7222" name="Oval 39"/>
                <p:cNvSpPr>
                  <a:spLocks noChangeArrowheads="1"/>
                </p:cNvSpPr>
                <p:nvPr/>
              </p:nvSpPr>
              <p:spPr bwMode="auto">
                <a:xfrm>
                  <a:off x="1163" y="607"/>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7223" name="Oval 40"/>
                <p:cNvSpPr>
                  <a:spLocks noChangeArrowheads="1"/>
                </p:cNvSpPr>
                <p:nvPr/>
              </p:nvSpPr>
              <p:spPr bwMode="auto">
                <a:xfrm>
                  <a:off x="1163" y="698"/>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7224" name="Freeform 41"/>
                <p:cNvSpPr>
                  <a:spLocks/>
                </p:cNvSpPr>
                <p:nvPr/>
              </p:nvSpPr>
              <p:spPr bwMode="auto">
                <a:xfrm>
                  <a:off x="635" y="376"/>
                  <a:ext cx="468" cy="353"/>
                </a:xfrm>
                <a:custGeom>
                  <a:avLst/>
                  <a:gdLst>
                    <a:gd name="T0" fmla="*/ 116 w 468"/>
                    <a:gd name="T1" fmla="*/ 122 h 353"/>
                    <a:gd name="T2" fmla="*/ 282 w 468"/>
                    <a:gd name="T3" fmla="*/ 70 h 353"/>
                    <a:gd name="T4" fmla="*/ 387 w 468"/>
                    <a:gd name="T5" fmla="*/ 29 h 353"/>
                    <a:gd name="T6" fmla="*/ 439 w 468"/>
                    <a:gd name="T7" fmla="*/ 0 h 353"/>
                    <a:gd name="T8" fmla="*/ 462 w 468"/>
                    <a:gd name="T9" fmla="*/ 0 h 353"/>
                    <a:gd name="T10" fmla="*/ 468 w 468"/>
                    <a:gd name="T11" fmla="*/ 33 h 353"/>
                    <a:gd name="T12" fmla="*/ 460 w 468"/>
                    <a:gd name="T13" fmla="*/ 120 h 353"/>
                    <a:gd name="T14" fmla="*/ 454 w 468"/>
                    <a:gd name="T15" fmla="*/ 209 h 353"/>
                    <a:gd name="T16" fmla="*/ 445 w 468"/>
                    <a:gd name="T17" fmla="*/ 239 h 353"/>
                    <a:gd name="T18" fmla="*/ 387 w 468"/>
                    <a:gd name="T19" fmla="*/ 254 h 353"/>
                    <a:gd name="T20" fmla="*/ 261 w 468"/>
                    <a:gd name="T21" fmla="*/ 273 h 353"/>
                    <a:gd name="T22" fmla="*/ 149 w 468"/>
                    <a:gd name="T23" fmla="*/ 306 h 353"/>
                    <a:gd name="T24" fmla="*/ 75 w 468"/>
                    <a:gd name="T25" fmla="*/ 330 h 353"/>
                    <a:gd name="T26" fmla="*/ 12 w 468"/>
                    <a:gd name="T27" fmla="*/ 353 h 353"/>
                    <a:gd name="T28" fmla="*/ 0 w 468"/>
                    <a:gd name="T29" fmla="*/ 337 h 353"/>
                    <a:gd name="T30" fmla="*/ 10 w 468"/>
                    <a:gd name="T31" fmla="*/ 277 h 353"/>
                    <a:gd name="T32" fmla="*/ 15 w 468"/>
                    <a:gd name="T33" fmla="*/ 149 h 353"/>
                    <a:gd name="T34" fmla="*/ 15 w 468"/>
                    <a:gd name="T35" fmla="*/ 111 h 353"/>
                    <a:gd name="T36" fmla="*/ 44 w 468"/>
                    <a:gd name="T37" fmla="*/ 114 h 353"/>
                    <a:gd name="T38" fmla="*/ 70 w 468"/>
                    <a:gd name="T39" fmla="*/ 128 h 353"/>
                    <a:gd name="T40" fmla="*/ 56 w 468"/>
                    <a:gd name="T41" fmla="*/ 175 h 353"/>
                    <a:gd name="T42" fmla="*/ 50 w 468"/>
                    <a:gd name="T43" fmla="*/ 244 h 353"/>
                    <a:gd name="T44" fmla="*/ 44 w 468"/>
                    <a:gd name="T45" fmla="*/ 303 h 353"/>
                    <a:gd name="T46" fmla="*/ 68 w 468"/>
                    <a:gd name="T47" fmla="*/ 308 h 353"/>
                    <a:gd name="T48" fmla="*/ 162 w 468"/>
                    <a:gd name="T49" fmla="*/ 277 h 353"/>
                    <a:gd name="T50" fmla="*/ 259 w 468"/>
                    <a:gd name="T51" fmla="*/ 248 h 353"/>
                    <a:gd name="T52" fmla="*/ 340 w 468"/>
                    <a:gd name="T53" fmla="*/ 227 h 353"/>
                    <a:gd name="T54" fmla="*/ 396 w 468"/>
                    <a:gd name="T55" fmla="*/ 213 h 353"/>
                    <a:gd name="T56" fmla="*/ 416 w 468"/>
                    <a:gd name="T57" fmla="*/ 204 h 353"/>
                    <a:gd name="T58" fmla="*/ 437 w 468"/>
                    <a:gd name="T59" fmla="*/ 145 h 353"/>
                    <a:gd name="T60" fmla="*/ 439 w 468"/>
                    <a:gd name="T61" fmla="*/ 80 h 353"/>
                    <a:gd name="T62" fmla="*/ 427 w 468"/>
                    <a:gd name="T63" fmla="*/ 41 h 353"/>
                    <a:gd name="T64" fmla="*/ 381 w 468"/>
                    <a:gd name="T65" fmla="*/ 52 h 353"/>
                    <a:gd name="T66" fmla="*/ 277 w 468"/>
                    <a:gd name="T67" fmla="*/ 97 h 353"/>
                    <a:gd name="T68" fmla="*/ 178 w 468"/>
                    <a:gd name="T69" fmla="*/ 120 h 353"/>
                    <a:gd name="T70" fmla="*/ 116 w 468"/>
                    <a:gd name="T71" fmla="*/ 122 h 35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68" h="353">
                      <a:moveTo>
                        <a:pt x="116" y="122"/>
                      </a:moveTo>
                      <a:lnTo>
                        <a:pt x="282" y="70"/>
                      </a:lnTo>
                      <a:lnTo>
                        <a:pt x="387" y="29"/>
                      </a:lnTo>
                      <a:lnTo>
                        <a:pt x="439" y="0"/>
                      </a:lnTo>
                      <a:lnTo>
                        <a:pt x="462" y="0"/>
                      </a:lnTo>
                      <a:lnTo>
                        <a:pt x="468" y="33"/>
                      </a:lnTo>
                      <a:lnTo>
                        <a:pt x="460" y="120"/>
                      </a:lnTo>
                      <a:lnTo>
                        <a:pt x="454" y="209"/>
                      </a:lnTo>
                      <a:lnTo>
                        <a:pt x="445" y="239"/>
                      </a:lnTo>
                      <a:lnTo>
                        <a:pt x="387" y="254"/>
                      </a:lnTo>
                      <a:lnTo>
                        <a:pt x="261" y="273"/>
                      </a:lnTo>
                      <a:lnTo>
                        <a:pt x="149" y="306"/>
                      </a:lnTo>
                      <a:lnTo>
                        <a:pt x="75" y="330"/>
                      </a:lnTo>
                      <a:lnTo>
                        <a:pt x="12" y="353"/>
                      </a:lnTo>
                      <a:lnTo>
                        <a:pt x="0" y="337"/>
                      </a:lnTo>
                      <a:lnTo>
                        <a:pt x="10" y="277"/>
                      </a:lnTo>
                      <a:lnTo>
                        <a:pt x="15" y="149"/>
                      </a:lnTo>
                      <a:lnTo>
                        <a:pt x="15" y="111"/>
                      </a:lnTo>
                      <a:lnTo>
                        <a:pt x="44" y="114"/>
                      </a:lnTo>
                      <a:lnTo>
                        <a:pt x="70" y="128"/>
                      </a:lnTo>
                      <a:lnTo>
                        <a:pt x="56" y="175"/>
                      </a:lnTo>
                      <a:lnTo>
                        <a:pt x="50" y="244"/>
                      </a:lnTo>
                      <a:lnTo>
                        <a:pt x="44" y="303"/>
                      </a:lnTo>
                      <a:lnTo>
                        <a:pt x="68" y="308"/>
                      </a:lnTo>
                      <a:lnTo>
                        <a:pt x="162" y="277"/>
                      </a:lnTo>
                      <a:lnTo>
                        <a:pt x="259" y="248"/>
                      </a:lnTo>
                      <a:lnTo>
                        <a:pt x="340" y="227"/>
                      </a:lnTo>
                      <a:lnTo>
                        <a:pt x="396" y="213"/>
                      </a:lnTo>
                      <a:lnTo>
                        <a:pt x="416" y="204"/>
                      </a:lnTo>
                      <a:lnTo>
                        <a:pt x="437" y="145"/>
                      </a:lnTo>
                      <a:lnTo>
                        <a:pt x="439" y="80"/>
                      </a:lnTo>
                      <a:lnTo>
                        <a:pt x="427" y="41"/>
                      </a:lnTo>
                      <a:lnTo>
                        <a:pt x="381" y="52"/>
                      </a:lnTo>
                      <a:lnTo>
                        <a:pt x="277" y="97"/>
                      </a:lnTo>
                      <a:lnTo>
                        <a:pt x="178" y="120"/>
                      </a:lnTo>
                      <a:lnTo>
                        <a:pt x="116" y="1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7225" name="Group 42"/>
                <p:cNvGrpSpPr>
                  <a:grpSpLocks/>
                </p:cNvGrpSpPr>
                <p:nvPr/>
              </p:nvGrpSpPr>
              <p:grpSpPr bwMode="auto">
                <a:xfrm>
                  <a:off x="658" y="757"/>
                  <a:ext cx="72" cy="40"/>
                  <a:chOff x="658" y="757"/>
                  <a:chExt cx="72" cy="40"/>
                </a:xfrm>
              </p:grpSpPr>
              <p:sp>
                <p:nvSpPr>
                  <p:cNvPr id="7252" name="Freeform 43"/>
                  <p:cNvSpPr>
                    <a:spLocks/>
                  </p:cNvSpPr>
                  <p:nvPr/>
                </p:nvSpPr>
                <p:spPr bwMode="auto">
                  <a:xfrm>
                    <a:off x="658" y="757"/>
                    <a:ext cx="72" cy="40"/>
                  </a:xfrm>
                  <a:custGeom>
                    <a:avLst/>
                    <a:gdLst>
                      <a:gd name="T0" fmla="*/ 0 w 72"/>
                      <a:gd name="T1" fmla="*/ 4 h 40"/>
                      <a:gd name="T2" fmla="*/ 44 w 72"/>
                      <a:gd name="T3" fmla="*/ 0 h 40"/>
                      <a:gd name="T4" fmla="*/ 55 w 72"/>
                      <a:gd name="T5" fmla="*/ 6 h 40"/>
                      <a:gd name="T6" fmla="*/ 66 w 72"/>
                      <a:gd name="T7" fmla="*/ 11 h 40"/>
                      <a:gd name="T8" fmla="*/ 72 w 72"/>
                      <a:gd name="T9" fmla="*/ 23 h 40"/>
                      <a:gd name="T10" fmla="*/ 63 w 72"/>
                      <a:gd name="T11" fmla="*/ 27 h 40"/>
                      <a:gd name="T12" fmla="*/ 49 w 72"/>
                      <a:gd name="T13" fmla="*/ 34 h 40"/>
                      <a:gd name="T14" fmla="*/ 40 w 72"/>
                      <a:gd name="T15" fmla="*/ 40 h 40"/>
                      <a:gd name="T16" fmla="*/ 28 w 72"/>
                      <a:gd name="T17" fmla="*/ 40 h 40"/>
                      <a:gd name="T18" fmla="*/ 0 w 72"/>
                      <a:gd name="T19" fmla="*/ 4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2" h="40">
                        <a:moveTo>
                          <a:pt x="0" y="4"/>
                        </a:moveTo>
                        <a:lnTo>
                          <a:pt x="44" y="0"/>
                        </a:lnTo>
                        <a:lnTo>
                          <a:pt x="55" y="6"/>
                        </a:lnTo>
                        <a:lnTo>
                          <a:pt x="66" y="11"/>
                        </a:lnTo>
                        <a:lnTo>
                          <a:pt x="72" y="23"/>
                        </a:lnTo>
                        <a:lnTo>
                          <a:pt x="63" y="27"/>
                        </a:lnTo>
                        <a:lnTo>
                          <a:pt x="49" y="34"/>
                        </a:lnTo>
                        <a:lnTo>
                          <a:pt x="40" y="40"/>
                        </a:lnTo>
                        <a:lnTo>
                          <a:pt x="28" y="40"/>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53" name="Freeform 44"/>
                  <p:cNvSpPr>
                    <a:spLocks/>
                  </p:cNvSpPr>
                  <p:nvPr/>
                </p:nvSpPr>
                <p:spPr bwMode="auto">
                  <a:xfrm>
                    <a:off x="658" y="757"/>
                    <a:ext cx="72" cy="40"/>
                  </a:xfrm>
                  <a:custGeom>
                    <a:avLst/>
                    <a:gdLst>
                      <a:gd name="T0" fmla="*/ 0 w 72"/>
                      <a:gd name="T1" fmla="*/ 4 h 40"/>
                      <a:gd name="T2" fmla="*/ 44 w 72"/>
                      <a:gd name="T3" fmla="*/ 0 h 40"/>
                      <a:gd name="T4" fmla="*/ 55 w 72"/>
                      <a:gd name="T5" fmla="*/ 6 h 40"/>
                      <a:gd name="T6" fmla="*/ 66 w 72"/>
                      <a:gd name="T7" fmla="*/ 11 h 40"/>
                      <a:gd name="T8" fmla="*/ 72 w 72"/>
                      <a:gd name="T9" fmla="*/ 23 h 40"/>
                      <a:gd name="T10" fmla="*/ 63 w 72"/>
                      <a:gd name="T11" fmla="*/ 27 h 40"/>
                      <a:gd name="T12" fmla="*/ 49 w 72"/>
                      <a:gd name="T13" fmla="*/ 34 h 40"/>
                      <a:gd name="T14" fmla="*/ 40 w 72"/>
                      <a:gd name="T15" fmla="*/ 40 h 40"/>
                      <a:gd name="T16" fmla="*/ 28 w 72"/>
                      <a:gd name="T17" fmla="*/ 40 h 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40">
                        <a:moveTo>
                          <a:pt x="0" y="4"/>
                        </a:moveTo>
                        <a:lnTo>
                          <a:pt x="44" y="0"/>
                        </a:lnTo>
                        <a:lnTo>
                          <a:pt x="55" y="6"/>
                        </a:lnTo>
                        <a:lnTo>
                          <a:pt x="66" y="11"/>
                        </a:lnTo>
                        <a:lnTo>
                          <a:pt x="72" y="23"/>
                        </a:lnTo>
                        <a:lnTo>
                          <a:pt x="63" y="27"/>
                        </a:lnTo>
                        <a:lnTo>
                          <a:pt x="49" y="34"/>
                        </a:lnTo>
                        <a:lnTo>
                          <a:pt x="40" y="40"/>
                        </a:lnTo>
                        <a:lnTo>
                          <a:pt x="28" y="4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226" name="Freeform 45"/>
                <p:cNvSpPr>
                  <a:spLocks/>
                </p:cNvSpPr>
                <p:nvPr/>
              </p:nvSpPr>
              <p:spPr bwMode="auto">
                <a:xfrm>
                  <a:off x="659" y="750"/>
                  <a:ext cx="90" cy="60"/>
                </a:xfrm>
                <a:custGeom>
                  <a:avLst/>
                  <a:gdLst>
                    <a:gd name="T0" fmla="*/ 90 w 90"/>
                    <a:gd name="T1" fmla="*/ 17 h 60"/>
                    <a:gd name="T2" fmla="*/ 88 w 90"/>
                    <a:gd name="T3" fmla="*/ 13 h 60"/>
                    <a:gd name="T4" fmla="*/ 85 w 90"/>
                    <a:gd name="T5" fmla="*/ 9 h 60"/>
                    <a:gd name="T6" fmla="*/ 80 w 90"/>
                    <a:gd name="T7" fmla="*/ 6 h 60"/>
                    <a:gd name="T8" fmla="*/ 75 w 90"/>
                    <a:gd name="T9" fmla="*/ 5 h 60"/>
                    <a:gd name="T10" fmla="*/ 68 w 90"/>
                    <a:gd name="T11" fmla="*/ 2 h 60"/>
                    <a:gd name="T12" fmla="*/ 61 w 90"/>
                    <a:gd name="T13" fmla="*/ 1 h 60"/>
                    <a:gd name="T14" fmla="*/ 54 w 90"/>
                    <a:gd name="T15" fmla="*/ 0 h 60"/>
                    <a:gd name="T16" fmla="*/ 46 w 90"/>
                    <a:gd name="T17" fmla="*/ 1 h 60"/>
                    <a:gd name="T18" fmla="*/ 38 w 90"/>
                    <a:gd name="T19" fmla="*/ 3 h 60"/>
                    <a:gd name="T20" fmla="*/ 31 w 90"/>
                    <a:gd name="T21" fmla="*/ 6 h 60"/>
                    <a:gd name="T22" fmla="*/ 23 w 90"/>
                    <a:gd name="T23" fmla="*/ 9 h 60"/>
                    <a:gd name="T24" fmla="*/ 18 w 90"/>
                    <a:gd name="T25" fmla="*/ 13 h 60"/>
                    <a:gd name="T26" fmla="*/ 11 w 90"/>
                    <a:gd name="T27" fmla="*/ 18 h 60"/>
                    <a:gd name="T28" fmla="*/ 7 w 90"/>
                    <a:gd name="T29" fmla="*/ 23 h 60"/>
                    <a:gd name="T30" fmla="*/ 3 w 90"/>
                    <a:gd name="T31" fmla="*/ 27 h 60"/>
                    <a:gd name="T32" fmla="*/ 1 w 90"/>
                    <a:gd name="T33" fmla="*/ 32 h 60"/>
                    <a:gd name="T34" fmla="*/ 0 w 90"/>
                    <a:gd name="T35" fmla="*/ 38 h 60"/>
                    <a:gd name="T36" fmla="*/ 0 w 90"/>
                    <a:gd name="T37" fmla="*/ 43 h 60"/>
                    <a:gd name="T38" fmla="*/ 2 w 90"/>
                    <a:gd name="T39" fmla="*/ 47 h 60"/>
                    <a:gd name="T40" fmla="*/ 5 w 90"/>
                    <a:gd name="T41" fmla="*/ 51 h 60"/>
                    <a:gd name="T42" fmla="*/ 10 w 90"/>
                    <a:gd name="T43" fmla="*/ 54 h 60"/>
                    <a:gd name="T44" fmla="*/ 15 w 90"/>
                    <a:gd name="T45" fmla="*/ 55 h 60"/>
                    <a:gd name="T46" fmla="*/ 22 w 90"/>
                    <a:gd name="T47" fmla="*/ 58 h 60"/>
                    <a:gd name="T48" fmla="*/ 29 w 90"/>
                    <a:gd name="T49" fmla="*/ 59 h 60"/>
                    <a:gd name="T50" fmla="*/ 36 w 90"/>
                    <a:gd name="T51" fmla="*/ 60 h 60"/>
                    <a:gd name="T52" fmla="*/ 44 w 90"/>
                    <a:gd name="T53" fmla="*/ 59 h 60"/>
                    <a:gd name="T54" fmla="*/ 52 w 90"/>
                    <a:gd name="T55" fmla="*/ 57 h 60"/>
                    <a:gd name="T56" fmla="*/ 59 w 90"/>
                    <a:gd name="T57" fmla="*/ 54 h 60"/>
                    <a:gd name="T58" fmla="*/ 67 w 90"/>
                    <a:gd name="T59" fmla="*/ 51 h 60"/>
                    <a:gd name="T60" fmla="*/ 72 w 90"/>
                    <a:gd name="T61" fmla="*/ 47 h 60"/>
                    <a:gd name="T62" fmla="*/ 79 w 90"/>
                    <a:gd name="T63" fmla="*/ 42 h 60"/>
                    <a:gd name="T64" fmla="*/ 83 w 90"/>
                    <a:gd name="T65" fmla="*/ 37 h 60"/>
                    <a:gd name="T66" fmla="*/ 87 w 90"/>
                    <a:gd name="T67" fmla="*/ 33 h 60"/>
                    <a:gd name="T68" fmla="*/ 89 w 90"/>
                    <a:gd name="T69" fmla="*/ 28 h 60"/>
                    <a:gd name="T70" fmla="*/ 90 w 90"/>
                    <a:gd name="T71" fmla="*/ 22 h 60"/>
                    <a:gd name="T72" fmla="*/ 90 w 90"/>
                    <a:gd name="T73" fmla="*/ 17 h 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0" h="60">
                      <a:moveTo>
                        <a:pt x="90" y="17"/>
                      </a:moveTo>
                      <a:lnTo>
                        <a:pt x="88" y="13"/>
                      </a:lnTo>
                      <a:lnTo>
                        <a:pt x="85" y="9"/>
                      </a:lnTo>
                      <a:lnTo>
                        <a:pt x="80" y="6"/>
                      </a:lnTo>
                      <a:lnTo>
                        <a:pt x="75" y="5"/>
                      </a:lnTo>
                      <a:lnTo>
                        <a:pt x="68" y="2"/>
                      </a:lnTo>
                      <a:lnTo>
                        <a:pt x="61" y="1"/>
                      </a:lnTo>
                      <a:lnTo>
                        <a:pt x="54" y="0"/>
                      </a:lnTo>
                      <a:lnTo>
                        <a:pt x="46" y="1"/>
                      </a:lnTo>
                      <a:lnTo>
                        <a:pt x="38" y="3"/>
                      </a:lnTo>
                      <a:lnTo>
                        <a:pt x="31" y="6"/>
                      </a:lnTo>
                      <a:lnTo>
                        <a:pt x="23" y="9"/>
                      </a:lnTo>
                      <a:lnTo>
                        <a:pt x="18" y="13"/>
                      </a:lnTo>
                      <a:lnTo>
                        <a:pt x="11" y="18"/>
                      </a:lnTo>
                      <a:lnTo>
                        <a:pt x="7" y="23"/>
                      </a:lnTo>
                      <a:lnTo>
                        <a:pt x="3" y="27"/>
                      </a:lnTo>
                      <a:lnTo>
                        <a:pt x="1" y="32"/>
                      </a:lnTo>
                      <a:lnTo>
                        <a:pt x="0" y="38"/>
                      </a:lnTo>
                      <a:lnTo>
                        <a:pt x="0" y="43"/>
                      </a:lnTo>
                      <a:lnTo>
                        <a:pt x="2" y="47"/>
                      </a:lnTo>
                      <a:lnTo>
                        <a:pt x="5" y="51"/>
                      </a:lnTo>
                      <a:lnTo>
                        <a:pt x="10" y="54"/>
                      </a:lnTo>
                      <a:lnTo>
                        <a:pt x="15" y="55"/>
                      </a:lnTo>
                      <a:lnTo>
                        <a:pt x="22" y="58"/>
                      </a:lnTo>
                      <a:lnTo>
                        <a:pt x="29" y="59"/>
                      </a:lnTo>
                      <a:lnTo>
                        <a:pt x="36" y="60"/>
                      </a:lnTo>
                      <a:lnTo>
                        <a:pt x="44" y="59"/>
                      </a:lnTo>
                      <a:lnTo>
                        <a:pt x="52" y="57"/>
                      </a:lnTo>
                      <a:lnTo>
                        <a:pt x="59" y="54"/>
                      </a:lnTo>
                      <a:lnTo>
                        <a:pt x="67" y="51"/>
                      </a:lnTo>
                      <a:lnTo>
                        <a:pt x="72" y="47"/>
                      </a:lnTo>
                      <a:lnTo>
                        <a:pt x="79" y="42"/>
                      </a:lnTo>
                      <a:lnTo>
                        <a:pt x="83" y="37"/>
                      </a:lnTo>
                      <a:lnTo>
                        <a:pt x="87" y="33"/>
                      </a:lnTo>
                      <a:lnTo>
                        <a:pt x="89" y="28"/>
                      </a:lnTo>
                      <a:lnTo>
                        <a:pt x="90" y="22"/>
                      </a:lnTo>
                      <a:lnTo>
                        <a:pt x="9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27" name="Freeform 46"/>
                <p:cNvSpPr>
                  <a:spLocks/>
                </p:cNvSpPr>
                <p:nvPr/>
              </p:nvSpPr>
              <p:spPr bwMode="auto">
                <a:xfrm>
                  <a:off x="824" y="701"/>
                  <a:ext cx="92" cy="60"/>
                </a:xfrm>
                <a:custGeom>
                  <a:avLst/>
                  <a:gdLst>
                    <a:gd name="T0" fmla="*/ 92 w 92"/>
                    <a:gd name="T1" fmla="*/ 17 h 60"/>
                    <a:gd name="T2" fmla="*/ 90 w 92"/>
                    <a:gd name="T3" fmla="*/ 13 h 60"/>
                    <a:gd name="T4" fmla="*/ 87 w 92"/>
                    <a:gd name="T5" fmla="*/ 8 h 60"/>
                    <a:gd name="T6" fmla="*/ 82 w 92"/>
                    <a:gd name="T7" fmla="*/ 5 h 60"/>
                    <a:gd name="T8" fmla="*/ 77 w 92"/>
                    <a:gd name="T9" fmla="*/ 2 h 60"/>
                    <a:gd name="T10" fmla="*/ 70 w 92"/>
                    <a:gd name="T11" fmla="*/ 1 h 60"/>
                    <a:gd name="T12" fmla="*/ 61 w 92"/>
                    <a:gd name="T13" fmla="*/ 0 h 60"/>
                    <a:gd name="T14" fmla="*/ 55 w 92"/>
                    <a:gd name="T15" fmla="*/ 0 h 60"/>
                    <a:gd name="T16" fmla="*/ 47 w 92"/>
                    <a:gd name="T17" fmla="*/ 0 h 60"/>
                    <a:gd name="T18" fmla="*/ 39 w 92"/>
                    <a:gd name="T19" fmla="*/ 2 h 60"/>
                    <a:gd name="T20" fmla="*/ 32 w 92"/>
                    <a:gd name="T21" fmla="*/ 5 h 60"/>
                    <a:gd name="T22" fmla="*/ 24 w 92"/>
                    <a:gd name="T23" fmla="*/ 9 h 60"/>
                    <a:gd name="T24" fmla="*/ 18 w 92"/>
                    <a:gd name="T25" fmla="*/ 12 h 60"/>
                    <a:gd name="T26" fmla="*/ 11 w 92"/>
                    <a:gd name="T27" fmla="*/ 17 h 60"/>
                    <a:gd name="T28" fmla="*/ 7 w 92"/>
                    <a:gd name="T29" fmla="*/ 23 h 60"/>
                    <a:gd name="T30" fmla="*/ 3 w 92"/>
                    <a:gd name="T31" fmla="*/ 28 h 60"/>
                    <a:gd name="T32" fmla="*/ 1 w 92"/>
                    <a:gd name="T33" fmla="*/ 31 h 60"/>
                    <a:gd name="T34" fmla="*/ 0 w 92"/>
                    <a:gd name="T35" fmla="*/ 38 h 60"/>
                    <a:gd name="T36" fmla="*/ 0 w 92"/>
                    <a:gd name="T37" fmla="*/ 43 h 60"/>
                    <a:gd name="T38" fmla="*/ 2 w 92"/>
                    <a:gd name="T39" fmla="*/ 47 h 60"/>
                    <a:gd name="T40" fmla="*/ 5 w 92"/>
                    <a:gd name="T41" fmla="*/ 52 h 60"/>
                    <a:gd name="T42" fmla="*/ 10 w 92"/>
                    <a:gd name="T43" fmla="*/ 55 h 60"/>
                    <a:gd name="T44" fmla="*/ 15 w 92"/>
                    <a:gd name="T45" fmla="*/ 58 h 60"/>
                    <a:gd name="T46" fmla="*/ 22 w 92"/>
                    <a:gd name="T47" fmla="*/ 59 h 60"/>
                    <a:gd name="T48" fmla="*/ 31 w 92"/>
                    <a:gd name="T49" fmla="*/ 60 h 60"/>
                    <a:gd name="T50" fmla="*/ 37 w 92"/>
                    <a:gd name="T51" fmla="*/ 60 h 60"/>
                    <a:gd name="T52" fmla="*/ 45 w 92"/>
                    <a:gd name="T53" fmla="*/ 60 h 60"/>
                    <a:gd name="T54" fmla="*/ 53 w 92"/>
                    <a:gd name="T55" fmla="*/ 58 h 60"/>
                    <a:gd name="T56" fmla="*/ 60 w 92"/>
                    <a:gd name="T57" fmla="*/ 55 h 60"/>
                    <a:gd name="T58" fmla="*/ 68 w 92"/>
                    <a:gd name="T59" fmla="*/ 51 h 60"/>
                    <a:gd name="T60" fmla="*/ 74 w 92"/>
                    <a:gd name="T61" fmla="*/ 48 h 60"/>
                    <a:gd name="T62" fmla="*/ 81 w 92"/>
                    <a:gd name="T63" fmla="*/ 43 h 60"/>
                    <a:gd name="T64" fmla="*/ 85 w 92"/>
                    <a:gd name="T65" fmla="*/ 37 h 60"/>
                    <a:gd name="T66" fmla="*/ 89 w 92"/>
                    <a:gd name="T67" fmla="*/ 32 h 60"/>
                    <a:gd name="T68" fmla="*/ 91 w 92"/>
                    <a:gd name="T69" fmla="*/ 29 h 60"/>
                    <a:gd name="T70" fmla="*/ 92 w 92"/>
                    <a:gd name="T71" fmla="*/ 22 h 60"/>
                    <a:gd name="T72" fmla="*/ 92 w 92"/>
                    <a:gd name="T73" fmla="*/ 17 h 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2" h="60">
                      <a:moveTo>
                        <a:pt x="92" y="17"/>
                      </a:moveTo>
                      <a:lnTo>
                        <a:pt x="90" y="13"/>
                      </a:lnTo>
                      <a:lnTo>
                        <a:pt x="87" y="8"/>
                      </a:lnTo>
                      <a:lnTo>
                        <a:pt x="82" y="5"/>
                      </a:lnTo>
                      <a:lnTo>
                        <a:pt x="77" y="2"/>
                      </a:lnTo>
                      <a:lnTo>
                        <a:pt x="70" y="1"/>
                      </a:lnTo>
                      <a:lnTo>
                        <a:pt x="61" y="0"/>
                      </a:lnTo>
                      <a:lnTo>
                        <a:pt x="55" y="0"/>
                      </a:lnTo>
                      <a:lnTo>
                        <a:pt x="47" y="0"/>
                      </a:lnTo>
                      <a:lnTo>
                        <a:pt x="39" y="2"/>
                      </a:lnTo>
                      <a:lnTo>
                        <a:pt x="32" y="5"/>
                      </a:lnTo>
                      <a:lnTo>
                        <a:pt x="24" y="9"/>
                      </a:lnTo>
                      <a:lnTo>
                        <a:pt x="18" y="12"/>
                      </a:lnTo>
                      <a:lnTo>
                        <a:pt x="11" y="17"/>
                      </a:lnTo>
                      <a:lnTo>
                        <a:pt x="7" y="23"/>
                      </a:lnTo>
                      <a:lnTo>
                        <a:pt x="3" y="28"/>
                      </a:lnTo>
                      <a:lnTo>
                        <a:pt x="1" y="31"/>
                      </a:lnTo>
                      <a:lnTo>
                        <a:pt x="0" y="38"/>
                      </a:lnTo>
                      <a:lnTo>
                        <a:pt x="0" y="43"/>
                      </a:lnTo>
                      <a:lnTo>
                        <a:pt x="2" y="47"/>
                      </a:lnTo>
                      <a:lnTo>
                        <a:pt x="5" y="52"/>
                      </a:lnTo>
                      <a:lnTo>
                        <a:pt x="10" y="55"/>
                      </a:lnTo>
                      <a:lnTo>
                        <a:pt x="15" y="58"/>
                      </a:lnTo>
                      <a:lnTo>
                        <a:pt x="22" y="59"/>
                      </a:lnTo>
                      <a:lnTo>
                        <a:pt x="31" y="60"/>
                      </a:lnTo>
                      <a:lnTo>
                        <a:pt x="37" y="60"/>
                      </a:lnTo>
                      <a:lnTo>
                        <a:pt x="45" y="60"/>
                      </a:lnTo>
                      <a:lnTo>
                        <a:pt x="53" y="58"/>
                      </a:lnTo>
                      <a:lnTo>
                        <a:pt x="60" y="55"/>
                      </a:lnTo>
                      <a:lnTo>
                        <a:pt x="68" y="51"/>
                      </a:lnTo>
                      <a:lnTo>
                        <a:pt x="74" y="48"/>
                      </a:lnTo>
                      <a:lnTo>
                        <a:pt x="81" y="43"/>
                      </a:lnTo>
                      <a:lnTo>
                        <a:pt x="85" y="37"/>
                      </a:lnTo>
                      <a:lnTo>
                        <a:pt x="89" y="32"/>
                      </a:lnTo>
                      <a:lnTo>
                        <a:pt x="91" y="29"/>
                      </a:lnTo>
                      <a:lnTo>
                        <a:pt x="92" y="22"/>
                      </a:lnTo>
                      <a:lnTo>
                        <a:pt x="92"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28" name="Freeform 47"/>
                <p:cNvSpPr>
                  <a:spLocks/>
                </p:cNvSpPr>
                <p:nvPr/>
              </p:nvSpPr>
              <p:spPr bwMode="auto">
                <a:xfrm>
                  <a:off x="970" y="661"/>
                  <a:ext cx="92" cy="60"/>
                </a:xfrm>
                <a:custGeom>
                  <a:avLst/>
                  <a:gdLst>
                    <a:gd name="T0" fmla="*/ 92 w 92"/>
                    <a:gd name="T1" fmla="*/ 17 h 60"/>
                    <a:gd name="T2" fmla="*/ 90 w 92"/>
                    <a:gd name="T3" fmla="*/ 13 h 60"/>
                    <a:gd name="T4" fmla="*/ 87 w 92"/>
                    <a:gd name="T5" fmla="*/ 8 h 60"/>
                    <a:gd name="T6" fmla="*/ 82 w 92"/>
                    <a:gd name="T7" fmla="*/ 5 h 60"/>
                    <a:gd name="T8" fmla="*/ 77 w 92"/>
                    <a:gd name="T9" fmla="*/ 2 h 60"/>
                    <a:gd name="T10" fmla="*/ 70 w 92"/>
                    <a:gd name="T11" fmla="*/ 1 h 60"/>
                    <a:gd name="T12" fmla="*/ 61 w 92"/>
                    <a:gd name="T13" fmla="*/ 0 h 60"/>
                    <a:gd name="T14" fmla="*/ 55 w 92"/>
                    <a:gd name="T15" fmla="*/ 0 h 60"/>
                    <a:gd name="T16" fmla="*/ 47 w 92"/>
                    <a:gd name="T17" fmla="*/ 0 h 60"/>
                    <a:gd name="T18" fmla="*/ 39 w 92"/>
                    <a:gd name="T19" fmla="*/ 2 h 60"/>
                    <a:gd name="T20" fmla="*/ 32 w 92"/>
                    <a:gd name="T21" fmla="*/ 5 h 60"/>
                    <a:gd name="T22" fmla="*/ 24 w 92"/>
                    <a:gd name="T23" fmla="*/ 9 h 60"/>
                    <a:gd name="T24" fmla="*/ 18 w 92"/>
                    <a:gd name="T25" fmla="*/ 12 h 60"/>
                    <a:gd name="T26" fmla="*/ 11 w 92"/>
                    <a:gd name="T27" fmla="*/ 17 h 60"/>
                    <a:gd name="T28" fmla="*/ 7 w 92"/>
                    <a:gd name="T29" fmla="*/ 23 h 60"/>
                    <a:gd name="T30" fmla="*/ 3 w 92"/>
                    <a:gd name="T31" fmla="*/ 28 h 60"/>
                    <a:gd name="T32" fmla="*/ 1 w 92"/>
                    <a:gd name="T33" fmla="*/ 31 h 60"/>
                    <a:gd name="T34" fmla="*/ 0 w 92"/>
                    <a:gd name="T35" fmla="*/ 38 h 60"/>
                    <a:gd name="T36" fmla="*/ 0 w 92"/>
                    <a:gd name="T37" fmla="*/ 43 h 60"/>
                    <a:gd name="T38" fmla="*/ 2 w 92"/>
                    <a:gd name="T39" fmla="*/ 47 h 60"/>
                    <a:gd name="T40" fmla="*/ 5 w 92"/>
                    <a:gd name="T41" fmla="*/ 52 h 60"/>
                    <a:gd name="T42" fmla="*/ 10 w 92"/>
                    <a:gd name="T43" fmla="*/ 55 h 60"/>
                    <a:gd name="T44" fmla="*/ 15 w 92"/>
                    <a:gd name="T45" fmla="*/ 58 h 60"/>
                    <a:gd name="T46" fmla="*/ 22 w 92"/>
                    <a:gd name="T47" fmla="*/ 59 h 60"/>
                    <a:gd name="T48" fmla="*/ 31 w 92"/>
                    <a:gd name="T49" fmla="*/ 60 h 60"/>
                    <a:gd name="T50" fmla="*/ 37 w 92"/>
                    <a:gd name="T51" fmla="*/ 60 h 60"/>
                    <a:gd name="T52" fmla="*/ 45 w 92"/>
                    <a:gd name="T53" fmla="*/ 60 h 60"/>
                    <a:gd name="T54" fmla="*/ 53 w 92"/>
                    <a:gd name="T55" fmla="*/ 58 h 60"/>
                    <a:gd name="T56" fmla="*/ 60 w 92"/>
                    <a:gd name="T57" fmla="*/ 55 h 60"/>
                    <a:gd name="T58" fmla="*/ 68 w 92"/>
                    <a:gd name="T59" fmla="*/ 51 h 60"/>
                    <a:gd name="T60" fmla="*/ 74 w 92"/>
                    <a:gd name="T61" fmla="*/ 48 h 60"/>
                    <a:gd name="T62" fmla="*/ 81 w 92"/>
                    <a:gd name="T63" fmla="*/ 43 h 60"/>
                    <a:gd name="T64" fmla="*/ 85 w 92"/>
                    <a:gd name="T65" fmla="*/ 37 h 60"/>
                    <a:gd name="T66" fmla="*/ 89 w 92"/>
                    <a:gd name="T67" fmla="*/ 32 h 60"/>
                    <a:gd name="T68" fmla="*/ 91 w 92"/>
                    <a:gd name="T69" fmla="*/ 29 h 60"/>
                    <a:gd name="T70" fmla="*/ 92 w 92"/>
                    <a:gd name="T71" fmla="*/ 22 h 60"/>
                    <a:gd name="T72" fmla="*/ 92 w 92"/>
                    <a:gd name="T73" fmla="*/ 17 h 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2" h="60">
                      <a:moveTo>
                        <a:pt x="92" y="17"/>
                      </a:moveTo>
                      <a:lnTo>
                        <a:pt x="90" y="13"/>
                      </a:lnTo>
                      <a:lnTo>
                        <a:pt x="87" y="8"/>
                      </a:lnTo>
                      <a:lnTo>
                        <a:pt x="82" y="5"/>
                      </a:lnTo>
                      <a:lnTo>
                        <a:pt x="77" y="2"/>
                      </a:lnTo>
                      <a:lnTo>
                        <a:pt x="70" y="1"/>
                      </a:lnTo>
                      <a:lnTo>
                        <a:pt x="61" y="0"/>
                      </a:lnTo>
                      <a:lnTo>
                        <a:pt x="55" y="0"/>
                      </a:lnTo>
                      <a:lnTo>
                        <a:pt x="47" y="0"/>
                      </a:lnTo>
                      <a:lnTo>
                        <a:pt x="39" y="2"/>
                      </a:lnTo>
                      <a:lnTo>
                        <a:pt x="32" y="5"/>
                      </a:lnTo>
                      <a:lnTo>
                        <a:pt x="24" y="9"/>
                      </a:lnTo>
                      <a:lnTo>
                        <a:pt x="18" y="12"/>
                      </a:lnTo>
                      <a:lnTo>
                        <a:pt x="11" y="17"/>
                      </a:lnTo>
                      <a:lnTo>
                        <a:pt x="7" y="23"/>
                      </a:lnTo>
                      <a:lnTo>
                        <a:pt x="3" y="28"/>
                      </a:lnTo>
                      <a:lnTo>
                        <a:pt x="1" y="31"/>
                      </a:lnTo>
                      <a:lnTo>
                        <a:pt x="0" y="38"/>
                      </a:lnTo>
                      <a:lnTo>
                        <a:pt x="0" y="43"/>
                      </a:lnTo>
                      <a:lnTo>
                        <a:pt x="2" y="47"/>
                      </a:lnTo>
                      <a:lnTo>
                        <a:pt x="5" y="52"/>
                      </a:lnTo>
                      <a:lnTo>
                        <a:pt x="10" y="55"/>
                      </a:lnTo>
                      <a:lnTo>
                        <a:pt x="15" y="58"/>
                      </a:lnTo>
                      <a:lnTo>
                        <a:pt x="22" y="59"/>
                      </a:lnTo>
                      <a:lnTo>
                        <a:pt x="31" y="60"/>
                      </a:lnTo>
                      <a:lnTo>
                        <a:pt x="37" y="60"/>
                      </a:lnTo>
                      <a:lnTo>
                        <a:pt x="45" y="60"/>
                      </a:lnTo>
                      <a:lnTo>
                        <a:pt x="53" y="58"/>
                      </a:lnTo>
                      <a:lnTo>
                        <a:pt x="60" y="55"/>
                      </a:lnTo>
                      <a:lnTo>
                        <a:pt x="68" y="51"/>
                      </a:lnTo>
                      <a:lnTo>
                        <a:pt x="74" y="48"/>
                      </a:lnTo>
                      <a:lnTo>
                        <a:pt x="81" y="43"/>
                      </a:lnTo>
                      <a:lnTo>
                        <a:pt x="85" y="37"/>
                      </a:lnTo>
                      <a:lnTo>
                        <a:pt x="89" y="32"/>
                      </a:lnTo>
                      <a:lnTo>
                        <a:pt x="91" y="29"/>
                      </a:lnTo>
                      <a:lnTo>
                        <a:pt x="92" y="22"/>
                      </a:lnTo>
                      <a:lnTo>
                        <a:pt x="92"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29" name="Freeform 48"/>
                <p:cNvSpPr>
                  <a:spLocks/>
                </p:cNvSpPr>
                <p:nvPr/>
              </p:nvSpPr>
              <p:spPr bwMode="auto">
                <a:xfrm>
                  <a:off x="635" y="769"/>
                  <a:ext cx="477" cy="158"/>
                </a:xfrm>
                <a:custGeom>
                  <a:avLst/>
                  <a:gdLst>
                    <a:gd name="T0" fmla="*/ 17 w 477"/>
                    <a:gd name="T1" fmla="*/ 116 h 158"/>
                    <a:gd name="T2" fmla="*/ 174 w 477"/>
                    <a:gd name="T3" fmla="*/ 86 h 158"/>
                    <a:gd name="T4" fmla="*/ 319 w 477"/>
                    <a:gd name="T5" fmla="*/ 50 h 158"/>
                    <a:gd name="T6" fmla="*/ 462 w 477"/>
                    <a:gd name="T7" fmla="*/ 0 h 158"/>
                    <a:gd name="T8" fmla="*/ 477 w 477"/>
                    <a:gd name="T9" fmla="*/ 16 h 158"/>
                    <a:gd name="T10" fmla="*/ 467 w 477"/>
                    <a:gd name="T11" fmla="*/ 46 h 158"/>
                    <a:gd name="T12" fmla="*/ 421 w 477"/>
                    <a:gd name="T13" fmla="*/ 58 h 158"/>
                    <a:gd name="T14" fmla="*/ 295 w 477"/>
                    <a:gd name="T15" fmla="*/ 76 h 158"/>
                    <a:gd name="T16" fmla="*/ 162 w 477"/>
                    <a:gd name="T17" fmla="*/ 116 h 158"/>
                    <a:gd name="T18" fmla="*/ 75 w 477"/>
                    <a:gd name="T19" fmla="*/ 130 h 158"/>
                    <a:gd name="T20" fmla="*/ 23 w 477"/>
                    <a:gd name="T21" fmla="*/ 158 h 158"/>
                    <a:gd name="T22" fmla="*/ 0 w 477"/>
                    <a:gd name="T23" fmla="*/ 140 h 158"/>
                    <a:gd name="T24" fmla="*/ 17 w 477"/>
                    <a:gd name="T25" fmla="*/ 116 h 1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7" h="158">
                      <a:moveTo>
                        <a:pt x="17" y="116"/>
                      </a:moveTo>
                      <a:lnTo>
                        <a:pt x="174" y="86"/>
                      </a:lnTo>
                      <a:lnTo>
                        <a:pt x="319" y="50"/>
                      </a:lnTo>
                      <a:lnTo>
                        <a:pt x="462" y="0"/>
                      </a:lnTo>
                      <a:lnTo>
                        <a:pt x="477" y="16"/>
                      </a:lnTo>
                      <a:lnTo>
                        <a:pt x="467" y="46"/>
                      </a:lnTo>
                      <a:lnTo>
                        <a:pt x="421" y="58"/>
                      </a:lnTo>
                      <a:lnTo>
                        <a:pt x="295" y="76"/>
                      </a:lnTo>
                      <a:lnTo>
                        <a:pt x="162" y="116"/>
                      </a:lnTo>
                      <a:lnTo>
                        <a:pt x="75" y="130"/>
                      </a:lnTo>
                      <a:lnTo>
                        <a:pt x="23" y="158"/>
                      </a:lnTo>
                      <a:lnTo>
                        <a:pt x="0" y="140"/>
                      </a:lnTo>
                      <a:lnTo>
                        <a:pt x="17"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30" name="Freeform 49"/>
                <p:cNvSpPr>
                  <a:spLocks/>
                </p:cNvSpPr>
                <p:nvPr/>
              </p:nvSpPr>
              <p:spPr bwMode="auto">
                <a:xfrm>
                  <a:off x="647" y="987"/>
                  <a:ext cx="270" cy="78"/>
                </a:xfrm>
                <a:custGeom>
                  <a:avLst/>
                  <a:gdLst>
                    <a:gd name="T0" fmla="*/ 4 w 270"/>
                    <a:gd name="T1" fmla="*/ 40 h 78"/>
                    <a:gd name="T2" fmla="*/ 117 w 270"/>
                    <a:gd name="T3" fmla="*/ 21 h 78"/>
                    <a:gd name="T4" fmla="*/ 241 w 270"/>
                    <a:gd name="T5" fmla="*/ 0 h 78"/>
                    <a:gd name="T6" fmla="*/ 270 w 270"/>
                    <a:gd name="T7" fmla="*/ 13 h 78"/>
                    <a:gd name="T8" fmla="*/ 252 w 270"/>
                    <a:gd name="T9" fmla="*/ 38 h 78"/>
                    <a:gd name="T10" fmla="*/ 158 w 270"/>
                    <a:gd name="T11" fmla="*/ 44 h 78"/>
                    <a:gd name="T12" fmla="*/ 47 w 270"/>
                    <a:gd name="T13" fmla="*/ 65 h 78"/>
                    <a:gd name="T14" fmla="*/ 0 w 270"/>
                    <a:gd name="T15" fmla="*/ 78 h 78"/>
                    <a:gd name="T16" fmla="*/ 4 w 270"/>
                    <a:gd name="T17" fmla="*/ 40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0" h="78">
                      <a:moveTo>
                        <a:pt x="4" y="40"/>
                      </a:moveTo>
                      <a:lnTo>
                        <a:pt x="117" y="21"/>
                      </a:lnTo>
                      <a:lnTo>
                        <a:pt x="241" y="0"/>
                      </a:lnTo>
                      <a:lnTo>
                        <a:pt x="270" y="13"/>
                      </a:lnTo>
                      <a:lnTo>
                        <a:pt x="252" y="38"/>
                      </a:lnTo>
                      <a:lnTo>
                        <a:pt x="158" y="44"/>
                      </a:lnTo>
                      <a:lnTo>
                        <a:pt x="47" y="65"/>
                      </a:lnTo>
                      <a:lnTo>
                        <a:pt x="0" y="78"/>
                      </a:lnTo>
                      <a:lnTo>
                        <a:pt x="4"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31" name="Freeform 50"/>
                <p:cNvSpPr>
                  <a:spLocks/>
                </p:cNvSpPr>
                <p:nvPr/>
              </p:nvSpPr>
              <p:spPr bwMode="auto">
                <a:xfrm>
                  <a:off x="986" y="913"/>
                  <a:ext cx="259" cy="76"/>
                </a:xfrm>
                <a:custGeom>
                  <a:avLst/>
                  <a:gdLst>
                    <a:gd name="T0" fmla="*/ 245 w 259"/>
                    <a:gd name="T1" fmla="*/ 0 h 76"/>
                    <a:gd name="T2" fmla="*/ 133 w 259"/>
                    <a:gd name="T3" fmla="*/ 15 h 76"/>
                    <a:gd name="T4" fmla="*/ 18 w 259"/>
                    <a:gd name="T5" fmla="*/ 38 h 76"/>
                    <a:gd name="T6" fmla="*/ 0 w 259"/>
                    <a:gd name="T7" fmla="*/ 57 h 76"/>
                    <a:gd name="T8" fmla="*/ 10 w 259"/>
                    <a:gd name="T9" fmla="*/ 76 h 76"/>
                    <a:gd name="T10" fmla="*/ 39 w 259"/>
                    <a:gd name="T11" fmla="*/ 72 h 76"/>
                    <a:gd name="T12" fmla="*/ 153 w 259"/>
                    <a:gd name="T13" fmla="*/ 38 h 76"/>
                    <a:gd name="T14" fmla="*/ 259 w 259"/>
                    <a:gd name="T15" fmla="*/ 27 h 76"/>
                    <a:gd name="T16" fmla="*/ 245 w 259"/>
                    <a:gd name="T17" fmla="*/ 0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9" h="76">
                      <a:moveTo>
                        <a:pt x="245" y="0"/>
                      </a:moveTo>
                      <a:lnTo>
                        <a:pt x="133" y="15"/>
                      </a:lnTo>
                      <a:lnTo>
                        <a:pt x="18" y="38"/>
                      </a:lnTo>
                      <a:lnTo>
                        <a:pt x="0" y="57"/>
                      </a:lnTo>
                      <a:lnTo>
                        <a:pt x="10" y="76"/>
                      </a:lnTo>
                      <a:lnTo>
                        <a:pt x="39" y="72"/>
                      </a:lnTo>
                      <a:lnTo>
                        <a:pt x="153" y="38"/>
                      </a:lnTo>
                      <a:lnTo>
                        <a:pt x="259" y="27"/>
                      </a:lnTo>
                      <a:lnTo>
                        <a:pt x="24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32" name="Freeform 51"/>
                <p:cNvSpPr>
                  <a:spLocks/>
                </p:cNvSpPr>
                <p:nvPr/>
              </p:nvSpPr>
              <p:spPr bwMode="auto">
                <a:xfrm>
                  <a:off x="1013" y="1063"/>
                  <a:ext cx="122" cy="51"/>
                </a:xfrm>
                <a:custGeom>
                  <a:avLst/>
                  <a:gdLst>
                    <a:gd name="T0" fmla="*/ 14 w 122"/>
                    <a:gd name="T1" fmla="*/ 13 h 51"/>
                    <a:gd name="T2" fmla="*/ 112 w 122"/>
                    <a:gd name="T3" fmla="*/ 0 h 51"/>
                    <a:gd name="T4" fmla="*/ 122 w 122"/>
                    <a:gd name="T5" fmla="*/ 20 h 51"/>
                    <a:gd name="T6" fmla="*/ 98 w 122"/>
                    <a:gd name="T7" fmla="*/ 47 h 51"/>
                    <a:gd name="T8" fmla="*/ 31 w 122"/>
                    <a:gd name="T9" fmla="*/ 51 h 51"/>
                    <a:gd name="T10" fmla="*/ 0 w 122"/>
                    <a:gd name="T11" fmla="*/ 40 h 51"/>
                    <a:gd name="T12" fmla="*/ 14 w 122"/>
                    <a:gd name="T13" fmla="*/ 13 h 5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2" h="51">
                      <a:moveTo>
                        <a:pt x="14" y="13"/>
                      </a:moveTo>
                      <a:lnTo>
                        <a:pt x="112" y="0"/>
                      </a:lnTo>
                      <a:lnTo>
                        <a:pt x="122" y="20"/>
                      </a:lnTo>
                      <a:lnTo>
                        <a:pt x="98" y="47"/>
                      </a:lnTo>
                      <a:lnTo>
                        <a:pt x="31" y="51"/>
                      </a:lnTo>
                      <a:lnTo>
                        <a:pt x="0" y="40"/>
                      </a:lnTo>
                      <a:lnTo>
                        <a:pt x="14"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33" name="Freeform 52"/>
                <p:cNvSpPr>
                  <a:spLocks/>
                </p:cNvSpPr>
                <p:nvPr/>
              </p:nvSpPr>
              <p:spPr bwMode="auto">
                <a:xfrm>
                  <a:off x="770" y="1106"/>
                  <a:ext cx="105" cy="60"/>
                </a:xfrm>
                <a:custGeom>
                  <a:avLst/>
                  <a:gdLst>
                    <a:gd name="T0" fmla="*/ 0 w 105"/>
                    <a:gd name="T1" fmla="*/ 16 h 60"/>
                    <a:gd name="T2" fmla="*/ 105 w 105"/>
                    <a:gd name="T3" fmla="*/ 0 h 60"/>
                    <a:gd name="T4" fmla="*/ 105 w 105"/>
                    <a:gd name="T5" fmla="*/ 33 h 60"/>
                    <a:gd name="T6" fmla="*/ 74 w 105"/>
                    <a:gd name="T7" fmla="*/ 49 h 60"/>
                    <a:gd name="T8" fmla="*/ 6 w 105"/>
                    <a:gd name="T9" fmla="*/ 60 h 60"/>
                    <a:gd name="T10" fmla="*/ 0 w 105"/>
                    <a:gd name="T11" fmla="*/ 16 h 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5" h="60">
                      <a:moveTo>
                        <a:pt x="0" y="16"/>
                      </a:moveTo>
                      <a:lnTo>
                        <a:pt x="105" y="0"/>
                      </a:lnTo>
                      <a:lnTo>
                        <a:pt x="105" y="33"/>
                      </a:lnTo>
                      <a:lnTo>
                        <a:pt x="74" y="49"/>
                      </a:lnTo>
                      <a:lnTo>
                        <a:pt x="6" y="60"/>
                      </a:lnTo>
                      <a:lnTo>
                        <a:pt x="0"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34" name="Freeform 53"/>
                <p:cNvSpPr>
                  <a:spLocks/>
                </p:cNvSpPr>
                <p:nvPr/>
              </p:nvSpPr>
              <p:spPr bwMode="auto">
                <a:xfrm>
                  <a:off x="647" y="1125"/>
                  <a:ext cx="87" cy="58"/>
                </a:xfrm>
                <a:custGeom>
                  <a:avLst/>
                  <a:gdLst>
                    <a:gd name="T0" fmla="*/ 10 w 87"/>
                    <a:gd name="T1" fmla="*/ 11 h 58"/>
                    <a:gd name="T2" fmla="*/ 87 w 87"/>
                    <a:gd name="T3" fmla="*/ 0 h 58"/>
                    <a:gd name="T4" fmla="*/ 87 w 87"/>
                    <a:gd name="T5" fmla="*/ 47 h 58"/>
                    <a:gd name="T6" fmla="*/ 0 w 87"/>
                    <a:gd name="T7" fmla="*/ 58 h 58"/>
                    <a:gd name="T8" fmla="*/ 10 w 87"/>
                    <a:gd name="T9" fmla="*/ 11 h 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 h="58">
                      <a:moveTo>
                        <a:pt x="10" y="11"/>
                      </a:moveTo>
                      <a:lnTo>
                        <a:pt x="87" y="0"/>
                      </a:lnTo>
                      <a:lnTo>
                        <a:pt x="87" y="47"/>
                      </a:lnTo>
                      <a:lnTo>
                        <a:pt x="0" y="58"/>
                      </a:lnTo>
                      <a:lnTo>
                        <a:pt x="1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35" name="Freeform 54"/>
                <p:cNvSpPr>
                  <a:spLocks/>
                </p:cNvSpPr>
                <p:nvPr/>
              </p:nvSpPr>
              <p:spPr bwMode="auto">
                <a:xfrm>
                  <a:off x="658" y="1444"/>
                  <a:ext cx="54" cy="44"/>
                </a:xfrm>
                <a:custGeom>
                  <a:avLst/>
                  <a:gdLst>
                    <a:gd name="T0" fmla="*/ 53 w 54"/>
                    <a:gd name="T1" fmla="*/ 15 h 44"/>
                    <a:gd name="T2" fmla="*/ 52 w 54"/>
                    <a:gd name="T3" fmla="*/ 11 h 44"/>
                    <a:gd name="T4" fmla="*/ 49 w 54"/>
                    <a:gd name="T5" fmla="*/ 7 h 44"/>
                    <a:gd name="T6" fmla="*/ 47 w 54"/>
                    <a:gd name="T7" fmla="*/ 5 h 44"/>
                    <a:gd name="T8" fmla="*/ 43 w 54"/>
                    <a:gd name="T9" fmla="*/ 1 h 44"/>
                    <a:gd name="T10" fmla="*/ 39 w 54"/>
                    <a:gd name="T11" fmla="*/ 0 h 44"/>
                    <a:gd name="T12" fmla="*/ 35 w 54"/>
                    <a:gd name="T13" fmla="*/ 0 h 44"/>
                    <a:gd name="T14" fmla="*/ 32 w 54"/>
                    <a:gd name="T15" fmla="*/ 0 h 44"/>
                    <a:gd name="T16" fmla="*/ 26 w 54"/>
                    <a:gd name="T17" fmla="*/ 0 h 44"/>
                    <a:gd name="T18" fmla="*/ 21 w 54"/>
                    <a:gd name="T19" fmla="*/ 1 h 44"/>
                    <a:gd name="T20" fmla="*/ 16 w 54"/>
                    <a:gd name="T21" fmla="*/ 2 h 44"/>
                    <a:gd name="T22" fmla="*/ 13 w 54"/>
                    <a:gd name="T23" fmla="*/ 5 h 44"/>
                    <a:gd name="T24" fmla="*/ 9 w 54"/>
                    <a:gd name="T25" fmla="*/ 7 h 44"/>
                    <a:gd name="T26" fmla="*/ 6 w 54"/>
                    <a:gd name="T27" fmla="*/ 10 h 44"/>
                    <a:gd name="T28" fmla="*/ 4 w 54"/>
                    <a:gd name="T29" fmla="*/ 13 h 44"/>
                    <a:gd name="T30" fmla="*/ 2 w 54"/>
                    <a:gd name="T31" fmla="*/ 17 h 44"/>
                    <a:gd name="T32" fmla="*/ 0 w 54"/>
                    <a:gd name="T33" fmla="*/ 22 h 44"/>
                    <a:gd name="T34" fmla="*/ 0 w 54"/>
                    <a:gd name="T35" fmla="*/ 26 h 44"/>
                    <a:gd name="T36" fmla="*/ 1 w 54"/>
                    <a:gd name="T37" fmla="*/ 29 h 44"/>
                    <a:gd name="T38" fmla="*/ 2 w 54"/>
                    <a:gd name="T39" fmla="*/ 33 h 44"/>
                    <a:gd name="T40" fmla="*/ 5 w 54"/>
                    <a:gd name="T41" fmla="*/ 37 h 44"/>
                    <a:gd name="T42" fmla="*/ 7 w 54"/>
                    <a:gd name="T43" fmla="*/ 39 h 44"/>
                    <a:gd name="T44" fmla="*/ 11 w 54"/>
                    <a:gd name="T45" fmla="*/ 43 h 44"/>
                    <a:gd name="T46" fmla="*/ 15 w 54"/>
                    <a:gd name="T47" fmla="*/ 44 h 44"/>
                    <a:gd name="T48" fmla="*/ 19 w 54"/>
                    <a:gd name="T49" fmla="*/ 44 h 44"/>
                    <a:gd name="T50" fmla="*/ 22 w 54"/>
                    <a:gd name="T51" fmla="*/ 44 h 44"/>
                    <a:gd name="T52" fmla="*/ 28 w 54"/>
                    <a:gd name="T53" fmla="*/ 44 h 44"/>
                    <a:gd name="T54" fmla="*/ 33 w 54"/>
                    <a:gd name="T55" fmla="*/ 43 h 44"/>
                    <a:gd name="T56" fmla="*/ 38 w 54"/>
                    <a:gd name="T57" fmla="*/ 42 h 44"/>
                    <a:gd name="T58" fmla="*/ 41 w 54"/>
                    <a:gd name="T59" fmla="*/ 39 h 44"/>
                    <a:gd name="T60" fmla="*/ 45 w 54"/>
                    <a:gd name="T61" fmla="*/ 37 h 44"/>
                    <a:gd name="T62" fmla="*/ 48 w 54"/>
                    <a:gd name="T63" fmla="*/ 34 h 44"/>
                    <a:gd name="T64" fmla="*/ 50 w 54"/>
                    <a:gd name="T65" fmla="*/ 31 h 44"/>
                    <a:gd name="T66" fmla="*/ 52 w 54"/>
                    <a:gd name="T67" fmla="*/ 27 h 44"/>
                    <a:gd name="T68" fmla="*/ 54 w 54"/>
                    <a:gd name="T69" fmla="*/ 22 h 44"/>
                    <a:gd name="T70" fmla="*/ 54 w 54"/>
                    <a:gd name="T71" fmla="*/ 18 h 44"/>
                    <a:gd name="T72" fmla="*/ 53 w 54"/>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4" h="44">
                      <a:moveTo>
                        <a:pt x="53" y="15"/>
                      </a:moveTo>
                      <a:lnTo>
                        <a:pt x="52" y="11"/>
                      </a:lnTo>
                      <a:lnTo>
                        <a:pt x="49" y="7"/>
                      </a:lnTo>
                      <a:lnTo>
                        <a:pt x="47" y="5"/>
                      </a:lnTo>
                      <a:lnTo>
                        <a:pt x="43" y="1"/>
                      </a:lnTo>
                      <a:lnTo>
                        <a:pt x="39" y="0"/>
                      </a:lnTo>
                      <a:lnTo>
                        <a:pt x="35" y="0"/>
                      </a:lnTo>
                      <a:lnTo>
                        <a:pt x="32" y="0"/>
                      </a:lnTo>
                      <a:lnTo>
                        <a:pt x="26" y="0"/>
                      </a:lnTo>
                      <a:lnTo>
                        <a:pt x="21" y="1"/>
                      </a:lnTo>
                      <a:lnTo>
                        <a:pt x="16" y="2"/>
                      </a:lnTo>
                      <a:lnTo>
                        <a:pt x="13" y="5"/>
                      </a:lnTo>
                      <a:lnTo>
                        <a:pt x="9" y="7"/>
                      </a:lnTo>
                      <a:lnTo>
                        <a:pt x="6" y="10"/>
                      </a:lnTo>
                      <a:lnTo>
                        <a:pt x="4" y="13"/>
                      </a:lnTo>
                      <a:lnTo>
                        <a:pt x="2" y="17"/>
                      </a:lnTo>
                      <a:lnTo>
                        <a:pt x="0" y="22"/>
                      </a:lnTo>
                      <a:lnTo>
                        <a:pt x="0" y="26"/>
                      </a:lnTo>
                      <a:lnTo>
                        <a:pt x="1" y="29"/>
                      </a:lnTo>
                      <a:lnTo>
                        <a:pt x="2" y="33"/>
                      </a:lnTo>
                      <a:lnTo>
                        <a:pt x="5" y="37"/>
                      </a:lnTo>
                      <a:lnTo>
                        <a:pt x="7" y="39"/>
                      </a:lnTo>
                      <a:lnTo>
                        <a:pt x="11" y="43"/>
                      </a:lnTo>
                      <a:lnTo>
                        <a:pt x="15" y="44"/>
                      </a:lnTo>
                      <a:lnTo>
                        <a:pt x="19" y="44"/>
                      </a:lnTo>
                      <a:lnTo>
                        <a:pt x="22" y="44"/>
                      </a:lnTo>
                      <a:lnTo>
                        <a:pt x="28" y="44"/>
                      </a:lnTo>
                      <a:lnTo>
                        <a:pt x="33" y="43"/>
                      </a:lnTo>
                      <a:lnTo>
                        <a:pt x="38" y="42"/>
                      </a:lnTo>
                      <a:lnTo>
                        <a:pt x="41" y="39"/>
                      </a:lnTo>
                      <a:lnTo>
                        <a:pt x="45" y="37"/>
                      </a:lnTo>
                      <a:lnTo>
                        <a:pt x="48" y="34"/>
                      </a:lnTo>
                      <a:lnTo>
                        <a:pt x="50" y="31"/>
                      </a:lnTo>
                      <a:lnTo>
                        <a:pt x="52" y="27"/>
                      </a:lnTo>
                      <a:lnTo>
                        <a:pt x="54" y="22"/>
                      </a:lnTo>
                      <a:lnTo>
                        <a:pt x="54" y="18"/>
                      </a:lnTo>
                      <a:lnTo>
                        <a:pt x="53"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36" name="Freeform 55"/>
                <p:cNvSpPr>
                  <a:spLocks/>
                </p:cNvSpPr>
                <p:nvPr/>
              </p:nvSpPr>
              <p:spPr bwMode="auto">
                <a:xfrm>
                  <a:off x="804" y="1404"/>
                  <a:ext cx="56" cy="44"/>
                </a:xfrm>
                <a:custGeom>
                  <a:avLst/>
                  <a:gdLst>
                    <a:gd name="T0" fmla="*/ 55 w 56"/>
                    <a:gd name="T1" fmla="*/ 15 h 44"/>
                    <a:gd name="T2" fmla="*/ 54 w 56"/>
                    <a:gd name="T3" fmla="*/ 11 h 44"/>
                    <a:gd name="T4" fmla="*/ 51 w 56"/>
                    <a:gd name="T5" fmla="*/ 7 h 44"/>
                    <a:gd name="T6" fmla="*/ 49 w 56"/>
                    <a:gd name="T7" fmla="*/ 5 h 44"/>
                    <a:gd name="T8" fmla="*/ 44 w 56"/>
                    <a:gd name="T9" fmla="*/ 1 h 44"/>
                    <a:gd name="T10" fmla="*/ 40 w 56"/>
                    <a:gd name="T11" fmla="*/ 0 h 44"/>
                    <a:gd name="T12" fmla="*/ 37 w 56"/>
                    <a:gd name="T13" fmla="*/ 0 h 44"/>
                    <a:gd name="T14" fmla="*/ 33 w 56"/>
                    <a:gd name="T15" fmla="*/ 0 h 44"/>
                    <a:gd name="T16" fmla="*/ 27 w 56"/>
                    <a:gd name="T17" fmla="*/ 0 h 44"/>
                    <a:gd name="T18" fmla="*/ 22 w 56"/>
                    <a:gd name="T19" fmla="*/ 1 h 44"/>
                    <a:gd name="T20" fmla="*/ 18 w 56"/>
                    <a:gd name="T21" fmla="*/ 2 h 44"/>
                    <a:gd name="T22" fmla="*/ 14 w 56"/>
                    <a:gd name="T23" fmla="*/ 5 h 44"/>
                    <a:gd name="T24" fmla="*/ 9 w 56"/>
                    <a:gd name="T25" fmla="*/ 7 h 44"/>
                    <a:gd name="T26" fmla="*/ 7 w 56"/>
                    <a:gd name="T27" fmla="*/ 10 h 44"/>
                    <a:gd name="T28" fmla="*/ 5 w 56"/>
                    <a:gd name="T29" fmla="*/ 13 h 44"/>
                    <a:gd name="T30" fmla="*/ 2 w 56"/>
                    <a:gd name="T31" fmla="*/ 17 h 44"/>
                    <a:gd name="T32" fmla="*/ 0 w 56"/>
                    <a:gd name="T33" fmla="*/ 22 h 44"/>
                    <a:gd name="T34" fmla="*/ 0 w 56"/>
                    <a:gd name="T35" fmla="*/ 26 h 44"/>
                    <a:gd name="T36" fmla="*/ 1 w 56"/>
                    <a:gd name="T37" fmla="*/ 29 h 44"/>
                    <a:gd name="T38" fmla="*/ 2 w 56"/>
                    <a:gd name="T39" fmla="*/ 33 h 44"/>
                    <a:gd name="T40" fmla="*/ 5 w 56"/>
                    <a:gd name="T41" fmla="*/ 37 h 44"/>
                    <a:gd name="T42" fmla="*/ 7 w 56"/>
                    <a:gd name="T43" fmla="*/ 39 h 44"/>
                    <a:gd name="T44" fmla="*/ 12 w 56"/>
                    <a:gd name="T45" fmla="*/ 43 h 44"/>
                    <a:gd name="T46" fmla="*/ 16 w 56"/>
                    <a:gd name="T47" fmla="*/ 44 h 44"/>
                    <a:gd name="T48" fmla="*/ 19 w 56"/>
                    <a:gd name="T49" fmla="*/ 44 h 44"/>
                    <a:gd name="T50" fmla="*/ 23 w 56"/>
                    <a:gd name="T51" fmla="*/ 44 h 44"/>
                    <a:gd name="T52" fmla="*/ 29 w 56"/>
                    <a:gd name="T53" fmla="*/ 44 h 44"/>
                    <a:gd name="T54" fmla="*/ 34 w 56"/>
                    <a:gd name="T55" fmla="*/ 43 h 44"/>
                    <a:gd name="T56" fmla="*/ 39 w 56"/>
                    <a:gd name="T57" fmla="*/ 42 h 44"/>
                    <a:gd name="T58" fmla="*/ 42 w 56"/>
                    <a:gd name="T59" fmla="*/ 39 h 44"/>
                    <a:gd name="T60" fmla="*/ 47 w 56"/>
                    <a:gd name="T61" fmla="*/ 37 h 44"/>
                    <a:gd name="T62" fmla="*/ 49 w 56"/>
                    <a:gd name="T63" fmla="*/ 34 h 44"/>
                    <a:gd name="T64" fmla="*/ 51 w 56"/>
                    <a:gd name="T65" fmla="*/ 31 h 44"/>
                    <a:gd name="T66" fmla="*/ 54 w 56"/>
                    <a:gd name="T67" fmla="*/ 27 h 44"/>
                    <a:gd name="T68" fmla="*/ 56 w 56"/>
                    <a:gd name="T69" fmla="*/ 22 h 44"/>
                    <a:gd name="T70" fmla="*/ 56 w 56"/>
                    <a:gd name="T71" fmla="*/ 18 h 44"/>
                    <a:gd name="T72" fmla="*/ 55 w 56"/>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6" h="44">
                      <a:moveTo>
                        <a:pt x="55" y="15"/>
                      </a:moveTo>
                      <a:lnTo>
                        <a:pt x="54" y="11"/>
                      </a:lnTo>
                      <a:lnTo>
                        <a:pt x="51" y="7"/>
                      </a:lnTo>
                      <a:lnTo>
                        <a:pt x="49" y="5"/>
                      </a:lnTo>
                      <a:lnTo>
                        <a:pt x="44" y="1"/>
                      </a:lnTo>
                      <a:lnTo>
                        <a:pt x="40" y="0"/>
                      </a:lnTo>
                      <a:lnTo>
                        <a:pt x="37" y="0"/>
                      </a:lnTo>
                      <a:lnTo>
                        <a:pt x="33" y="0"/>
                      </a:lnTo>
                      <a:lnTo>
                        <a:pt x="27" y="0"/>
                      </a:lnTo>
                      <a:lnTo>
                        <a:pt x="22" y="1"/>
                      </a:lnTo>
                      <a:lnTo>
                        <a:pt x="18" y="2"/>
                      </a:lnTo>
                      <a:lnTo>
                        <a:pt x="14" y="5"/>
                      </a:lnTo>
                      <a:lnTo>
                        <a:pt x="9" y="7"/>
                      </a:lnTo>
                      <a:lnTo>
                        <a:pt x="7" y="10"/>
                      </a:lnTo>
                      <a:lnTo>
                        <a:pt x="5" y="13"/>
                      </a:lnTo>
                      <a:lnTo>
                        <a:pt x="2" y="17"/>
                      </a:lnTo>
                      <a:lnTo>
                        <a:pt x="0" y="22"/>
                      </a:lnTo>
                      <a:lnTo>
                        <a:pt x="0" y="26"/>
                      </a:lnTo>
                      <a:lnTo>
                        <a:pt x="1" y="29"/>
                      </a:lnTo>
                      <a:lnTo>
                        <a:pt x="2" y="33"/>
                      </a:lnTo>
                      <a:lnTo>
                        <a:pt x="5" y="37"/>
                      </a:lnTo>
                      <a:lnTo>
                        <a:pt x="7" y="39"/>
                      </a:lnTo>
                      <a:lnTo>
                        <a:pt x="12" y="43"/>
                      </a:lnTo>
                      <a:lnTo>
                        <a:pt x="16" y="44"/>
                      </a:lnTo>
                      <a:lnTo>
                        <a:pt x="19" y="44"/>
                      </a:lnTo>
                      <a:lnTo>
                        <a:pt x="23" y="44"/>
                      </a:lnTo>
                      <a:lnTo>
                        <a:pt x="29" y="44"/>
                      </a:lnTo>
                      <a:lnTo>
                        <a:pt x="34" y="43"/>
                      </a:lnTo>
                      <a:lnTo>
                        <a:pt x="39" y="42"/>
                      </a:lnTo>
                      <a:lnTo>
                        <a:pt x="42" y="39"/>
                      </a:lnTo>
                      <a:lnTo>
                        <a:pt x="47" y="37"/>
                      </a:lnTo>
                      <a:lnTo>
                        <a:pt x="49" y="34"/>
                      </a:lnTo>
                      <a:lnTo>
                        <a:pt x="51" y="31"/>
                      </a:lnTo>
                      <a:lnTo>
                        <a:pt x="54" y="27"/>
                      </a:lnTo>
                      <a:lnTo>
                        <a:pt x="56" y="22"/>
                      </a:lnTo>
                      <a:lnTo>
                        <a:pt x="56" y="18"/>
                      </a:lnTo>
                      <a:lnTo>
                        <a:pt x="55"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37" name="Freeform 56"/>
                <p:cNvSpPr>
                  <a:spLocks/>
                </p:cNvSpPr>
                <p:nvPr/>
              </p:nvSpPr>
              <p:spPr bwMode="auto">
                <a:xfrm>
                  <a:off x="945" y="1359"/>
                  <a:ext cx="54" cy="44"/>
                </a:xfrm>
                <a:custGeom>
                  <a:avLst/>
                  <a:gdLst>
                    <a:gd name="T0" fmla="*/ 53 w 54"/>
                    <a:gd name="T1" fmla="*/ 15 h 44"/>
                    <a:gd name="T2" fmla="*/ 52 w 54"/>
                    <a:gd name="T3" fmla="*/ 11 h 44"/>
                    <a:gd name="T4" fmla="*/ 49 w 54"/>
                    <a:gd name="T5" fmla="*/ 7 h 44"/>
                    <a:gd name="T6" fmla="*/ 47 w 54"/>
                    <a:gd name="T7" fmla="*/ 5 h 44"/>
                    <a:gd name="T8" fmla="*/ 43 w 54"/>
                    <a:gd name="T9" fmla="*/ 1 h 44"/>
                    <a:gd name="T10" fmla="*/ 39 w 54"/>
                    <a:gd name="T11" fmla="*/ 0 h 44"/>
                    <a:gd name="T12" fmla="*/ 35 w 54"/>
                    <a:gd name="T13" fmla="*/ 0 h 44"/>
                    <a:gd name="T14" fmla="*/ 32 w 54"/>
                    <a:gd name="T15" fmla="*/ 0 h 44"/>
                    <a:gd name="T16" fmla="*/ 26 w 54"/>
                    <a:gd name="T17" fmla="*/ 0 h 44"/>
                    <a:gd name="T18" fmla="*/ 21 w 54"/>
                    <a:gd name="T19" fmla="*/ 1 h 44"/>
                    <a:gd name="T20" fmla="*/ 16 w 54"/>
                    <a:gd name="T21" fmla="*/ 2 h 44"/>
                    <a:gd name="T22" fmla="*/ 13 w 54"/>
                    <a:gd name="T23" fmla="*/ 5 h 44"/>
                    <a:gd name="T24" fmla="*/ 9 w 54"/>
                    <a:gd name="T25" fmla="*/ 7 h 44"/>
                    <a:gd name="T26" fmla="*/ 6 w 54"/>
                    <a:gd name="T27" fmla="*/ 10 h 44"/>
                    <a:gd name="T28" fmla="*/ 4 w 54"/>
                    <a:gd name="T29" fmla="*/ 13 h 44"/>
                    <a:gd name="T30" fmla="*/ 2 w 54"/>
                    <a:gd name="T31" fmla="*/ 17 h 44"/>
                    <a:gd name="T32" fmla="*/ 0 w 54"/>
                    <a:gd name="T33" fmla="*/ 22 h 44"/>
                    <a:gd name="T34" fmla="*/ 0 w 54"/>
                    <a:gd name="T35" fmla="*/ 26 h 44"/>
                    <a:gd name="T36" fmla="*/ 1 w 54"/>
                    <a:gd name="T37" fmla="*/ 29 h 44"/>
                    <a:gd name="T38" fmla="*/ 2 w 54"/>
                    <a:gd name="T39" fmla="*/ 33 h 44"/>
                    <a:gd name="T40" fmla="*/ 5 w 54"/>
                    <a:gd name="T41" fmla="*/ 37 h 44"/>
                    <a:gd name="T42" fmla="*/ 7 w 54"/>
                    <a:gd name="T43" fmla="*/ 39 h 44"/>
                    <a:gd name="T44" fmla="*/ 11 w 54"/>
                    <a:gd name="T45" fmla="*/ 43 h 44"/>
                    <a:gd name="T46" fmla="*/ 15 w 54"/>
                    <a:gd name="T47" fmla="*/ 44 h 44"/>
                    <a:gd name="T48" fmla="*/ 19 w 54"/>
                    <a:gd name="T49" fmla="*/ 44 h 44"/>
                    <a:gd name="T50" fmla="*/ 22 w 54"/>
                    <a:gd name="T51" fmla="*/ 44 h 44"/>
                    <a:gd name="T52" fmla="*/ 28 w 54"/>
                    <a:gd name="T53" fmla="*/ 44 h 44"/>
                    <a:gd name="T54" fmla="*/ 33 w 54"/>
                    <a:gd name="T55" fmla="*/ 43 h 44"/>
                    <a:gd name="T56" fmla="*/ 38 w 54"/>
                    <a:gd name="T57" fmla="*/ 42 h 44"/>
                    <a:gd name="T58" fmla="*/ 41 w 54"/>
                    <a:gd name="T59" fmla="*/ 39 h 44"/>
                    <a:gd name="T60" fmla="*/ 45 w 54"/>
                    <a:gd name="T61" fmla="*/ 37 h 44"/>
                    <a:gd name="T62" fmla="*/ 48 w 54"/>
                    <a:gd name="T63" fmla="*/ 34 h 44"/>
                    <a:gd name="T64" fmla="*/ 50 w 54"/>
                    <a:gd name="T65" fmla="*/ 31 h 44"/>
                    <a:gd name="T66" fmla="*/ 52 w 54"/>
                    <a:gd name="T67" fmla="*/ 27 h 44"/>
                    <a:gd name="T68" fmla="*/ 54 w 54"/>
                    <a:gd name="T69" fmla="*/ 22 h 44"/>
                    <a:gd name="T70" fmla="*/ 54 w 54"/>
                    <a:gd name="T71" fmla="*/ 18 h 44"/>
                    <a:gd name="T72" fmla="*/ 53 w 54"/>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4" h="44">
                      <a:moveTo>
                        <a:pt x="53" y="15"/>
                      </a:moveTo>
                      <a:lnTo>
                        <a:pt x="52" y="11"/>
                      </a:lnTo>
                      <a:lnTo>
                        <a:pt x="49" y="7"/>
                      </a:lnTo>
                      <a:lnTo>
                        <a:pt x="47" y="5"/>
                      </a:lnTo>
                      <a:lnTo>
                        <a:pt x="43" y="1"/>
                      </a:lnTo>
                      <a:lnTo>
                        <a:pt x="39" y="0"/>
                      </a:lnTo>
                      <a:lnTo>
                        <a:pt x="35" y="0"/>
                      </a:lnTo>
                      <a:lnTo>
                        <a:pt x="32" y="0"/>
                      </a:lnTo>
                      <a:lnTo>
                        <a:pt x="26" y="0"/>
                      </a:lnTo>
                      <a:lnTo>
                        <a:pt x="21" y="1"/>
                      </a:lnTo>
                      <a:lnTo>
                        <a:pt x="16" y="2"/>
                      </a:lnTo>
                      <a:lnTo>
                        <a:pt x="13" y="5"/>
                      </a:lnTo>
                      <a:lnTo>
                        <a:pt x="9" y="7"/>
                      </a:lnTo>
                      <a:lnTo>
                        <a:pt x="6" y="10"/>
                      </a:lnTo>
                      <a:lnTo>
                        <a:pt x="4" y="13"/>
                      </a:lnTo>
                      <a:lnTo>
                        <a:pt x="2" y="17"/>
                      </a:lnTo>
                      <a:lnTo>
                        <a:pt x="0" y="22"/>
                      </a:lnTo>
                      <a:lnTo>
                        <a:pt x="0" y="26"/>
                      </a:lnTo>
                      <a:lnTo>
                        <a:pt x="1" y="29"/>
                      </a:lnTo>
                      <a:lnTo>
                        <a:pt x="2" y="33"/>
                      </a:lnTo>
                      <a:lnTo>
                        <a:pt x="5" y="37"/>
                      </a:lnTo>
                      <a:lnTo>
                        <a:pt x="7" y="39"/>
                      </a:lnTo>
                      <a:lnTo>
                        <a:pt x="11" y="43"/>
                      </a:lnTo>
                      <a:lnTo>
                        <a:pt x="15" y="44"/>
                      </a:lnTo>
                      <a:lnTo>
                        <a:pt x="19" y="44"/>
                      </a:lnTo>
                      <a:lnTo>
                        <a:pt x="22" y="44"/>
                      </a:lnTo>
                      <a:lnTo>
                        <a:pt x="28" y="44"/>
                      </a:lnTo>
                      <a:lnTo>
                        <a:pt x="33" y="43"/>
                      </a:lnTo>
                      <a:lnTo>
                        <a:pt x="38" y="42"/>
                      </a:lnTo>
                      <a:lnTo>
                        <a:pt x="41" y="39"/>
                      </a:lnTo>
                      <a:lnTo>
                        <a:pt x="45" y="37"/>
                      </a:lnTo>
                      <a:lnTo>
                        <a:pt x="48" y="34"/>
                      </a:lnTo>
                      <a:lnTo>
                        <a:pt x="50" y="31"/>
                      </a:lnTo>
                      <a:lnTo>
                        <a:pt x="52" y="27"/>
                      </a:lnTo>
                      <a:lnTo>
                        <a:pt x="54" y="22"/>
                      </a:lnTo>
                      <a:lnTo>
                        <a:pt x="54" y="18"/>
                      </a:lnTo>
                      <a:lnTo>
                        <a:pt x="53"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38" name="Freeform 57"/>
                <p:cNvSpPr>
                  <a:spLocks/>
                </p:cNvSpPr>
                <p:nvPr/>
              </p:nvSpPr>
              <p:spPr bwMode="auto">
                <a:xfrm>
                  <a:off x="1091" y="1319"/>
                  <a:ext cx="54" cy="44"/>
                </a:xfrm>
                <a:custGeom>
                  <a:avLst/>
                  <a:gdLst>
                    <a:gd name="T0" fmla="*/ 53 w 54"/>
                    <a:gd name="T1" fmla="*/ 15 h 44"/>
                    <a:gd name="T2" fmla="*/ 52 w 54"/>
                    <a:gd name="T3" fmla="*/ 11 h 44"/>
                    <a:gd name="T4" fmla="*/ 49 w 54"/>
                    <a:gd name="T5" fmla="*/ 7 h 44"/>
                    <a:gd name="T6" fmla="*/ 47 w 54"/>
                    <a:gd name="T7" fmla="*/ 5 h 44"/>
                    <a:gd name="T8" fmla="*/ 43 w 54"/>
                    <a:gd name="T9" fmla="*/ 1 h 44"/>
                    <a:gd name="T10" fmla="*/ 39 w 54"/>
                    <a:gd name="T11" fmla="*/ 0 h 44"/>
                    <a:gd name="T12" fmla="*/ 35 w 54"/>
                    <a:gd name="T13" fmla="*/ 0 h 44"/>
                    <a:gd name="T14" fmla="*/ 32 w 54"/>
                    <a:gd name="T15" fmla="*/ 0 h 44"/>
                    <a:gd name="T16" fmla="*/ 26 w 54"/>
                    <a:gd name="T17" fmla="*/ 0 h 44"/>
                    <a:gd name="T18" fmla="*/ 21 w 54"/>
                    <a:gd name="T19" fmla="*/ 1 h 44"/>
                    <a:gd name="T20" fmla="*/ 16 w 54"/>
                    <a:gd name="T21" fmla="*/ 2 h 44"/>
                    <a:gd name="T22" fmla="*/ 13 w 54"/>
                    <a:gd name="T23" fmla="*/ 5 h 44"/>
                    <a:gd name="T24" fmla="*/ 9 w 54"/>
                    <a:gd name="T25" fmla="*/ 7 h 44"/>
                    <a:gd name="T26" fmla="*/ 6 w 54"/>
                    <a:gd name="T27" fmla="*/ 10 h 44"/>
                    <a:gd name="T28" fmla="*/ 4 w 54"/>
                    <a:gd name="T29" fmla="*/ 13 h 44"/>
                    <a:gd name="T30" fmla="*/ 2 w 54"/>
                    <a:gd name="T31" fmla="*/ 17 h 44"/>
                    <a:gd name="T32" fmla="*/ 0 w 54"/>
                    <a:gd name="T33" fmla="*/ 22 h 44"/>
                    <a:gd name="T34" fmla="*/ 0 w 54"/>
                    <a:gd name="T35" fmla="*/ 26 h 44"/>
                    <a:gd name="T36" fmla="*/ 1 w 54"/>
                    <a:gd name="T37" fmla="*/ 29 h 44"/>
                    <a:gd name="T38" fmla="*/ 2 w 54"/>
                    <a:gd name="T39" fmla="*/ 33 h 44"/>
                    <a:gd name="T40" fmla="*/ 5 w 54"/>
                    <a:gd name="T41" fmla="*/ 37 h 44"/>
                    <a:gd name="T42" fmla="*/ 7 w 54"/>
                    <a:gd name="T43" fmla="*/ 39 h 44"/>
                    <a:gd name="T44" fmla="*/ 11 w 54"/>
                    <a:gd name="T45" fmla="*/ 43 h 44"/>
                    <a:gd name="T46" fmla="*/ 15 w 54"/>
                    <a:gd name="T47" fmla="*/ 44 h 44"/>
                    <a:gd name="T48" fmla="*/ 19 w 54"/>
                    <a:gd name="T49" fmla="*/ 44 h 44"/>
                    <a:gd name="T50" fmla="*/ 22 w 54"/>
                    <a:gd name="T51" fmla="*/ 44 h 44"/>
                    <a:gd name="T52" fmla="*/ 28 w 54"/>
                    <a:gd name="T53" fmla="*/ 44 h 44"/>
                    <a:gd name="T54" fmla="*/ 33 w 54"/>
                    <a:gd name="T55" fmla="*/ 43 h 44"/>
                    <a:gd name="T56" fmla="*/ 38 w 54"/>
                    <a:gd name="T57" fmla="*/ 42 h 44"/>
                    <a:gd name="T58" fmla="*/ 41 w 54"/>
                    <a:gd name="T59" fmla="*/ 39 h 44"/>
                    <a:gd name="T60" fmla="*/ 45 w 54"/>
                    <a:gd name="T61" fmla="*/ 37 h 44"/>
                    <a:gd name="T62" fmla="*/ 48 w 54"/>
                    <a:gd name="T63" fmla="*/ 34 h 44"/>
                    <a:gd name="T64" fmla="*/ 50 w 54"/>
                    <a:gd name="T65" fmla="*/ 31 h 44"/>
                    <a:gd name="T66" fmla="*/ 52 w 54"/>
                    <a:gd name="T67" fmla="*/ 27 h 44"/>
                    <a:gd name="T68" fmla="*/ 54 w 54"/>
                    <a:gd name="T69" fmla="*/ 22 h 44"/>
                    <a:gd name="T70" fmla="*/ 54 w 54"/>
                    <a:gd name="T71" fmla="*/ 18 h 44"/>
                    <a:gd name="T72" fmla="*/ 53 w 54"/>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4" h="44">
                      <a:moveTo>
                        <a:pt x="53" y="15"/>
                      </a:moveTo>
                      <a:lnTo>
                        <a:pt x="52" y="11"/>
                      </a:lnTo>
                      <a:lnTo>
                        <a:pt x="49" y="7"/>
                      </a:lnTo>
                      <a:lnTo>
                        <a:pt x="47" y="5"/>
                      </a:lnTo>
                      <a:lnTo>
                        <a:pt x="43" y="1"/>
                      </a:lnTo>
                      <a:lnTo>
                        <a:pt x="39" y="0"/>
                      </a:lnTo>
                      <a:lnTo>
                        <a:pt x="35" y="0"/>
                      </a:lnTo>
                      <a:lnTo>
                        <a:pt x="32" y="0"/>
                      </a:lnTo>
                      <a:lnTo>
                        <a:pt x="26" y="0"/>
                      </a:lnTo>
                      <a:lnTo>
                        <a:pt x="21" y="1"/>
                      </a:lnTo>
                      <a:lnTo>
                        <a:pt x="16" y="2"/>
                      </a:lnTo>
                      <a:lnTo>
                        <a:pt x="13" y="5"/>
                      </a:lnTo>
                      <a:lnTo>
                        <a:pt x="9" y="7"/>
                      </a:lnTo>
                      <a:lnTo>
                        <a:pt x="6" y="10"/>
                      </a:lnTo>
                      <a:lnTo>
                        <a:pt x="4" y="13"/>
                      </a:lnTo>
                      <a:lnTo>
                        <a:pt x="2" y="17"/>
                      </a:lnTo>
                      <a:lnTo>
                        <a:pt x="0" y="22"/>
                      </a:lnTo>
                      <a:lnTo>
                        <a:pt x="0" y="26"/>
                      </a:lnTo>
                      <a:lnTo>
                        <a:pt x="1" y="29"/>
                      </a:lnTo>
                      <a:lnTo>
                        <a:pt x="2" y="33"/>
                      </a:lnTo>
                      <a:lnTo>
                        <a:pt x="5" y="37"/>
                      </a:lnTo>
                      <a:lnTo>
                        <a:pt x="7" y="39"/>
                      </a:lnTo>
                      <a:lnTo>
                        <a:pt x="11" y="43"/>
                      </a:lnTo>
                      <a:lnTo>
                        <a:pt x="15" y="44"/>
                      </a:lnTo>
                      <a:lnTo>
                        <a:pt x="19" y="44"/>
                      </a:lnTo>
                      <a:lnTo>
                        <a:pt x="22" y="44"/>
                      </a:lnTo>
                      <a:lnTo>
                        <a:pt x="28" y="44"/>
                      </a:lnTo>
                      <a:lnTo>
                        <a:pt x="33" y="43"/>
                      </a:lnTo>
                      <a:lnTo>
                        <a:pt x="38" y="42"/>
                      </a:lnTo>
                      <a:lnTo>
                        <a:pt x="41" y="39"/>
                      </a:lnTo>
                      <a:lnTo>
                        <a:pt x="45" y="37"/>
                      </a:lnTo>
                      <a:lnTo>
                        <a:pt x="48" y="34"/>
                      </a:lnTo>
                      <a:lnTo>
                        <a:pt x="50" y="31"/>
                      </a:lnTo>
                      <a:lnTo>
                        <a:pt x="52" y="27"/>
                      </a:lnTo>
                      <a:lnTo>
                        <a:pt x="54" y="22"/>
                      </a:lnTo>
                      <a:lnTo>
                        <a:pt x="54" y="18"/>
                      </a:lnTo>
                      <a:lnTo>
                        <a:pt x="53"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39" name="Freeform 58"/>
                <p:cNvSpPr>
                  <a:spLocks/>
                </p:cNvSpPr>
                <p:nvPr/>
              </p:nvSpPr>
              <p:spPr bwMode="auto">
                <a:xfrm>
                  <a:off x="650" y="1442"/>
                  <a:ext cx="565" cy="162"/>
                </a:xfrm>
                <a:custGeom>
                  <a:avLst/>
                  <a:gdLst>
                    <a:gd name="T0" fmla="*/ 17 w 565"/>
                    <a:gd name="T1" fmla="*/ 120 h 162"/>
                    <a:gd name="T2" fmla="*/ 145 w 565"/>
                    <a:gd name="T3" fmla="*/ 102 h 162"/>
                    <a:gd name="T4" fmla="*/ 283 w 565"/>
                    <a:gd name="T5" fmla="*/ 68 h 162"/>
                    <a:gd name="T6" fmla="*/ 405 w 565"/>
                    <a:gd name="T7" fmla="*/ 36 h 162"/>
                    <a:gd name="T8" fmla="*/ 542 w 565"/>
                    <a:gd name="T9" fmla="*/ 0 h 162"/>
                    <a:gd name="T10" fmla="*/ 565 w 565"/>
                    <a:gd name="T11" fmla="*/ 8 h 162"/>
                    <a:gd name="T12" fmla="*/ 555 w 565"/>
                    <a:gd name="T13" fmla="*/ 26 h 162"/>
                    <a:gd name="T14" fmla="*/ 498 w 565"/>
                    <a:gd name="T15" fmla="*/ 38 h 162"/>
                    <a:gd name="T16" fmla="*/ 380 w 565"/>
                    <a:gd name="T17" fmla="*/ 66 h 162"/>
                    <a:gd name="T18" fmla="*/ 233 w 565"/>
                    <a:gd name="T19" fmla="*/ 104 h 162"/>
                    <a:gd name="T20" fmla="*/ 118 w 565"/>
                    <a:gd name="T21" fmla="*/ 134 h 162"/>
                    <a:gd name="T22" fmla="*/ 35 w 565"/>
                    <a:gd name="T23" fmla="*/ 162 h 162"/>
                    <a:gd name="T24" fmla="*/ 0 w 565"/>
                    <a:gd name="T25" fmla="*/ 152 h 162"/>
                    <a:gd name="T26" fmla="*/ 17 w 565"/>
                    <a:gd name="T27" fmla="*/ 120 h 1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65" h="162">
                      <a:moveTo>
                        <a:pt x="17" y="120"/>
                      </a:moveTo>
                      <a:lnTo>
                        <a:pt x="145" y="102"/>
                      </a:lnTo>
                      <a:lnTo>
                        <a:pt x="283" y="68"/>
                      </a:lnTo>
                      <a:lnTo>
                        <a:pt x="405" y="36"/>
                      </a:lnTo>
                      <a:lnTo>
                        <a:pt x="542" y="0"/>
                      </a:lnTo>
                      <a:lnTo>
                        <a:pt x="565" y="8"/>
                      </a:lnTo>
                      <a:lnTo>
                        <a:pt x="555" y="26"/>
                      </a:lnTo>
                      <a:lnTo>
                        <a:pt x="498" y="38"/>
                      </a:lnTo>
                      <a:lnTo>
                        <a:pt x="380" y="66"/>
                      </a:lnTo>
                      <a:lnTo>
                        <a:pt x="233" y="104"/>
                      </a:lnTo>
                      <a:lnTo>
                        <a:pt x="118" y="134"/>
                      </a:lnTo>
                      <a:lnTo>
                        <a:pt x="35" y="162"/>
                      </a:lnTo>
                      <a:lnTo>
                        <a:pt x="0" y="152"/>
                      </a:lnTo>
                      <a:lnTo>
                        <a:pt x="17"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40" name="Freeform 59"/>
                <p:cNvSpPr>
                  <a:spLocks/>
                </p:cNvSpPr>
                <p:nvPr/>
              </p:nvSpPr>
              <p:spPr bwMode="auto">
                <a:xfrm>
                  <a:off x="605" y="1539"/>
                  <a:ext cx="606" cy="259"/>
                </a:xfrm>
                <a:custGeom>
                  <a:avLst/>
                  <a:gdLst>
                    <a:gd name="T0" fmla="*/ 117 w 606"/>
                    <a:gd name="T1" fmla="*/ 131 h 259"/>
                    <a:gd name="T2" fmla="*/ 271 w 606"/>
                    <a:gd name="T3" fmla="*/ 88 h 259"/>
                    <a:gd name="T4" fmla="*/ 408 w 606"/>
                    <a:gd name="T5" fmla="*/ 49 h 259"/>
                    <a:gd name="T6" fmla="*/ 525 w 606"/>
                    <a:gd name="T7" fmla="*/ 20 h 259"/>
                    <a:gd name="T8" fmla="*/ 598 w 606"/>
                    <a:gd name="T9" fmla="*/ 0 h 259"/>
                    <a:gd name="T10" fmla="*/ 606 w 606"/>
                    <a:gd name="T11" fmla="*/ 26 h 259"/>
                    <a:gd name="T12" fmla="*/ 594 w 606"/>
                    <a:gd name="T13" fmla="*/ 77 h 259"/>
                    <a:gd name="T14" fmla="*/ 473 w 606"/>
                    <a:gd name="T15" fmla="*/ 112 h 259"/>
                    <a:gd name="T16" fmla="*/ 273 w 606"/>
                    <a:gd name="T17" fmla="*/ 161 h 259"/>
                    <a:gd name="T18" fmla="*/ 117 w 606"/>
                    <a:gd name="T19" fmla="*/ 218 h 259"/>
                    <a:gd name="T20" fmla="*/ 23 w 606"/>
                    <a:gd name="T21" fmla="*/ 259 h 259"/>
                    <a:gd name="T22" fmla="*/ 0 w 606"/>
                    <a:gd name="T23" fmla="*/ 249 h 259"/>
                    <a:gd name="T24" fmla="*/ 0 w 606"/>
                    <a:gd name="T25" fmla="*/ 208 h 259"/>
                    <a:gd name="T26" fmla="*/ 23 w 606"/>
                    <a:gd name="T27" fmla="*/ 137 h 259"/>
                    <a:gd name="T28" fmla="*/ 60 w 606"/>
                    <a:gd name="T29" fmla="*/ 141 h 259"/>
                    <a:gd name="T30" fmla="*/ 35 w 606"/>
                    <a:gd name="T31" fmla="*/ 173 h 259"/>
                    <a:gd name="T32" fmla="*/ 29 w 606"/>
                    <a:gd name="T33" fmla="*/ 220 h 259"/>
                    <a:gd name="T34" fmla="*/ 52 w 606"/>
                    <a:gd name="T35" fmla="*/ 218 h 259"/>
                    <a:gd name="T36" fmla="*/ 158 w 606"/>
                    <a:gd name="T37" fmla="*/ 182 h 259"/>
                    <a:gd name="T38" fmla="*/ 319 w 606"/>
                    <a:gd name="T39" fmla="*/ 130 h 259"/>
                    <a:gd name="T40" fmla="*/ 456 w 606"/>
                    <a:gd name="T41" fmla="*/ 94 h 259"/>
                    <a:gd name="T42" fmla="*/ 543 w 606"/>
                    <a:gd name="T43" fmla="*/ 65 h 259"/>
                    <a:gd name="T44" fmla="*/ 575 w 606"/>
                    <a:gd name="T45" fmla="*/ 59 h 259"/>
                    <a:gd name="T46" fmla="*/ 581 w 606"/>
                    <a:gd name="T47" fmla="*/ 24 h 259"/>
                    <a:gd name="T48" fmla="*/ 473 w 606"/>
                    <a:gd name="T49" fmla="*/ 55 h 259"/>
                    <a:gd name="T50" fmla="*/ 317 w 606"/>
                    <a:gd name="T51" fmla="*/ 90 h 259"/>
                    <a:gd name="T52" fmla="*/ 185 w 606"/>
                    <a:gd name="T53" fmla="*/ 131 h 259"/>
                    <a:gd name="T54" fmla="*/ 71 w 606"/>
                    <a:gd name="T55" fmla="*/ 165 h 259"/>
                    <a:gd name="T56" fmla="*/ 83 w 606"/>
                    <a:gd name="T57" fmla="*/ 137 h 259"/>
                    <a:gd name="T58" fmla="*/ 117 w 606"/>
                    <a:gd name="T59" fmla="*/ 131 h 25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6" h="259">
                      <a:moveTo>
                        <a:pt x="117" y="131"/>
                      </a:moveTo>
                      <a:lnTo>
                        <a:pt x="271" y="88"/>
                      </a:lnTo>
                      <a:lnTo>
                        <a:pt x="408" y="49"/>
                      </a:lnTo>
                      <a:lnTo>
                        <a:pt x="525" y="20"/>
                      </a:lnTo>
                      <a:lnTo>
                        <a:pt x="598" y="0"/>
                      </a:lnTo>
                      <a:lnTo>
                        <a:pt x="606" y="26"/>
                      </a:lnTo>
                      <a:lnTo>
                        <a:pt x="594" y="77"/>
                      </a:lnTo>
                      <a:lnTo>
                        <a:pt x="473" y="112"/>
                      </a:lnTo>
                      <a:lnTo>
                        <a:pt x="273" y="161"/>
                      </a:lnTo>
                      <a:lnTo>
                        <a:pt x="117" y="218"/>
                      </a:lnTo>
                      <a:lnTo>
                        <a:pt x="23" y="259"/>
                      </a:lnTo>
                      <a:lnTo>
                        <a:pt x="0" y="249"/>
                      </a:lnTo>
                      <a:lnTo>
                        <a:pt x="0" y="208"/>
                      </a:lnTo>
                      <a:lnTo>
                        <a:pt x="23" y="137"/>
                      </a:lnTo>
                      <a:lnTo>
                        <a:pt x="60" y="141"/>
                      </a:lnTo>
                      <a:lnTo>
                        <a:pt x="35" y="173"/>
                      </a:lnTo>
                      <a:lnTo>
                        <a:pt x="29" y="220"/>
                      </a:lnTo>
                      <a:lnTo>
                        <a:pt x="52" y="218"/>
                      </a:lnTo>
                      <a:lnTo>
                        <a:pt x="158" y="182"/>
                      </a:lnTo>
                      <a:lnTo>
                        <a:pt x="319" y="130"/>
                      </a:lnTo>
                      <a:lnTo>
                        <a:pt x="456" y="94"/>
                      </a:lnTo>
                      <a:lnTo>
                        <a:pt x="543" y="65"/>
                      </a:lnTo>
                      <a:lnTo>
                        <a:pt x="575" y="59"/>
                      </a:lnTo>
                      <a:lnTo>
                        <a:pt x="581" y="24"/>
                      </a:lnTo>
                      <a:lnTo>
                        <a:pt x="473" y="55"/>
                      </a:lnTo>
                      <a:lnTo>
                        <a:pt x="317" y="90"/>
                      </a:lnTo>
                      <a:lnTo>
                        <a:pt x="185" y="131"/>
                      </a:lnTo>
                      <a:lnTo>
                        <a:pt x="71" y="165"/>
                      </a:lnTo>
                      <a:lnTo>
                        <a:pt x="83" y="137"/>
                      </a:lnTo>
                      <a:lnTo>
                        <a:pt x="117" y="1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7241" name="Group 60"/>
                <p:cNvGrpSpPr>
                  <a:grpSpLocks/>
                </p:cNvGrpSpPr>
                <p:nvPr/>
              </p:nvGrpSpPr>
              <p:grpSpPr bwMode="auto">
                <a:xfrm>
                  <a:off x="1081" y="1154"/>
                  <a:ext cx="105" cy="108"/>
                  <a:chOff x="1081" y="1154"/>
                  <a:chExt cx="105" cy="108"/>
                </a:xfrm>
              </p:grpSpPr>
              <p:sp>
                <p:nvSpPr>
                  <p:cNvPr id="7250" name="Freeform 61"/>
                  <p:cNvSpPr>
                    <a:spLocks/>
                  </p:cNvSpPr>
                  <p:nvPr/>
                </p:nvSpPr>
                <p:spPr bwMode="auto">
                  <a:xfrm>
                    <a:off x="1093" y="1154"/>
                    <a:ext cx="93" cy="108"/>
                  </a:xfrm>
                  <a:custGeom>
                    <a:avLst/>
                    <a:gdLst>
                      <a:gd name="T0" fmla="*/ 2 w 93"/>
                      <a:gd name="T1" fmla="*/ 53 h 108"/>
                      <a:gd name="T2" fmla="*/ 14 w 93"/>
                      <a:gd name="T3" fmla="*/ 31 h 108"/>
                      <a:gd name="T4" fmla="*/ 37 w 93"/>
                      <a:gd name="T5" fmla="*/ 29 h 108"/>
                      <a:gd name="T6" fmla="*/ 64 w 93"/>
                      <a:gd name="T7" fmla="*/ 31 h 108"/>
                      <a:gd name="T8" fmla="*/ 70 w 93"/>
                      <a:gd name="T9" fmla="*/ 49 h 108"/>
                      <a:gd name="T10" fmla="*/ 58 w 93"/>
                      <a:gd name="T11" fmla="*/ 73 h 108"/>
                      <a:gd name="T12" fmla="*/ 37 w 93"/>
                      <a:gd name="T13" fmla="*/ 79 h 108"/>
                      <a:gd name="T14" fmla="*/ 6 w 93"/>
                      <a:gd name="T15" fmla="*/ 84 h 108"/>
                      <a:gd name="T16" fmla="*/ 8 w 93"/>
                      <a:gd name="T17" fmla="*/ 98 h 108"/>
                      <a:gd name="T18" fmla="*/ 27 w 93"/>
                      <a:gd name="T19" fmla="*/ 108 h 108"/>
                      <a:gd name="T20" fmla="*/ 62 w 93"/>
                      <a:gd name="T21" fmla="*/ 96 h 108"/>
                      <a:gd name="T22" fmla="*/ 83 w 93"/>
                      <a:gd name="T23" fmla="*/ 77 h 108"/>
                      <a:gd name="T24" fmla="*/ 93 w 93"/>
                      <a:gd name="T25" fmla="*/ 59 h 108"/>
                      <a:gd name="T26" fmla="*/ 89 w 93"/>
                      <a:gd name="T27" fmla="*/ 29 h 108"/>
                      <a:gd name="T28" fmla="*/ 70 w 93"/>
                      <a:gd name="T29" fmla="*/ 16 h 108"/>
                      <a:gd name="T30" fmla="*/ 37 w 93"/>
                      <a:gd name="T31" fmla="*/ 0 h 108"/>
                      <a:gd name="T32" fmla="*/ 12 w 93"/>
                      <a:gd name="T33" fmla="*/ 6 h 108"/>
                      <a:gd name="T34" fmla="*/ 0 w 93"/>
                      <a:gd name="T35" fmla="*/ 35 h 108"/>
                      <a:gd name="T36" fmla="*/ 2 w 93"/>
                      <a:gd name="T37" fmla="*/ 53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3" h="108">
                        <a:moveTo>
                          <a:pt x="2" y="53"/>
                        </a:moveTo>
                        <a:lnTo>
                          <a:pt x="14" y="31"/>
                        </a:lnTo>
                        <a:lnTo>
                          <a:pt x="37" y="29"/>
                        </a:lnTo>
                        <a:lnTo>
                          <a:pt x="64" y="31"/>
                        </a:lnTo>
                        <a:lnTo>
                          <a:pt x="70" y="49"/>
                        </a:lnTo>
                        <a:lnTo>
                          <a:pt x="58" y="73"/>
                        </a:lnTo>
                        <a:lnTo>
                          <a:pt x="37" y="79"/>
                        </a:lnTo>
                        <a:lnTo>
                          <a:pt x="6" y="84"/>
                        </a:lnTo>
                        <a:lnTo>
                          <a:pt x="8" y="98"/>
                        </a:lnTo>
                        <a:lnTo>
                          <a:pt x="27" y="108"/>
                        </a:lnTo>
                        <a:lnTo>
                          <a:pt x="62" y="96"/>
                        </a:lnTo>
                        <a:lnTo>
                          <a:pt x="83" y="77"/>
                        </a:lnTo>
                        <a:lnTo>
                          <a:pt x="93" y="59"/>
                        </a:lnTo>
                        <a:lnTo>
                          <a:pt x="89" y="29"/>
                        </a:lnTo>
                        <a:lnTo>
                          <a:pt x="70" y="16"/>
                        </a:lnTo>
                        <a:lnTo>
                          <a:pt x="37" y="0"/>
                        </a:lnTo>
                        <a:lnTo>
                          <a:pt x="12" y="6"/>
                        </a:lnTo>
                        <a:lnTo>
                          <a:pt x="0" y="35"/>
                        </a:lnTo>
                        <a:lnTo>
                          <a:pt x="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51" name="Freeform 62"/>
                  <p:cNvSpPr>
                    <a:spLocks/>
                  </p:cNvSpPr>
                  <p:nvPr/>
                </p:nvSpPr>
                <p:spPr bwMode="auto">
                  <a:xfrm>
                    <a:off x="1081" y="1180"/>
                    <a:ext cx="54" cy="73"/>
                  </a:xfrm>
                  <a:custGeom>
                    <a:avLst/>
                    <a:gdLst>
                      <a:gd name="T0" fmla="*/ 41 w 54"/>
                      <a:gd name="T1" fmla="*/ 0 h 73"/>
                      <a:gd name="T2" fmla="*/ 16 w 54"/>
                      <a:gd name="T3" fmla="*/ 15 h 73"/>
                      <a:gd name="T4" fmla="*/ 20 w 54"/>
                      <a:gd name="T5" fmla="*/ 39 h 73"/>
                      <a:gd name="T6" fmla="*/ 27 w 54"/>
                      <a:gd name="T7" fmla="*/ 58 h 73"/>
                      <a:gd name="T8" fmla="*/ 54 w 54"/>
                      <a:gd name="T9" fmla="*/ 67 h 73"/>
                      <a:gd name="T10" fmla="*/ 27 w 54"/>
                      <a:gd name="T11" fmla="*/ 73 h 73"/>
                      <a:gd name="T12" fmla="*/ 2 w 54"/>
                      <a:gd name="T13" fmla="*/ 58 h 73"/>
                      <a:gd name="T14" fmla="*/ 0 w 54"/>
                      <a:gd name="T15" fmla="*/ 34 h 73"/>
                      <a:gd name="T16" fmla="*/ 2 w 54"/>
                      <a:gd name="T17" fmla="*/ 6 h 73"/>
                      <a:gd name="T18" fmla="*/ 41 w 54"/>
                      <a:gd name="T19" fmla="*/ 0 h 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73">
                        <a:moveTo>
                          <a:pt x="41" y="0"/>
                        </a:moveTo>
                        <a:lnTo>
                          <a:pt x="16" y="15"/>
                        </a:lnTo>
                        <a:lnTo>
                          <a:pt x="20" y="39"/>
                        </a:lnTo>
                        <a:lnTo>
                          <a:pt x="27" y="58"/>
                        </a:lnTo>
                        <a:lnTo>
                          <a:pt x="54" y="67"/>
                        </a:lnTo>
                        <a:lnTo>
                          <a:pt x="27" y="73"/>
                        </a:lnTo>
                        <a:lnTo>
                          <a:pt x="2" y="58"/>
                        </a:lnTo>
                        <a:lnTo>
                          <a:pt x="0" y="34"/>
                        </a:lnTo>
                        <a:lnTo>
                          <a:pt x="2" y="6"/>
                        </a:lnTo>
                        <a:lnTo>
                          <a:pt x="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7242" name="Group 63"/>
                <p:cNvGrpSpPr>
                  <a:grpSpLocks/>
                </p:cNvGrpSpPr>
                <p:nvPr/>
              </p:nvGrpSpPr>
              <p:grpSpPr bwMode="auto">
                <a:xfrm>
                  <a:off x="888" y="1194"/>
                  <a:ext cx="104" cy="108"/>
                  <a:chOff x="888" y="1194"/>
                  <a:chExt cx="104" cy="108"/>
                </a:xfrm>
              </p:grpSpPr>
              <p:sp>
                <p:nvSpPr>
                  <p:cNvPr id="7248" name="Freeform 64"/>
                  <p:cNvSpPr>
                    <a:spLocks/>
                  </p:cNvSpPr>
                  <p:nvPr/>
                </p:nvSpPr>
                <p:spPr bwMode="auto">
                  <a:xfrm>
                    <a:off x="899" y="1194"/>
                    <a:ext cx="93" cy="108"/>
                  </a:xfrm>
                  <a:custGeom>
                    <a:avLst/>
                    <a:gdLst>
                      <a:gd name="T0" fmla="*/ 2 w 93"/>
                      <a:gd name="T1" fmla="*/ 53 h 108"/>
                      <a:gd name="T2" fmla="*/ 14 w 93"/>
                      <a:gd name="T3" fmla="*/ 31 h 108"/>
                      <a:gd name="T4" fmla="*/ 37 w 93"/>
                      <a:gd name="T5" fmla="*/ 29 h 108"/>
                      <a:gd name="T6" fmla="*/ 64 w 93"/>
                      <a:gd name="T7" fmla="*/ 31 h 108"/>
                      <a:gd name="T8" fmla="*/ 70 w 93"/>
                      <a:gd name="T9" fmla="*/ 49 h 108"/>
                      <a:gd name="T10" fmla="*/ 58 w 93"/>
                      <a:gd name="T11" fmla="*/ 73 h 108"/>
                      <a:gd name="T12" fmla="*/ 37 w 93"/>
                      <a:gd name="T13" fmla="*/ 79 h 108"/>
                      <a:gd name="T14" fmla="*/ 6 w 93"/>
                      <a:gd name="T15" fmla="*/ 84 h 108"/>
                      <a:gd name="T16" fmla="*/ 8 w 93"/>
                      <a:gd name="T17" fmla="*/ 98 h 108"/>
                      <a:gd name="T18" fmla="*/ 27 w 93"/>
                      <a:gd name="T19" fmla="*/ 108 h 108"/>
                      <a:gd name="T20" fmla="*/ 62 w 93"/>
                      <a:gd name="T21" fmla="*/ 96 h 108"/>
                      <a:gd name="T22" fmla="*/ 83 w 93"/>
                      <a:gd name="T23" fmla="*/ 77 h 108"/>
                      <a:gd name="T24" fmla="*/ 93 w 93"/>
                      <a:gd name="T25" fmla="*/ 59 h 108"/>
                      <a:gd name="T26" fmla="*/ 89 w 93"/>
                      <a:gd name="T27" fmla="*/ 29 h 108"/>
                      <a:gd name="T28" fmla="*/ 70 w 93"/>
                      <a:gd name="T29" fmla="*/ 16 h 108"/>
                      <a:gd name="T30" fmla="*/ 37 w 93"/>
                      <a:gd name="T31" fmla="*/ 0 h 108"/>
                      <a:gd name="T32" fmla="*/ 12 w 93"/>
                      <a:gd name="T33" fmla="*/ 6 h 108"/>
                      <a:gd name="T34" fmla="*/ 0 w 93"/>
                      <a:gd name="T35" fmla="*/ 35 h 108"/>
                      <a:gd name="T36" fmla="*/ 2 w 93"/>
                      <a:gd name="T37" fmla="*/ 53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3" h="108">
                        <a:moveTo>
                          <a:pt x="2" y="53"/>
                        </a:moveTo>
                        <a:lnTo>
                          <a:pt x="14" y="31"/>
                        </a:lnTo>
                        <a:lnTo>
                          <a:pt x="37" y="29"/>
                        </a:lnTo>
                        <a:lnTo>
                          <a:pt x="64" y="31"/>
                        </a:lnTo>
                        <a:lnTo>
                          <a:pt x="70" y="49"/>
                        </a:lnTo>
                        <a:lnTo>
                          <a:pt x="58" y="73"/>
                        </a:lnTo>
                        <a:lnTo>
                          <a:pt x="37" y="79"/>
                        </a:lnTo>
                        <a:lnTo>
                          <a:pt x="6" y="84"/>
                        </a:lnTo>
                        <a:lnTo>
                          <a:pt x="8" y="98"/>
                        </a:lnTo>
                        <a:lnTo>
                          <a:pt x="27" y="108"/>
                        </a:lnTo>
                        <a:lnTo>
                          <a:pt x="62" y="96"/>
                        </a:lnTo>
                        <a:lnTo>
                          <a:pt x="83" y="77"/>
                        </a:lnTo>
                        <a:lnTo>
                          <a:pt x="93" y="59"/>
                        </a:lnTo>
                        <a:lnTo>
                          <a:pt x="89" y="29"/>
                        </a:lnTo>
                        <a:lnTo>
                          <a:pt x="70" y="16"/>
                        </a:lnTo>
                        <a:lnTo>
                          <a:pt x="37" y="0"/>
                        </a:lnTo>
                        <a:lnTo>
                          <a:pt x="12" y="6"/>
                        </a:lnTo>
                        <a:lnTo>
                          <a:pt x="0" y="35"/>
                        </a:lnTo>
                        <a:lnTo>
                          <a:pt x="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49" name="Freeform 65"/>
                  <p:cNvSpPr>
                    <a:spLocks/>
                  </p:cNvSpPr>
                  <p:nvPr/>
                </p:nvSpPr>
                <p:spPr bwMode="auto">
                  <a:xfrm>
                    <a:off x="888" y="1220"/>
                    <a:ext cx="53" cy="73"/>
                  </a:xfrm>
                  <a:custGeom>
                    <a:avLst/>
                    <a:gdLst>
                      <a:gd name="T0" fmla="*/ 40 w 53"/>
                      <a:gd name="T1" fmla="*/ 0 h 73"/>
                      <a:gd name="T2" fmla="*/ 15 w 53"/>
                      <a:gd name="T3" fmla="*/ 15 h 73"/>
                      <a:gd name="T4" fmla="*/ 20 w 53"/>
                      <a:gd name="T5" fmla="*/ 39 h 73"/>
                      <a:gd name="T6" fmla="*/ 27 w 53"/>
                      <a:gd name="T7" fmla="*/ 58 h 73"/>
                      <a:gd name="T8" fmla="*/ 53 w 53"/>
                      <a:gd name="T9" fmla="*/ 67 h 73"/>
                      <a:gd name="T10" fmla="*/ 27 w 53"/>
                      <a:gd name="T11" fmla="*/ 73 h 73"/>
                      <a:gd name="T12" fmla="*/ 2 w 53"/>
                      <a:gd name="T13" fmla="*/ 58 h 73"/>
                      <a:gd name="T14" fmla="*/ 0 w 53"/>
                      <a:gd name="T15" fmla="*/ 34 h 73"/>
                      <a:gd name="T16" fmla="*/ 2 w 53"/>
                      <a:gd name="T17" fmla="*/ 6 h 73"/>
                      <a:gd name="T18" fmla="*/ 40 w 53"/>
                      <a:gd name="T19" fmla="*/ 0 h 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3" h="73">
                        <a:moveTo>
                          <a:pt x="40" y="0"/>
                        </a:moveTo>
                        <a:lnTo>
                          <a:pt x="15" y="15"/>
                        </a:lnTo>
                        <a:lnTo>
                          <a:pt x="20" y="39"/>
                        </a:lnTo>
                        <a:lnTo>
                          <a:pt x="27" y="58"/>
                        </a:lnTo>
                        <a:lnTo>
                          <a:pt x="53" y="67"/>
                        </a:lnTo>
                        <a:lnTo>
                          <a:pt x="27" y="73"/>
                        </a:lnTo>
                        <a:lnTo>
                          <a:pt x="2" y="58"/>
                        </a:lnTo>
                        <a:lnTo>
                          <a:pt x="0" y="34"/>
                        </a:lnTo>
                        <a:lnTo>
                          <a:pt x="2" y="6"/>
                        </a:lnTo>
                        <a:lnTo>
                          <a:pt x="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7243" name="Group 66"/>
                <p:cNvGrpSpPr>
                  <a:grpSpLocks/>
                </p:cNvGrpSpPr>
                <p:nvPr/>
              </p:nvGrpSpPr>
              <p:grpSpPr bwMode="auto">
                <a:xfrm>
                  <a:off x="690" y="1243"/>
                  <a:ext cx="105" cy="109"/>
                  <a:chOff x="690" y="1243"/>
                  <a:chExt cx="105" cy="109"/>
                </a:xfrm>
              </p:grpSpPr>
              <p:sp>
                <p:nvSpPr>
                  <p:cNvPr id="7246" name="Freeform 67"/>
                  <p:cNvSpPr>
                    <a:spLocks/>
                  </p:cNvSpPr>
                  <p:nvPr/>
                </p:nvSpPr>
                <p:spPr bwMode="auto">
                  <a:xfrm>
                    <a:off x="702" y="1243"/>
                    <a:ext cx="93" cy="109"/>
                  </a:xfrm>
                  <a:custGeom>
                    <a:avLst/>
                    <a:gdLst>
                      <a:gd name="T0" fmla="*/ 2 w 93"/>
                      <a:gd name="T1" fmla="*/ 53 h 109"/>
                      <a:gd name="T2" fmla="*/ 14 w 93"/>
                      <a:gd name="T3" fmla="*/ 31 h 109"/>
                      <a:gd name="T4" fmla="*/ 37 w 93"/>
                      <a:gd name="T5" fmla="*/ 29 h 109"/>
                      <a:gd name="T6" fmla="*/ 64 w 93"/>
                      <a:gd name="T7" fmla="*/ 31 h 109"/>
                      <a:gd name="T8" fmla="*/ 70 w 93"/>
                      <a:gd name="T9" fmla="*/ 49 h 109"/>
                      <a:gd name="T10" fmla="*/ 58 w 93"/>
                      <a:gd name="T11" fmla="*/ 74 h 109"/>
                      <a:gd name="T12" fmla="*/ 37 w 93"/>
                      <a:gd name="T13" fmla="*/ 80 h 109"/>
                      <a:gd name="T14" fmla="*/ 6 w 93"/>
                      <a:gd name="T15" fmla="*/ 84 h 109"/>
                      <a:gd name="T16" fmla="*/ 8 w 93"/>
                      <a:gd name="T17" fmla="*/ 99 h 109"/>
                      <a:gd name="T18" fmla="*/ 27 w 93"/>
                      <a:gd name="T19" fmla="*/ 109 h 109"/>
                      <a:gd name="T20" fmla="*/ 62 w 93"/>
                      <a:gd name="T21" fmla="*/ 97 h 109"/>
                      <a:gd name="T22" fmla="*/ 83 w 93"/>
                      <a:gd name="T23" fmla="*/ 78 h 109"/>
                      <a:gd name="T24" fmla="*/ 93 w 93"/>
                      <a:gd name="T25" fmla="*/ 60 h 109"/>
                      <a:gd name="T26" fmla="*/ 89 w 93"/>
                      <a:gd name="T27" fmla="*/ 29 h 109"/>
                      <a:gd name="T28" fmla="*/ 70 w 93"/>
                      <a:gd name="T29" fmla="*/ 16 h 109"/>
                      <a:gd name="T30" fmla="*/ 37 w 93"/>
                      <a:gd name="T31" fmla="*/ 0 h 109"/>
                      <a:gd name="T32" fmla="*/ 12 w 93"/>
                      <a:gd name="T33" fmla="*/ 6 h 109"/>
                      <a:gd name="T34" fmla="*/ 0 w 93"/>
                      <a:gd name="T35" fmla="*/ 35 h 109"/>
                      <a:gd name="T36" fmla="*/ 2 w 93"/>
                      <a:gd name="T37" fmla="*/ 53 h 1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3" h="109">
                        <a:moveTo>
                          <a:pt x="2" y="53"/>
                        </a:moveTo>
                        <a:lnTo>
                          <a:pt x="14" y="31"/>
                        </a:lnTo>
                        <a:lnTo>
                          <a:pt x="37" y="29"/>
                        </a:lnTo>
                        <a:lnTo>
                          <a:pt x="64" y="31"/>
                        </a:lnTo>
                        <a:lnTo>
                          <a:pt x="70" y="49"/>
                        </a:lnTo>
                        <a:lnTo>
                          <a:pt x="58" y="74"/>
                        </a:lnTo>
                        <a:lnTo>
                          <a:pt x="37" y="80"/>
                        </a:lnTo>
                        <a:lnTo>
                          <a:pt x="6" y="84"/>
                        </a:lnTo>
                        <a:lnTo>
                          <a:pt x="8" y="99"/>
                        </a:lnTo>
                        <a:lnTo>
                          <a:pt x="27" y="109"/>
                        </a:lnTo>
                        <a:lnTo>
                          <a:pt x="62" y="97"/>
                        </a:lnTo>
                        <a:lnTo>
                          <a:pt x="83" y="78"/>
                        </a:lnTo>
                        <a:lnTo>
                          <a:pt x="93" y="60"/>
                        </a:lnTo>
                        <a:lnTo>
                          <a:pt x="89" y="29"/>
                        </a:lnTo>
                        <a:lnTo>
                          <a:pt x="70" y="16"/>
                        </a:lnTo>
                        <a:lnTo>
                          <a:pt x="37" y="0"/>
                        </a:lnTo>
                        <a:lnTo>
                          <a:pt x="12" y="6"/>
                        </a:lnTo>
                        <a:lnTo>
                          <a:pt x="0" y="35"/>
                        </a:lnTo>
                        <a:lnTo>
                          <a:pt x="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47" name="Freeform 68"/>
                  <p:cNvSpPr>
                    <a:spLocks/>
                  </p:cNvSpPr>
                  <p:nvPr/>
                </p:nvSpPr>
                <p:spPr bwMode="auto">
                  <a:xfrm>
                    <a:off x="690" y="1270"/>
                    <a:ext cx="54" cy="72"/>
                  </a:xfrm>
                  <a:custGeom>
                    <a:avLst/>
                    <a:gdLst>
                      <a:gd name="T0" fmla="*/ 41 w 54"/>
                      <a:gd name="T1" fmla="*/ 0 h 72"/>
                      <a:gd name="T2" fmla="*/ 16 w 54"/>
                      <a:gd name="T3" fmla="*/ 15 h 72"/>
                      <a:gd name="T4" fmla="*/ 20 w 54"/>
                      <a:gd name="T5" fmla="*/ 38 h 72"/>
                      <a:gd name="T6" fmla="*/ 27 w 54"/>
                      <a:gd name="T7" fmla="*/ 57 h 72"/>
                      <a:gd name="T8" fmla="*/ 54 w 54"/>
                      <a:gd name="T9" fmla="*/ 66 h 72"/>
                      <a:gd name="T10" fmla="*/ 27 w 54"/>
                      <a:gd name="T11" fmla="*/ 72 h 72"/>
                      <a:gd name="T12" fmla="*/ 2 w 54"/>
                      <a:gd name="T13" fmla="*/ 57 h 72"/>
                      <a:gd name="T14" fmla="*/ 0 w 54"/>
                      <a:gd name="T15" fmla="*/ 34 h 72"/>
                      <a:gd name="T16" fmla="*/ 2 w 54"/>
                      <a:gd name="T17" fmla="*/ 6 h 72"/>
                      <a:gd name="T18" fmla="*/ 41 w 54"/>
                      <a:gd name="T19" fmla="*/ 0 h 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72">
                        <a:moveTo>
                          <a:pt x="41" y="0"/>
                        </a:moveTo>
                        <a:lnTo>
                          <a:pt x="16" y="15"/>
                        </a:lnTo>
                        <a:lnTo>
                          <a:pt x="20" y="38"/>
                        </a:lnTo>
                        <a:lnTo>
                          <a:pt x="27" y="57"/>
                        </a:lnTo>
                        <a:lnTo>
                          <a:pt x="54" y="66"/>
                        </a:lnTo>
                        <a:lnTo>
                          <a:pt x="27" y="72"/>
                        </a:lnTo>
                        <a:lnTo>
                          <a:pt x="2" y="57"/>
                        </a:lnTo>
                        <a:lnTo>
                          <a:pt x="0" y="34"/>
                        </a:lnTo>
                        <a:lnTo>
                          <a:pt x="2" y="6"/>
                        </a:lnTo>
                        <a:lnTo>
                          <a:pt x="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244" name="Freeform 69"/>
                <p:cNvSpPr>
                  <a:spLocks/>
                </p:cNvSpPr>
                <p:nvPr/>
              </p:nvSpPr>
              <p:spPr bwMode="auto">
                <a:xfrm>
                  <a:off x="3" y="780"/>
                  <a:ext cx="1316" cy="1196"/>
                </a:xfrm>
                <a:custGeom>
                  <a:avLst/>
                  <a:gdLst>
                    <a:gd name="T0" fmla="*/ 29 w 1316"/>
                    <a:gd name="T1" fmla="*/ 42 h 1196"/>
                    <a:gd name="T2" fmla="*/ 52 w 1316"/>
                    <a:gd name="T3" fmla="*/ 130 h 1196"/>
                    <a:gd name="T4" fmla="*/ 40 w 1316"/>
                    <a:gd name="T5" fmla="*/ 340 h 1196"/>
                    <a:gd name="T6" fmla="*/ 38 w 1316"/>
                    <a:gd name="T7" fmla="*/ 569 h 1196"/>
                    <a:gd name="T8" fmla="*/ 55 w 1316"/>
                    <a:gd name="T9" fmla="*/ 730 h 1196"/>
                    <a:gd name="T10" fmla="*/ 120 w 1316"/>
                    <a:gd name="T11" fmla="*/ 806 h 1196"/>
                    <a:gd name="T12" fmla="*/ 222 w 1316"/>
                    <a:gd name="T13" fmla="*/ 908 h 1196"/>
                    <a:gd name="T14" fmla="*/ 304 w 1316"/>
                    <a:gd name="T15" fmla="*/ 1005 h 1196"/>
                    <a:gd name="T16" fmla="*/ 378 w 1316"/>
                    <a:gd name="T17" fmla="*/ 1108 h 1196"/>
                    <a:gd name="T18" fmla="*/ 447 w 1316"/>
                    <a:gd name="T19" fmla="*/ 1167 h 1196"/>
                    <a:gd name="T20" fmla="*/ 453 w 1316"/>
                    <a:gd name="T21" fmla="*/ 1057 h 1196"/>
                    <a:gd name="T22" fmla="*/ 453 w 1316"/>
                    <a:gd name="T23" fmla="*/ 730 h 1196"/>
                    <a:gd name="T24" fmla="*/ 453 w 1316"/>
                    <a:gd name="T25" fmla="*/ 462 h 1196"/>
                    <a:gd name="T26" fmla="*/ 458 w 1316"/>
                    <a:gd name="T27" fmla="*/ 266 h 1196"/>
                    <a:gd name="T28" fmla="*/ 481 w 1316"/>
                    <a:gd name="T29" fmla="*/ 0 h 1196"/>
                    <a:gd name="T30" fmla="*/ 485 w 1316"/>
                    <a:gd name="T31" fmla="*/ 174 h 1196"/>
                    <a:gd name="T32" fmla="*/ 485 w 1316"/>
                    <a:gd name="T33" fmla="*/ 334 h 1196"/>
                    <a:gd name="T34" fmla="*/ 479 w 1316"/>
                    <a:gd name="T35" fmla="*/ 531 h 1196"/>
                    <a:gd name="T36" fmla="*/ 479 w 1316"/>
                    <a:gd name="T37" fmla="*/ 736 h 1196"/>
                    <a:gd name="T38" fmla="*/ 476 w 1316"/>
                    <a:gd name="T39" fmla="*/ 925 h 1196"/>
                    <a:gd name="T40" fmla="*/ 476 w 1316"/>
                    <a:gd name="T41" fmla="*/ 1143 h 1196"/>
                    <a:gd name="T42" fmla="*/ 567 w 1316"/>
                    <a:gd name="T43" fmla="*/ 1131 h 1196"/>
                    <a:gd name="T44" fmla="*/ 762 w 1316"/>
                    <a:gd name="T45" fmla="*/ 1064 h 1196"/>
                    <a:gd name="T46" fmla="*/ 881 w 1316"/>
                    <a:gd name="T47" fmla="*/ 1018 h 1196"/>
                    <a:gd name="T48" fmla="*/ 1010 w 1316"/>
                    <a:gd name="T49" fmla="*/ 971 h 1196"/>
                    <a:gd name="T50" fmla="*/ 1148 w 1316"/>
                    <a:gd name="T51" fmla="*/ 909 h 1196"/>
                    <a:gd name="T52" fmla="*/ 1253 w 1316"/>
                    <a:gd name="T53" fmla="*/ 875 h 1196"/>
                    <a:gd name="T54" fmla="*/ 1270 w 1316"/>
                    <a:gd name="T55" fmla="*/ 844 h 1196"/>
                    <a:gd name="T56" fmla="*/ 1285 w 1316"/>
                    <a:gd name="T57" fmla="*/ 818 h 1196"/>
                    <a:gd name="T58" fmla="*/ 1293 w 1316"/>
                    <a:gd name="T59" fmla="*/ 646 h 1196"/>
                    <a:gd name="T60" fmla="*/ 1291 w 1316"/>
                    <a:gd name="T61" fmla="*/ 443 h 1196"/>
                    <a:gd name="T62" fmla="*/ 1291 w 1316"/>
                    <a:gd name="T63" fmla="*/ 311 h 1196"/>
                    <a:gd name="T64" fmla="*/ 1293 w 1316"/>
                    <a:gd name="T65" fmla="*/ 197 h 1196"/>
                    <a:gd name="T66" fmla="*/ 1316 w 1316"/>
                    <a:gd name="T67" fmla="*/ 4 h 1196"/>
                    <a:gd name="T68" fmla="*/ 1316 w 1316"/>
                    <a:gd name="T69" fmla="*/ 220 h 1196"/>
                    <a:gd name="T70" fmla="*/ 1316 w 1316"/>
                    <a:gd name="T71" fmla="*/ 376 h 1196"/>
                    <a:gd name="T72" fmla="*/ 1316 w 1316"/>
                    <a:gd name="T73" fmla="*/ 598 h 1196"/>
                    <a:gd name="T74" fmla="*/ 1316 w 1316"/>
                    <a:gd name="T75" fmla="*/ 829 h 1196"/>
                    <a:gd name="T76" fmla="*/ 1303 w 1316"/>
                    <a:gd name="T77" fmla="*/ 885 h 1196"/>
                    <a:gd name="T78" fmla="*/ 1274 w 1316"/>
                    <a:gd name="T79" fmla="*/ 904 h 1196"/>
                    <a:gd name="T80" fmla="*/ 1190 w 1316"/>
                    <a:gd name="T81" fmla="*/ 925 h 1196"/>
                    <a:gd name="T82" fmla="*/ 1064 w 1316"/>
                    <a:gd name="T83" fmla="*/ 976 h 1196"/>
                    <a:gd name="T84" fmla="*/ 921 w 1316"/>
                    <a:gd name="T85" fmla="*/ 1036 h 1196"/>
                    <a:gd name="T86" fmla="*/ 777 w 1316"/>
                    <a:gd name="T87" fmla="*/ 1091 h 1196"/>
                    <a:gd name="T88" fmla="*/ 600 w 1316"/>
                    <a:gd name="T89" fmla="*/ 1150 h 1196"/>
                    <a:gd name="T90" fmla="*/ 479 w 1316"/>
                    <a:gd name="T91" fmla="*/ 1194 h 1196"/>
                    <a:gd name="T92" fmla="*/ 434 w 1316"/>
                    <a:gd name="T93" fmla="*/ 1196 h 1196"/>
                    <a:gd name="T94" fmla="*/ 390 w 1316"/>
                    <a:gd name="T95" fmla="*/ 1154 h 1196"/>
                    <a:gd name="T96" fmla="*/ 321 w 1316"/>
                    <a:gd name="T97" fmla="*/ 1081 h 1196"/>
                    <a:gd name="T98" fmla="*/ 256 w 1316"/>
                    <a:gd name="T99" fmla="*/ 984 h 1196"/>
                    <a:gd name="T100" fmla="*/ 187 w 1316"/>
                    <a:gd name="T101" fmla="*/ 908 h 1196"/>
                    <a:gd name="T102" fmla="*/ 97 w 1316"/>
                    <a:gd name="T103" fmla="*/ 823 h 1196"/>
                    <a:gd name="T104" fmla="*/ 44 w 1316"/>
                    <a:gd name="T105" fmla="*/ 770 h 1196"/>
                    <a:gd name="T106" fmla="*/ 6 w 1316"/>
                    <a:gd name="T107" fmla="*/ 730 h 1196"/>
                    <a:gd name="T108" fmla="*/ 0 w 1316"/>
                    <a:gd name="T109" fmla="*/ 674 h 1196"/>
                    <a:gd name="T110" fmla="*/ 17 w 1316"/>
                    <a:gd name="T111" fmla="*/ 520 h 1196"/>
                    <a:gd name="T112" fmla="*/ 29 w 1316"/>
                    <a:gd name="T113" fmla="*/ 216 h 1196"/>
                    <a:gd name="T114" fmla="*/ 29 w 1316"/>
                    <a:gd name="T115" fmla="*/ 42 h 119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316" h="1196">
                      <a:moveTo>
                        <a:pt x="29" y="42"/>
                      </a:moveTo>
                      <a:lnTo>
                        <a:pt x="52" y="130"/>
                      </a:lnTo>
                      <a:lnTo>
                        <a:pt x="40" y="340"/>
                      </a:lnTo>
                      <a:lnTo>
                        <a:pt x="38" y="569"/>
                      </a:lnTo>
                      <a:lnTo>
                        <a:pt x="55" y="730"/>
                      </a:lnTo>
                      <a:lnTo>
                        <a:pt x="120" y="806"/>
                      </a:lnTo>
                      <a:lnTo>
                        <a:pt x="222" y="908"/>
                      </a:lnTo>
                      <a:lnTo>
                        <a:pt x="304" y="1005"/>
                      </a:lnTo>
                      <a:lnTo>
                        <a:pt x="378" y="1108"/>
                      </a:lnTo>
                      <a:lnTo>
                        <a:pt x="447" y="1167"/>
                      </a:lnTo>
                      <a:lnTo>
                        <a:pt x="453" y="1057"/>
                      </a:lnTo>
                      <a:lnTo>
                        <a:pt x="453" y="730"/>
                      </a:lnTo>
                      <a:lnTo>
                        <a:pt x="453" y="462"/>
                      </a:lnTo>
                      <a:lnTo>
                        <a:pt x="458" y="266"/>
                      </a:lnTo>
                      <a:lnTo>
                        <a:pt x="481" y="0"/>
                      </a:lnTo>
                      <a:lnTo>
                        <a:pt x="485" y="174"/>
                      </a:lnTo>
                      <a:lnTo>
                        <a:pt x="485" y="334"/>
                      </a:lnTo>
                      <a:lnTo>
                        <a:pt x="479" y="531"/>
                      </a:lnTo>
                      <a:lnTo>
                        <a:pt x="479" y="736"/>
                      </a:lnTo>
                      <a:lnTo>
                        <a:pt x="476" y="925"/>
                      </a:lnTo>
                      <a:lnTo>
                        <a:pt x="476" y="1143"/>
                      </a:lnTo>
                      <a:lnTo>
                        <a:pt x="567" y="1131"/>
                      </a:lnTo>
                      <a:lnTo>
                        <a:pt x="762" y="1064"/>
                      </a:lnTo>
                      <a:lnTo>
                        <a:pt x="881" y="1018"/>
                      </a:lnTo>
                      <a:lnTo>
                        <a:pt x="1010" y="971"/>
                      </a:lnTo>
                      <a:lnTo>
                        <a:pt x="1148" y="909"/>
                      </a:lnTo>
                      <a:lnTo>
                        <a:pt x="1253" y="875"/>
                      </a:lnTo>
                      <a:lnTo>
                        <a:pt x="1270" y="844"/>
                      </a:lnTo>
                      <a:lnTo>
                        <a:pt x="1285" y="818"/>
                      </a:lnTo>
                      <a:lnTo>
                        <a:pt x="1293" y="646"/>
                      </a:lnTo>
                      <a:lnTo>
                        <a:pt x="1291" y="443"/>
                      </a:lnTo>
                      <a:lnTo>
                        <a:pt x="1291" y="311"/>
                      </a:lnTo>
                      <a:lnTo>
                        <a:pt x="1293" y="197"/>
                      </a:lnTo>
                      <a:lnTo>
                        <a:pt x="1316" y="4"/>
                      </a:lnTo>
                      <a:lnTo>
                        <a:pt x="1316" y="220"/>
                      </a:lnTo>
                      <a:lnTo>
                        <a:pt x="1316" y="376"/>
                      </a:lnTo>
                      <a:lnTo>
                        <a:pt x="1316" y="598"/>
                      </a:lnTo>
                      <a:lnTo>
                        <a:pt x="1316" y="829"/>
                      </a:lnTo>
                      <a:lnTo>
                        <a:pt x="1303" y="885"/>
                      </a:lnTo>
                      <a:lnTo>
                        <a:pt x="1274" y="904"/>
                      </a:lnTo>
                      <a:lnTo>
                        <a:pt x="1190" y="925"/>
                      </a:lnTo>
                      <a:lnTo>
                        <a:pt x="1064" y="976"/>
                      </a:lnTo>
                      <a:lnTo>
                        <a:pt x="921" y="1036"/>
                      </a:lnTo>
                      <a:lnTo>
                        <a:pt x="777" y="1091"/>
                      </a:lnTo>
                      <a:lnTo>
                        <a:pt x="600" y="1150"/>
                      </a:lnTo>
                      <a:lnTo>
                        <a:pt x="479" y="1194"/>
                      </a:lnTo>
                      <a:lnTo>
                        <a:pt x="434" y="1196"/>
                      </a:lnTo>
                      <a:lnTo>
                        <a:pt x="390" y="1154"/>
                      </a:lnTo>
                      <a:lnTo>
                        <a:pt x="321" y="1081"/>
                      </a:lnTo>
                      <a:lnTo>
                        <a:pt x="256" y="984"/>
                      </a:lnTo>
                      <a:lnTo>
                        <a:pt x="187" y="908"/>
                      </a:lnTo>
                      <a:lnTo>
                        <a:pt x="97" y="823"/>
                      </a:lnTo>
                      <a:lnTo>
                        <a:pt x="44" y="770"/>
                      </a:lnTo>
                      <a:lnTo>
                        <a:pt x="6" y="730"/>
                      </a:lnTo>
                      <a:lnTo>
                        <a:pt x="0" y="674"/>
                      </a:lnTo>
                      <a:lnTo>
                        <a:pt x="17" y="520"/>
                      </a:lnTo>
                      <a:lnTo>
                        <a:pt x="29" y="216"/>
                      </a:lnTo>
                      <a:lnTo>
                        <a:pt x="29"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45" name="Freeform 70"/>
                <p:cNvSpPr>
                  <a:spLocks/>
                </p:cNvSpPr>
                <p:nvPr/>
              </p:nvSpPr>
              <p:spPr bwMode="auto">
                <a:xfrm>
                  <a:off x="31" y="0"/>
                  <a:ext cx="1320" cy="1122"/>
                </a:xfrm>
                <a:custGeom>
                  <a:avLst/>
                  <a:gdLst>
                    <a:gd name="T0" fmla="*/ 0 w 1320"/>
                    <a:gd name="T1" fmla="*/ 891 h 1122"/>
                    <a:gd name="T2" fmla="*/ 0 w 1320"/>
                    <a:gd name="T3" fmla="*/ 648 h 1122"/>
                    <a:gd name="T4" fmla="*/ 11 w 1320"/>
                    <a:gd name="T5" fmla="*/ 442 h 1122"/>
                    <a:gd name="T6" fmla="*/ 21 w 1320"/>
                    <a:gd name="T7" fmla="*/ 172 h 1122"/>
                    <a:gd name="T8" fmla="*/ 34 w 1320"/>
                    <a:gd name="T9" fmla="*/ 86 h 1122"/>
                    <a:gd name="T10" fmla="*/ 413 w 1320"/>
                    <a:gd name="T11" fmla="*/ 32 h 1122"/>
                    <a:gd name="T12" fmla="*/ 663 w 1320"/>
                    <a:gd name="T13" fmla="*/ 0 h 1122"/>
                    <a:gd name="T14" fmla="*/ 686 w 1320"/>
                    <a:gd name="T15" fmla="*/ 0 h 1122"/>
                    <a:gd name="T16" fmla="*/ 858 w 1320"/>
                    <a:gd name="T17" fmla="*/ 38 h 1122"/>
                    <a:gd name="T18" fmla="*/ 1074 w 1320"/>
                    <a:gd name="T19" fmla="*/ 96 h 1122"/>
                    <a:gd name="T20" fmla="*/ 1291 w 1320"/>
                    <a:gd name="T21" fmla="*/ 178 h 1122"/>
                    <a:gd name="T22" fmla="*/ 1310 w 1320"/>
                    <a:gd name="T23" fmla="*/ 199 h 1122"/>
                    <a:gd name="T24" fmla="*/ 1320 w 1320"/>
                    <a:gd name="T25" fmla="*/ 394 h 1122"/>
                    <a:gd name="T26" fmla="*/ 1310 w 1320"/>
                    <a:gd name="T27" fmla="*/ 637 h 1122"/>
                    <a:gd name="T28" fmla="*/ 1280 w 1320"/>
                    <a:gd name="T29" fmla="*/ 1122 h 1122"/>
                    <a:gd name="T30" fmla="*/ 1268 w 1320"/>
                    <a:gd name="T31" fmla="*/ 961 h 1122"/>
                    <a:gd name="T32" fmla="*/ 1276 w 1320"/>
                    <a:gd name="T33" fmla="*/ 700 h 1122"/>
                    <a:gd name="T34" fmla="*/ 1293 w 1320"/>
                    <a:gd name="T35" fmla="*/ 514 h 1122"/>
                    <a:gd name="T36" fmla="*/ 1293 w 1320"/>
                    <a:gd name="T37" fmla="*/ 262 h 1122"/>
                    <a:gd name="T38" fmla="*/ 1282 w 1320"/>
                    <a:gd name="T39" fmla="*/ 212 h 1122"/>
                    <a:gd name="T40" fmla="*/ 1104 w 1320"/>
                    <a:gd name="T41" fmla="*/ 256 h 1122"/>
                    <a:gd name="T42" fmla="*/ 886 w 1320"/>
                    <a:gd name="T43" fmla="*/ 331 h 1122"/>
                    <a:gd name="T44" fmla="*/ 665 w 1320"/>
                    <a:gd name="T45" fmla="*/ 401 h 1122"/>
                    <a:gd name="T46" fmla="*/ 502 w 1320"/>
                    <a:gd name="T47" fmla="*/ 451 h 1122"/>
                    <a:gd name="T48" fmla="*/ 491 w 1320"/>
                    <a:gd name="T49" fmla="*/ 497 h 1122"/>
                    <a:gd name="T50" fmla="*/ 468 w 1320"/>
                    <a:gd name="T51" fmla="*/ 694 h 1122"/>
                    <a:gd name="T52" fmla="*/ 457 w 1320"/>
                    <a:gd name="T53" fmla="*/ 870 h 1122"/>
                    <a:gd name="T54" fmla="*/ 447 w 1320"/>
                    <a:gd name="T55" fmla="*/ 1091 h 1122"/>
                    <a:gd name="T56" fmla="*/ 436 w 1320"/>
                    <a:gd name="T57" fmla="*/ 967 h 1122"/>
                    <a:gd name="T58" fmla="*/ 441 w 1320"/>
                    <a:gd name="T59" fmla="*/ 700 h 1122"/>
                    <a:gd name="T60" fmla="*/ 447 w 1320"/>
                    <a:gd name="T61" fmla="*/ 499 h 1122"/>
                    <a:gd name="T62" fmla="*/ 439 w 1320"/>
                    <a:gd name="T63" fmla="*/ 442 h 1122"/>
                    <a:gd name="T64" fmla="*/ 399 w 1320"/>
                    <a:gd name="T65" fmla="*/ 401 h 1122"/>
                    <a:gd name="T66" fmla="*/ 250 w 1320"/>
                    <a:gd name="T67" fmla="*/ 287 h 1122"/>
                    <a:gd name="T68" fmla="*/ 136 w 1320"/>
                    <a:gd name="T69" fmla="*/ 210 h 1122"/>
                    <a:gd name="T70" fmla="*/ 55 w 1320"/>
                    <a:gd name="T71" fmla="*/ 143 h 1122"/>
                    <a:gd name="T72" fmla="*/ 75 w 1320"/>
                    <a:gd name="T73" fmla="*/ 138 h 1122"/>
                    <a:gd name="T74" fmla="*/ 107 w 1320"/>
                    <a:gd name="T75" fmla="*/ 149 h 1122"/>
                    <a:gd name="T76" fmla="*/ 218 w 1320"/>
                    <a:gd name="T77" fmla="*/ 233 h 1122"/>
                    <a:gd name="T78" fmla="*/ 313 w 1320"/>
                    <a:gd name="T79" fmla="*/ 302 h 1122"/>
                    <a:gd name="T80" fmla="*/ 428 w 1320"/>
                    <a:gd name="T81" fmla="*/ 390 h 1122"/>
                    <a:gd name="T82" fmla="*/ 491 w 1320"/>
                    <a:gd name="T83" fmla="*/ 419 h 1122"/>
                    <a:gd name="T84" fmla="*/ 527 w 1320"/>
                    <a:gd name="T85" fmla="*/ 417 h 1122"/>
                    <a:gd name="T86" fmla="*/ 779 w 1320"/>
                    <a:gd name="T87" fmla="*/ 333 h 1122"/>
                    <a:gd name="T88" fmla="*/ 970 w 1320"/>
                    <a:gd name="T89" fmla="*/ 279 h 1122"/>
                    <a:gd name="T90" fmla="*/ 1171 w 1320"/>
                    <a:gd name="T91" fmla="*/ 212 h 1122"/>
                    <a:gd name="T92" fmla="*/ 1251 w 1320"/>
                    <a:gd name="T93" fmla="*/ 189 h 1122"/>
                    <a:gd name="T94" fmla="*/ 1068 w 1320"/>
                    <a:gd name="T95" fmla="*/ 113 h 1122"/>
                    <a:gd name="T96" fmla="*/ 869 w 1320"/>
                    <a:gd name="T97" fmla="*/ 63 h 1122"/>
                    <a:gd name="T98" fmla="*/ 674 w 1320"/>
                    <a:gd name="T99" fmla="*/ 23 h 1122"/>
                    <a:gd name="T100" fmla="*/ 441 w 1320"/>
                    <a:gd name="T101" fmla="*/ 44 h 1122"/>
                    <a:gd name="T102" fmla="*/ 222 w 1320"/>
                    <a:gd name="T103" fmla="*/ 78 h 1122"/>
                    <a:gd name="T104" fmla="*/ 52 w 1320"/>
                    <a:gd name="T105" fmla="*/ 115 h 1122"/>
                    <a:gd name="T106" fmla="*/ 46 w 1320"/>
                    <a:gd name="T107" fmla="*/ 229 h 1122"/>
                    <a:gd name="T108" fmla="*/ 34 w 1320"/>
                    <a:gd name="T109" fmla="*/ 407 h 1122"/>
                    <a:gd name="T110" fmla="*/ 29 w 1320"/>
                    <a:gd name="T111" fmla="*/ 617 h 1122"/>
                    <a:gd name="T112" fmla="*/ 15 w 1320"/>
                    <a:gd name="T113" fmla="*/ 763 h 1122"/>
                    <a:gd name="T114" fmla="*/ 17 w 1320"/>
                    <a:gd name="T115" fmla="*/ 933 h 1122"/>
                    <a:gd name="T116" fmla="*/ 0 w 1320"/>
                    <a:gd name="T117" fmla="*/ 891 h 112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320" h="1122">
                      <a:moveTo>
                        <a:pt x="0" y="891"/>
                      </a:moveTo>
                      <a:lnTo>
                        <a:pt x="0" y="648"/>
                      </a:lnTo>
                      <a:lnTo>
                        <a:pt x="11" y="442"/>
                      </a:lnTo>
                      <a:lnTo>
                        <a:pt x="21" y="172"/>
                      </a:lnTo>
                      <a:lnTo>
                        <a:pt x="34" y="86"/>
                      </a:lnTo>
                      <a:lnTo>
                        <a:pt x="413" y="32"/>
                      </a:lnTo>
                      <a:lnTo>
                        <a:pt x="663" y="0"/>
                      </a:lnTo>
                      <a:lnTo>
                        <a:pt x="686" y="0"/>
                      </a:lnTo>
                      <a:lnTo>
                        <a:pt x="858" y="38"/>
                      </a:lnTo>
                      <a:lnTo>
                        <a:pt x="1074" y="96"/>
                      </a:lnTo>
                      <a:lnTo>
                        <a:pt x="1291" y="178"/>
                      </a:lnTo>
                      <a:lnTo>
                        <a:pt x="1310" y="199"/>
                      </a:lnTo>
                      <a:lnTo>
                        <a:pt x="1320" y="394"/>
                      </a:lnTo>
                      <a:lnTo>
                        <a:pt x="1310" y="637"/>
                      </a:lnTo>
                      <a:lnTo>
                        <a:pt x="1280" y="1122"/>
                      </a:lnTo>
                      <a:lnTo>
                        <a:pt x="1268" y="961"/>
                      </a:lnTo>
                      <a:lnTo>
                        <a:pt x="1276" y="700"/>
                      </a:lnTo>
                      <a:lnTo>
                        <a:pt x="1293" y="514"/>
                      </a:lnTo>
                      <a:lnTo>
                        <a:pt x="1293" y="262"/>
                      </a:lnTo>
                      <a:lnTo>
                        <a:pt x="1282" y="212"/>
                      </a:lnTo>
                      <a:lnTo>
                        <a:pt x="1104" y="256"/>
                      </a:lnTo>
                      <a:lnTo>
                        <a:pt x="886" y="331"/>
                      </a:lnTo>
                      <a:lnTo>
                        <a:pt x="665" y="401"/>
                      </a:lnTo>
                      <a:lnTo>
                        <a:pt x="502" y="451"/>
                      </a:lnTo>
                      <a:lnTo>
                        <a:pt x="491" y="497"/>
                      </a:lnTo>
                      <a:lnTo>
                        <a:pt x="468" y="694"/>
                      </a:lnTo>
                      <a:lnTo>
                        <a:pt x="457" y="870"/>
                      </a:lnTo>
                      <a:lnTo>
                        <a:pt x="447" y="1091"/>
                      </a:lnTo>
                      <a:lnTo>
                        <a:pt x="436" y="967"/>
                      </a:lnTo>
                      <a:lnTo>
                        <a:pt x="441" y="700"/>
                      </a:lnTo>
                      <a:lnTo>
                        <a:pt x="447" y="499"/>
                      </a:lnTo>
                      <a:lnTo>
                        <a:pt x="439" y="442"/>
                      </a:lnTo>
                      <a:lnTo>
                        <a:pt x="399" y="401"/>
                      </a:lnTo>
                      <a:lnTo>
                        <a:pt x="250" y="287"/>
                      </a:lnTo>
                      <a:lnTo>
                        <a:pt x="136" y="210"/>
                      </a:lnTo>
                      <a:lnTo>
                        <a:pt x="55" y="143"/>
                      </a:lnTo>
                      <a:lnTo>
                        <a:pt x="75" y="138"/>
                      </a:lnTo>
                      <a:lnTo>
                        <a:pt x="107" y="149"/>
                      </a:lnTo>
                      <a:lnTo>
                        <a:pt x="218" y="233"/>
                      </a:lnTo>
                      <a:lnTo>
                        <a:pt x="313" y="302"/>
                      </a:lnTo>
                      <a:lnTo>
                        <a:pt x="428" y="390"/>
                      </a:lnTo>
                      <a:lnTo>
                        <a:pt x="491" y="419"/>
                      </a:lnTo>
                      <a:lnTo>
                        <a:pt x="527" y="417"/>
                      </a:lnTo>
                      <a:lnTo>
                        <a:pt x="779" y="333"/>
                      </a:lnTo>
                      <a:lnTo>
                        <a:pt x="970" y="279"/>
                      </a:lnTo>
                      <a:lnTo>
                        <a:pt x="1171" y="212"/>
                      </a:lnTo>
                      <a:lnTo>
                        <a:pt x="1251" y="189"/>
                      </a:lnTo>
                      <a:lnTo>
                        <a:pt x="1068" y="113"/>
                      </a:lnTo>
                      <a:lnTo>
                        <a:pt x="869" y="63"/>
                      </a:lnTo>
                      <a:lnTo>
                        <a:pt x="674" y="23"/>
                      </a:lnTo>
                      <a:lnTo>
                        <a:pt x="441" y="44"/>
                      </a:lnTo>
                      <a:lnTo>
                        <a:pt x="222" y="78"/>
                      </a:lnTo>
                      <a:lnTo>
                        <a:pt x="52" y="115"/>
                      </a:lnTo>
                      <a:lnTo>
                        <a:pt x="46" y="229"/>
                      </a:lnTo>
                      <a:lnTo>
                        <a:pt x="34" y="407"/>
                      </a:lnTo>
                      <a:lnTo>
                        <a:pt x="29" y="617"/>
                      </a:lnTo>
                      <a:lnTo>
                        <a:pt x="15" y="763"/>
                      </a:lnTo>
                      <a:lnTo>
                        <a:pt x="17" y="933"/>
                      </a:lnTo>
                      <a:lnTo>
                        <a:pt x="0" y="8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7177" name="Group 71"/>
            <p:cNvGrpSpPr>
              <a:grpSpLocks/>
            </p:cNvGrpSpPr>
            <p:nvPr/>
          </p:nvGrpSpPr>
          <p:grpSpPr bwMode="auto">
            <a:xfrm>
              <a:off x="-48" y="384"/>
              <a:ext cx="1005" cy="1402"/>
              <a:chOff x="3" y="0"/>
              <a:chExt cx="1348" cy="1978"/>
            </a:xfrm>
          </p:grpSpPr>
          <p:sp>
            <p:nvSpPr>
              <p:cNvPr id="7178" name="Freeform 72"/>
              <p:cNvSpPr>
                <a:spLocks/>
              </p:cNvSpPr>
              <p:nvPr/>
            </p:nvSpPr>
            <p:spPr bwMode="auto">
              <a:xfrm>
                <a:off x="20" y="8"/>
                <a:ext cx="1295" cy="1970"/>
              </a:xfrm>
              <a:custGeom>
                <a:avLst/>
                <a:gdLst>
                  <a:gd name="T0" fmla="*/ 65 w 1295"/>
                  <a:gd name="T1" fmla="*/ 88 h 1970"/>
                  <a:gd name="T2" fmla="*/ 351 w 1295"/>
                  <a:gd name="T3" fmla="*/ 42 h 1970"/>
                  <a:gd name="T4" fmla="*/ 691 w 1295"/>
                  <a:gd name="T5" fmla="*/ 0 h 1970"/>
                  <a:gd name="T6" fmla="*/ 1054 w 1295"/>
                  <a:gd name="T7" fmla="*/ 88 h 1970"/>
                  <a:gd name="T8" fmla="*/ 1268 w 1295"/>
                  <a:gd name="T9" fmla="*/ 164 h 1970"/>
                  <a:gd name="T10" fmla="*/ 1295 w 1295"/>
                  <a:gd name="T11" fmla="*/ 194 h 1970"/>
                  <a:gd name="T12" fmla="*/ 1131 w 1295"/>
                  <a:gd name="T13" fmla="*/ 232 h 1970"/>
                  <a:gd name="T14" fmla="*/ 810 w 1295"/>
                  <a:gd name="T15" fmla="*/ 332 h 1970"/>
                  <a:gd name="T16" fmla="*/ 493 w 1295"/>
                  <a:gd name="T17" fmla="*/ 438 h 1970"/>
                  <a:gd name="T18" fmla="*/ 462 w 1295"/>
                  <a:gd name="T19" fmla="*/ 709 h 1970"/>
                  <a:gd name="T20" fmla="*/ 458 w 1295"/>
                  <a:gd name="T21" fmla="*/ 1071 h 1970"/>
                  <a:gd name="T22" fmla="*/ 443 w 1295"/>
                  <a:gd name="T23" fmla="*/ 1638 h 1970"/>
                  <a:gd name="T24" fmla="*/ 439 w 1295"/>
                  <a:gd name="T25" fmla="*/ 1970 h 1970"/>
                  <a:gd name="T26" fmla="*/ 340 w 1295"/>
                  <a:gd name="T27" fmla="*/ 1894 h 1970"/>
                  <a:gd name="T28" fmla="*/ 241 w 1295"/>
                  <a:gd name="T29" fmla="*/ 1753 h 1970"/>
                  <a:gd name="T30" fmla="*/ 153 w 1295"/>
                  <a:gd name="T31" fmla="*/ 1661 h 1970"/>
                  <a:gd name="T32" fmla="*/ 0 w 1295"/>
                  <a:gd name="T33" fmla="*/ 1494 h 1970"/>
                  <a:gd name="T34" fmla="*/ 8 w 1295"/>
                  <a:gd name="T35" fmla="*/ 1174 h 1970"/>
                  <a:gd name="T36" fmla="*/ 23 w 1295"/>
                  <a:gd name="T37" fmla="*/ 918 h 1970"/>
                  <a:gd name="T38" fmla="*/ 19 w 1295"/>
                  <a:gd name="T39" fmla="*/ 690 h 1970"/>
                  <a:gd name="T40" fmla="*/ 27 w 1295"/>
                  <a:gd name="T41" fmla="*/ 465 h 1970"/>
                  <a:gd name="T42" fmla="*/ 34 w 1295"/>
                  <a:gd name="T43" fmla="*/ 225 h 1970"/>
                  <a:gd name="T44" fmla="*/ 65 w 1295"/>
                  <a:gd name="T45" fmla="*/ 88 h 197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95" h="1970">
                    <a:moveTo>
                      <a:pt x="65" y="88"/>
                    </a:moveTo>
                    <a:lnTo>
                      <a:pt x="351" y="42"/>
                    </a:lnTo>
                    <a:lnTo>
                      <a:pt x="691" y="0"/>
                    </a:lnTo>
                    <a:lnTo>
                      <a:pt x="1054" y="88"/>
                    </a:lnTo>
                    <a:lnTo>
                      <a:pt x="1268" y="164"/>
                    </a:lnTo>
                    <a:lnTo>
                      <a:pt x="1295" y="194"/>
                    </a:lnTo>
                    <a:lnTo>
                      <a:pt x="1131" y="232"/>
                    </a:lnTo>
                    <a:lnTo>
                      <a:pt x="810" y="332"/>
                    </a:lnTo>
                    <a:lnTo>
                      <a:pt x="493" y="438"/>
                    </a:lnTo>
                    <a:lnTo>
                      <a:pt x="462" y="709"/>
                    </a:lnTo>
                    <a:lnTo>
                      <a:pt x="458" y="1071"/>
                    </a:lnTo>
                    <a:lnTo>
                      <a:pt x="443" y="1638"/>
                    </a:lnTo>
                    <a:lnTo>
                      <a:pt x="439" y="1970"/>
                    </a:lnTo>
                    <a:lnTo>
                      <a:pt x="340" y="1894"/>
                    </a:lnTo>
                    <a:lnTo>
                      <a:pt x="241" y="1753"/>
                    </a:lnTo>
                    <a:lnTo>
                      <a:pt x="153" y="1661"/>
                    </a:lnTo>
                    <a:lnTo>
                      <a:pt x="0" y="1494"/>
                    </a:lnTo>
                    <a:lnTo>
                      <a:pt x="8" y="1174"/>
                    </a:lnTo>
                    <a:lnTo>
                      <a:pt x="23" y="918"/>
                    </a:lnTo>
                    <a:lnTo>
                      <a:pt x="19" y="690"/>
                    </a:lnTo>
                    <a:lnTo>
                      <a:pt x="27" y="465"/>
                    </a:lnTo>
                    <a:lnTo>
                      <a:pt x="34" y="225"/>
                    </a:lnTo>
                    <a:lnTo>
                      <a:pt x="65" y="88"/>
                    </a:ln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9" name="Freeform 73"/>
              <p:cNvSpPr>
                <a:spLocks/>
              </p:cNvSpPr>
              <p:nvPr/>
            </p:nvSpPr>
            <p:spPr bwMode="auto">
              <a:xfrm>
                <a:off x="453" y="197"/>
                <a:ext cx="885" cy="1777"/>
              </a:xfrm>
              <a:custGeom>
                <a:avLst/>
                <a:gdLst>
                  <a:gd name="T0" fmla="*/ 61 w 885"/>
                  <a:gd name="T1" fmla="*/ 233 h 1777"/>
                  <a:gd name="T2" fmla="*/ 314 w 885"/>
                  <a:gd name="T3" fmla="*/ 172 h 1777"/>
                  <a:gd name="T4" fmla="*/ 636 w 885"/>
                  <a:gd name="T5" fmla="*/ 65 h 1777"/>
                  <a:gd name="T6" fmla="*/ 885 w 885"/>
                  <a:gd name="T7" fmla="*/ 0 h 1777"/>
                  <a:gd name="T8" fmla="*/ 881 w 885"/>
                  <a:gd name="T9" fmla="*/ 141 h 1777"/>
                  <a:gd name="T10" fmla="*/ 881 w 885"/>
                  <a:gd name="T11" fmla="*/ 309 h 1777"/>
                  <a:gd name="T12" fmla="*/ 874 w 885"/>
                  <a:gd name="T13" fmla="*/ 496 h 1777"/>
                  <a:gd name="T14" fmla="*/ 854 w 885"/>
                  <a:gd name="T15" fmla="*/ 778 h 1777"/>
                  <a:gd name="T16" fmla="*/ 858 w 885"/>
                  <a:gd name="T17" fmla="*/ 991 h 1777"/>
                  <a:gd name="T18" fmla="*/ 858 w 885"/>
                  <a:gd name="T19" fmla="*/ 1258 h 1777"/>
                  <a:gd name="T20" fmla="*/ 851 w 885"/>
                  <a:gd name="T21" fmla="*/ 1422 h 1777"/>
                  <a:gd name="T22" fmla="*/ 820 w 885"/>
                  <a:gd name="T23" fmla="*/ 1476 h 1777"/>
                  <a:gd name="T24" fmla="*/ 605 w 885"/>
                  <a:gd name="T25" fmla="*/ 1556 h 1777"/>
                  <a:gd name="T26" fmla="*/ 234 w 885"/>
                  <a:gd name="T27" fmla="*/ 1697 h 1777"/>
                  <a:gd name="T28" fmla="*/ 0 w 885"/>
                  <a:gd name="T29" fmla="*/ 1777 h 1777"/>
                  <a:gd name="T30" fmla="*/ 8 w 885"/>
                  <a:gd name="T31" fmla="*/ 1663 h 1777"/>
                  <a:gd name="T32" fmla="*/ 15 w 885"/>
                  <a:gd name="T33" fmla="*/ 1236 h 1777"/>
                  <a:gd name="T34" fmla="*/ 19 w 885"/>
                  <a:gd name="T35" fmla="*/ 847 h 1777"/>
                  <a:gd name="T36" fmla="*/ 27 w 885"/>
                  <a:gd name="T37" fmla="*/ 591 h 1777"/>
                  <a:gd name="T38" fmla="*/ 38 w 885"/>
                  <a:gd name="T39" fmla="*/ 351 h 1777"/>
                  <a:gd name="T40" fmla="*/ 61 w 885"/>
                  <a:gd name="T41" fmla="*/ 233 h 177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85" h="1777">
                    <a:moveTo>
                      <a:pt x="61" y="233"/>
                    </a:moveTo>
                    <a:lnTo>
                      <a:pt x="314" y="172"/>
                    </a:lnTo>
                    <a:lnTo>
                      <a:pt x="636" y="65"/>
                    </a:lnTo>
                    <a:lnTo>
                      <a:pt x="885" y="0"/>
                    </a:lnTo>
                    <a:lnTo>
                      <a:pt x="881" y="141"/>
                    </a:lnTo>
                    <a:lnTo>
                      <a:pt x="881" y="309"/>
                    </a:lnTo>
                    <a:lnTo>
                      <a:pt x="874" y="496"/>
                    </a:lnTo>
                    <a:lnTo>
                      <a:pt x="854" y="778"/>
                    </a:lnTo>
                    <a:lnTo>
                      <a:pt x="858" y="991"/>
                    </a:lnTo>
                    <a:lnTo>
                      <a:pt x="858" y="1258"/>
                    </a:lnTo>
                    <a:lnTo>
                      <a:pt x="851" y="1422"/>
                    </a:lnTo>
                    <a:lnTo>
                      <a:pt x="820" y="1476"/>
                    </a:lnTo>
                    <a:lnTo>
                      <a:pt x="605" y="1556"/>
                    </a:lnTo>
                    <a:lnTo>
                      <a:pt x="234" y="1697"/>
                    </a:lnTo>
                    <a:lnTo>
                      <a:pt x="0" y="1777"/>
                    </a:lnTo>
                    <a:lnTo>
                      <a:pt x="8" y="1663"/>
                    </a:lnTo>
                    <a:lnTo>
                      <a:pt x="15" y="1236"/>
                    </a:lnTo>
                    <a:lnTo>
                      <a:pt x="19" y="847"/>
                    </a:lnTo>
                    <a:lnTo>
                      <a:pt x="27" y="591"/>
                    </a:lnTo>
                    <a:lnTo>
                      <a:pt x="38" y="351"/>
                    </a:lnTo>
                    <a:lnTo>
                      <a:pt x="61" y="233"/>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7180" name="Group 74"/>
              <p:cNvGrpSpPr>
                <a:grpSpLocks/>
              </p:cNvGrpSpPr>
              <p:nvPr/>
            </p:nvGrpSpPr>
            <p:grpSpPr bwMode="auto">
              <a:xfrm>
                <a:off x="3" y="0"/>
                <a:ext cx="1348" cy="1976"/>
                <a:chOff x="3" y="0"/>
                <a:chExt cx="1348" cy="1976"/>
              </a:xfrm>
            </p:grpSpPr>
            <p:sp>
              <p:nvSpPr>
                <p:cNvPr id="7181" name="Oval 75"/>
                <p:cNvSpPr>
                  <a:spLocks noChangeArrowheads="1"/>
                </p:cNvSpPr>
                <p:nvPr/>
              </p:nvSpPr>
              <p:spPr bwMode="auto">
                <a:xfrm>
                  <a:off x="1163" y="311"/>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7182" name="Oval 76"/>
                <p:cNvSpPr>
                  <a:spLocks noChangeArrowheads="1"/>
                </p:cNvSpPr>
                <p:nvPr/>
              </p:nvSpPr>
              <p:spPr bwMode="auto">
                <a:xfrm>
                  <a:off x="1163" y="410"/>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7183" name="Oval 77"/>
                <p:cNvSpPr>
                  <a:spLocks noChangeArrowheads="1"/>
                </p:cNvSpPr>
                <p:nvPr/>
              </p:nvSpPr>
              <p:spPr bwMode="auto">
                <a:xfrm>
                  <a:off x="1163" y="512"/>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7184" name="Oval 78"/>
                <p:cNvSpPr>
                  <a:spLocks noChangeArrowheads="1"/>
                </p:cNvSpPr>
                <p:nvPr/>
              </p:nvSpPr>
              <p:spPr bwMode="auto">
                <a:xfrm>
                  <a:off x="1163" y="607"/>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7185" name="Oval 79"/>
                <p:cNvSpPr>
                  <a:spLocks noChangeArrowheads="1"/>
                </p:cNvSpPr>
                <p:nvPr/>
              </p:nvSpPr>
              <p:spPr bwMode="auto">
                <a:xfrm>
                  <a:off x="1163" y="698"/>
                  <a:ext cx="70" cy="6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7186" name="Freeform 80"/>
                <p:cNvSpPr>
                  <a:spLocks/>
                </p:cNvSpPr>
                <p:nvPr/>
              </p:nvSpPr>
              <p:spPr bwMode="auto">
                <a:xfrm>
                  <a:off x="635" y="376"/>
                  <a:ext cx="468" cy="353"/>
                </a:xfrm>
                <a:custGeom>
                  <a:avLst/>
                  <a:gdLst>
                    <a:gd name="T0" fmla="*/ 116 w 468"/>
                    <a:gd name="T1" fmla="*/ 122 h 353"/>
                    <a:gd name="T2" fmla="*/ 282 w 468"/>
                    <a:gd name="T3" fmla="*/ 70 h 353"/>
                    <a:gd name="T4" fmla="*/ 387 w 468"/>
                    <a:gd name="T5" fmla="*/ 29 h 353"/>
                    <a:gd name="T6" fmla="*/ 439 w 468"/>
                    <a:gd name="T7" fmla="*/ 0 h 353"/>
                    <a:gd name="T8" fmla="*/ 462 w 468"/>
                    <a:gd name="T9" fmla="*/ 0 h 353"/>
                    <a:gd name="T10" fmla="*/ 468 w 468"/>
                    <a:gd name="T11" fmla="*/ 33 h 353"/>
                    <a:gd name="T12" fmla="*/ 460 w 468"/>
                    <a:gd name="T13" fmla="*/ 120 h 353"/>
                    <a:gd name="T14" fmla="*/ 454 w 468"/>
                    <a:gd name="T15" fmla="*/ 209 h 353"/>
                    <a:gd name="T16" fmla="*/ 445 w 468"/>
                    <a:gd name="T17" fmla="*/ 239 h 353"/>
                    <a:gd name="T18" fmla="*/ 387 w 468"/>
                    <a:gd name="T19" fmla="*/ 254 h 353"/>
                    <a:gd name="T20" fmla="*/ 261 w 468"/>
                    <a:gd name="T21" fmla="*/ 273 h 353"/>
                    <a:gd name="T22" fmla="*/ 149 w 468"/>
                    <a:gd name="T23" fmla="*/ 306 h 353"/>
                    <a:gd name="T24" fmla="*/ 75 w 468"/>
                    <a:gd name="T25" fmla="*/ 330 h 353"/>
                    <a:gd name="T26" fmla="*/ 12 w 468"/>
                    <a:gd name="T27" fmla="*/ 353 h 353"/>
                    <a:gd name="T28" fmla="*/ 0 w 468"/>
                    <a:gd name="T29" fmla="*/ 337 h 353"/>
                    <a:gd name="T30" fmla="*/ 10 w 468"/>
                    <a:gd name="T31" fmla="*/ 277 h 353"/>
                    <a:gd name="T32" fmla="*/ 15 w 468"/>
                    <a:gd name="T33" fmla="*/ 149 h 353"/>
                    <a:gd name="T34" fmla="*/ 15 w 468"/>
                    <a:gd name="T35" fmla="*/ 111 h 353"/>
                    <a:gd name="T36" fmla="*/ 44 w 468"/>
                    <a:gd name="T37" fmla="*/ 114 h 353"/>
                    <a:gd name="T38" fmla="*/ 70 w 468"/>
                    <a:gd name="T39" fmla="*/ 128 h 353"/>
                    <a:gd name="T40" fmla="*/ 56 w 468"/>
                    <a:gd name="T41" fmla="*/ 175 h 353"/>
                    <a:gd name="T42" fmla="*/ 50 w 468"/>
                    <a:gd name="T43" fmla="*/ 244 h 353"/>
                    <a:gd name="T44" fmla="*/ 44 w 468"/>
                    <a:gd name="T45" fmla="*/ 303 h 353"/>
                    <a:gd name="T46" fmla="*/ 68 w 468"/>
                    <a:gd name="T47" fmla="*/ 308 h 353"/>
                    <a:gd name="T48" fmla="*/ 162 w 468"/>
                    <a:gd name="T49" fmla="*/ 277 h 353"/>
                    <a:gd name="T50" fmla="*/ 259 w 468"/>
                    <a:gd name="T51" fmla="*/ 248 h 353"/>
                    <a:gd name="T52" fmla="*/ 340 w 468"/>
                    <a:gd name="T53" fmla="*/ 227 h 353"/>
                    <a:gd name="T54" fmla="*/ 396 w 468"/>
                    <a:gd name="T55" fmla="*/ 213 h 353"/>
                    <a:gd name="T56" fmla="*/ 416 w 468"/>
                    <a:gd name="T57" fmla="*/ 204 h 353"/>
                    <a:gd name="T58" fmla="*/ 437 w 468"/>
                    <a:gd name="T59" fmla="*/ 145 h 353"/>
                    <a:gd name="T60" fmla="*/ 439 w 468"/>
                    <a:gd name="T61" fmla="*/ 80 h 353"/>
                    <a:gd name="T62" fmla="*/ 427 w 468"/>
                    <a:gd name="T63" fmla="*/ 41 h 353"/>
                    <a:gd name="T64" fmla="*/ 381 w 468"/>
                    <a:gd name="T65" fmla="*/ 52 h 353"/>
                    <a:gd name="T66" fmla="*/ 277 w 468"/>
                    <a:gd name="T67" fmla="*/ 97 h 353"/>
                    <a:gd name="T68" fmla="*/ 178 w 468"/>
                    <a:gd name="T69" fmla="*/ 120 h 353"/>
                    <a:gd name="T70" fmla="*/ 116 w 468"/>
                    <a:gd name="T71" fmla="*/ 122 h 35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68" h="353">
                      <a:moveTo>
                        <a:pt x="116" y="122"/>
                      </a:moveTo>
                      <a:lnTo>
                        <a:pt x="282" y="70"/>
                      </a:lnTo>
                      <a:lnTo>
                        <a:pt x="387" y="29"/>
                      </a:lnTo>
                      <a:lnTo>
                        <a:pt x="439" y="0"/>
                      </a:lnTo>
                      <a:lnTo>
                        <a:pt x="462" y="0"/>
                      </a:lnTo>
                      <a:lnTo>
                        <a:pt x="468" y="33"/>
                      </a:lnTo>
                      <a:lnTo>
                        <a:pt x="460" y="120"/>
                      </a:lnTo>
                      <a:lnTo>
                        <a:pt x="454" y="209"/>
                      </a:lnTo>
                      <a:lnTo>
                        <a:pt x="445" y="239"/>
                      </a:lnTo>
                      <a:lnTo>
                        <a:pt x="387" y="254"/>
                      </a:lnTo>
                      <a:lnTo>
                        <a:pt x="261" y="273"/>
                      </a:lnTo>
                      <a:lnTo>
                        <a:pt x="149" y="306"/>
                      </a:lnTo>
                      <a:lnTo>
                        <a:pt x="75" y="330"/>
                      </a:lnTo>
                      <a:lnTo>
                        <a:pt x="12" y="353"/>
                      </a:lnTo>
                      <a:lnTo>
                        <a:pt x="0" y="337"/>
                      </a:lnTo>
                      <a:lnTo>
                        <a:pt x="10" y="277"/>
                      </a:lnTo>
                      <a:lnTo>
                        <a:pt x="15" y="149"/>
                      </a:lnTo>
                      <a:lnTo>
                        <a:pt x="15" y="111"/>
                      </a:lnTo>
                      <a:lnTo>
                        <a:pt x="44" y="114"/>
                      </a:lnTo>
                      <a:lnTo>
                        <a:pt x="70" y="128"/>
                      </a:lnTo>
                      <a:lnTo>
                        <a:pt x="56" y="175"/>
                      </a:lnTo>
                      <a:lnTo>
                        <a:pt x="50" y="244"/>
                      </a:lnTo>
                      <a:lnTo>
                        <a:pt x="44" y="303"/>
                      </a:lnTo>
                      <a:lnTo>
                        <a:pt x="68" y="308"/>
                      </a:lnTo>
                      <a:lnTo>
                        <a:pt x="162" y="277"/>
                      </a:lnTo>
                      <a:lnTo>
                        <a:pt x="259" y="248"/>
                      </a:lnTo>
                      <a:lnTo>
                        <a:pt x="340" y="227"/>
                      </a:lnTo>
                      <a:lnTo>
                        <a:pt x="396" y="213"/>
                      </a:lnTo>
                      <a:lnTo>
                        <a:pt x="416" y="204"/>
                      </a:lnTo>
                      <a:lnTo>
                        <a:pt x="437" y="145"/>
                      </a:lnTo>
                      <a:lnTo>
                        <a:pt x="439" y="80"/>
                      </a:lnTo>
                      <a:lnTo>
                        <a:pt x="427" y="41"/>
                      </a:lnTo>
                      <a:lnTo>
                        <a:pt x="381" y="52"/>
                      </a:lnTo>
                      <a:lnTo>
                        <a:pt x="277" y="97"/>
                      </a:lnTo>
                      <a:lnTo>
                        <a:pt x="178" y="120"/>
                      </a:lnTo>
                      <a:lnTo>
                        <a:pt x="116" y="1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7187" name="Group 81"/>
                <p:cNvGrpSpPr>
                  <a:grpSpLocks/>
                </p:cNvGrpSpPr>
                <p:nvPr/>
              </p:nvGrpSpPr>
              <p:grpSpPr bwMode="auto">
                <a:xfrm>
                  <a:off x="658" y="757"/>
                  <a:ext cx="72" cy="40"/>
                  <a:chOff x="658" y="757"/>
                  <a:chExt cx="72" cy="40"/>
                </a:xfrm>
              </p:grpSpPr>
              <p:sp>
                <p:nvSpPr>
                  <p:cNvPr id="7214" name="Freeform 82"/>
                  <p:cNvSpPr>
                    <a:spLocks/>
                  </p:cNvSpPr>
                  <p:nvPr/>
                </p:nvSpPr>
                <p:spPr bwMode="auto">
                  <a:xfrm>
                    <a:off x="658" y="757"/>
                    <a:ext cx="72" cy="40"/>
                  </a:xfrm>
                  <a:custGeom>
                    <a:avLst/>
                    <a:gdLst>
                      <a:gd name="T0" fmla="*/ 0 w 72"/>
                      <a:gd name="T1" fmla="*/ 4 h 40"/>
                      <a:gd name="T2" fmla="*/ 44 w 72"/>
                      <a:gd name="T3" fmla="*/ 0 h 40"/>
                      <a:gd name="T4" fmla="*/ 55 w 72"/>
                      <a:gd name="T5" fmla="*/ 6 h 40"/>
                      <a:gd name="T6" fmla="*/ 66 w 72"/>
                      <a:gd name="T7" fmla="*/ 11 h 40"/>
                      <a:gd name="T8" fmla="*/ 72 w 72"/>
                      <a:gd name="T9" fmla="*/ 23 h 40"/>
                      <a:gd name="T10" fmla="*/ 63 w 72"/>
                      <a:gd name="T11" fmla="*/ 27 h 40"/>
                      <a:gd name="T12" fmla="*/ 49 w 72"/>
                      <a:gd name="T13" fmla="*/ 34 h 40"/>
                      <a:gd name="T14" fmla="*/ 40 w 72"/>
                      <a:gd name="T15" fmla="*/ 40 h 40"/>
                      <a:gd name="T16" fmla="*/ 28 w 72"/>
                      <a:gd name="T17" fmla="*/ 40 h 40"/>
                      <a:gd name="T18" fmla="*/ 0 w 72"/>
                      <a:gd name="T19" fmla="*/ 4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2" h="40">
                        <a:moveTo>
                          <a:pt x="0" y="4"/>
                        </a:moveTo>
                        <a:lnTo>
                          <a:pt x="44" y="0"/>
                        </a:lnTo>
                        <a:lnTo>
                          <a:pt x="55" y="6"/>
                        </a:lnTo>
                        <a:lnTo>
                          <a:pt x="66" y="11"/>
                        </a:lnTo>
                        <a:lnTo>
                          <a:pt x="72" y="23"/>
                        </a:lnTo>
                        <a:lnTo>
                          <a:pt x="63" y="27"/>
                        </a:lnTo>
                        <a:lnTo>
                          <a:pt x="49" y="34"/>
                        </a:lnTo>
                        <a:lnTo>
                          <a:pt x="40" y="40"/>
                        </a:lnTo>
                        <a:lnTo>
                          <a:pt x="28" y="40"/>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5" name="Freeform 83"/>
                  <p:cNvSpPr>
                    <a:spLocks/>
                  </p:cNvSpPr>
                  <p:nvPr/>
                </p:nvSpPr>
                <p:spPr bwMode="auto">
                  <a:xfrm>
                    <a:off x="658" y="757"/>
                    <a:ext cx="72" cy="40"/>
                  </a:xfrm>
                  <a:custGeom>
                    <a:avLst/>
                    <a:gdLst>
                      <a:gd name="T0" fmla="*/ 0 w 72"/>
                      <a:gd name="T1" fmla="*/ 4 h 40"/>
                      <a:gd name="T2" fmla="*/ 44 w 72"/>
                      <a:gd name="T3" fmla="*/ 0 h 40"/>
                      <a:gd name="T4" fmla="*/ 55 w 72"/>
                      <a:gd name="T5" fmla="*/ 6 h 40"/>
                      <a:gd name="T6" fmla="*/ 66 w 72"/>
                      <a:gd name="T7" fmla="*/ 11 h 40"/>
                      <a:gd name="T8" fmla="*/ 72 w 72"/>
                      <a:gd name="T9" fmla="*/ 23 h 40"/>
                      <a:gd name="T10" fmla="*/ 63 w 72"/>
                      <a:gd name="T11" fmla="*/ 27 h 40"/>
                      <a:gd name="T12" fmla="*/ 49 w 72"/>
                      <a:gd name="T13" fmla="*/ 34 h 40"/>
                      <a:gd name="T14" fmla="*/ 40 w 72"/>
                      <a:gd name="T15" fmla="*/ 40 h 40"/>
                      <a:gd name="T16" fmla="*/ 28 w 72"/>
                      <a:gd name="T17" fmla="*/ 40 h 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2" h="40">
                        <a:moveTo>
                          <a:pt x="0" y="4"/>
                        </a:moveTo>
                        <a:lnTo>
                          <a:pt x="44" y="0"/>
                        </a:lnTo>
                        <a:lnTo>
                          <a:pt x="55" y="6"/>
                        </a:lnTo>
                        <a:lnTo>
                          <a:pt x="66" y="11"/>
                        </a:lnTo>
                        <a:lnTo>
                          <a:pt x="72" y="23"/>
                        </a:lnTo>
                        <a:lnTo>
                          <a:pt x="63" y="27"/>
                        </a:lnTo>
                        <a:lnTo>
                          <a:pt x="49" y="34"/>
                        </a:lnTo>
                        <a:lnTo>
                          <a:pt x="40" y="40"/>
                        </a:lnTo>
                        <a:lnTo>
                          <a:pt x="28" y="4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7188" name="Freeform 84"/>
                <p:cNvSpPr>
                  <a:spLocks/>
                </p:cNvSpPr>
                <p:nvPr/>
              </p:nvSpPr>
              <p:spPr bwMode="auto">
                <a:xfrm>
                  <a:off x="659" y="750"/>
                  <a:ext cx="90" cy="60"/>
                </a:xfrm>
                <a:custGeom>
                  <a:avLst/>
                  <a:gdLst>
                    <a:gd name="T0" fmla="*/ 90 w 90"/>
                    <a:gd name="T1" fmla="*/ 17 h 60"/>
                    <a:gd name="T2" fmla="*/ 88 w 90"/>
                    <a:gd name="T3" fmla="*/ 13 h 60"/>
                    <a:gd name="T4" fmla="*/ 85 w 90"/>
                    <a:gd name="T5" fmla="*/ 9 h 60"/>
                    <a:gd name="T6" fmla="*/ 80 w 90"/>
                    <a:gd name="T7" fmla="*/ 6 h 60"/>
                    <a:gd name="T8" fmla="*/ 75 w 90"/>
                    <a:gd name="T9" fmla="*/ 5 h 60"/>
                    <a:gd name="T10" fmla="*/ 68 w 90"/>
                    <a:gd name="T11" fmla="*/ 2 h 60"/>
                    <a:gd name="T12" fmla="*/ 61 w 90"/>
                    <a:gd name="T13" fmla="*/ 1 h 60"/>
                    <a:gd name="T14" fmla="*/ 54 w 90"/>
                    <a:gd name="T15" fmla="*/ 0 h 60"/>
                    <a:gd name="T16" fmla="*/ 46 w 90"/>
                    <a:gd name="T17" fmla="*/ 1 h 60"/>
                    <a:gd name="T18" fmla="*/ 38 w 90"/>
                    <a:gd name="T19" fmla="*/ 3 h 60"/>
                    <a:gd name="T20" fmla="*/ 31 w 90"/>
                    <a:gd name="T21" fmla="*/ 6 h 60"/>
                    <a:gd name="T22" fmla="*/ 23 w 90"/>
                    <a:gd name="T23" fmla="*/ 9 h 60"/>
                    <a:gd name="T24" fmla="*/ 18 w 90"/>
                    <a:gd name="T25" fmla="*/ 13 h 60"/>
                    <a:gd name="T26" fmla="*/ 11 w 90"/>
                    <a:gd name="T27" fmla="*/ 18 h 60"/>
                    <a:gd name="T28" fmla="*/ 7 w 90"/>
                    <a:gd name="T29" fmla="*/ 23 h 60"/>
                    <a:gd name="T30" fmla="*/ 3 w 90"/>
                    <a:gd name="T31" fmla="*/ 27 h 60"/>
                    <a:gd name="T32" fmla="*/ 1 w 90"/>
                    <a:gd name="T33" fmla="*/ 32 h 60"/>
                    <a:gd name="T34" fmla="*/ 0 w 90"/>
                    <a:gd name="T35" fmla="*/ 38 h 60"/>
                    <a:gd name="T36" fmla="*/ 0 w 90"/>
                    <a:gd name="T37" fmla="*/ 43 h 60"/>
                    <a:gd name="T38" fmla="*/ 2 w 90"/>
                    <a:gd name="T39" fmla="*/ 47 h 60"/>
                    <a:gd name="T40" fmla="*/ 5 w 90"/>
                    <a:gd name="T41" fmla="*/ 51 h 60"/>
                    <a:gd name="T42" fmla="*/ 10 w 90"/>
                    <a:gd name="T43" fmla="*/ 54 h 60"/>
                    <a:gd name="T44" fmla="*/ 15 w 90"/>
                    <a:gd name="T45" fmla="*/ 55 h 60"/>
                    <a:gd name="T46" fmla="*/ 22 w 90"/>
                    <a:gd name="T47" fmla="*/ 58 h 60"/>
                    <a:gd name="T48" fmla="*/ 29 w 90"/>
                    <a:gd name="T49" fmla="*/ 59 h 60"/>
                    <a:gd name="T50" fmla="*/ 36 w 90"/>
                    <a:gd name="T51" fmla="*/ 60 h 60"/>
                    <a:gd name="T52" fmla="*/ 44 w 90"/>
                    <a:gd name="T53" fmla="*/ 59 h 60"/>
                    <a:gd name="T54" fmla="*/ 52 w 90"/>
                    <a:gd name="T55" fmla="*/ 57 h 60"/>
                    <a:gd name="T56" fmla="*/ 59 w 90"/>
                    <a:gd name="T57" fmla="*/ 54 h 60"/>
                    <a:gd name="T58" fmla="*/ 67 w 90"/>
                    <a:gd name="T59" fmla="*/ 51 h 60"/>
                    <a:gd name="T60" fmla="*/ 72 w 90"/>
                    <a:gd name="T61" fmla="*/ 47 h 60"/>
                    <a:gd name="T62" fmla="*/ 79 w 90"/>
                    <a:gd name="T63" fmla="*/ 42 h 60"/>
                    <a:gd name="T64" fmla="*/ 83 w 90"/>
                    <a:gd name="T65" fmla="*/ 37 h 60"/>
                    <a:gd name="T66" fmla="*/ 87 w 90"/>
                    <a:gd name="T67" fmla="*/ 33 h 60"/>
                    <a:gd name="T68" fmla="*/ 89 w 90"/>
                    <a:gd name="T69" fmla="*/ 28 h 60"/>
                    <a:gd name="T70" fmla="*/ 90 w 90"/>
                    <a:gd name="T71" fmla="*/ 22 h 60"/>
                    <a:gd name="T72" fmla="*/ 90 w 90"/>
                    <a:gd name="T73" fmla="*/ 17 h 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0" h="60">
                      <a:moveTo>
                        <a:pt x="90" y="17"/>
                      </a:moveTo>
                      <a:lnTo>
                        <a:pt x="88" y="13"/>
                      </a:lnTo>
                      <a:lnTo>
                        <a:pt x="85" y="9"/>
                      </a:lnTo>
                      <a:lnTo>
                        <a:pt x="80" y="6"/>
                      </a:lnTo>
                      <a:lnTo>
                        <a:pt x="75" y="5"/>
                      </a:lnTo>
                      <a:lnTo>
                        <a:pt x="68" y="2"/>
                      </a:lnTo>
                      <a:lnTo>
                        <a:pt x="61" y="1"/>
                      </a:lnTo>
                      <a:lnTo>
                        <a:pt x="54" y="0"/>
                      </a:lnTo>
                      <a:lnTo>
                        <a:pt x="46" y="1"/>
                      </a:lnTo>
                      <a:lnTo>
                        <a:pt x="38" y="3"/>
                      </a:lnTo>
                      <a:lnTo>
                        <a:pt x="31" y="6"/>
                      </a:lnTo>
                      <a:lnTo>
                        <a:pt x="23" y="9"/>
                      </a:lnTo>
                      <a:lnTo>
                        <a:pt x="18" y="13"/>
                      </a:lnTo>
                      <a:lnTo>
                        <a:pt x="11" y="18"/>
                      </a:lnTo>
                      <a:lnTo>
                        <a:pt x="7" y="23"/>
                      </a:lnTo>
                      <a:lnTo>
                        <a:pt x="3" y="27"/>
                      </a:lnTo>
                      <a:lnTo>
                        <a:pt x="1" y="32"/>
                      </a:lnTo>
                      <a:lnTo>
                        <a:pt x="0" y="38"/>
                      </a:lnTo>
                      <a:lnTo>
                        <a:pt x="0" y="43"/>
                      </a:lnTo>
                      <a:lnTo>
                        <a:pt x="2" y="47"/>
                      </a:lnTo>
                      <a:lnTo>
                        <a:pt x="5" y="51"/>
                      </a:lnTo>
                      <a:lnTo>
                        <a:pt x="10" y="54"/>
                      </a:lnTo>
                      <a:lnTo>
                        <a:pt x="15" y="55"/>
                      </a:lnTo>
                      <a:lnTo>
                        <a:pt x="22" y="58"/>
                      </a:lnTo>
                      <a:lnTo>
                        <a:pt x="29" y="59"/>
                      </a:lnTo>
                      <a:lnTo>
                        <a:pt x="36" y="60"/>
                      </a:lnTo>
                      <a:lnTo>
                        <a:pt x="44" y="59"/>
                      </a:lnTo>
                      <a:lnTo>
                        <a:pt x="52" y="57"/>
                      </a:lnTo>
                      <a:lnTo>
                        <a:pt x="59" y="54"/>
                      </a:lnTo>
                      <a:lnTo>
                        <a:pt x="67" y="51"/>
                      </a:lnTo>
                      <a:lnTo>
                        <a:pt x="72" y="47"/>
                      </a:lnTo>
                      <a:lnTo>
                        <a:pt x="79" y="42"/>
                      </a:lnTo>
                      <a:lnTo>
                        <a:pt x="83" y="37"/>
                      </a:lnTo>
                      <a:lnTo>
                        <a:pt x="87" y="33"/>
                      </a:lnTo>
                      <a:lnTo>
                        <a:pt x="89" y="28"/>
                      </a:lnTo>
                      <a:lnTo>
                        <a:pt x="90" y="22"/>
                      </a:lnTo>
                      <a:lnTo>
                        <a:pt x="9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9" name="Freeform 85"/>
                <p:cNvSpPr>
                  <a:spLocks/>
                </p:cNvSpPr>
                <p:nvPr/>
              </p:nvSpPr>
              <p:spPr bwMode="auto">
                <a:xfrm>
                  <a:off x="824" y="701"/>
                  <a:ext cx="92" cy="60"/>
                </a:xfrm>
                <a:custGeom>
                  <a:avLst/>
                  <a:gdLst>
                    <a:gd name="T0" fmla="*/ 92 w 92"/>
                    <a:gd name="T1" fmla="*/ 17 h 60"/>
                    <a:gd name="T2" fmla="*/ 90 w 92"/>
                    <a:gd name="T3" fmla="*/ 13 h 60"/>
                    <a:gd name="T4" fmla="*/ 87 w 92"/>
                    <a:gd name="T5" fmla="*/ 8 h 60"/>
                    <a:gd name="T6" fmla="*/ 82 w 92"/>
                    <a:gd name="T7" fmla="*/ 5 h 60"/>
                    <a:gd name="T8" fmla="*/ 77 w 92"/>
                    <a:gd name="T9" fmla="*/ 2 h 60"/>
                    <a:gd name="T10" fmla="*/ 70 w 92"/>
                    <a:gd name="T11" fmla="*/ 1 h 60"/>
                    <a:gd name="T12" fmla="*/ 61 w 92"/>
                    <a:gd name="T13" fmla="*/ 0 h 60"/>
                    <a:gd name="T14" fmla="*/ 55 w 92"/>
                    <a:gd name="T15" fmla="*/ 0 h 60"/>
                    <a:gd name="T16" fmla="*/ 47 w 92"/>
                    <a:gd name="T17" fmla="*/ 0 h 60"/>
                    <a:gd name="T18" fmla="*/ 39 w 92"/>
                    <a:gd name="T19" fmla="*/ 2 h 60"/>
                    <a:gd name="T20" fmla="*/ 32 w 92"/>
                    <a:gd name="T21" fmla="*/ 5 h 60"/>
                    <a:gd name="T22" fmla="*/ 24 w 92"/>
                    <a:gd name="T23" fmla="*/ 9 h 60"/>
                    <a:gd name="T24" fmla="*/ 18 w 92"/>
                    <a:gd name="T25" fmla="*/ 12 h 60"/>
                    <a:gd name="T26" fmla="*/ 11 w 92"/>
                    <a:gd name="T27" fmla="*/ 17 h 60"/>
                    <a:gd name="T28" fmla="*/ 7 w 92"/>
                    <a:gd name="T29" fmla="*/ 23 h 60"/>
                    <a:gd name="T30" fmla="*/ 3 w 92"/>
                    <a:gd name="T31" fmla="*/ 28 h 60"/>
                    <a:gd name="T32" fmla="*/ 1 w 92"/>
                    <a:gd name="T33" fmla="*/ 31 h 60"/>
                    <a:gd name="T34" fmla="*/ 0 w 92"/>
                    <a:gd name="T35" fmla="*/ 38 h 60"/>
                    <a:gd name="T36" fmla="*/ 0 w 92"/>
                    <a:gd name="T37" fmla="*/ 43 h 60"/>
                    <a:gd name="T38" fmla="*/ 2 w 92"/>
                    <a:gd name="T39" fmla="*/ 47 h 60"/>
                    <a:gd name="T40" fmla="*/ 5 w 92"/>
                    <a:gd name="T41" fmla="*/ 52 h 60"/>
                    <a:gd name="T42" fmla="*/ 10 w 92"/>
                    <a:gd name="T43" fmla="*/ 55 h 60"/>
                    <a:gd name="T44" fmla="*/ 15 w 92"/>
                    <a:gd name="T45" fmla="*/ 58 h 60"/>
                    <a:gd name="T46" fmla="*/ 22 w 92"/>
                    <a:gd name="T47" fmla="*/ 59 h 60"/>
                    <a:gd name="T48" fmla="*/ 31 w 92"/>
                    <a:gd name="T49" fmla="*/ 60 h 60"/>
                    <a:gd name="T50" fmla="*/ 37 w 92"/>
                    <a:gd name="T51" fmla="*/ 60 h 60"/>
                    <a:gd name="T52" fmla="*/ 45 w 92"/>
                    <a:gd name="T53" fmla="*/ 60 h 60"/>
                    <a:gd name="T54" fmla="*/ 53 w 92"/>
                    <a:gd name="T55" fmla="*/ 58 h 60"/>
                    <a:gd name="T56" fmla="*/ 60 w 92"/>
                    <a:gd name="T57" fmla="*/ 55 h 60"/>
                    <a:gd name="T58" fmla="*/ 68 w 92"/>
                    <a:gd name="T59" fmla="*/ 51 h 60"/>
                    <a:gd name="T60" fmla="*/ 74 w 92"/>
                    <a:gd name="T61" fmla="*/ 48 h 60"/>
                    <a:gd name="T62" fmla="*/ 81 w 92"/>
                    <a:gd name="T63" fmla="*/ 43 h 60"/>
                    <a:gd name="T64" fmla="*/ 85 w 92"/>
                    <a:gd name="T65" fmla="*/ 37 h 60"/>
                    <a:gd name="T66" fmla="*/ 89 w 92"/>
                    <a:gd name="T67" fmla="*/ 32 h 60"/>
                    <a:gd name="T68" fmla="*/ 91 w 92"/>
                    <a:gd name="T69" fmla="*/ 29 h 60"/>
                    <a:gd name="T70" fmla="*/ 92 w 92"/>
                    <a:gd name="T71" fmla="*/ 22 h 60"/>
                    <a:gd name="T72" fmla="*/ 92 w 92"/>
                    <a:gd name="T73" fmla="*/ 17 h 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2" h="60">
                      <a:moveTo>
                        <a:pt x="92" y="17"/>
                      </a:moveTo>
                      <a:lnTo>
                        <a:pt x="90" y="13"/>
                      </a:lnTo>
                      <a:lnTo>
                        <a:pt x="87" y="8"/>
                      </a:lnTo>
                      <a:lnTo>
                        <a:pt x="82" y="5"/>
                      </a:lnTo>
                      <a:lnTo>
                        <a:pt x="77" y="2"/>
                      </a:lnTo>
                      <a:lnTo>
                        <a:pt x="70" y="1"/>
                      </a:lnTo>
                      <a:lnTo>
                        <a:pt x="61" y="0"/>
                      </a:lnTo>
                      <a:lnTo>
                        <a:pt x="55" y="0"/>
                      </a:lnTo>
                      <a:lnTo>
                        <a:pt x="47" y="0"/>
                      </a:lnTo>
                      <a:lnTo>
                        <a:pt x="39" y="2"/>
                      </a:lnTo>
                      <a:lnTo>
                        <a:pt x="32" y="5"/>
                      </a:lnTo>
                      <a:lnTo>
                        <a:pt x="24" y="9"/>
                      </a:lnTo>
                      <a:lnTo>
                        <a:pt x="18" y="12"/>
                      </a:lnTo>
                      <a:lnTo>
                        <a:pt x="11" y="17"/>
                      </a:lnTo>
                      <a:lnTo>
                        <a:pt x="7" y="23"/>
                      </a:lnTo>
                      <a:lnTo>
                        <a:pt x="3" y="28"/>
                      </a:lnTo>
                      <a:lnTo>
                        <a:pt x="1" y="31"/>
                      </a:lnTo>
                      <a:lnTo>
                        <a:pt x="0" y="38"/>
                      </a:lnTo>
                      <a:lnTo>
                        <a:pt x="0" y="43"/>
                      </a:lnTo>
                      <a:lnTo>
                        <a:pt x="2" y="47"/>
                      </a:lnTo>
                      <a:lnTo>
                        <a:pt x="5" y="52"/>
                      </a:lnTo>
                      <a:lnTo>
                        <a:pt x="10" y="55"/>
                      </a:lnTo>
                      <a:lnTo>
                        <a:pt x="15" y="58"/>
                      </a:lnTo>
                      <a:lnTo>
                        <a:pt x="22" y="59"/>
                      </a:lnTo>
                      <a:lnTo>
                        <a:pt x="31" y="60"/>
                      </a:lnTo>
                      <a:lnTo>
                        <a:pt x="37" y="60"/>
                      </a:lnTo>
                      <a:lnTo>
                        <a:pt x="45" y="60"/>
                      </a:lnTo>
                      <a:lnTo>
                        <a:pt x="53" y="58"/>
                      </a:lnTo>
                      <a:lnTo>
                        <a:pt x="60" y="55"/>
                      </a:lnTo>
                      <a:lnTo>
                        <a:pt x="68" y="51"/>
                      </a:lnTo>
                      <a:lnTo>
                        <a:pt x="74" y="48"/>
                      </a:lnTo>
                      <a:lnTo>
                        <a:pt x="81" y="43"/>
                      </a:lnTo>
                      <a:lnTo>
                        <a:pt x="85" y="37"/>
                      </a:lnTo>
                      <a:lnTo>
                        <a:pt x="89" y="32"/>
                      </a:lnTo>
                      <a:lnTo>
                        <a:pt x="91" y="29"/>
                      </a:lnTo>
                      <a:lnTo>
                        <a:pt x="92" y="22"/>
                      </a:lnTo>
                      <a:lnTo>
                        <a:pt x="92"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0" name="Freeform 86"/>
                <p:cNvSpPr>
                  <a:spLocks/>
                </p:cNvSpPr>
                <p:nvPr/>
              </p:nvSpPr>
              <p:spPr bwMode="auto">
                <a:xfrm>
                  <a:off x="970" y="661"/>
                  <a:ext cx="92" cy="60"/>
                </a:xfrm>
                <a:custGeom>
                  <a:avLst/>
                  <a:gdLst>
                    <a:gd name="T0" fmla="*/ 92 w 92"/>
                    <a:gd name="T1" fmla="*/ 17 h 60"/>
                    <a:gd name="T2" fmla="*/ 90 w 92"/>
                    <a:gd name="T3" fmla="*/ 13 h 60"/>
                    <a:gd name="T4" fmla="*/ 87 w 92"/>
                    <a:gd name="T5" fmla="*/ 8 h 60"/>
                    <a:gd name="T6" fmla="*/ 82 w 92"/>
                    <a:gd name="T7" fmla="*/ 5 h 60"/>
                    <a:gd name="T8" fmla="*/ 77 w 92"/>
                    <a:gd name="T9" fmla="*/ 2 h 60"/>
                    <a:gd name="T10" fmla="*/ 70 w 92"/>
                    <a:gd name="T11" fmla="*/ 1 h 60"/>
                    <a:gd name="T12" fmla="*/ 61 w 92"/>
                    <a:gd name="T13" fmla="*/ 0 h 60"/>
                    <a:gd name="T14" fmla="*/ 55 w 92"/>
                    <a:gd name="T15" fmla="*/ 0 h 60"/>
                    <a:gd name="T16" fmla="*/ 47 w 92"/>
                    <a:gd name="T17" fmla="*/ 0 h 60"/>
                    <a:gd name="T18" fmla="*/ 39 w 92"/>
                    <a:gd name="T19" fmla="*/ 2 h 60"/>
                    <a:gd name="T20" fmla="*/ 32 w 92"/>
                    <a:gd name="T21" fmla="*/ 5 h 60"/>
                    <a:gd name="T22" fmla="*/ 24 w 92"/>
                    <a:gd name="T23" fmla="*/ 9 h 60"/>
                    <a:gd name="T24" fmla="*/ 18 w 92"/>
                    <a:gd name="T25" fmla="*/ 12 h 60"/>
                    <a:gd name="T26" fmla="*/ 11 w 92"/>
                    <a:gd name="T27" fmla="*/ 17 h 60"/>
                    <a:gd name="T28" fmla="*/ 7 w 92"/>
                    <a:gd name="T29" fmla="*/ 23 h 60"/>
                    <a:gd name="T30" fmla="*/ 3 w 92"/>
                    <a:gd name="T31" fmla="*/ 28 h 60"/>
                    <a:gd name="T32" fmla="*/ 1 w 92"/>
                    <a:gd name="T33" fmla="*/ 31 h 60"/>
                    <a:gd name="T34" fmla="*/ 0 w 92"/>
                    <a:gd name="T35" fmla="*/ 38 h 60"/>
                    <a:gd name="T36" fmla="*/ 0 w 92"/>
                    <a:gd name="T37" fmla="*/ 43 h 60"/>
                    <a:gd name="T38" fmla="*/ 2 w 92"/>
                    <a:gd name="T39" fmla="*/ 47 h 60"/>
                    <a:gd name="T40" fmla="*/ 5 w 92"/>
                    <a:gd name="T41" fmla="*/ 52 h 60"/>
                    <a:gd name="T42" fmla="*/ 10 w 92"/>
                    <a:gd name="T43" fmla="*/ 55 h 60"/>
                    <a:gd name="T44" fmla="*/ 15 w 92"/>
                    <a:gd name="T45" fmla="*/ 58 h 60"/>
                    <a:gd name="T46" fmla="*/ 22 w 92"/>
                    <a:gd name="T47" fmla="*/ 59 h 60"/>
                    <a:gd name="T48" fmla="*/ 31 w 92"/>
                    <a:gd name="T49" fmla="*/ 60 h 60"/>
                    <a:gd name="T50" fmla="*/ 37 w 92"/>
                    <a:gd name="T51" fmla="*/ 60 h 60"/>
                    <a:gd name="T52" fmla="*/ 45 w 92"/>
                    <a:gd name="T53" fmla="*/ 60 h 60"/>
                    <a:gd name="T54" fmla="*/ 53 w 92"/>
                    <a:gd name="T55" fmla="*/ 58 h 60"/>
                    <a:gd name="T56" fmla="*/ 60 w 92"/>
                    <a:gd name="T57" fmla="*/ 55 h 60"/>
                    <a:gd name="T58" fmla="*/ 68 w 92"/>
                    <a:gd name="T59" fmla="*/ 51 h 60"/>
                    <a:gd name="T60" fmla="*/ 74 w 92"/>
                    <a:gd name="T61" fmla="*/ 48 h 60"/>
                    <a:gd name="T62" fmla="*/ 81 w 92"/>
                    <a:gd name="T63" fmla="*/ 43 h 60"/>
                    <a:gd name="T64" fmla="*/ 85 w 92"/>
                    <a:gd name="T65" fmla="*/ 37 h 60"/>
                    <a:gd name="T66" fmla="*/ 89 w 92"/>
                    <a:gd name="T67" fmla="*/ 32 h 60"/>
                    <a:gd name="T68" fmla="*/ 91 w 92"/>
                    <a:gd name="T69" fmla="*/ 29 h 60"/>
                    <a:gd name="T70" fmla="*/ 92 w 92"/>
                    <a:gd name="T71" fmla="*/ 22 h 60"/>
                    <a:gd name="T72" fmla="*/ 92 w 92"/>
                    <a:gd name="T73" fmla="*/ 17 h 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2" h="60">
                      <a:moveTo>
                        <a:pt x="92" y="17"/>
                      </a:moveTo>
                      <a:lnTo>
                        <a:pt x="90" y="13"/>
                      </a:lnTo>
                      <a:lnTo>
                        <a:pt x="87" y="8"/>
                      </a:lnTo>
                      <a:lnTo>
                        <a:pt x="82" y="5"/>
                      </a:lnTo>
                      <a:lnTo>
                        <a:pt x="77" y="2"/>
                      </a:lnTo>
                      <a:lnTo>
                        <a:pt x="70" y="1"/>
                      </a:lnTo>
                      <a:lnTo>
                        <a:pt x="61" y="0"/>
                      </a:lnTo>
                      <a:lnTo>
                        <a:pt x="55" y="0"/>
                      </a:lnTo>
                      <a:lnTo>
                        <a:pt x="47" y="0"/>
                      </a:lnTo>
                      <a:lnTo>
                        <a:pt x="39" y="2"/>
                      </a:lnTo>
                      <a:lnTo>
                        <a:pt x="32" y="5"/>
                      </a:lnTo>
                      <a:lnTo>
                        <a:pt x="24" y="9"/>
                      </a:lnTo>
                      <a:lnTo>
                        <a:pt x="18" y="12"/>
                      </a:lnTo>
                      <a:lnTo>
                        <a:pt x="11" y="17"/>
                      </a:lnTo>
                      <a:lnTo>
                        <a:pt x="7" y="23"/>
                      </a:lnTo>
                      <a:lnTo>
                        <a:pt x="3" y="28"/>
                      </a:lnTo>
                      <a:lnTo>
                        <a:pt x="1" y="31"/>
                      </a:lnTo>
                      <a:lnTo>
                        <a:pt x="0" y="38"/>
                      </a:lnTo>
                      <a:lnTo>
                        <a:pt x="0" y="43"/>
                      </a:lnTo>
                      <a:lnTo>
                        <a:pt x="2" y="47"/>
                      </a:lnTo>
                      <a:lnTo>
                        <a:pt x="5" y="52"/>
                      </a:lnTo>
                      <a:lnTo>
                        <a:pt x="10" y="55"/>
                      </a:lnTo>
                      <a:lnTo>
                        <a:pt x="15" y="58"/>
                      </a:lnTo>
                      <a:lnTo>
                        <a:pt x="22" y="59"/>
                      </a:lnTo>
                      <a:lnTo>
                        <a:pt x="31" y="60"/>
                      </a:lnTo>
                      <a:lnTo>
                        <a:pt x="37" y="60"/>
                      </a:lnTo>
                      <a:lnTo>
                        <a:pt x="45" y="60"/>
                      </a:lnTo>
                      <a:lnTo>
                        <a:pt x="53" y="58"/>
                      </a:lnTo>
                      <a:lnTo>
                        <a:pt x="60" y="55"/>
                      </a:lnTo>
                      <a:lnTo>
                        <a:pt x="68" y="51"/>
                      </a:lnTo>
                      <a:lnTo>
                        <a:pt x="74" y="48"/>
                      </a:lnTo>
                      <a:lnTo>
                        <a:pt x="81" y="43"/>
                      </a:lnTo>
                      <a:lnTo>
                        <a:pt x="85" y="37"/>
                      </a:lnTo>
                      <a:lnTo>
                        <a:pt x="89" y="32"/>
                      </a:lnTo>
                      <a:lnTo>
                        <a:pt x="91" y="29"/>
                      </a:lnTo>
                      <a:lnTo>
                        <a:pt x="92" y="22"/>
                      </a:lnTo>
                      <a:lnTo>
                        <a:pt x="92"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1" name="Freeform 87"/>
                <p:cNvSpPr>
                  <a:spLocks/>
                </p:cNvSpPr>
                <p:nvPr/>
              </p:nvSpPr>
              <p:spPr bwMode="auto">
                <a:xfrm>
                  <a:off x="635" y="769"/>
                  <a:ext cx="477" cy="158"/>
                </a:xfrm>
                <a:custGeom>
                  <a:avLst/>
                  <a:gdLst>
                    <a:gd name="T0" fmla="*/ 17 w 477"/>
                    <a:gd name="T1" fmla="*/ 116 h 158"/>
                    <a:gd name="T2" fmla="*/ 174 w 477"/>
                    <a:gd name="T3" fmla="*/ 86 h 158"/>
                    <a:gd name="T4" fmla="*/ 319 w 477"/>
                    <a:gd name="T5" fmla="*/ 50 h 158"/>
                    <a:gd name="T6" fmla="*/ 462 w 477"/>
                    <a:gd name="T7" fmla="*/ 0 h 158"/>
                    <a:gd name="T8" fmla="*/ 477 w 477"/>
                    <a:gd name="T9" fmla="*/ 16 h 158"/>
                    <a:gd name="T10" fmla="*/ 467 w 477"/>
                    <a:gd name="T11" fmla="*/ 46 h 158"/>
                    <a:gd name="T12" fmla="*/ 421 w 477"/>
                    <a:gd name="T13" fmla="*/ 58 h 158"/>
                    <a:gd name="T14" fmla="*/ 295 w 477"/>
                    <a:gd name="T15" fmla="*/ 76 h 158"/>
                    <a:gd name="T16" fmla="*/ 162 w 477"/>
                    <a:gd name="T17" fmla="*/ 116 h 158"/>
                    <a:gd name="T18" fmla="*/ 75 w 477"/>
                    <a:gd name="T19" fmla="*/ 130 h 158"/>
                    <a:gd name="T20" fmla="*/ 23 w 477"/>
                    <a:gd name="T21" fmla="*/ 158 h 158"/>
                    <a:gd name="T22" fmla="*/ 0 w 477"/>
                    <a:gd name="T23" fmla="*/ 140 h 158"/>
                    <a:gd name="T24" fmla="*/ 17 w 477"/>
                    <a:gd name="T25" fmla="*/ 116 h 1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7" h="158">
                      <a:moveTo>
                        <a:pt x="17" y="116"/>
                      </a:moveTo>
                      <a:lnTo>
                        <a:pt x="174" y="86"/>
                      </a:lnTo>
                      <a:lnTo>
                        <a:pt x="319" y="50"/>
                      </a:lnTo>
                      <a:lnTo>
                        <a:pt x="462" y="0"/>
                      </a:lnTo>
                      <a:lnTo>
                        <a:pt x="477" y="16"/>
                      </a:lnTo>
                      <a:lnTo>
                        <a:pt x="467" y="46"/>
                      </a:lnTo>
                      <a:lnTo>
                        <a:pt x="421" y="58"/>
                      </a:lnTo>
                      <a:lnTo>
                        <a:pt x="295" y="76"/>
                      </a:lnTo>
                      <a:lnTo>
                        <a:pt x="162" y="116"/>
                      </a:lnTo>
                      <a:lnTo>
                        <a:pt x="75" y="130"/>
                      </a:lnTo>
                      <a:lnTo>
                        <a:pt x="23" y="158"/>
                      </a:lnTo>
                      <a:lnTo>
                        <a:pt x="0" y="140"/>
                      </a:lnTo>
                      <a:lnTo>
                        <a:pt x="17"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2" name="Freeform 88"/>
                <p:cNvSpPr>
                  <a:spLocks/>
                </p:cNvSpPr>
                <p:nvPr/>
              </p:nvSpPr>
              <p:spPr bwMode="auto">
                <a:xfrm>
                  <a:off x="647" y="987"/>
                  <a:ext cx="270" cy="78"/>
                </a:xfrm>
                <a:custGeom>
                  <a:avLst/>
                  <a:gdLst>
                    <a:gd name="T0" fmla="*/ 4 w 270"/>
                    <a:gd name="T1" fmla="*/ 40 h 78"/>
                    <a:gd name="T2" fmla="*/ 117 w 270"/>
                    <a:gd name="T3" fmla="*/ 21 h 78"/>
                    <a:gd name="T4" fmla="*/ 241 w 270"/>
                    <a:gd name="T5" fmla="*/ 0 h 78"/>
                    <a:gd name="T6" fmla="*/ 270 w 270"/>
                    <a:gd name="T7" fmla="*/ 13 h 78"/>
                    <a:gd name="T8" fmla="*/ 252 w 270"/>
                    <a:gd name="T9" fmla="*/ 38 h 78"/>
                    <a:gd name="T10" fmla="*/ 158 w 270"/>
                    <a:gd name="T11" fmla="*/ 44 h 78"/>
                    <a:gd name="T12" fmla="*/ 47 w 270"/>
                    <a:gd name="T13" fmla="*/ 65 h 78"/>
                    <a:gd name="T14" fmla="*/ 0 w 270"/>
                    <a:gd name="T15" fmla="*/ 78 h 78"/>
                    <a:gd name="T16" fmla="*/ 4 w 270"/>
                    <a:gd name="T17" fmla="*/ 40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0" h="78">
                      <a:moveTo>
                        <a:pt x="4" y="40"/>
                      </a:moveTo>
                      <a:lnTo>
                        <a:pt x="117" y="21"/>
                      </a:lnTo>
                      <a:lnTo>
                        <a:pt x="241" y="0"/>
                      </a:lnTo>
                      <a:lnTo>
                        <a:pt x="270" y="13"/>
                      </a:lnTo>
                      <a:lnTo>
                        <a:pt x="252" y="38"/>
                      </a:lnTo>
                      <a:lnTo>
                        <a:pt x="158" y="44"/>
                      </a:lnTo>
                      <a:lnTo>
                        <a:pt x="47" y="65"/>
                      </a:lnTo>
                      <a:lnTo>
                        <a:pt x="0" y="78"/>
                      </a:lnTo>
                      <a:lnTo>
                        <a:pt x="4"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3" name="Freeform 89"/>
                <p:cNvSpPr>
                  <a:spLocks/>
                </p:cNvSpPr>
                <p:nvPr/>
              </p:nvSpPr>
              <p:spPr bwMode="auto">
                <a:xfrm>
                  <a:off x="986" y="913"/>
                  <a:ext cx="259" cy="76"/>
                </a:xfrm>
                <a:custGeom>
                  <a:avLst/>
                  <a:gdLst>
                    <a:gd name="T0" fmla="*/ 245 w 259"/>
                    <a:gd name="T1" fmla="*/ 0 h 76"/>
                    <a:gd name="T2" fmla="*/ 133 w 259"/>
                    <a:gd name="T3" fmla="*/ 15 h 76"/>
                    <a:gd name="T4" fmla="*/ 18 w 259"/>
                    <a:gd name="T5" fmla="*/ 38 h 76"/>
                    <a:gd name="T6" fmla="*/ 0 w 259"/>
                    <a:gd name="T7" fmla="*/ 57 h 76"/>
                    <a:gd name="T8" fmla="*/ 10 w 259"/>
                    <a:gd name="T9" fmla="*/ 76 h 76"/>
                    <a:gd name="T10" fmla="*/ 39 w 259"/>
                    <a:gd name="T11" fmla="*/ 72 h 76"/>
                    <a:gd name="T12" fmla="*/ 153 w 259"/>
                    <a:gd name="T13" fmla="*/ 38 h 76"/>
                    <a:gd name="T14" fmla="*/ 259 w 259"/>
                    <a:gd name="T15" fmla="*/ 27 h 76"/>
                    <a:gd name="T16" fmla="*/ 245 w 259"/>
                    <a:gd name="T17" fmla="*/ 0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9" h="76">
                      <a:moveTo>
                        <a:pt x="245" y="0"/>
                      </a:moveTo>
                      <a:lnTo>
                        <a:pt x="133" y="15"/>
                      </a:lnTo>
                      <a:lnTo>
                        <a:pt x="18" y="38"/>
                      </a:lnTo>
                      <a:lnTo>
                        <a:pt x="0" y="57"/>
                      </a:lnTo>
                      <a:lnTo>
                        <a:pt x="10" y="76"/>
                      </a:lnTo>
                      <a:lnTo>
                        <a:pt x="39" y="72"/>
                      </a:lnTo>
                      <a:lnTo>
                        <a:pt x="153" y="38"/>
                      </a:lnTo>
                      <a:lnTo>
                        <a:pt x="259" y="27"/>
                      </a:lnTo>
                      <a:lnTo>
                        <a:pt x="24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4" name="Freeform 90"/>
                <p:cNvSpPr>
                  <a:spLocks/>
                </p:cNvSpPr>
                <p:nvPr/>
              </p:nvSpPr>
              <p:spPr bwMode="auto">
                <a:xfrm>
                  <a:off x="1013" y="1063"/>
                  <a:ext cx="122" cy="51"/>
                </a:xfrm>
                <a:custGeom>
                  <a:avLst/>
                  <a:gdLst>
                    <a:gd name="T0" fmla="*/ 14 w 122"/>
                    <a:gd name="T1" fmla="*/ 13 h 51"/>
                    <a:gd name="T2" fmla="*/ 112 w 122"/>
                    <a:gd name="T3" fmla="*/ 0 h 51"/>
                    <a:gd name="T4" fmla="*/ 122 w 122"/>
                    <a:gd name="T5" fmla="*/ 20 h 51"/>
                    <a:gd name="T6" fmla="*/ 98 w 122"/>
                    <a:gd name="T7" fmla="*/ 47 h 51"/>
                    <a:gd name="T8" fmla="*/ 31 w 122"/>
                    <a:gd name="T9" fmla="*/ 51 h 51"/>
                    <a:gd name="T10" fmla="*/ 0 w 122"/>
                    <a:gd name="T11" fmla="*/ 40 h 51"/>
                    <a:gd name="T12" fmla="*/ 14 w 122"/>
                    <a:gd name="T13" fmla="*/ 13 h 5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2" h="51">
                      <a:moveTo>
                        <a:pt x="14" y="13"/>
                      </a:moveTo>
                      <a:lnTo>
                        <a:pt x="112" y="0"/>
                      </a:lnTo>
                      <a:lnTo>
                        <a:pt x="122" y="20"/>
                      </a:lnTo>
                      <a:lnTo>
                        <a:pt x="98" y="47"/>
                      </a:lnTo>
                      <a:lnTo>
                        <a:pt x="31" y="51"/>
                      </a:lnTo>
                      <a:lnTo>
                        <a:pt x="0" y="40"/>
                      </a:lnTo>
                      <a:lnTo>
                        <a:pt x="14"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5" name="Freeform 91"/>
                <p:cNvSpPr>
                  <a:spLocks/>
                </p:cNvSpPr>
                <p:nvPr/>
              </p:nvSpPr>
              <p:spPr bwMode="auto">
                <a:xfrm>
                  <a:off x="770" y="1106"/>
                  <a:ext cx="105" cy="60"/>
                </a:xfrm>
                <a:custGeom>
                  <a:avLst/>
                  <a:gdLst>
                    <a:gd name="T0" fmla="*/ 0 w 105"/>
                    <a:gd name="T1" fmla="*/ 16 h 60"/>
                    <a:gd name="T2" fmla="*/ 105 w 105"/>
                    <a:gd name="T3" fmla="*/ 0 h 60"/>
                    <a:gd name="T4" fmla="*/ 105 w 105"/>
                    <a:gd name="T5" fmla="*/ 33 h 60"/>
                    <a:gd name="T6" fmla="*/ 74 w 105"/>
                    <a:gd name="T7" fmla="*/ 49 h 60"/>
                    <a:gd name="T8" fmla="*/ 6 w 105"/>
                    <a:gd name="T9" fmla="*/ 60 h 60"/>
                    <a:gd name="T10" fmla="*/ 0 w 105"/>
                    <a:gd name="T11" fmla="*/ 16 h 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5" h="60">
                      <a:moveTo>
                        <a:pt x="0" y="16"/>
                      </a:moveTo>
                      <a:lnTo>
                        <a:pt x="105" y="0"/>
                      </a:lnTo>
                      <a:lnTo>
                        <a:pt x="105" y="33"/>
                      </a:lnTo>
                      <a:lnTo>
                        <a:pt x="74" y="49"/>
                      </a:lnTo>
                      <a:lnTo>
                        <a:pt x="6" y="60"/>
                      </a:lnTo>
                      <a:lnTo>
                        <a:pt x="0"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6" name="Freeform 92"/>
                <p:cNvSpPr>
                  <a:spLocks/>
                </p:cNvSpPr>
                <p:nvPr/>
              </p:nvSpPr>
              <p:spPr bwMode="auto">
                <a:xfrm>
                  <a:off x="647" y="1125"/>
                  <a:ext cx="87" cy="58"/>
                </a:xfrm>
                <a:custGeom>
                  <a:avLst/>
                  <a:gdLst>
                    <a:gd name="T0" fmla="*/ 10 w 87"/>
                    <a:gd name="T1" fmla="*/ 11 h 58"/>
                    <a:gd name="T2" fmla="*/ 87 w 87"/>
                    <a:gd name="T3" fmla="*/ 0 h 58"/>
                    <a:gd name="T4" fmla="*/ 87 w 87"/>
                    <a:gd name="T5" fmla="*/ 47 h 58"/>
                    <a:gd name="T6" fmla="*/ 0 w 87"/>
                    <a:gd name="T7" fmla="*/ 58 h 58"/>
                    <a:gd name="T8" fmla="*/ 10 w 87"/>
                    <a:gd name="T9" fmla="*/ 11 h 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 h="58">
                      <a:moveTo>
                        <a:pt x="10" y="11"/>
                      </a:moveTo>
                      <a:lnTo>
                        <a:pt x="87" y="0"/>
                      </a:lnTo>
                      <a:lnTo>
                        <a:pt x="87" y="47"/>
                      </a:lnTo>
                      <a:lnTo>
                        <a:pt x="0" y="58"/>
                      </a:lnTo>
                      <a:lnTo>
                        <a:pt x="1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7" name="Freeform 93"/>
                <p:cNvSpPr>
                  <a:spLocks/>
                </p:cNvSpPr>
                <p:nvPr/>
              </p:nvSpPr>
              <p:spPr bwMode="auto">
                <a:xfrm>
                  <a:off x="658" y="1444"/>
                  <a:ext cx="54" cy="44"/>
                </a:xfrm>
                <a:custGeom>
                  <a:avLst/>
                  <a:gdLst>
                    <a:gd name="T0" fmla="*/ 53 w 54"/>
                    <a:gd name="T1" fmla="*/ 15 h 44"/>
                    <a:gd name="T2" fmla="*/ 52 w 54"/>
                    <a:gd name="T3" fmla="*/ 11 h 44"/>
                    <a:gd name="T4" fmla="*/ 49 w 54"/>
                    <a:gd name="T5" fmla="*/ 7 h 44"/>
                    <a:gd name="T6" fmla="*/ 47 w 54"/>
                    <a:gd name="T7" fmla="*/ 5 h 44"/>
                    <a:gd name="T8" fmla="*/ 43 w 54"/>
                    <a:gd name="T9" fmla="*/ 1 h 44"/>
                    <a:gd name="T10" fmla="*/ 39 w 54"/>
                    <a:gd name="T11" fmla="*/ 0 h 44"/>
                    <a:gd name="T12" fmla="*/ 35 w 54"/>
                    <a:gd name="T13" fmla="*/ 0 h 44"/>
                    <a:gd name="T14" fmla="*/ 32 w 54"/>
                    <a:gd name="T15" fmla="*/ 0 h 44"/>
                    <a:gd name="T16" fmla="*/ 26 w 54"/>
                    <a:gd name="T17" fmla="*/ 0 h 44"/>
                    <a:gd name="T18" fmla="*/ 21 w 54"/>
                    <a:gd name="T19" fmla="*/ 1 h 44"/>
                    <a:gd name="T20" fmla="*/ 16 w 54"/>
                    <a:gd name="T21" fmla="*/ 2 h 44"/>
                    <a:gd name="T22" fmla="*/ 13 w 54"/>
                    <a:gd name="T23" fmla="*/ 5 h 44"/>
                    <a:gd name="T24" fmla="*/ 9 w 54"/>
                    <a:gd name="T25" fmla="*/ 7 h 44"/>
                    <a:gd name="T26" fmla="*/ 6 w 54"/>
                    <a:gd name="T27" fmla="*/ 10 h 44"/>
                    <a:gd name="T28" fmla="*/ 4 w 54"/>
                    <a:gd name="T29" fmla="*/ 13 h 44"/>
                    <a:gd name="T30" fmla="*/ 2 w 54"/>
                    <a:gd name="T31" fmla="*/ 17 h 44"/>
                    <a:gd name="T32" fmla="*/ 0 w 54"/>
                    <a:gd name="T33" fmla="*/ 22 h 44"/>
                    <a:gd name="T34" fmla="*/ 0 w 54"/>
                    <a:gd name="T35" fmla="*/ 26 h 44"/>
                    <a:gd name="T36" fmla="*/ 1 w 54"/>
                    <a:gd name="T37" fmla="*/ 29 h 44"/>
                    <a:gd name="T38" fmla="*/ 2 w 54"/>
                    <a:gd name="T39" fmla="*/ 33 h 44"/>
                    <a:gd name="T40" fmla="*/ 5 w 54"/>
                    <a:gd name="T41" fmla="*/ 37 h 44"/>
                    <a:gd name="T42" fmla="*/ 7 w 54"/>
                    <a:gd name="T43" fmla="*/ 39 h 44"/>
                    <a:gd name="T44" fmla="*/ 11 w 54"/>
                    <a:gd name="T45" fmla="*/ 43 h 44"/>
                    <a:gd name="T46" fmla="*/ 15 w 54"/>
                    <a:gd name="T47" fmla="*/ 44 h 44"/>
                    <a:gd name="T48" fmla="*/ 19 w 54"/>
                    <a:gd name="T49" fmla="*/ 44 h 44"/>
                    <a:gd name="T50" fmla="*/ 22 w 54"/>
                    <a:gd name="T51" fmla="*/ 44 h 44"/>
                    <a:gd name="T52" fmla="*/ 28 w 54"/>
                    <a:gd name="T53" fmla="*/ 44 h 44"/>
                    <a:gd name="T54" fmla="*/ 33 w 54"/>
                    <a:gd name="T55" fmla="*/ 43 h 44"/>
                    <a:gd name="T56" fmla="*/ 38 w 54"/>
                    <a:gd name="T57" fmla="*/ 42 h 44"/>
                    <a:gd name="T58" fmla="*/ 41 w 54"/>
                    <a:gd name="T59" fmla="*/ 39 h 44"/>
                    <a:gd name="T60" fmla="*/ 45 w 54"/>
                    <a:gd name="T61" fmla="*/ 37 h 44"/>
                    <a:gd name="T62" fmla="*/ 48 w 54"/>
                    <a:gd name="T63" fmla="*/ 34 h 44"/>
                    <a:gd name="T64" fmla="*/ 50 w 54"/>
                    <a:gd name="T65" fmla="*/ 31 h 44"/>
                    <a:gd name="T66" fmla="*/ 52 w 54"/>
                    <a:gd name="T67" fmla="*/ 27 h 44"/>
                    <a:gd name="T68" fmla="*/ 54 w 54"/>
                    <a:gd name="T69" fmla="*/ 22 h 44"/>
                    <a:gd name="T70" fmla="*/ 54 w 54"/>
                    <a:gd name="T71" fmla="*/ 18 h 44"/>
                    <a:gd name="T72" fmla="*/ 53 w 54"/>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4" h="44">
                      <a:moveTo>
                        <a:pt x="53" y="15"/>
                      </a:moveTo>
                      <a:lnTo>
                        <a:pt x="52" y="11"/>
                      </a:lnTo>
                      <a:lnTo>
                        <a:pt x="49" y="7"/>
                      </a:lnTo>
                      <a:lnTo>
                        <a:pt x="47" y="5"/>
                      </a:lnTo>
                      <a:lnTo>
                        <a:pt x="43" y="1"/>
                      </a:lnTo>
                      <a:lnTo>
                        <a:pt x="39" y="0"/>
                      </a:lnTo>
                      <a:lnTo>
                        <a:pt x="35" y="0"/>
                      </a:lnTo>
                      <a:lnTo>
                        <a:pt x="32" y="0"/>
                      </a:lnTo>
                      <a:lnTo>
                        <a:pt x="26" y="0"/>
                      </a:lnTo>
                      <a:lnTo>
                        <a:pt x="21" y="1"/>
                      </a:lnTo>
                      <a:lnTo>
                        <a:pt x="16" y="2"/>
                      </a:lnTo>
                      <a:lnTo>
                        <a:pt x="13" y="5"/>
                      </a:lnTo>
                      <a:lnTo>
                        <a:pt x="9" y="7"/>
                      </a:lnTo>
                      <a:lnTo>
                        <a:pt x="6" y="10"/>
                      </a:lnTo>
                      <a:lnTo>
                        <a:pt x="4" y="13"/>
                      </a:lnTo>
                      <a:lnTo>
                        <a:pt x="2" y="17"/>
                      </a:lnTo>
                      <a:lnTo>
                        <a:pt x="0" y="22"/>
                      </a:lnTo>
                      <a:lnTo>
                        <a:pt x="0" y="26"/>
                      </a:lnTo>
                      <a:lnTo>
                        <a:pt x="1" y="29"/>
                      </a:lnTo>
                      <a:lnTo>
                        <a:pt x="2" y="33"/>
                      </a:lnTo>
                      <a:lnTo>
                        <a:pt x="5" y="37"/>
                      </a:lnTo>
                      <a:lnTo>
                        <a:pt x="7" y="39"/>
                      </a:lnTo>
                      <a:lnTo>
                        <a:pt x="11" y="43"/>
                      </a:lnTo>
                      <a:lnTo>
                        <a:pt x="15" y="44"/>
                      </a:lnTo>
                      <a:lnTo>
                        <a:pt x="19" y="44"/>
                      </a:lnTo>
                      <a:lnTo>
                        <a:pt x="22" y="44"/>
                      </a:lnTo>
                      <a:lnTo>
                        <a:pt x="28" y="44"/>
                      </a:lnTo>
                      <a:lnTo>
                        <a:pt x="33" y="43"/>
                      </a:lnTo>
                      <a:lnTo>
                        <a:pt x="38" y="42"/>
                      </a:lnTo>
                      <a:lnTo>
                        <a:pt x="41" y="39"/>
                      </a:lnTo>
                      <a:lnTo>
                        <a:pt x="45" y="37"/>
                      </a:lnTo>
                      <a:lnTo>
                        <a:pt x="48" y="34"/>
                      </a:lnTo>
                      <a:lnTo>
                        <a:pt x="50" y="31"/>
                      </a:lnTo>
                      <a:lnTo>
                        <a:pt x="52" y="27"/>
                      </a:lnTo>
                      <a:lnTo>
                        <a:pt x="54" y="22"/>
                      </a:lnTo>
                      <a:lnTo>
                        <a:pt x="54" y="18"/>
                      </a:lnTo>
                      <a:lnTo>
                        <a:pt x="53"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8" name="Freeform 94"/>
                <p:cNvSpPr>
                  <a:spLocks/>
                </p:cNvSpPr>
                <p:nvPr/>
              </p:nvSpPr>
              <p:spPr bwMode="auto">
                <a:xfrm>
                  <a:off x="804" y="1404"/>
                  <a:ext cx="56" cy="44"/>
                </a:xfrm>
                <a:custGeom>
                  <a:avLst/>
                  <a:gdLst>
                    <a:gd name="T0" fmla="*/ 55 w 56"/>
                    <a:gd name="T1" fmla="*/ 15 h 44"/>
                    <a:gd name="T2" fmla="*/ 54 w 56"/>
                    <a:gd name="T3" fmla="*/ 11 h 44"/>
                    <a:gd name="T4" fmla="*/ 51 w 56"/>
                    <a:gd name="T5" fmla="*/ 7 h 44"/>
                    <a:gd name="T6" fmla="*/ 49 w 56"/>
                    <a:gd name="T7" fmla="*/ 5 h 44"/>
                    <a:gd name="T8" fmla="*/ 44 w 56"/>
                    <a:gd name="T9" fmla="*/ 1 h 44"/>
                    <a:gd name="T10" fmla="*/ 40 w 56"/>
                    <a:gd name="T11" fmla="*/ 0 h 44"/>
                    <a:gd name="T12" fmla="*/ 37 w 56"/>
                    <a:gd name="T13" fmla="*/ 0 h 44"/>
                    <a:gd name="T14" fmla="*/ 33 w 56"/>
                    <a:gd name="T15" fmla="*/ 0 h 44"/>
                    <a:gd name="T16" fmla="*/ 27 w 56"/>
                    <a:gd name="T17" fmla="*/ 0 h 44"/>
                    <a:gd name="T18" fmla="*/ 22 w 56"/>
                    <a:gd name="T19" fmla="*/ 1 h 44"/>
                    <a:gd name="T20" fmla="*/ 18 w 56"/>
                    <a:gd name="T21" fmla="*/ 2 h 44"/>
                    <a:gd name="T22" fmla="*/ 14 w 56"/>
                    <a:gd name="T23" fmla="*/ 5 h 44"/>
                    <a:gd name="T24" fmla="*/ 9 w 56"/>
                    <a:gd name="T25" fmla="*/ 7 h 44"/>
                    <a:gd name="T26" fmla="*/ 7 w 56"/>
                    <a:gd name="T27" fmla="*/ 10 h 44"/>
                    <a:gd name="T28" fmla="*/ 5 w 56"/>
                    <a:gd name="T29" fmla="*/ 13 h 44"/>
                    <a:gd name="T30" fmla="*/ 2 w 56"/>
                    <a:gd name="T31" fmla="*/ 17 h 44"/>
                    <a:gd name="T32" fmla="*/ 0 w 56"/>
                    <a:gd name="T33" fmla="*/ 22 h 44"/>
                    <a:gd name="T34" fmla="*/ 0 w 56"/>
                    <a:gd name="T35" fmla="*/ 26 h 44"/>
                    <a:gd name="T36" fmla="*/ 1 w 56"/>
                    <a:gd name="T37" fmla="*/ 29 h 44"/>
                    <a:gd name="T38" fmla="*/ 2 w 56"/>
                    <a:gd name="T39" fmla="*/ 33 h 44"/>
                    <a:gd name="T40" fmla="*/ 5 w 56"/>
                    <a:gd name="T41" fmla="*/ 37 h 44"/>
                    <a:gd name="T42" fmla="*/ 7 w 56"/>
                    <a:gd name="T43" fmla="*/ 39 h 44"/>
                    <a:gd name="T44" fmla="*/ 12 w 56"/>
                    <a:gd name="T45" fmla="*/ 43 h 44"/>
                    <a:gd name="T46" fmla="*/ 16 w 56"/>
                    <a:gd name="T47" fmla="*/ 44 h 44"/>
                    <a:gd name="T48" fmla="*/ 19 w 56"/>
                    <a:gd name="T49" fmla="*/ 44 h 44"/>
                    <a:gd name="T50" fmla="*/ 23 w 56"/>
                    <a:gd name="T51" fmla="*/ 44 h 44"/>
                    <a:gd name="T52" fmla="*/ 29 w 56"/>
                    <a:gd name="T53" fmla="*/ 44 h 44"/>
                    <a:gd name="T54" fmla="*/ 34 w 56"/>
                    <a:gd name="T55" fmla="*/ 43 h 44"/>
                    <a:gd name="T56" fmla="*/ 39 w 56"/>
                    <a:gd name="T57" fmla="*/ 42 h 44"/>
                    <a:gd name="T58" fmla="*/ 42 w 56"/>
                    <a:gd name="T59" fmla="*/ 39 h 44"/>
                    <a:gd name="T60" fmla="*/ 47 w 56"/>
                    <a:gd name="T61" fmla="*/ 37 h 44"/>
                    <a:gd name="T62" fmla="*/ 49 w 56"/>
                    <a:gd name="T63" fmla="*/ 34 h 44"/>
                    <a:gd name="T64" fmla="*/ 51 w 56"/>
                    <a:gd name="T65" fmla="*/ 31 h 44"/>
                    <a:gd name="T66" fmla="*/ 54 w 56"/>
                    <a:gd name="T67" fmla="*/ 27 h 44"/>
                    <a:gd name="T68" fmla="*/ 56 w 56"/>
                    <a:gd name="T69" fmla="*/ 22 h 44"/>
                    <a:gd name="T70" fmla="*/ 56 w 56"/>
                    <a:gd name="T71" fmla="*/ 18 h 44"/>
                    <a:gd name="T72" fmla="*/ 55 w 56"/>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6" h="44">
                      <a:moveTo>
                        <a:pt x="55" y="15"/>
                      </a:moveTo>
                      <a:lnTo>
                        <a:pt x="54" y="11"/>
                      </a:lnTo>
                      <a:lnTo>
                        <a:pt x="51" y="7"/>
                      </a:lnTo>
                      <a:lnTo>
                        <a:pt x="49" y="5"/>
                      </a:lnTo>
                      <a:lnTo>
                        <a:pt x="44" y="1"/>
                      </a:lnTo>
                      <a:lnTo>
                        <a:pt x="40" y="0"/>
                      </a:lnTo>
                      <a:lnTo>
                        <a:pt x="37" y="0"/>
                      </a:lnTo>
                      <a:lnTo>
                        <a:pt x="33" y="0"/>
                      </a:lnTo>
                      <a:lnTo>
                        <a:pt x="27" y="0"/>
                      </a:lnTo>
                      <a:lnTo>
                        <a:pt x="22" y="1"/>
                      </a:lnTo>
                      <a:lnTo>
                        <a:pt x="18" y="2"/>
                      </a:lnTo>
                      <a:lnTo>
                        <a:pt x="14" y="5"/>
                      </a:lnTo>
                      <a:lnTo>
                        <a:pt x="9" y="7"/>
                      </a:lnTo>
                      <a:lnTo>
                        <a:pt x="7" y="10"/>
                      </a:lnTo>
                      <a:lnTo>
                        <a:pt x="5" y="13"/>
                      </a:lnTo>
                      <a:lnTo>
                        <a:pt x="2" y="17"/>
                      </a:lnTo>
                      <a:lnTo>
                        <a:pt x="0" y="22"/>
                      </a:lnTo>
                      <a:lnTo>
                        <a:pt x="0" y="26"/>
                      </a:lnTo>
                      <a:lnTo>
                        <a:pt x="1" y="29"/>
                      </a:lnTo>
                      <a:lnTo>
                        <a:pt x="2" y="33"/>
                      </a:lnTo>
                      <a:lnTo>
                        <a:pt x="5" y="37"/>
                      </a:lnTo>
                      <a:lnTo>
                        <a:pt x="7" y="39"/>
                      </a:lnTo>
                      <a:lnTo>
                        <a:pt x="12" y="43"/>
                      </a:lnTo>
                      <a:lnTo>
                        <a:pt x="16" y="44"/>
                      </a:lnTo>
                      <a:lnTo>
                        <a:pt x="19" y="44"/>
                      </a:lnTo>
                      <a:lnTo>
                        <a:pt x="23" y="44"/>
                      </a:lnTo>
                      <a:lnTo>
                        <a:pt x="29" y="44"/>
                      </a:lnTo>
                      <a:lnTo>
                        <a:pt x="34" y="43"/>
                      </a:lnTo>
                      <a:lnTo>
                        <a:pt x="39" y="42"/>
                      </a:lnTo>
                      <a:lnTo>
                        <a:pt x="42" y="39"/>
                      </a:lnTo>
                      <a:lnTo>
                        <a:pt x="47" y="37"/>
                      </a:lnTo>
                      <a:lnTo>
                        <a:pt x="49" y="34"/>
                      </a:lnTo>
                      <a:lnTo>
                        <a:pt x="51" y="31"/>
                      </a:lnTo>
                      <a:lnTo>
                        <a:pt x="54" y="27"/>
                      </a:lnTo>
                      <a:lnTo>
                        <a:pt x="56" y="22"/>
                      </a:lnTo>
                      <a:lnTo>
                        <a:pt x="56" y="18"/>
                      </a:lnTo>
                      <a:lnTo>
                        <a:pt x="55"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9" name="Freeform 95"/>
                <p:cNvSpPr>
                  <a:spLocks/>
                </p:cNvSpPr>
                <p:nvPr/>
              </p:nvSpPr>
              <p:spPr bwMode="auto">
                <a:xfrm>
                  <a:off x="945" y="1359"/>
                  <a:ext cx="54" cy="44"/>
                </a:xfrm>
                <a:custGeom>
                  <a:avLst/>
                  <a:gdLst>
                    <a:gd name="T0" fmla="*/ 53 w 54"/>
                    <a:gd name="T1" fmla="*/ 15 h 44"/>
                    <a:gd name="T2" fmla="*/ 52 w 54"/>
                    <a:gd name="T3" fmla="*/ 11 h 44"/>
                    <a:gd name="T4" fmla="*/ 49 w 54"/>
                    <a:gd name="T5" fmla="*/ 7 h 44"/>
                    <a:gd name="T6" fmla="*/ 47 w 54"/>
                    <a:gd name="T7" fmla="*/ 5 h 44"/>
                    <a:gd name="T8" fmla="*/ 43 w 54"/>
                    <a:gd name="T9" fmla="*/ 1 h 44"/>
                    <a:gd name="T10" fmla="*/ 39 w 54"/>
                    <a:gd name="T11" fmla="*/ 0 h 44"/>
                    <a:gd name="T12" fmla="*/ 35 w 54"/>
                    <a:gd name="T13" fmla="*/ 0 h 44"/>
                    <a:gd name="T14" fmla="*/ 32 w 54"/>
                    <a:gd name="T15" fmla="*/ 0 h 44"/>
                    <a:gd name="T16" fmla="*/ 26 w 54"/>
                    <a:gd name="T17" fmla="*/ 0 h 44"/>
                    <a:gd name="T18" fmla="*/ 21 w 54"/>
                    <a:gd name="T19" fmla="*/ 1 h 44"/>
                    <a:gd name="T20" fmla="*/ 16 w 54"/>
                    <a:gd name="T21" fmla="*/ 2 h 44"/>
                    <a:gd name="T22" fmla="*/ 13 w 54"/>
                    <a:gd name="T23" fmla="*/ 5 h 44"/>
                    <a:gd name="T24" fmla="*/ 9 w 54"/>
                    <a:gd name="T25" fmla="*/ 7 h 44"/>
                    <a:gd name="T26" fmla="*/ 6 w 54"/>
                    <a:gd name="T27" fmla="*/ 10 h 44"/>
                    <a:gd name="T28" fmla="*/ 4 w 54"/>
                    <a:gd name="T29" fmla="*/ 13 h 44"/>
                    <a:gd name="T30" fmla="*/ 2 w 54"/>
                    <a:gd name="T31" fmla="*/ 17 h 44"/>
                    <a:gd name="T32" fmla="*/ 0 w 54"/>
                    <a:gd name="T33" fmla="*/ 22 h 44"/>
                    <a:gd name="T34" fmla="*/ 0 w 54"/>
                    <a:gd name="T35" fmla="*/ 26 h 44"/>
                    <a:gd name="T36" fmla="*/ 1 w 54"/>
                    <a:gd name="T37" fmla="*/ 29 h 44"/>
                    <a:gd name="T38" fmla="*/ 2 w 54"/>
                    <a:gd name="T39" fmla="*/ 33 h 44"/>
                    <a:gd name="T40" fmla="*/ 5 w 54"/>
                    <a:gd name="T41" fmla="*/ 37 h 44"/>
                    <a:gd name="T42" fmla="*/ 7 w 54"/>
                    <a:gd name="T43" fmla="*/ 39 h 44"/>
                    <a:gd name="T44" fmla="*/ 11 w 54"/>
                    <a:gd name="T45" fmla="*/ 43 h 44"/>
                    <a:gd name="T46" fmla="*/ 15 w 54"/>
                    <a:gd name="T47" fmla="*/ 44 h 44"/>
                    <a:gd name="T48" fmla="*/ 19 w 54"/>
                    <a:gd name="T49" fmla="*/ 44 h 44"/>
                    <a:gd name="T50" fmla="*/ 22 w 54"/>
                    <a:gd name="T51" fmla="*/ 44 h 44"/>
                    <a:gd name="T52" fmla="*/ 28 w 54"/>
                    <a:gd name="T53" fmla="*/ 44 h 44"/>
                    <a:gd name="T54" fmla="*/ 33 w 54"/>
                    <a:gd name="T55" fmla="*/ 43 h 44"/>
                    <a:gd name="T56" fmla="*/ 38 w 54"/>
                    <a:gd name="T57" fmla="*/ 42 h 44"/>
                    <a:gd name="T58" fmla="*/ 41 w 54"/>
                    <a:gd name="T59" fmla="*/ 39 h 44"/>
                    <a:gd name="T60" fmla="*/ 45 w 54"/>
                    <a:gd name="T61" fmla="*/ 37 h 44"/>
                    <a:gd name="T62" fmla="*/ 48 w 54"/>
                    <a:gd name="T63" fmla="*/ 34 h 44"/>
                    <a:gd name="T64" fmla="*/ 50 w 54"/>
                    <a:gd name="T65" fmla="*/ 31 h 44"/>
                    <a:gd name="T66" fmla="*/ 52 w 54"/>
                    <a:gd name="T67" fmla="*/ 27 h 44"/>
                    <a:gd name="T68" fmla="*/ 54 w 54"/>
                    <a:gd name="T69" fmla="*/ 22 h 44"/>
                    <a:gd name="T70" fmla="*/ 54 w 54"/>
                    <a:gd name="T71" fmla="*/ 18 h 44"/>
                    <a:gd name="T72" fmla="*/ 53 w 54"/>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4" h="44">
                      <a:moveTo>
                        <a:pt x="53" y="15"/>
                      </a:moveTo>
                      <a:lnTo>
                        <a:pt x="52" y="11"/>
                      </a:lnTo>
                      <a:lnTo>
                        <a:pt x="49" y="7"/>
                      </a:lnTo>
                      <a:lnTo>
                        <a:pt x="47" y="5"/>
                      </a:lnTo>
                      <a:lnTo>
                        <a:pt x="43" y="1"/>
                      </a:lnTo>
                      <a:lnTo>
                        <a:pt x="39" y="0"/>
                      </a:lnTo>
                      <a:lnTo>
                        <a:pt x="35" y="0"/>
                      </a:lnTo>
                      <a:lnTo>
                        <a:pt x="32" y="0"/>
                      </a:lnTo>
                      <a:lnTo>
                        <a:pt x="26" y="0"/>
                      </a:lnTo>
                      <a:lnTo>
                        <a:pt x="21" y="1"/>
                      </a:lnTo>
                      <a:lnTo>
                        <a:pt x="16" y="2"/>
                      </a:lnTo>
                      <a:lnTo>
                        <a:pt x="13" y="5"/>
                      </a:lnTo>
                      <a:lnTo>
                        <a:pt x="9" y="7"/>
                      </a:lnTo>
                      <a:lnTo>
                        <a:pt x="6" y="10"/>
                      </a:lnTo>
                      <a:lnTo>
                        <a:pt x="4" y="13"/>
                      </a:lnTo>
                      <a:lnTo>
                        <a:pt x="2" y="17"/>
                      </a:lnTo>
                      <a:lnTo>
                        <a:pt x="0" y="22"/>
                      </a:lnTo>
                      <a:lnTo>
                        <a:pt x="0" y="26"/>
                      </a:lnTo>
                      <a:lnTo>
                        <a:pt x="1" y="29"/>
                      </a:lnTo>
                      <a:lnTo>
                        <a:pt x="2" y="33"/>
                      </a:lnTo>
                      <a:lnTo>
                        <a:pt x="5" y="37"/>
                      </a:lnTo>
                      <a:lnTo>
                        <a:pt x="7" y="39"/>
                      </a:lnTo>
                      <a:lnTo>
                        <a:pt x="11" y="43"/>
                      </a:lnTo>
                      <a:lnTo>
                        <a:pt x="15" y="44"/>
                      </a:lnTo>
                      <a:lnTo>
                        <a:pt x="19" y="44"/>
                      </a:lnTo>
                      <a:lnTo>
                        <a:pt x="22" y="44"/>
                      </a:lnTo>
                      <a:lnTo>
                        <a:pt x="28" y="44"/>
                      </a:lnTo>
                      <a:lnTo>
                        <a:pt x="33" y="43"/>
                      </a:lnTo>
                      <a:lnTo>
                        <a:pt x="38" y="42"/>
                      </a:lnTo>
                      <a:lnTo>
                        <a:pt x="41" y="39"/>
                      </a:lnTo>
                      <a:lnTo>
                        <a:pt x="45" y="37"/>
                      </a:lnTo>
                      <a:lnTo>
                        <a:pt x="48" y="34"/>
                      </a:lnTo>
                      <a:lnTo>
                        <a:pt x="50" y="31"/>
                      </a:lnTo>
                      <a:lnTo>
                        <a:pt x="52" y="27"/>
                      </a:lnTo>
                      <a:lnTo>
                        <a:pt x="54" y="22"/>
                      </a:lnTo>
                      <a:lnTo>
                        <a:pt x="54" y="18"/>
                      </a:lnTo>
                      <a:lnTo>
                        <a:pt x="53"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0" name="Freeform 96"/>
                <p:cNvSpPr>
                  <a:spLocks/>
                </p:cNvSpPr>
                <p:nvPr/>
              </p:nvSpPr>
              <p:spPr bwMode="auto">
                <a:xfrm>
                  <a:off x="1091" y="1319"/>
                  <a:ext cx="54" cy="44"/>
                </a:xfrm>
                <a:custGeom>
                  <a:avLst/>
                  <a:gdLst>
                    <a:gd name="T0" fmla="*/ 53 w 54"/>
                    <a:gd name="T1" fmla="*/ 15 h 44"/>
                    <a:gd name="T2" fmla="*/ 52 w 54"/>
                    <a:gd name="T3" fmla="*/ 11 h 44"/>
                    <a:gd name="T4" fmla="*/ 49 w 54"/>
                    <a:gd name="T5" fmla="*/ 7 h 44"/>
                    <a:gd name="T6" fmla="*/ 47 w 54"/>
                    <a:gd name="T7" fmla="*/ 5 h 44"/>
                    <a:gd name="T8" fmla="*/ 43 w 54"/>
                    <a:gd name="T9" fmla="*/ 1 h 44"/>
                    <a:gd name="T10" fmla="*/ 39 w 54"/>
                    <a:gd name="T11" fmla="*/ 0 h 44"/>
                    <a:gd name="T12" fmla="*/ 35 w 54"/>
                    <a:gd name="T13" fmla="*/ 0 h 44"/>
                    <a:gd name="T14" fmla="*/ 32 w 54"/>
                    <a:gd name="T15" fmla="*/ 0 h 44"/>
                    <a:gd name="T16" fmla="*/ 26 w 54"/>
                    <a:gd name="T17" fmla="*/ 0 h 44"/>
                    <a:gd name="T18" fmla="*/ 21 w 54"/>
                    <a:gd name="T19" fmla="*/ 1 h 44"/>
                    <a:gd name="T20" fmla="*/ 16 w 54"/>
                    <a:gd name="T21" fmla="*/ 2 h 44"/>
                    <a:gd name="T22" fmla="*/ 13 w 54"/>
                    <a:gd name="T23" fmla="*/ 5 h 44"/>
                    <a:gd name="T24" fmla="*/ 9 w 54"/>
                    <a:gd name="T25" fmla="*/ 7 h 44"/>
                    <a:gd name="T26" fmla="*/ 6 w 54"/>
                    <a:gd name="T27" fmla="*/ 10 h 44"/>
                    <a:gd name="T28" fmla="*/ 4 w 54"/>
                    <a:gd name="T29" fmla="*/ 13 h 44"/>
                    <a:gd name="T30" fmla="*/ 2 w 54"/>
                    <a:gd name="T31" fmla="*/ 17 h 44"/>
                    <a:gd name="T32" fmla="*/ 0 w 54"/>
                    <a:gd name="T33" fmla="*/ 22 h 44"/>
                    <a:gd name="T34" fmla="*/ 0 w 54"/>
                    <a:gd name="T35" fmla="*/ 26 h 44"/>
                    <a:gd name="T36" fmla="*/ 1 w 54"/>
                    <a:gd name="T37" fmla="*/ 29 h 44"/>
                    <a:gd name="T38" fmla="*/ 2 w 54"/>
                    <a:gd name="T39" fmla="*/ 33 h 44"/>
                    <a:gd name="T40" fmla="*/ 5 w 54"/>
                    <a:gd name="T41" fmla="*/ 37 h 44"/>
                    <a:gd name="T42" fmla="*/ 7 w 54"/>
                    <a:gd name="T43" fmla="*/ 39 h 44"/>
                    <a:gd name="T44" fmla="*/ 11 w 54"/>
                    <a:gd name="T45" fmla="*/ 43 h 44"/>
                    <a:gd name="T46" fmla="*/ 15 w 54"/>
                    <a:gd name="T47" fmla="*/ 44 h 44"/>
                    <a:gd name="T48" fmla="*/ 19 w 54"/>
                    <a:gd name="T49" fmla="*/ 44 h 44"/>
                    <a:gd name="T50" fmla="*/ 22 w 54"/>
                    <a:gd name="T51" fmla="*/ 44 h 44"/>
                    <a:gd name="T52" fmla="*/ 28 w 54"/>
                    <a:gd name="T53" fmla="*/ 44 h 44"/>
                    <a:gd name="T54" fmla="*/ 33 w 54"/>
                    <a:gd name="T55" fmla="*/ 43 h 44"/>
                    <a:gd name="T56" fmla="*/ 38 w 54"/>
                    <a:gd name="T57" fmla="*/ 42 h 44"/>
                    <a:gd name="T58" fmla="*/ 41 w 54"/>
                    <a:gd name="T59" fmla="*/ 39 h 44"/>
                    <a:gd name="T60" fmla="*/ 45 w 54"/>
                    <a:gd name="T61" fmla="*/ 37 h 44"/>
                    <a:gd name="T62" fmla="*/ 48 w 54"/>
                    <a:gd name="T63" fmla="*/ 34 h 44"/>
                    <a:gd name="T64" fmla="*/ 50 w 54"/>
                    <a:gd name="T65" fmla="*/ 31 h 44"/>
                    <a:gd name="T66" fmla="*/ 52 w 54"/>
                    <a:gd name="T67" fmla="*/ 27 h 44"/>
                    <a:gd name="T68" fmla="*/ 54 w 54"/>
                    <a:gd name="T69" fmla="*/ 22 h 44"/>
                    <a:gd name="T70" fmla="*/ 54 w 54"/>
                    <a:gd name="T71" fmla="*/ 18 h 44"/>
                    <a:gd name="T72" fmla="*/ 53 w 54"/>
                    <a:gd name="T73" fmla="*/ 15 h 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4" h="44">
                      <a:moveTo>
                        <a:pt x="53" y="15"/>
                      </a:moveTo>
                      <a:lnTo>
                        <a:pt x="52" y="11"/>
                      </a:lnTo>
                      <a:lnTo>
                        <a:pt x="49" y="7"/>
                      </a:lnTo>
                      <a:lnTo>
                        <a:pt x="47" y="5"/>
                      </a:lnTo>
                      <a:lnTo>
                        <a:pt x="43" y="1"/>
                      </a:lnTo>
                      <a:lnTo>
                        <a:pt x="39" y="0"/>
                      </a:lnTo>
                      <a:lnTo>
                        <a:pt x="35" y="0"/>
                      </a:lnTo>
                      <a:lnTo>
                        <a:pt x="32" y="0"/>
                      </a:lnTo>
                      <a:lnTo>
                        <a:pt x="26" y="0"/>
                      </a:lnTo>
                      <a:lnTo>
                        <a:pt x="21" y="1"/>
                      </a:lnTo>
                      <a:lnTo>
                        <a:pt x="16" y="2"/>
                      </a:lnTo>
                      <a:lnTo>
                        <a:pt x="13" y="5"/>
                      </a:lnTo>
                      <a:lnTo>
                        <a:pt x="9" y="7"/>
                      </a:lnTo>
                      <a:lnTo>
                        <a:pt x="6" y="10"/>
                      </a:lnTo>
                      <a:lnTo>
                        <a:pt x="4" y="13"/>
                      </a:lnTo>
                      <a:lnTo>
                        <a:pt x="2" y="17"/>
                      </a:lnTo>
                      <a:lnTo>
                        <a:pt x="0" y="22"/>
                      </a:lnTo>
                      <a:lnTo>
                        <a:pt x="0" y="26"/>
                      </a:lnTo>
                      <a:lnTo>
                        <a:pt x="1" y="29"/>
                      </a:lnTo>
                      <a:lnTo>
                        <a:pt x="2" y="33"/>
                      </a:lnTo>
                      <a:lnTo>
                        <a:pt x="5" y="37"/>
                      </a:lnTo>
                      <a:lnTo>
                        <a:pt x="7" y="39"/>
                      </a:lnTo>
                      <a:lnTo>
                        <a:pt x="11" y="43"/>
                      </a:lnTo>
                      <a:lnTo>
                        <a:pt x="15" y="44"/>
                      </a:lnTo>
                      <a:lnTo>
                        <a:pt x="19" y="44"/>
                      </a:lnTo>
                      <a:lnTo>
                        <a:pt x="22" y="44"/>
                      </a:lnTo>
                      <a:lnTo>
                        <a:pt x="28" y="44"/>
                      </a:lnTo>
                      <a:lnTo>
                        <a:pt x="33" y="43"/>
                      </a:lnTo>
                      <a:lnTo>
                        <a:pt x="38" y="42"/>
                      </a:lnTo>
                      <a:lnTo>
                        <a:pt x="41" y="39"/>
                      </a:lnTo>
                      <a:lnTo>
                        <a:pt x="45" y="37"/>
                      </a:lnTo>
                      <a:lnTo>
                        <a:pt x="48" y="34"/>
                      </a:lnTo>
                      <a:lnTo>
                        <a:pt x="50" y="31"/>
                      </a:lnTo>
                      <a:lnTo>
                        <a:pt x="52" y="27"/>
                      </a:lnTo>
                      <a:lnTo>
                        <a:pt x="54" y="22"/>
                      </a:lnTo>
                      <a:lnTo>
                        <a:pt x="54" y="18"/>
                      </a:lnTo>
                      <a:lnTo>
                        <a:pt x="53"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1" name="Freeform 97"/>
                <p:cNvSpPr>
                  <a:spLocks/>
                </p:cNvSpPr>
                <p:nvPr/>
              </p:nvSpPr>
              <p:spPr bwMode="auto">
                <a:xfrm>
                  <a:off x="650" y="1442"/>
                  <a:ext cx="565" cy="162"/>
                </a:xfrm>
                <a:custGeom>
                  <a:avLst/>
                  <a:gdLst>
                    <a:gd name="T0" fmla="*/ 17 w 565"/>
                    <a:gd name="T1" fmla="*/ 120 h 162"/>
                    <a:gd name="T2" fmla="*/ 145 w 565"/>
                    <a:gd name="T3" fmla="*/ 102 h 162"/>
                    <a:gd name="T4" fmla="*/ 283 w 565"/>
                    <a:gd name="T5" fmla="*/ 68 h 162"/>
                    <a:gd name="T6" fmla="*/ 405 w 565"/>
                    <a:gd name="T7" fmla="*/ 36 h 162"/>
                    <a:gd name="T8" fmla="*/ 542 w 565"/>
                    <a:gd name="T9" fmla="*/ 0 h 162"/>
                    <a:gd name="T10" fmla="*/ 565 w 565"/>
                    <a:gd name="T11" fmla="*/ 8 h 162"/>
                    <a:gd name="T12" fmla="*/ 555 w 565"/>
                    <a:gd name="T13" fmla="*/ 26 h 162"/>
                    <a:gd name="T14" fmla="*/ 498 w 565"/>
                    <a:gd name="T15" fmla="*/ 38 h 162"/>
                    <a:gd name="T16" fmla="*/ 380 w 565"/>
                    <a:gd name="T17" fmla="*/ 66 h 162"/>
                    <a:gd name="T18" fmla="*/ 233 w 565"/>
                    <a:gd name="T19" fmla="*/ 104 h 162"/>
                    <a:gd name="T20" fmla="*/ 118 w 565"/>
                    <a:gd name="T21" fmla="*/ 134 h 162"/>
                    <a:gd name="T22" fmla="*/ 35 w 565"/>
                    <a:gd name="T23" fmla="*/ 162 h 162"/>
                    <a:gd name="T24" fmla="*/ 0 w 565"/>
                    <a:gd name="T25" fmla="*/ 152 h 162"/>
                    <a:gd name="T26" fmla="*/ 17 w 565"/>
                    <a:gd name="T27" fmla="*/ 120 h 1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65" h="162">
                      <a:moveTo>
                        <a:pt x="17" y="120"/>
                      </a:moveTo>
                      <a:lnTo>
                        <a:pt x="145" y="102"/>
                      </a:lnTo>
                      <a:lnTo>
                        <a:pt x="283" y="68"/>
                      </a:lnTo>
                      <a:lnTo>
                        <a:pt x="405" y="36"/>
                      </a:lnTo>
                      <a:lnTo>
                        <a:pt x="542" y="0"/>
                      </a:lnTo>
                      <a:lnTo>
                        <a:pt x="565" y="8"/>
                      </a:lnTo>
                      <a:lnTo>
                        <a:pt x="555" y="26"/>
                      </a:lnTo>
                      <a:lnTo>
                        <a:pt x="498" y="38"/>
                      </a:lnTo>
                      <a:lnTo>
                        <a:pt x="380" y="66"/>
                      </a:lnTo>
                      <a:lnTo>
                        <a:pt x="233" y="104"/>
                      </a:lnTo>
                      <a:lnTo>
                        <a:pt x="118" y="134"/>
                      </a:lnTo>
                      <a:lnTo>
                        <a:pt x="35" y="162"/>
                      </a:lnTo>
                      <a:lnTo>
                        <a:pt x="0" y="152"/>
                      </a:lnTo>
                      <a:lnTo>
                        <a:pt x="17"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2" name="Freeform 98"/>
                <p:cNvSpPr>
                  <a:spLocks/>
                </p:cNvSpPr>
                <p:nvPr/>
              </p:nvSpPr>
              <p:spPr bwMode="auto">
                <a:xfrm>
                  <a:off x="605" y="1539"/>
                  <a:ext cx="606" cy="259"/>
                </a:xfrm>
                <a:custGeom>
                  <a:avLst/>
                  <a:gdLst>
                    <a:gd name="T0" fmla="*/ 117 w 606"/>
                    <a:gd name="T1" fmla="*/ 131 h 259"/>
                    <a:gd name="T2" fmla="*/ 271 w 606"/>
                    <a:gd name="T3" fmla="*/ 88 h 259"/>
                    <a:gd name="T4" fmla="*/ 408 w 606"/>
                    <a:gd name="T5" fmla="*/ 49 h 259"/>
                    <a:gd name="T6" fmla="*/ 525 w 606"/>
                    <a:gd name="T7" fmla="*/ 20 h 259"/>
                    <a:gd name="T8" fmla="*/ 598 w 606"/>
                    <a:gd name="T9" fmla="*/ 0 h 259"/>
                    <a:gd name="T10" fmla="*/ 606 w 606"/>
                    <a:gd name="T11" fmla="*/ 26 h 259"/>
                    <a:gd name="T12" fmla="*/ 594 w 606"/>
                    <a:gd name="T13" fmla="*/ 77 h 259"/>
                    <a:gd name="T14" fmla="*/ 473 w 606"/>
                    <a:gd name="T15" fmla="*/ 112 h 259"/>
                    <a:gd name="T16" fmla="*/ 273 w 606"/>
                    <a:gd name="T17" fmla="*/ 161 h 259"/>
                    <a:gd name="T18" fmla="*/ 117 w 606"/>
                    <a:gd name="T19" fmla="*/ 218 h 259"/>
                    <a:gd name="T20" fmla="*/ 23 w 606"/>
                    <a:gd name="T21" fmla="*/ 259 h 259"/>
                    <a:gd name="T22" fmla="*/ 0 w 606"/>
                    <a:gd name="T23" fmla="*/ 249 h 259"/>
                    <a:gd name="T24" fmla="*/ 0 w 606"/>
                    <a:gd name="T25" fmla="*/ 208 h 259"/>
                    <a:gd name="T26" fmla="*/ 23 w 606"/>
                    <a:gd name="T27" fmla="*/ 137 h 259"/>
                    <a:gd name="T28" fmla="*/ 60 w 606"/>
                    <a:gd name="T29" fmla="*/ 141 h 259"/>
                    <a:gd name="T30" fmla="*/ 35 w 606"/>
                    <a:gd name="T31" fmla="*/ 173 h 259"/>
                    <a:gd name="T32" fmla="*/ 29 w 606"/>
                    <a:gd name="T33" fmla="*/ 220 h 259"/>
                    <a:gd name="T34" fmla="*/ 52 w 606"/>
                    <a:gd name="T35" fmla="*/ 218 h 259"/>
                    <a:gd name="T36" fmla="*/ 158 w 606"/>
                    <a:gd name="T37" fmla="*/ 182 h 259"/>
                    <a:gd name="T38" fmla="*/ 319 w 606"/>
                    <a:gd name="T39" fmla="*/ 130 h 259"/>
                    <a:gd name="T40" fmla="*/ 456 w 606"/>
                    <a:gd name="T41" fmla="*/ 94 h 259"/>
                    <a:gd name="T42" fmla="*/ 543 w 606"/>
                    <a:gd name="T43" fmla="*/ 65 h 259"/>
                    <a:gd name="T44" fmla="*/ 575 w 606"/>
                    <a:gd name="T45" fmla="*/ 59 h 259"/>
                    <a:gd name="T46" fmla="*/ 581 w 606"/>
                    <a:gd name="T47" fmla="*/ 24 h 259"/>
                    <a:gd name="T48" fmla="*/ 473 w 606"/>
                    <a:gd name="T49" fmla="*/ 55 h 259"/>
                    <a:gd name="T50" fmla="*/ 317 w 606"/>
                    <a:gd name="T51" fmla="*/ 90 h 259"/>
                    <a:gd name="T52" fmla="*/ 185 w 606"/>
                    <a:gd name="T53" fmla="*/ 131 h 259"/>
                    <a:gd name="T54" fmla="*/ 71 w 606"/>
                    <a:gd name="T55" fmla="*/ 165 h 259"/>
                    <a:gd name="T56" fmla="*/ 83 w 606"/>
                    <a:gd name="T57" fmla="*/ 137 h 259"/>
                    <a:gd name="T58" fmla="*/ 117 w 606"/>
                    <a:gd name="T59" fmla="*/ 131 h 25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6" h="259">
                      <a:moveTo>
                        <a:pt x="117" y="131"/>
                      </a:moveTo>
                      <a:lnTo>
                        <a:pt x="271" y="88"/>
                      </a:lnTo>
                      <a:lnTo>
                        <a:pt x="408" y="49"/>
                      </a:lnTo>
                      <a:lnTo>
                        <a:pt x="525" y="20"/>
                      </a:lnTo>
                      <a:lnTo>
                        <a:pt x="598" y="0"/>
                      </a:lnTo>
                      <a:lnTo>
                        <a:pt x="606" y="26"/>
                      </a:lnTo>
                      <a:lnTo>
                        <a:pt x="594" y="77"/>
                      </a:lnTo>
                      <a:lnTo>
                        <a:pt x="473" y="112"/>
                      </a:lnTo>
                      <a:lnTo>
                        <a:pt x="273" y="161"/>
                      </a:lnTo>
                      <a:lnTo>
                        <a:pt x="117" y="218"/>
                      </a:lnTo>
                      <a:lnTo>
                        <a:pt x="23" y="259"/>
                      </a:lnTo>
                      <a:lnTo>
                        <a:pt x="0" y="249"/>
                      </a:lnTo>
                      <a:lnTo>
                        <a:pt x="0" y="208"/>
                      </a:lnTo>
                      <a:lnTo>
                        <a:pt x="23" y="137"/>
                      </a:lnTo>
                      <a:lnTo>
                        <a:pt x="60" y="141"/>
                      </a:lnTo>
                      <a:lnTo>
                        <a:pt x="35" y="173"/>
                      </a:lnTo>
                      <a:lnTo>
                        <a:pt x="29" y="220"/>
                      </a:lnTo>
                      <a:lnTo>
                        <a:pt x="52" y="218"/>
                      </a:lnTo>
                      <a:lnTo>
                        <a:pt x="158" y="182"/>
                      </a:lnTo>
                      <a:lnTo>
                        <a:pt x="319" y="130"/>
                      </a:lnTo>
                      <a:lnTo>
                        <a:pt x="456" y="94"/>
                      </a:lnTo>
                      <a:lnTo>
                        <a:pt x="543" y="65"/>
                      </a:lnTo>
                      <a:lnTo>
                        <a:pt x="575" y="59"/>
                      </a:lnTo>
                      <a:lnTo>
                        <a:pt x="581" y="24"/>
                      </a:lnTo>
                      <a:lnTo>
                        <a:pt x="473" y="55"/>
                      </a:lnTo>
                      <a:lnTo>
                        <a:pt x="317" y="90"/>
                      </a:lnTo>
                      <a:lnTo>
                        <a:pt x="185" y="131"/>
                      </a:lnTo>
                      <a:lnTo>
                        <a:pt x="71" y="165"/>
                      </a:lnTo>
                      <a:lnTo>
                        <a:pt x="83" y="137"/>
                      </a:lnTo>
                      <a:lnTo>
                        <a:pt x="117" y="1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7203" name="Group 99"/>
                <p:cNvGrpSpPr>
                  <a:grpSpLocks/>
                </p:cNvGrpSpPr>
                <p:nvPr/>
              </p:nvGrpSpPr>
              <p:grpSpPr bwMode="auto">
                <a:xfrm>
                  <a:off x="1081" y="1154"/>
                  <a:ext cx="105" cy="108"/>
                  <a:chOff x="1081" y="1154"/>
                  <a:chExt cx="105" cy="108"/>
                </a:xfrm>
              </p:grpSpPr>
              <p:sp>
                <p:nvSpPr>
                  <p:cNvPr id="7212" name="Freeform 100"/>
                  <p:cNvSpPr>
                    <a:spLocks/>
                  </p:cNvSpPr>
                  <p:nvPr/>
                </p:nvSpPr>
                <p:spPr bwMode="auto">
                  <a:xfrm>
                    <a:off x="1093" y="1154"/>
                    <a:ext cx="93" cy="108"/>
                  </a:xfrm>
                  <a:custGeom>
                    <a:avLst/>
                    <a:gdLst>
                      <a:gd name="T0" fmla="*/ 2 w 93"/>
                      <a:gd name="T1" fmla="*/ 53 h 108"/>
                      <a:gd name="T2" fmla="*/ 14 w 93"/>
                      <a:gd name="T3" fmla="*/ 31 h 108"/>
                      <a:gd name="T4" fmla="*/ 37 w 93"/>
                      <a:gd name="T5" fmla="*/ 29 h 108"/>
                      <a:gd name="T6" fmla="*/ 64 w 93"/>
                      <a:gd name="T7" fmla="*/ 31 h 108"/>
                      <a:gd name="T8" fmla="*/ 70 w 93"/>
                      <a:gd name="T9" fmla="*/ 49 h 108"/>
                      <a:gd name="T10" fmla="*/ 58 w 93"/>
                      <a:gd name="T11" fmla="*/ 73 h 108"/>
                      <a:gd name="T12" fmla="*/ 37 w 93"/>
                      <a:gd name="T13" fmla="*/ 79 h 108"/>
                      <a:gd name="T14" fmla="*/ 6 w 93"/>
                      <a:gd name="T15" fmla="*/ 84 h 108"/>
                      <a:gd name="T16" fmla="*/ 8 w 93"/>
                      <a:gd name="T17" fmla="*/ 98 h 108"/>
                      <a:gd name="T18" fmla="*/ 27 w 93"/>
                      <a:gd name="T19" fmla="*/ 108 h 108"/>
                      <a:gd name="T20" fmla="*/ 62 w 93"/>
                      <a:gd name="T21" fmla="*/ 96 h 108"/>
                      <a:gd name="T22" fmla="*/ 83 w 93"/>
                      <a:gd name="T23" fmla="*/ 77 h 108"/>
                      <a:gd name="T24" fmla="*/ 93 w 93"/>
                      <a:gd name="T25" fmla="*/ 59 h 108"/>
                      <a:gd name="T26" fmla="*/ 89 w 93"/>
                      <a:gd name="T27" fmla="*/ 29 h 108"/>
                      <a:gd name="T28" fmla="*/ 70 w 93"/>
                      <a:gd name="T29" fmla="*/ 16 h 108"/>
                      <a:gd name="T30" fmla="*/ 37 w 93"/>
                      <a:gd name="T31" fmla="*/ 0 h 108"/>
                      <a:gd name="T32" fmla="*/ 12 w 93"/>
                      <a:gd name="T33" fmla="*/ 6 h 108"/>
                      <a:gd name="T34" fmla="*/ 0 w 93"/>
                      <a:gd name="T35" fmla="*/ 35 h 108"/>
                      <a:gd name="T36" fmla="*/ 2 w 93"/>
                      <a:gd name="T37" fmla="*/ 53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3" h="108">
                        <a:moveTo>
                          <a:pt x="2" y="53"/>
                        </a:moveTo>
                        <a:lnTo>
                          <a:pt x="14" y="31"/>
                        </a:lnTo>
                        <a:lnTo>
                          <a:pt x="37" y="29"/>
                        </a:lnTo>
                        <a:lnTo>
                          <a:pt x="64" y="31"/>
                        </a:lnTo>
                        <a:lnTo>
                          <a:pt x="70" y="49"/>
                        </a:lnTo>
                        <a:lnTo>
                          <a:pt x="58" y="73"/>
                        </a:lnTo>
                        <a:lnTo>
                          <a:pt x="37" y="79"/>
                        </a:lnTo>
                        <a:lnTo>
                          <a:pt x="6" y="84"/>
                        </a:lnTo>
                        <a:lnTo>
                          <a:pt x="8" y="98"/>
                        </a:lnTo>
                        <a:lnTo>
                          <a:pt x="27" y="108"/>
                        </a:lnTo>
                        <a:lnTo>
                          <a:pt x="62" y="96"/>
                        </a:lnTo>
                        <a:lnTo>
                          <a:pt x="83" y="77"/>
                        </a:lnTo>
                        <a:lnTo>
                          <a:pt x="93" y="59"/>
                        </a:lnTo>
                        <a:lnTo>
                          <a:pt x="89" y="29"/>
                        </a:lnTo>
                        <a:lnTo>
                          <a:pt x="70" y="16"/>
                        </a:lnTo>
                        <a:lnTo>
                          <a:pt x="37" y="0"/>
                        </a:lnTo>
                        <a:lnTo>
                          <a:pt x="12" y="6"/>
                        </a:lnTo>
                        <a:lnTo>
                          <a:pt x="0" y="35"/>
                        </a:lnTo>
                        <a:lnTo>
                          <a:pt x="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3" name="Freeform 101"/>
                  <p:cNvSpPr>
                    <a:spLocks/>
                  </p:cNvSpPr>
                  <p:nvPr/>
                </p:nvSpPr>
                <p:spPr bwMode="auto">
                  <a:xfrm>
                    <a:off x="1081" y="1180"/>
                    <a:ext cx="54" cy="73"/>
                  </a:xfrm>
                  <a:custGeom>
                    <a:avLst/>
                    <a:gdLst>
                      <a:gd name="T0" fmla="*/ 41 w 54"/>
                      <a:gd name="T1" fmla="*/ 0 h 73"/>
                      <a:gd name="T2" fmla="*/ 16 w 54"/>
                      <a:gd name="T3" fmla="*/ 15 h 73"/>
                      <a:gd name="T4" fmla="*/ 20 w 54"/>
                      <a:gd name="T5" fmla="*/ 39 h 73"/>
                      <a:gd name="T6" fmla="*/ 27 w 54"/>
                      <a:gd name="T7" fmla="*/ 58 h 73"/>
                      <a:gd name="T8" fmla="*/ 54 w 54"/>
                      <a:gd name="T9" fmla="*/ 67 h 73"/>
                      <a:gd name="T10" fmla="*/ 27 w 54"/>
                      <a:gd name="T11" fmla="*/ 73 h 73"/>
                      <a:gd name="T12" fmla="*/ 2 w 54"/>
                      <a:gd name="T13" fmla="*/ 58 h 73"/>
                      <a:gd name="T14" fmla="*/ 0 w 54"/>
                      <a:gd name="T15" fmla="*/ 34 h 73"/>
                      <a:gd name="T16" fmla="*/ 2 w 54"/>
                      <a:gd name="T17" fmla="*/ 6 h 73"/>
                      <a:gd name="T18" fmla="*/ 41 w 54"/>
                      <a:gd name="T19" fmla="*/ 0 h 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73">
                        <a:moveTo>
                          <a:pt x="41" y="0"/>
                        </a:moveTo>
                        <a:lnTo>
                          <a:pt x="16" y="15"/>
                        </a:lnTo>
                        <a:lnTo>
                          <a:pt x="20" y="39"/>
                        </a:lnTo>
                        <a:lnTo>
                          <a:pt x="27" y="58"/>
                        </a:lnTo>
                        <a:lnTo>
                          <a:pt x="54" y="67"/>
                        </a:lnTo>
                        <a:lnTo>
                          <a:pt x="27" y="73"/>
                        </a:lnTo>
                        <a:lnTo>
                          <a:pt x="2" y="58"/>
                        </a:lnTo>
                        <a:lnTo>
                          <a:pt x="0" y="34"/>
                        </a:lnTo>
                        <a:lnTo>
                          <a:pt x="2" y="6"/>
                        </a:lnTo>
                        <a:lnTo>
                          <a:pt x="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7204" name="Group 102"/>
                <p:cNvGrpSpPr>
                  <a:grpSpLocks/>
                </p:cNvGrpSpPr>
                <p:nvPr/>
              </p:nvGrpSpPr>
              <p:grpSpPr bwMode="auto">
                <a:xfrm>
                  <a:off x="888" y="1194"/>
                  <a:ext cx="104" cy="108"/>
                  <a:chOff x="888" y="1194"/>
                  <a:chExt cx="104" cy="108"/>
                </a:xfrm>
              </p:grpSpPr>
              <p:sp>
                <p:nvSpPr>
                  <p:cNvPr id="7210" name="Freeform 103"/>
                  <p:cNvSpPr>
                    <a:spLocks/>
                  </p:cNvSpPr>
                  <p:nvPr/>
                </p:nvSpPr>
                <p:spPr bwMode="auto">
                  <a:xfrm>
                    <a:off x="899" y="1194"/>
                    <a:ext cx="93" cy="108"/>
                  </a:xfrm>
                  <a:custGeom>
                    <a:avLst/>
                    <a:gdLst>
                      <a:gd name="T0" fmla="*/ 2 w 93"/>
                      <a:gd name="T1" fmla="*/ 53 h 108"/>
                      <a:gd name="T2" fmla="*/ 14 w 93"/>
                      <a:gd name="T3" fmla="*/ 31 h 108"/>
                      <a:gd name="T4" fmla="*/ 37 w 93"/>
                      <a:gd name="T5" fmla="*/ 29 h 108"/>
                      <a:gd name="T6" fmla="*/ 64 w 93"/>
                      <a:gd name="T7" fmla="*/ 31 h 108"/>
                      <a:gd name="T8" fmla="*/ 70 w 93"/>
                      <a:gd name="T9" fmla="*/ 49 h 108"/>
                      <a:gd name="T10" fmla="*/ 58 w 93"/>
                      <a:gd name="T11" fmla="*/ 73 h 108"/>
                      <a:gd name="T12" fmla="*/ 37 w 93"/>
                      <a:gd name="T13" fmla="*/ 79 h 108"/>
                      <a:gd name="T14" fmla="*/ 6 w 93"/>
                      <a:gd name="T15" fmla="*/ 84 h 108"/>
                      <a:gd name="T16" fmla="*/ 8 w 93"/>
                      <a:gd name="T17" fmla="*/ 98 h 108"/>
                      <a:gd name="T18" fmla="*/ 27 w 93"/>
                      <a:gd name="T19" fmla="*/ 108 h 108"/>
                      <a:gd name="T20" fmla="*/ 62 w 93"/>
                      <a:gd name="T21" fmla="*/ 96 h 108"/>
                      <a:gd name="T22" fmla="*/ 83 w 93"/>
                      <a:gd name="T23" fmla="*/ 77 h 108"/>
                      <a:gd name="T24" fmla="*/ 93 w 93"/>
                      <a:gd name="T25" fmla="*/ 59 h 108"/>
                      <a:gd name="T26" fmla="*/ 89 w 93"/>
                      <a:gd name="T27" fmla="*/ 29 h 108"/>
                      <a:gd name="T28" fmla="*/ 70 w 93"/>
                      <a:gd name="T29" fmla="*/ 16 h 108"/>
                      <a:gd name="T30" fmla="*/ 37 w 93"/>
                      <a:gd name="T31" fmla="*/ 0 h 108"/>
                      <a:gd name="T32" fmla="*/ 12 w 93"/>
                      <a:gd name="T33" fmla="*/ 6 h 108"/>
                      <a:gd name="T34" fmla="*/ 0 w 93"/>
                      <a:gd name="T35" fmla="*/ 35 h 108"/>
                      <a:gd name="T36" fmla="*/ 2 w 93"/>
                      <a:gd name="T37" fmla="*/ 53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3" h="108">
                        <a:moveTo>
                          <a:pt x="2" y="53"/>
                        </a:moveTo>
                        <a:lnTo>
                          <a:pt x="14" y="31"/>
                        </a:lnTo>
                        <a:lnTo>
                          <a:pt x="37" y="29"/>
                        </a:lnTo>
                        <a:lnTo>
                          <a:pt x="64" y="31"/>
                        </a:lnTo>
                        <a:lnTo>
                          <a:pt x="70" y="49"/>
                        </a:lnTo>
                        <a:lnTo>
                          <a:pt x="58" y="73"/>
                        </a:lnTo>
                        <a:lnTo>
                          <a:pt x="37" y="79"/>
                        </a:lnTo>
                        <a:lnTo>
                          <a:pt x="6" y="84"/>
                        </a:lnTo>
                        <a:lnTo>
                          <a:pt x="8" y="98"/>
                        </a:lnTo>
                        <a:lnTo>
                          <a:pt x="27" y="108"/>
                        </a:lnTo>
                        <a:lnTo>
                          <a:pt x="62" y="96"/>
                        </a:lnTo>
                        <a:lnTo>
                          <a:pt x="83" y="77"/>
                        </a:lnTo>
                        <a:lnTo>
                          <a:pt x="93" y="59"/>
                        </a:lnTo>
                        <a:lnTo>
                          <a:pt x="89" y="29"/>
                        </a:lnTo>
                        <a:lnTo>
                          <a:pt x="70" y="16"/>
                        </a:lnTo>
                        <a:lnTo>
                          <a:pt x="37" y="0"/>
                        </a:lnTo>
                        <a:lnTo>
                          <a:pt x="12" y="6"/>
                        </a:lnTo>
                        <a:lnTo>
                          <a:pt x="0" y="35"/>
                        </a:lnTo>
                        <a:lnTo>
                          <a:pt x="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1" name="Freeform 104"/>
                  <p:cNvSpPr>
                    <a:spLocks/>
                  </p:cNvSpPr>
                  <p:nvPr/>
                </p:nvSpPr>
                <p:spPr bwMode="auto">
                  <a:xfrm>
                    <a:off x="888" y="1220"/>
                    <a:ext cx="53" cy="73"/>
                  </a:xfrm>
                  <a:custGeom>
                    <a:avLst/>
                    <a:gdLst>
                      <a:gd name="T0" fmla="*/ 40 w 53"/>
                      <a:gd name="T1" fmla="*/ 0 h 73"/>
                      <a:gd name="T2" fmla="*/ 15 w 53"/>
                      <a:gd name="T3" fmla="*/ 15 h 73"/>
                      <a:gd name="T4" fmla="*/ 20 w 53"/>
                      <a:gd name="T5" fmla="*/ 39 h 73"/>
                      <a:gd name="T6" fmla="*/ 27 w 53"/>
                      <a:gd name="T7" fmla="*/ 58 h 73"/>
                      <a:gd name="T8" fmla="*/ 53 w 53"/>
                      <a:gd name="T9" fmla="*/ 67 h 73"/>
                      <a:gd name="T10" fmla="*/ 27 w 53"/>
                      <a:gd name="T11" fmla="*/ 73 h 73"/>
                      <a:gd name="T12" fmla="*/ 2 w 53"/>
                      <a:gd name="T13" fmla="*/ 58 h 73"/>
                      <a:gd name="T14" fmla="*/ 0 w 53"/>
                      <a:gd name="T15" fmla="*/ 34 h 73"/>
                      <a:gd name="T16" fmla="*/ 2 w 53"/>
                      <a:gd name="T17" fmla="*/ 6 h 73"/>
                      <a:gd name="T18" fmla="*/ 40 w 53"/>
                      <a:gd name="T19" fmla="*/ 0 h 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3" h="73">
                        <a:moveTo>
                          <a:pt x="40" y="0"/>
                        </a:moveTo>
                        <a:lnTo>
                          <a:pt x="15" y="15"/>
                        </a:lnTo>
                        <a:lnTo>
                          <a:pt x="20" y="39"/>
                        </a:lnTo>
                        <a:lnTo>
                          <a:pt x="27" y="58"/>
                        </a:lnTo>
                        <a:lnTo>
                          <a:pt x="53" y="67"/>
                        </a:lnTo>
                        <a:lnTo>
                          <a:pt x="27" y="73"/>
                        </a:lnTo>
                        <a:lnTo>
                          <a:pt x="2" y="58"/>
                        </a:lnTo>
                        <a:lnTo>
                          <a:pt x="0" y="34"/>
                        </a:lnTo>
                        <a:lnTo>
                          <a:pt x="2" y="6"/>
                        </a:lnTo>
                        <a:lnTo>
                          <a:pt x="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7205" name="Group 105"/>
                <p:cNvGrpSpPr>
                  <a:grpSpLocks/>
                </p:cNvGrpSpPr>
                <p:nvPr/>
              </p:nvGrpSpPr>
              <p:grpSpPr bwMode="auto">
                <a:xfrm>
                  <a:off x="690" y="1243"/>
                  <a:ext cx="105" cy="109"/>
                  <a:chOff x="690" y="1243"/>
                  <a:chExt cx="105" cy="109"/>
                </a:xfrm>
              </p:grpSpPr>
              <p:sp>
                <p:nvSpPr>
                  <p:cNvPr id="7208" name="Freeform 106"/>
                  <p:cNvSpPr>
                    <a:spLocks/>
                  </p:cNvSpPr>
                  <p:nvPr/>
                </p:nvSpPr>
                <p:spPr bwMode="auto">
                  <a:xfrm>
                    <a:off x="702" y="1243"/>
                    <a:ext cx="93" cy="109"/>
                  </a:xfrm>
                  <a:custGeom>
                    <a:avLst/>
                    <a:gdLst>
                      <a:gd name="T0" fmla="*/ 2 w 93"/>
                      <a:gd name="T1" fmla="*/ 53 h 109"/>
                      <a:gd name="T2" fmla="*/ 14 w 93"/>
                      <a:gd name="T3" fmla="*/ 31 h 109"/>
                      <a:gd name="T4" fmla="*/ 37 w 93"/>
                      <a:gd name="T5" fmla="*/ 29 h 109"/>
                      <a:gd name="T6" fmla="*/ 64 w 93"/>
                      <a:gd name="T7" fmla="*/ 31 h 109"/>
                      <a:gd name="T8" fmla="*/ 70 w 93"/>
                      <a:gd name="T9" fmla="*/ 49 h 109"/>
                      <a:gd name="T10" fmla="*/ 58 w 93"/>
                      <a:gd name="T11" fmla="*/ 74 h 109"/>
                      <a:gd name="T12" fmla="*/ 37 w 93"/>
                      <a:gd name="T13" fmla="*/ 80 h 109"/>
                      <a:gd name="T14" fmla="*/ 6 w 93"/>
                      <a:gd name="T15" fmla="*/ 84 h 109"/>
                      <a:gd name="T16" fmla="*/ 8 w 93"/>
                      <a:gd name="T17" fmla="*/ 99 h 109"/>
                      <a:gd name="T18" fmla="*/ 27 w 93"/>
                      <a:gd name="T19" fmla="*/ 109 h 109"/>
                      <a:gd name="T20" fmla="*/ 62 w 93"/>
                      <a:gd name="T21" fmla="*/ 97 h 109"/>
                      <a:gd name="T22" fmla="*/ 83 w 93"/>
                      <a:gd name="T23" fmla="*/ 78 h 109"/>
                      <a:gd name="T24" fmla="*/ 93 w 93"/>
                      <a:gd name="T25" fmla="*/ 60 h 109"/>
                      <a:gd name="T26" fmla="*/ 89 w 93"/>
                      <a:gd name="T27" fmla="*/ 29 h 109"/>
                      <a:gd name="T28" fmla="*/ 70 w 93"/>
                      <a:gd name="T29" fmla="*/ 16 h 109"/>
                      <a:gd name="T30" fmla="*/ 37 w 93"/>
                      <a:gd name="T31" fmla="*/ 0 h 109"/>
                      <a:gd name="T32" fmla="*/ 12 w 93"/>
                      <a:gd name="T33" fmla="*/ 6 h 109"/>
                      <a:gd name="T34" fmla="*/ 0 w 93"/>
                      <a:gd name="T35" fmla="*/ 35 h 109"/>
                      <a:gd name="T36" fmla="*/ 2 w 93"/>
                      <a:gd name="T37" fmla="*/ 53 h 1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3" h="109">
                        <a:moveTo>
                          <a:pt x="2" y="53"/>
                        </a:moveTo>
                        <a:lnTo>
                          <a:pt x="14" y="31"/>
                        </a:lnTo>
                        <a:lnTo>
                          <a:pt x="37" y="29"/>
                        </a:lnTo>
                        <a:lnTo>
                          <a:pt x="64" y="31"/>
                        </a:lnTo>
                        <a:lnTo>
                          <a:pt x="70" y="49"/>
                        </a:lnTo>
                        <a:lnTo>
                          <a:pt x="58" y="74"/>
                        </a:lnTo>
                        <a:lnTo>
                          <a:pt x="37" y="80"/>
                        </a:lnTo>
                        <a:lnTo>
                          <a:pt x="6" y="84"/>
                        </a:lnTo>
                        <a:lnTo>
                          <a:pt x="8" y="99"/>
                        </a:lnTo>
                        <a:lnTo>
                          <a:pt x="27" y="109"/>
                        </a:lnTo>
                        <a:lnTo>
                          <a:pt x="62" y="97"/>
                        </a:lnTo>
                        <a:lnTo>
                          <a:pt x="83" y="78"/>
                        </a:lnTo>
                        <a:lnTo>
                          <a:pt x="93" y="60"/>
                        </a:lnTo>
                        <a:lnTo>
                          <a:pt x="89" y="29"/>
                        </a:lnTo>
                        <a:lnTo>
                          <a:pt x="70" y="16"/>
                        </a:lnTo>
                        <a:lnTo>
                          <a:pt x="37" y="0"/>
                        </a:lnTo>
                        <a:lnTo>
                          <a:pt x="12" y="6"/>
                        </a:lnTo>
                        <a:lnTo>
                          <a:pt x="0" y="35"/>
                        </a:lnTo>
                        <a:lnTo>
                          <a:pt x="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9" name="Freeform 107"/>
                  <p:cNvSpPr>
                    <a:spLocks/>
                  </p:cNvSpPr>
                  <p:nvPr/>
                </p:nvSpPr>
                <p:spPr bwMode="auto">
                  <a:xfrm>
                    <a:off x="690" y="1270"/>
                    <a:ext cx="54" cy="72"/>
                  </a:xfrm>
                  <a:custGeom>
                    <a:avLst/>
                    <a:gdLst>
                      <a:gd name="T0" fmla="*/ 41 w 54"/>
                      <a:gd name="T1" fmla="*/ 0 h 72"/>
                      <a:gd name="T2" fmla="*/ 16 w 54"/>
                      <a:gd name="T3" fmla="*/ 15 h 72"/>
                      <a:gd name="T4" fmla="*/ 20 w 54"/>
                      <a:gd name="T5" fmla="*/ 38 h 72"/>
                      <a:gd name="T6" fmla="*/ 27 w 54"/>
                      <a:gd name="T7" fmla="*/ 57 h 72"/>
                      <a:gd name="T8" fmla="*/ 54 w 54"/>
                      <a:gd name="T9" fmla="*/ 66 h 72"/>
                      <a:gd name="T10" fmla="*/ 27 w 54"/>
                      <a:gd name="T11" fmla="*/ 72 h 72"/>
                      <a:gd name="T12" fmla="*/ 2 w 54"/>
                      <a:gd name="T13" fmla="*/ 57 h 72"/>
                      <a:gd name="T14" fmla="*/ 0 w 54"/>
                      <a:gd name="T15" fmla="*/ 34 h 72"/>
                      <a:gd name="T16" fmla="*/ 2 w 54"/>
                      <a:gd name="T17" fmla="*/ 6 h 72"/>
                      <a:gd name="T18" fmla="*/ 41 w 54"/>
                      <a:gd name="T19" fmla="*/ 0 h 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4" h="72">
                        <a:moveTo>
                          <a:pt x="41" y="0"/>
                        </a:moveTo>
                        <a:lnTo>
                          <a:pt x="16" y="15"/>
                        </a:lnTo>
                        <a:lnTo>
                          <a:pt x="20" y="38"/>
                        </a:lnTo>
                        <a:lnTo>
                          <a:pt x="27" y="57"/>
                        </a:lnTo>
                        <a:lnTo>
                          <a:pt x="54" y="66"/>
                        </a:lnTo>
                        <a:lnTo>
                          <a:pt x="27" y="72"/>
                        </a:lnTo>
                        <a:lnTo>
                          <a:pt x="2" y="57"/>
                        </a:lnTo>
                        <a:lnTo>
                          <a:pt x="0" y="34"/>
                        </a:lnTo>
                        <a:lnTo>
                          <a:pt x="2" y="6"/>
                        </a:lnTo>
                        <a:lnTo>
                          <a:pt x="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206" name="Freeform 108"/>
                <p:cNvSpPr>
                  <a:spLocks/>
                </p:cNvSpPr>
                <p:nvPr/>
              </p:nvSpPr>
              <p:spPr bwMode="auto">
                <a:xfrm>
                  <a:off x="3" y="780"/>
                  <a:ext cx="1316" cy="1196"/>
                </a:xfrm>
                <a:custGeom>
                  <a:avLst/>
                  <a:gdLst>
                    <a:gd name="T0" fmla="*/ 29 w 1316"/>
                    <a:gd name="T1" fmla="*/ 42 h 1196"/>
                    <a:gd name="T2" fmla="*/ 52 w 1316"/>
                    <a:gd name="T3" fmla="*/ 130 h 1196"/>
                    <a:gd name="T4" fmla="*/ 40 w 1316"/>
                    <a:gd name="T5" fmla="*/ 340 h 1196"/>
                    <a:gd name="T6" fmla="*/ 38 w 1316"/>
                    <a:gd name="T7" fmla="*/ 569 h 1196"/>
                    <a:gd name="T8" fmla="*/ 55 w 1316"/>
                    <a:gd name="T9" fmla="*/ 730 h 1196"/>
                    <a:gd name="T10" fmla="*/ 120 w 1316"/>
                    <a:gd name="T11" fmla="*/ 806 h 1196"/>
                    <a:gd name="T12" fmla="*/ 222 w 1316"/>
                    <a:gd name="T13" fmla="*/ 908 h 1196"/>
                    <a:gd name="T14" fmla="*/ 304 w 1316"/>
                    <a:gd name="T15" fmla="*/ 1005 h 1196"/>
                    <a:gd name="T16" fmla="*/ 378 w 1316"/>
                    <a:gd name="T17" fmla="*/ 1108 h 1196"/>
                    <a:gd name="T18" fmla="*/ 447 w 1316"/>
                    <a:gd name="T19" fmla="*/ 1167 h 1196"/>
                    <a:gd name="T20" fmla="*/ 453 w 1316"/>
                    <a:gd name="T21" fmla="*/ 1057 h 1196"/>
                    <a:gd name="T22" fmla="*/ 453 w 1316"/>
                    <a:gd name="T23" fmla="*/ 730 h 1196"/>
                    <a:gd name="T24" fmla="*/ 453 w 1316"/>
                    <a:gd name="T25" fmla="*/ 462 h 1196"/>
                    <a:gd name="T26" fmla="*/ 458 w 1316"/>
                    <a:gd name="T27" fmla="*/ 266 h 1196"/>
                    <a:gd name="T28" fmla="*/ 481 w 1316"/>
                    <a:gd name="T29" fmla="*/ 0 h 1196"/>
                    <a:gd name="T30" fmla="*/ 485 w 1316"/>
                    <a:gd name="T31" fmla="*/ 174 h 1196"/>
                    <a:gd name="T32" fmla="*/ 485 w 1316"/>
                    <a:gd name="T33" fmla="*/ 334 h 1196"/>
                    <a:gd name="T34" fmla="*/ 479 w 1316"/>
                    <a:gd name="T35" fmla="*/ 531 h 1196"/>
                    <a:gd name="T36" fmla="*/ 479 w 1316"/>
                    <a:gd name="T37" fmla="*/ 736 h 1196"/>
                    <a:gd name="T38" fmla="*/ 476 w 1316"/>
                    <a:gd name="T39" fmla="*/ 925 h 1196"/>
                    <a:gd name="T40" fmla="*/ 476 w 1316"/>
                    <a:gd name="T41" fmla="*/ 1143 h 1196"/>
                    <a:gd name="T42" fmla="*/ 567 w 1316"/>
                    <a:gd name="T43" fmla="*/ 1131 h 1196"/>
                    <a:gd name="T44" fmla="*/ 762 w 1316"/>
                    <a:gd name="T45" fmla="*/ 1064 h 1196"/>
                    <a:gd name="T46" fmla="*/ 881 w 1316"/>
                    <a:gd name="T47" fmla="*/ 1018 h 1196"/>
                    <a:gd name="T48" fmla="*/ 1010 w 1316"/>
                    <a:gd name="T49" fmla="*/ 971 h 1196"/>
                    <a:gd name="T50" fmla="*/ 1148 w 1316"/>
                    <a:gd name="T51" fmla="*/ 909 h 1196"/>
                    <a:gd name="T52" fmla="*/ 1253 w 1316"/>
                    <a:gd name="T53" fmla="*/ 875 h 1196"/>
                    <a:gd name="T54" fmla="*/ 1270 w 1316"/>
                    <a:gd name="T55" fmla="*/ 844 h 1196"/>
                    <a:gd name="T56" fmla="*/ 1285 w 1316"/>
                    <a:gd name="T57" fmla="*/ 818 h 1196"/>
                    <a:gd name="T58" fmla="*/ 1293 w 1316"/>
                    <a:gd name="T59" fmla="*/ 646 h 1196"/>
                    <a:gd name="T60" fmla="*/ 1291 w 1316"/>
                    <a:gd name="T61" fmla="*/ 443 h 1196"/>
                    <a:gd name="T62" fmla="*/ 1291 w 1316"/>
                    <a:gd name="T63" fmla="*/ 311 h 1196"/>
                    <a:gd name="T64" fmla="*/ 1293 w 1316"/>
                    <a:gd name="T65" fmla="*/ 197 h 1196"/>
                    <a:gd name="T66" fmla="*/ 1316 w 1316"/>
                    <a:gd name="T67" fmla="*/ 4 h 1196"/>
                    <a:gd name="T68" fmla="*/ 1316 w 1316"/>
                    <a:gd name="T69" fmla="*/ 220 h 1196"/>
                    <a:gd name="T70" fmla="*/ 1316 w 1316"/>
                    <a:gd name="T71" fmla="*/ 376 h 1196"/>
                    <a:gd name="T72" fmla="*/ 1316 w 1316"/>
                    <a:gd name="T73" fmla="*/ 598 h 1196"/>
                    <a:gd name="T74" fmla="*/ 1316 w 1316"/>
                    <a:gd name="T75" fmla="*/ 829 h 1196"/>
                    <a:gd name="T76" fmla="*/ 1303 w 1316"/>
                    <a:gd name="T77" fmla="*/ 885 h 1196"/>
                    <a:gd name="T78" fmla="*/ 1274 w 1316"/>
                    <a:gd name="T79" fmla="*/ 904 h 1196"/>
                    <a:gd name="T80" fmla="*/ 1190 w 1316"/>
                    <a:gd name="T81" fmla="*/ 925 h 1196"/>
                    <a:gd name="T82" fmla="*/ 1064 w 1316"/>
                    <a:gd name="T83" fmla="*/ 976 h 1196"/>
                    <a:gd name="T84" fmla="*/ 921 w 1316"/>
                    <a:gd name="T85" fmla="*/ 1036 h 1196"/>
                    <a:gd name="T86" fmla="*/ 777 w 1316"/>
                    <a:gd name="T87" fmla="*/ 1091 h 1196"/>
                    <a:gd name="T88" fmla="*/ 600 w 1316"/>
                    <a:gd name="T89" fmla="*/ 1150 h 1196"/>
                    <a:gd name="T90" fmla="*/ 479 w 1316"/>
                    <a:gd name="T91" fmla="*/ 1194 h 1196"/>
                    <a:gd name="T92" fmla="*/ 434 w 1316"/>
                    <a:gd name="T93" fmla="*/ 1196 h 1196"/>
                    <a:gd name="T94" fmla="*/ 390 w 1316"/>
                    <a:gd name="T95" fmla="*/ 1154 h 1196"/>
                    <a:gd name="T96" fmla="*/ 321 w 1316"/>
                    <a:gd name="T97" fmla="*/ 1081 h 1196"/>
                    <a:gd name="T98" fmla="*/ 256 w 1316"/>
                    <a:gd name="T99" fmla="*/ 984 h 1196"/>
                    <a:gd name="T100" fmla="*/ 187 w 1316"/>
                    <a:gd name="T101" fmla="*/ 908 h 1196"/>
                    <a:gd name="T102" fmla="*/ 97 w 1316"/>
                    <a:gd name="T103" fmla="*/ 823 h 1196"/>
                    <a:gd name="T104" fmla="*/ 44 w 1316"/>
                    <a:gd name="T105" fmla="*/ 770 h 1196"/>
                    <a:gd name="T106" fmla="*/ 6 w 1316"/>
                    <a:gd name="T107" fmla="*/ 730 h 1196"/>
                    <a:gd name="T108" fmla="*/ 0 w 1316"/>
                    <a:gd name="T109" fmla="*/ 674 h 1196"/>
                    <a:gd name="T110" fmla="*/ 17 w 1316"/>
                    <a:gd name="T111" fmla="*/ 520 h 1196"/>
                    <a:gd name="T112" fmla="*/ 29 w 1316"/>
                    <a:gd name="T113" fmla="*/ 216 h 1196"/>
                    <a:gd name="T114" fmla="*/ 29 w 1316"/>
                    <a:gd name="T115" fmla="*/ 42 h 119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316" h="1196">
                      <a:moveTo>
                        <a:pt x="29" y="42"/>
                      </a:moveTo>
                      <a:lnTo>
                        <a:pt x="52" y="130"/>
                      </a:lnTo>
                      <a:lnTo>
                        <a:pt x="40" y="340"/>
                      </a:lnTo>
                      <a:lnTo>
                        <a:pt x="38" y="569"/>
                      </a:lnTo>
                      <a:lnTo>
                        <a:pt x="55" y="730"/>
                      </a:lnTo>
                      <a:lnTo>
                        <a:pt x="120" y="806"/>
                      </a:lnTo>
                      <a:lnTo>
                        <a:pt x="222" y="908"/>
                      </a:lnTo>
                      <a:lnTo>
                        <a:pt x="304" y="1005"/>
                      </a:lnTo>
                      <a:lnTo>
                        <a:pt x="378" y="1108"/>
                      </a:lnTo>
                      <a:lnTo>
                        <a:pt x="447" y="1167"/>
                      </a:lnTo>
                      <a:lnTo>
                        <a:pt x="453" y="1057"/>
                      </a:lnTo>
                      <a:lnTo>
                        <a:pt x="453" y="730"/>
                      </a:lnTo>
                      <a:lnTo>
                        <a:pt x="453" y="462"/>
                      </a:lnTo>
                      <a:lnTo>
                        <a:pt x="458" y="266"/>
                      </a:lnTo>
                      <a:lnTo>
                        <a:pt x="481" y="0"/>
                      </a:lnTo>
                      <a:lnTo>
                        <a:pt x="485" y="174"/>
                      </a:lnTo>
                      <a:lnTo>
                        <a:pt x="485" y="334"/>
                      </a:lnTo>
                      <a:lnTo>
                        <a:pt x="479" y="531"/>
                      </a:lnTo>
                      <a:lnTo>
                        <a:pt x="479" y="736"/>
                      </a:lnTo>
                      <a:lnTo>
                        <a:pt x="476" y="925"/>
                      </a:lnTo>
                      <a:lnTo>
                        <a:pt x="476" y="1143"/>
                      </a:lnTo>
                      <a:lnTo>
                        <a:pt x="567" y="1131"/>
                      </a:lnTo>
                      <a:lnTo>
                        <a:pt x="762" y="1064"/>
                      </a:lnTo>
                      <a:lnTo>
                        <a:pt x="881" y="1018"/>
                      </a:lnTo>
                      <a:lnTo>
                        <a:pt x="1010" y="971"/>
                      </a:lnTo>
                      <a:lnTo>
                        <a:pt x="1148" y="909"/>
                      </a:lnTo>
                      <a:lnTo>
                        <a:pt x="1253" y="875"/>
                      </a:lnTo>
                      <a:lnTo>
                        <a:pt x="1270" y="844"/>
                      </a:lnTo>
                      <a:lnTo>
                        <a:pt x="1285" y="818"/>
                      </a:lnTo>
                      <a:lnTo>
                        <a:pt x="1293" y="646"/>
                      </a:lnTo>
                      <a:lnTo>
                        <a:pt x="1291" y="443"/>
                      </a:lnTo>
                      <a:lnTo>
                        <a:pt x="1291" y="311"/>
                      </a:lnTo>
                      <a:lnTo>
                        <a:pt x="1293" y="197"/>
                      </a:lnTo>
                      <a:lnTo>
                        <a:pt x="1316" y="4"/>
                      </a:lnTo>
                      <a:lnTo>
                        <a:pt x="1316" y="220"/>
                      </a:lnTo>
                      <a:lnTo>
                        <a:pt x="1316" y="376"/>
                      </a:lnTo>
                      <a:lnTo>
                        <a:pt x="1316" y="598"/>
                      </a:lnTo>
                      <a:lnTo>
                        <a:pt x="1316" y="829"/>
                      </a:lnTo>
                      <a:lnTo>
                        <a:pt x="1303" y="885"/>
                      </a:lnTo>
                      <a:lnTo>
                        <a:pt x="1274" y="904"/>
                      </a:lnTo>
                      <a:lnTo>
                        <a:pt x="1190" y="925"/>
                      </a:lnTo>
                      <a:lnTo>
                        <a:pt x="1064" y="976"/>
                      </a:lnTo>
                      <a:lnTo>
                        <a:pt x="921" y="1036"/>
                      </a:lnTo>
                      <a:lnTo>
                        <a:pt x="777" y="1091"/>
                      </a:lnTo>
                      <a:lnTo>
                        <a:pt x="600" y="1150"/>
                      </a:lnTo>
                      <a:lnTo>
                        <a:pt x="479" y="1194"/>
                      </a:lnTo>
                      <a:lnTo>
                        <a:pt x="434" y="1196"/>
                      </a:lnTo>
                      <a:lnTo>
                        <a:pt x="390" y="1154"/>
                      </a:lnTo>
                      <a:lnTo>
                        <a:pt x="321" y="1081"/>
                      </a:lnTo>
                      <a:lnTo>
                        <a:pt x="256" y="984"/>
                      </a:lnTo>
                      <a:lnTo>
                        <a:pt x="187" y="908"/>
                      </a:lnTo>
                      <a:lnTo>
                        <a:pt x="97" y="823"/>
                      </a:lnTo>
                      <a:lnTo>
                        <a:pt x="44" y="770"/>
                      </a:lnTo>
                      <a:lnTo>
                        <a:pt x="6" y="730"/>
                      </a:lnTo>
                      <a:lnTo>
                        <a:pt x="0" y="674"/>
                      </a:lnTo>
                      <a:lnTo>
                        <a:pt x="17" y="520"/>
                      </a:lnTo>
                      <a:lnTo>
                        <a:pt x="29" y="216"/>
                      </a:lnTo>
                      <a:lnTo>
                        <a:pt x="29"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7" name="Freeform 109"/>
                <p:cNvSpPr>
                  <a:spLocks/>
                </p:cNvSpPr>
                <p:nvPr/>
              </p:nvSpPr>
              <p:spPr bwMode="auto">
                <a:xfrm>
                  <a:off x="31" y="0"/>
                  <a:ext cx="1320" cy="1122"/>
                </a:xfrm>
                <a:custGeom>
                  <a:avLst/>
                  <a:gdLst>
                    <a:gd name="T0" fmla="*/ 0 w 1320"/>
                    <a:gd name="T1" fmla="*/ 891 h 1122"/>
                    <a:gd name="T2" fmla="*/ 0 w 1320"/>
                    <a:gd name="T3" fmla="*/ 648 h 1122"/>
                    <a:gd name="T4" fmla="*/ 11 w 1320"/>
                    <a:gd name="T5" fmla="*/ 442 h 1122"/>
                    <a:gd name="T6" fmla="*/ 21 w 1320"/>
                    <a:gd name="T7" fmla="*/ 172 h 1122"/>
                    <a:gd name="T8" fmla="*/ 34 w 1320"/>
                    <a:gd name="T9" fmla="*/ 86 h 1122"/>
                    <a:gd name="T10" fmla="*/ 413 w 1320"/>
                    <a:gd name="T11" fmla="*/ 32 h 1122"/>
                    <a:gd name="T12" fmla="*/ 663 w 1320"/>
                    <a:gd name="T13" fmla="*/ 0 h 1122"/>
                    <a:gd name="T14" fmla="*/ 686 w 1320"/>
                    <a:gd name="T15" fmla="*/ 0 h 1122"/>
                    <a:gd name="T16" fmla="*/ 858 w 1320"/>
                    <a:gd name="T17" fmla="*/ 38 h 1122"/>
                    <a:gd name="T18" fmla="*/ 1074 w 1320"/>
                    <a:gd name="T19" fmla="*/ 96 h 1122"/>
                    <a:gd name="T20" fmla="*/ 1291 w 1320"/>
                    <a:gd name="T21" fmla="*/ 178 h 1122"/>
                    <a:gd name="T22" fmla="*/ 1310 w 1320"/>
                    <a:gd name="T23" fmla="*/ 199 h 1122"/>
                    <a:gd name="T24" fmla="*/ 1320 w 1320"/>
                    <a:gd name="T25" fmla="*/ 394 h 1122"/>
                    <a:gd name="T26" fmla="*/ 1310 w 1320"/>
                    <a:gd name="T27" fmla="*/ 637 h 1122"/>
                    <a:gd name="T28" fmla="*/ 1280 w 1320"/>
                    <a:gd name="T29" fmla="*/ 1122 h 1122"/>
                    <a:gd name="T30" fmla="*/ 1268 w 1320"/>
                    <a:gd name="T31" fmla="*/ 961 h 1122"/>
                    <a:gd name="T32" fmla="*/ 1276 w 1320"/>
                    <a:gd name="T33" fmla="*/ 700 h 1122"/>
                    <a:gd name="T34" fmla="*/ 1293 w 1320"/>
                    <a:gd name="T35" fmla="*/ 514 h 1122"/>
                    <a:gd name="T36" fmla="*/ 1293 w 1320"/>
                    <a:gd name="T37" fmla="*/ 262 h 1122"/>
                    <a:gd name="T38" fmla="*/ 1282 w 1320"/>
                    <a:gd name="T39" fmla="*/ 212 h 1122"/>
                    <a:gd name="T40" fmla="*/ 1104 w 1320"/>
                    <a:gd name="T41" fmla="*/ 256 h 1122"/>
                    <a:gd name="T42" fmla="*/ 886 w 1320"/>
                    <a:gd name="T43" fmla="*/ 331 h 1122"/>
                    <a:gd name="T44" fmla="*/ 665 w 1320"/>
                    <a:gd name="T45" fmla="*/ 401 h 1122"/>
                    <a:gd name="T46" fmla="*/ 502 w 1320"/>
                    <a:gd name="T47" fmla="*/ 451 h 1122"/>
                    <a:gd name="T48" fmla="*/ 491 w 1320"/>
                    <a:gd name="T49" fmla="*/ 497 h 1122"/>
                    <a:gd name="T50" fmla="*/ 468 w 1320"/>
                    <a:gd name="T51" fmla="*/ 694 h 1122"/>
                    <a:gd name="T52" fmla="*/ 457 w 1320"/>
                    <a:gd name="T53" fmla="*/ 870 h 1122"/>
                    <a:gd name="T54" fmla="*/ 447 w 1320"/>
                    <a:gd name="T55" fmla="*/ 1091 h 1122"/>
                    <a:gd name="T56" fmla="*/ 436 w 1320"/>
                    <a:gd name="T57" fmla="*/ 967 h 1122"/>
                    <a:gd name="T58" fmla="*/ 441 w 1320"/>
                    <a:gd name="T59" fmla="*/ 700 h 1122"/>
                    <a:gd name="T60" fmla="*/ 447 w 1320"/>
                    <a:gd name="T61" fmla="*/ 499 h 1122"/>
                    <a:gd name="T62" fmla="*/ 439 w 1320"/>
                    <a:gd name="T63" fmla="*/ 442 h 1122"/>
                    <a:gd name="T64" fmla="*/ 399 w 1320"/>
                    <a:gd name="T65" fmla="*/ 401 h 1122"/>
                    <a:gd name="T66" fmla="*/ 250 w 1320"/>
                    <a:gd name="T67" fmla="*/ 287 h 1122"/>
                    <a:gd name="T68" fmla="*/ 136 w 1320"/>
                    <a:gd name="T69" fmla="*/ 210 h 1122"/>
                    <a:gd name="T70" fmla="*/ 55 w 1320"/>
                    <a:gd name="T71" fmla="*/ 143 h 1122"/>
                    <a:gd name="T72" fmla="*/ 75 w 1320"/>
                    <a:gd name="T73" fmla="*/ 138 h 1122"/>
                    <a:gd name="T74" fmla="*/ 107 w 1320"/>
                    <a:gd name="T75" fmla="*/ 149 h 1122"/>
                    <a:gd name="T76" fmla="*/ 218 w 1320"/>
                    <a:gd name="T77" fmla="*/ 233 h 1122"/>
                    <a:gd name="T78" fmla="*/ 313 w 1320"/>
                    <a:gd name="T79" fmla="*/ 302 h 1122"/>
                    <a:gd name="T80" fmla="*/ 428 w 1320"/>
                    <a:gd name="T81" fmla="*/ 390 h 1122"/>
                    <a:gd name="T82" fmla="*/ 491 w 1320"/>
                    <a:gd name="T83" fmla="*/ 419 h 1122"/>
                    <a:gd name="T84" fmla="*/ 527 w 1320"/>
                    <a:gd name="T85" fmla="*/ 417 h 1122"/>
                    <a:gd name="T86" fmla="*/ 779 w 1320"/>
                    <a:gd name="T87" fmla="*/ 333 h 1122"/>
                    <a:gd name="T88" fmla="*/ 970 w 1320"/>
                    <a:gd name="T89" fmla="*/ 279 h 1122"/>
                    <a:gd name="T90" fmla="*/ 1171 w 1320"/>
                    <a:gd name="T91" fmla="*/ 212 h 1122"/>
                    <a:gd name="T92" fmla="*/ 1251 w 1320"/>
                    <a:gd name="T93" fmla="*/ 189 h 1122"/>
                    <a:gd name="T94" fmla="*/ 1068 w 1320"/>
                    <a:gd name="T95" fmla="*/ 113 h 1122"/>
                    <a:gd name="T96" fmla="*/ 869 w 1320"/>
                    <a:gd name="T97" fmla="*/ 63 h 1122"/>
                    <a:gd name="T98" fmla="*/ 674 w 1320"/>
                    <a:gd name="T99" fmla="*/ 23 h 1122"/>
                    <a:gd name="T100" fmla="*/ 441 w 1320"/>
                    <a:gd name="T101" fmla="*/ 44 h 1122"/>
                    <a:gd name="T102" fmla="*/ 222 w 1320"/>
                    <a:gd name="T103" fmla="*/ 78 h 1122"/>
                    <a:gd name="T104" fmla="*/ 52 w 1320"/>
                    <a:gd name="T105" fmla="*/ 115 h 1122"/>
                    <a:gd name="T106" fmla="*/ 46 w 1320"/>
                    <a:gd name="T107" fmla="*/ 229 h 1122"/>
                    <a:gd name="T108" fmla="*/ 34 w 1320"/>
                    <a:gd name="T109" fmla="*/ 407 h 1122"/>
                    <a:gd name="T110" fmla="*/ 29 w 1320"/>
                    <a:gd name="T111" fmla="*/ 617 h 1122"/>
                    <a:gd name="T112" fmla="*/ 15 w 1320"/>
                    <a:gd name="T113" fmla="*/ 763 h 1122"/>
                    <a:gd name="T114" fmla="*/ 17 w 1320"/>
                    <a:gd name="T115" fmla="*/ 933 h 1122"/>
                    <a:gd name="T116" fmla="*/ 0 w 1320"/>
                    <a:gd name="T117" fmla="*/ 891 h 112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320" h="1122">
                      <a:moveTo>
                        <a:pt x="0" y="891"/>
                      </a:moveTo>
                      <a:lnTo>
                        <a:pt x="0" y="648"/>
                      </a:lnTo>
                      <a:lnTo>
                        <a:pt x="11" y="442"/>
                      </a:lnTo>
                      <a:lnTo>
                        <a:pt x="21" y="172"/>
                      </a:lnTo>
                      <a:lnTo>
                        <a:pt x="34" y="86"/>
                      </a:lnTo>
                      <a:lnTo>
                        <a:pt x="413" y="32"/>
                      </a:lnTo>
                      <a:lnTo>
                        <a:pt x="663" y="0"/>
                      </a:lnTo>
                      <a:lnTo>
                        <a:pt x="686" y="0"/>
                      </a:lnTo>
                      <a:lnTo>
                        <a:pt x="858" y="38"/>
                      </a:lnTo>
                      <a:lnTo>
                        <a:pt x="1074" y="96"/>
                      </a:lnTo>
                      <a:lnTo>
                        <a:pt x="1291" y="178"/>
                      </a:lnTo>
                      <a:lnTo>
                        <a:pt x="1310" y="199"/>
                      </a:lnTo>
                      <a:lnTo>
                        <a:pt x="1320" y="394"/>
                      </a:lnTo>
                      <a:lnTo>
                        <a:pt x="1310" y="637"/>
                      </a:lnTo>
                      <a:lnTo>
                        <a:pt x="1280" y="1122"/>
                      </a:lnTo>
                      <a:lnTo>
                        <a:pt x="1268" y="961"/>
                      </a:lnTo>
                      <a:lnTo>
                        <a:pt x="1276" y="700"/>
                      </a:lnTo>
                      <a:lnTo>
                        <a:pt x="1293" y="514"/>
                      </a:lnTo>
                      <a:lnTo>
                        <a:pt x="1293" y="262"/>
                      </a:lnTo>
                      <a:lnTo>
                        <a:pt x="1282" y="212"/>
                      </a:lnTo>
                      <a:lnTo>
                        <a:pt x="1104" y="256"/>
                      </a:lnTo>
                      <a:lnTo>
                        <a:pt x="886" y="331"/>
                      </a:lnTo>
                      <a:lnTo>
                        <a:pt x="665" y="401"/>
                      </a:lnTo>
                      <a:lnTo>
                        <a:pt x="502" y="451"/>
                      </a:lnTo>
                      <a:lnTo>
                        <a:pt x="491" y="497"/>
                      </a:lnTo>
                      <a:lnTo>
                        <a:pt x="468" y="694"/>
                      </a:lnTo>
                      <a:lnTo>
                        <a:pt x="457" y="870"/>
                      </a:lnTo>
                      <a:lnTo>
                        <a:pt x="447" y="1091"/>
                      </a:lnTo>
                      <a:lnTo>
                        <a:pt x="436" y="967"/>
                      </a:lnTo>
                      <a:lnTo>
                        <a:pt x="441" y="700"/>
                      </a:lnTo>
                      <a:lnTo>
                        <a:pt x="447" y="499"/>
                      </a:lnTo>
                      <a:lnTo>
                        <a:pt x="439" y="442"/>
                      </a:lnTo>
                      <a:lnTo>
                        <a:pt x="399" y="401"/>
                      </a:lnTo>
                      <a:lnTo>
                        <a:pt x="250" y="287"/>
                      </a:lnTo>
                      <a:lnTo>
                        <a:pt x="136" y="210"/>
                      </a:lnTo>
                      <a:lnTo>
                        <a:pt x="55" y="143"/>
                      </a:lnTo>
                      <a:lnTo>
                        <a:pt x="75" y="138"/>
                      </a:lnTo>
                      <a:lnTo>
                        <a:pt x="107" y="149"/>
                      </a:lnTo>
                      <a:lnTo>
                        <a:pt x="218" y="233"/>
                      </a:lnTo>
                      <a:lnTo>
                        <a:pt x="313" y="302"/>
                      </a:lnTo>
                      <a:lnTo>
                        <a:pt x="428" y="390"/>
                      </a:lnTo>
                      <a:lnTo>
                        <a:pt x="491" y="419"/>
                      </a:lnTo>
                      <a:lnTo>
                        <a:pt x="527" y="417"/>
                      </a:lnTo>
                      <a:lnTo>
                        <a:pt x="779" y="333"/>
                      </a:lnTo>
                      <a:lnTo>
                        <a:pt x="970" y="279"/>
                      </a:lnTo>
                      <a:lnTo>
                        <a:pt x="1171" y="212"/>
                      </a:lnTo>
                      <a:lnTo>
                        <a:pt x="1251" y="189"/>
                      </a:lnTo>
                      <a:lnTo>
                        <a:pt x="1068" y="113"/>
                      </a:lnTo>
                      <a:lnTo>
                        <a:pt x="869" y="63"/>
                      </a:lnTo>
                      <a:lnTo>
                        <a:pt x="674" y="23"/>
                      </a:lnTo>
                      <a:lnTo>
                        <a:pt x="441" y="44"/>
                      </a:lnTo>
                      <a:lnTo>
                        <a:pt x="222" y="78"/>
                      </a:lnTo>
                      <a:lnTo>
                        <a:pt x="52" y="115"/>
                      </a:lnTo>
                      <a:lnTo>
                        <a:pt x="46" y="229"/>
                      </a:lnTo>
                      <a:lnTo>
                        <a:pt x="34" y="407"/>
                      </a:lnTo>
                      <a:lnTo>
                        <a:pt x="29" y="617"/>
                      </a:lnTo>
                      <a:lnTo>
                        <a:pt x="15" y="763"/>
                      </a:lnTo>
                      <a:lnTo>
                        <a:pt x="17" y="933"/>
                      </a:lnTo>
                      <a:lnTo>
                        <a:pt x="0" y="8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sp>
        <p:nvSpPr>
          <p:cNvPr id="52334" name="Text Box 110"/>
          <p:cNvSpPr txBox="1">
            <a:spLocks noChangeArrowheads="1"/>
          </p:cNvSpPr>
          <p:nvPr/>
        </p:nvSpPr>
        <p:spPr bwMode="auto">
          <a:xfrm>
            <a:off x="6308726" y="5199064"/>
            <a:ext cx="3870325"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20000"/>
              </a:spcBef>
              <a:buClr>
                <a:schemeClr val="accent2"/>
              </a:buClr>
              <a:buFont typeface="Monotype Sorts" pitchFamily="2" charset="2"/>
              <a:buNone/>
            </a:pPr>
            <a:r>
              <a:rPr kumimoji="1" lang="en-US" altLang="en-US" sz="2800" i="1">
                <a:latin typeface="Comic Sans MS" panose="030F0702030302020204" pitchFamily="66" charset="0"/>
              </a:rPr>
              <a:t>Interactive computing</a:t>
            </a:r>
          </a:p>
        </p:txBody>
      </p:sp>
    </p:spTree>
    <p:extLst>
      <p:ext uri="{BB962C8B-B14F-4D97-AF65-F5344CB8AC3E}">
        <p14:creationId xmlns:p14="http://schemas.microsoft.com/office/powerpoint/2010/main" val="27906481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2255"/>
                                        </p:tgtEl>
                                        <p:attrNameLst>
                                          <p:attrName>style.visibility</p:attrName>
                                        </p:attrNameLst>
                                      </p:cBhvr>
                                      <p:to>
                                        <p:strVal val="visible"/>
                                      </p:to>
                                    </p:set>
                                    <p:anim calcmode="lin" valueType="num">
                                      <p:cBhvr additive="base">
                                        <p:cTn id="7" dur="500" fill="hold"/>
                                        <p:tgtEl>
                                          <p:spTgt spid="52255"/>
                                        </p:tgtEl>
                                        <p:attrNameLst>
                                          <p:attrName>ppt_x</p:attrName>
                                        </p:attrNameLst>
                                      </p:cBhvr>
                                      <p:tavLst>
                                        <p:tav tm="0">
                                          <p:val>
                                            <p:strVal val="1+#ppt_w/2"/>
                                          </p:val>
                                        </p:tav>
                                        <p:tav tm="100000">
                                          <p:val>
                                            <p:strVal val="#ppt_x"/>
                                          </p:val>
                                        </p:tav>
                                      </p:tavLst>
                                    </p:anim>
                                    <p:anim calcmode="lin" valueType="num">
                                      <p:cBhvr additive="base">
                                        <p:cTn id="8" dur="500" fill="hold"/>
                                        <p:tgtEl>
                                          <p:spTgt spid="5225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2235"/>
                                        </p:tgtEl>
                                        <p:attrNameLst>
                                          <p:attrName>style.visibility</p:attrName>
                                        </p:attrNameLst>
                                      </p:cBhvr>
                                      <p:to>
                                        <p:strVal val="visible"/>
                                      </p:to>
                                    </p:set>
                                    <p:anim calcmode="lin" valueType="num">
                                      <p:cBhvr additive="base">
                                        <p:cTn id="13" dur="500" fill="hold"/>
                                        <p:tgtEl>
                                          <p:spTgt spid="52235"/>
                                        </p:tgtEl>
                                        <p:attrNameLst>
                                          <p:attrName>ppt_x</p:attrName>
                                        </p:attrNameLst>
                                      </p:cBhvr>
                                      <p:tavLst>
                                        <p:tav tm="0">
                                          <p:val>
                                            <p:strVal val="0-#ppt_w/2"/>
                                          </p:val>
                                        </p:tav>
                                        <p:tav tm="100000">
                                          <p:val>
                                            <p:strVal val="#ppt_x"/>
                                          </p:val>
                                        </p:tav>
                                      </p:tavLst>
                                    </p:anim>
                                    <p:anim calcmode="lin" valueType="num">
                                      <p:cBhvr additive="base">
                                        <p:cTn id="14" dur="500" fill="hold"/>
                                        <p:tgtEl>
                                          <p:spTgt spid="5223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2228"/>
                                        </p:tgtEl>
                                        <p:attrNameLst>
                                          <p:attrName>style.visibility</p:attrName>
                                        </p:attrNameLst>
                                      </p:cBhvr>
                                      <p:to>
                                        <p:strVal val="visible"/>
                                      </p:to>
                                    </p:set>
                                    <p:anim calcmode="lin" valueType="num">
                                      <p:cBhvr additive="base">
                                        <p:cTn id="19" dur="500" fill="hold"/>
                                        <p:tgtEl>
                                          <p:spTgt spid="52228"/>
                                        </p:tgtEl>
                                        <p:attrNameLst>
                                          <p:attrName>ppt_x</p:attrName>
                                        </p:attrNameLst>
                                      </p:cBhvr>
                                      <p:tavLst>
                                        <p:tav tm="0">
                                          <p:val>
                                            <p:strVal val="#ppt_x"/>
                                          </p:val>
                                        </p:tav>
                                        <p:tav tm="100000">
                                          <p:val>
                                            <p:strVal val="#ppt_x"/>
                                          </p:val>
                                        </p:tav>
                                      </p:tavLst>
                                    </p:anim>
                                    <p:anim calcmode="lin" valueType="num">
                                      <p:cBhvr additive="base">
                                        <p:cTn id="20" dur="500" fill="hold"/>
                                        <p:tgtEl>
                                          <p:spTgt spid="5222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52334"/>
                                        </p:tgtEl>
                                        <p:attrNameLst>
                                          <p:attrName>style.visibility</p:attrName>
                                        </p:attrNameLst>
                                      </p:cBhvr>
                                      <p:to>
                                        <p:strVal val="visible"/>
                                      </p:to>
                                    </p:set>
                                    <p:animEffect transition="in" filter="dissolve">
                                      <p:cBhvr>
                                        <p:cTn id="25" dur="500"/>
                                        <p:tgtEl>
                                          <p:spTgt spid="52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34"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Paradigms for interaction: Time sharing</a:t>
            </a:r>
          </a:p>
        </p:txBody>
      </p:sp>
      <p:sp>
        <p:nvSpPr>
          <p:cNvPr id="3" name="Content Placeholder 2"/>
          <p:cNvSpPr>
            <a:spLocks noGrp="1"/>
          </p:cNvSpPr>
          <p:nvPr>
            <p:ph idx="1"/>
          </p:nvPr>
        </p:nvSpPr>
        <p:spPr>
          <a:xfrm>
            <a:off x="263352" y="1846263"/>
            <a:ext cx="11928647" cy="4319041"/>
          </a:xfrm>
        </p:spPr>
        <p:txBody>
          <a:bodyPr/>
          <a:lstStyle/>
          <a:p>
            <a:pPr algn="just"/>
            <a:r>
              <a:rPr lang="en-US" sz="2600" dirty="0">
                <a:latin typeface="Times New Roman" panose="02020603050405020304" pitchFamily="18" charset="0"/>
                <a:cs typeface="Times New Roman" panose="02020603050405020304" pitchFamily="18" charset="0"/>
              </a:rPr>
              <a:t>In the 1940s and 1950s, the significant advances in computing consisted of new hardware technologies. Mechanical relays were replaced by vacuum electron tubes. Tubes were replaced by transistors, and transistors by integrated chips, all of which meant that the amount of sheer computing power was increasing by orders of magnitude.</a:t>
            </a:r>
          </a:p>
          <a:p>
            <a:pPr algn="just"/>
            <a:endParaRPr lang="en-US" sz="2600" dirty="0">
              <a:latin typeface="Times New Roman" panose="02020603050405020304" pitchFamily="18" charset="0"/>
              <a:cs typeface="Times New Roman" panose="02020603050405020304" pitchFamily="18" charset="0"/>
            </a:endParaRPr>
          </a:p>
          <a:p>
            <a:pPr algn="just"/>
            <a:r>
              <a:rPr lang="en-US" sz="2600" b="1" dirty="0">
                <a:latin typeface="Times New Roman" panose="02020603050405020304" pitchFamily="18" charset="0"/>
                <a:cs typeface="Times New Roman" panose="02020603050405020304" pitchFamily="18" charset="0"/>
              </a:rPr>
              <a:t>By the 1960s it was becoming apparent that the explosion of growth in computing power would be wasted if there was not an equivalent explosion of ideas about how to channel that power. </a:t>
            </a:r>
          </a:p>
          <a:p>
            <a:pPr algn="just"/>
            <a:endParaRPr lang="en-US" sz="2600" dirty="0">
              <a:latin typeface="Times New Roman" panose="02020603050405020304" pitchFamily="18" charset="0"/>
              <a:cs typeface="Times New Roman" panose="02020603050405020304" pitchFamily="18" charset="0"/>
            </a:endParaRPr>
          </a:p>
          <a:p>
            <a:pPr algn="just"/>
            <a:endParaRPr 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9</a:t>
            </a:fld>
            <a:endParaRPr lang="en-GB" altLang="en-US"/>
          </a:p>
        </p:txBody>
      </p:sp>
    </p:spTree>
    <p:extLst>
      <p:ext uri="{BB962C8B-B14F-4D97-AF65-F5344CB8AC3E}">
        <p14:creationId xmlns:p14="http://schemas.microsoft.com/office/powerpoint/2010/main" val="2485119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4BC28-297E-5DAC-92CC-560EA54FF19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Paradigms for interaction: Time sharing</a:t>
            </a:r>
            <a:endParaRPr lang="en-US" dirty="0"/>
          </a:p>
        </p:txBody>
      </p:sp>
      <p:sp>
        <p:nvSpPr>
          <p:cNvPr id="3" name="Content Placeholder 2">
            <a:extLst>
              <a:ext uri="{FF2B5EF4-FFF2-40B4-BE49-F238E27FC236}">
                <a16:creationId xmlns:a16="http://schemas.microsoft.com/office/drawing/2014/main" id="{490CF6A4-D538-2079-98A8-30FE7AFB3485}"/>
              </a:ext>
            </a:extLst>
          </p:cNvPr>
          <p:cNvSpPr>
            <a:spLocks noGrp="1"/>
          </p:cNvSpPr>
          <p:nvPr>
            <p:ph idx="1"/>
          </p:nvPr>
        </p:nvSpPr>
        <p:spPr/>
        <p:txBody>
          <a:bodyPr/>
          <a:lstStyle/>
          <a:p>
            <a:pPr algn="just">
              <a:lnSpc>
                <a:spcPct val="100000"/>
              </a:lnSpc>
            </a:pPr>
            <a:r>
              <a:rPr lang="en-US" sz="2600" dirty="0">
                <a:latin typeface="Times New Roman" panose="02020603050405020304" pitchFamily="18" charset="0"/>
                <a:cs typeface="Times New Roman" panose="02020603050405020304" pitchFamily="18" charset="0"/>
              </a:rPr>
              <a:t>One of the leading advocates of research into human-centered applications of computer technology was J. C. R. </a:t>
            </a:r>
            <a:r>
              <a:rPr lang="en-US" sz="2600" dirty="0" err="1">
                <a:latin typeface="Times New Roman" panose="02020603050405020304" pitchFamily="18" charset="0"/>
                <a:cs typeface="Times New Roman" panose="02020603050405020304" pitchFamily="18" charset="0"/>
              </a:rPr>
              <a:t>Licklider</a:t>
            </a:r>
            <a:r>
              <a:rPr lang="en-US" sz="2600" dirty="0">
                <a:latin typeface="Times New Roman" panose="02020603050405020304" pitchFamily="18" charset="0"/>
                <a:cs typeface="Times New Roman" panose="02020603050405020304" pitchFamily="18" charset="0"/>
              </a:rPr>
              <a:t>, who became the director of the Information Processing Techniques Office of the US Department of Defense’s Advanced Research Projects Agency (ARPA). </a:t>
            </a:r>
          </a:p>
          <a:p>
            <a:pPr algn="just">
              <a:lnSpc>
                <a:spcPct val="100000"/>
              </a:lnSpc>
            </a:pPr>
            <a:endParaRPr lang="en-US" sz="2600" dirty="0">
              <a:latin typeface="Times New Roman" panose="02020603050405020304" pitchFamily="18" charset="0"/>
              <a:cs typeface="Times New Roman" panose="02020603050405020304" pitchFamily="18" charset="0"/>
            </a:endParaRPr>
          </a:p>
          <a:p>
            <a:pPr algn="just">
              <a:lnSpc>
                <a:spcPct val="100000"/>
              </a:lnSpc>
            </a:pPr>
            <a:r>
              <a:rPr lang="en-US" sz="2600" dirty="0">
                <a:latin typeface="Times New Roman" panose="02020603050405020304" pitchFamily="18" charset="0"/>
                <a:cs typeface="Times New Roman" panose="02020603050405020304" pitchFamily="18" charset="0"/>
              </a:rPr>
              <a:t>It was </a:t>
            </a:r>
            <a:r>
              <a:rPr lang="en-US" sz="2600" dirty="0" err="1">
                <a:latin typeface="Times New Roman" panose="02020603050405020304" pitchFamily="18" charset="0"/>
                <a:cs typeface="Times New Roman" panose="02020603050405020304" pitchFamily="18" charset="0"/>
              </a:rPr>
              <a:t>Licklider’s</a:t>
            </a:r>
            <a:r>
              <a:rPr lang="en-US" sz="2600" dirty="0">
                <a:latin typeface="Times New Roman" panose="02020603050405020304" pitchFamily="18" charset="0"/>
                <a:cs typeface="Times New Roman" panose="02020603050405020304" pitchFamily="18" charset="0"/>
              </a:rPr>
              <a:t> goal to finance various research centers across the United States in order to encourage new ideas about how best to apply the burgeoning computing technology.</a:t>
            </a:r>
          </a:p>
          <a:p>
            <a:pPr algn="just">
              <a:lnSpc>
                <a:spcPct val="100000"/>
              </a:lnSpc>
            </a:pPr>
            <a:endParaRPr lang="en-US" sz="2600" dirty="0">
              <a:latin typeface="Times New Roman" panose="02020603050405020304" pitchFamily="18" charset="0"/>
              <a:cs typeface="Times New Roman" panose="02020603050405020304" pitchFamily="18" charset="0"/>
            </a:endParaRPr>
          </a:p>
          <a:p>
            <a:pPr>
              <a:lnSpc>
                <a:spcPct val="100000"/>
              </a:lnSpc>
            </a:pPr>
            <a:endParaRPr lang="en-US" sz="2600" dirty="0"/>
          </a:p>
        </p:txBody>
      </p:sp>
      <p:sp>
        <p:nvSpPr>
          <p:cNvPr id="4" name="Slide Number Placeholder 3">
            <a:extLst>
              <a:ext uri="{FF2B5EF4-FFF2-40B4-BE49-F238E27FC236}">
                <a16:creationId xmlns:a16="http://schemas.microsoft.com/office/drawing/2014/main" id="{D44DAFDD-F499-6DFD-023C-366E4B4EDBDB}"/>
              </a:ext>
            </a:extLst>
          </p:cNvPr>
          <p:cNvSpPr>
            <a:spLocks noGrp="1"/>
          </p:cNvSpPr>
          <p:nvPr>
            <p:ph type="sldNum" sz="quarter" idx="12"/>
          </p:nvPr>
        </p:nvSpPr>
        <p:spPr/>
        <p:txBody>
          <a:bodyPr/>
          <a:lstStyle/>
          <a:p>
            <a:pPr>
              <a:defRPr/>
            </a:pPr>
            <a:fld id="{0CA33DAF-8E01-46BA-8B98-C3F739052EA6}" type="slidenum">
              <a:rPr lang="en-GB" altLang="en-US" smtClean="0"/>
              <a:pPr>
                <a:defRPr/>
              </a:pPr>
              <a:t>10</a:t>
            </a:fld>
            <a:endParaRPr lang="en-GB" altLang="en-US"/>
          </a:p>
        </p:txBody>
      </p:sp>
    </p:spTree>
    <p:extLst>
      <p:ext uri="{BB962C8B-B14F-4D97-AF65-F5344CB8AC3E}">
        <p14:creationId xmlns:p14="http://schemas.microsoft.com/office/powerpoint/2010/main" val="776024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Paradigms for interaction: Time sharing</a:t>
            </a:r>
          </a:p>
        </p:txBody>
      </p:sp>
      <p:sp>
        <p:nvSpPr>
          <p:cNvPr id="3" name="Content Placeholder 2"/>
          <p:cNvSpPr>
            <a:spLocks noGrp="1"/>
          </p:cNvSpPr>
          <p:nvPr>
            <p:ph idx="1"/>
          </p:nvPr>
        </p:nvSpPr>
        <p:spPr>
          <a:xfrm>
            <a:off x="263353" y="2132856"/>
            <a:ext cx="11665296" cy="4032448"/>
          </a:xfrm>
        </p:spPr>
        <p:txBody>
          <a:bodyPr/>
          <a:lstStyle/>
          <a:p>
            <a:r>
              <a:rPr lang="en-US" sz="2600" b="1" dirty="0">
                <a:latin typeface="Times New Roman" panose="02020603050405020304" pitchFamily="18" charset="0"/>
                <a:cs typeface="Times New Roman" panose="02020603050405020304" pitchFamily="18" charset="0"/>
              </a:rPr>
              <a:t>One of the major contributions to come out of this new emphasis in research was the concept of </a:t>
            </a:r>
            <a:r>
              <a:rPr lang="en-US" sz="2600" b="1" i="1" dirty="0">
                <a:latin typeface="Times New Roman" panose="02020603050405020304" pitchFamily="18" charset="0"/>
                <a:cs typeface="Times New Roman" panose="02020603050405020304" pitchFamily="18" charset="0"/>
              </a:rPr>
              <a:t>time sharing</a:t>
            </a:r>
            <a:r>
              <a:rPr lang="en-US" sz="2600" b="1" dirty="0">
                <a:latin typeface="Times New Roman" panose="02020603050405020304" pitchFamily="18" charset="0"/>
                <a:cs typeface="Times New Roman" panose="02020603050405020304" pitchFamily="18" charset="0"/>
              </a:rPr>
              <a:t>, in which a </a:t>
            </a:r>
            <a:r>
              <a:rPr lang="en-US" sz="2600" b="1" dirty="0">
                <a:solidFill>
                  <a:srgbClr val="00B050"/>
                </a:solidFill>
                <a:latin typeface="Times New Roman" panose="02020603050405020304" pitchFamily="18" charset="0"/>
                <a:cs typeface="Times New Roman" panose="02020603050405020304" pitchFamily="18" charset="0"/>
              </a:rPr>
              <a:t>single computer could support multiple users.</a:t>
            </a:r>
            <a:endParaRPr lang="en-US" sz="2600" b="1" dirty="0">
              <a:latin typeface="Times New Roman" panose="02020603050405020304" pitchFamily="18" charset="0"/>
              <a:cs typeface="Times New Roman" panose="02020603050405020304" pitchFamily="18" charset="0"/>
            </a:endParaRPr>
          </a:p>
          <a:p>
            <a:endParaRPr lang="en-US" sz="2600" b="1" dirty="0">
              <a:latin typeface="Times New Roman" panose="02020603050405020304" pitchFamily="18" charset="0"/>
              <a:cs typeface="Times New Roman" panose="02020603050405020304" pitchFamily="18" charset="0"/>
            </a:endParaRPr>
          </a:p>
          <a:p>
            <a:r>
              <a:rPr lang="en-US" sz="2600" dirty="0">
                <a:solidFill>
                  <a:srgbClr val="FF0000"/>
                </a:solidFill>
                <a:latin typeface="Times New Roman" panose="02020603050405020304" pitchFamily="18" charset="0"/>
                <a:cs typeface="Times New Roman" panose="02020603050405020304" pitchFamily="18" charset="0"/>
              </a:rPr>
              <a:t>Previously, the human (or more accurately, the programmer) was restricted to batch sessions, in which complete jobs were submitted on punched cards or paper tape to an operator who would then run them individually on the computer</a:t>
            </a:r>
            <a:endParaRPr 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11</a:t>
            </a:fld>
            <a:endParaRPr lang="en-GB" altLang="en-US"/>
          </a:p>
        </p:txBody>
      </p:sp>
    </p:spTree>
    <p:extLst>
      <p:ext uri="{BB962C8B-B14F-4D97-AF65-F5344CB8AC3E}">
        <p14:creationId xmlns:p14="http://schemas.microsoft.com/office/powerpoint/2010/main" val="655897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fontScale="90000"/>
          </a:bodyPr>
          <a:lstStyle/>
          <a:p>
            <a:pPr eaLnBrk="1" hangingPunct="1"/>
            <a:r>
              <a:rPr lang="en-US" altLang="en-US" dirty="0">
                <a:latin typeface="Times New Roman" panose="02020603050405020304" pitchFamily="18" charset="0"/>
                <a:cs typeface="Times New Roman" panose="02020603050405020304" pitchFamily="18" charset="0"/>
              </a:rPr>
              <a:t>Example Paradigm Shifts: </a:t>
            </a:r>
            <a:r>
              <a:rPr lang="en-US" altLang="en-US" dirty="0">
                <a:solidFill>
                  <a:srgbClr val="FF0000"/>
                </a:solidFill>
                <a:latin typeface="Times New Roman" panose="02020603050405020304" pitchFamily="18" charset="0"/>
                <a:cs typeface="Times New Roman" panose="02020603050405020304" pitchFamily="18" charset="0"/>
              </a:rPr>
              <a:t>Networking</a:t>
            </a:r>
            <a:endParaRPr lang="en-US" altLang="en-US" dirty="0">
              <a:latin typeface="Times New Roman" panose="02020603050405020304" pitchFamily="18" charset="0"/>
              <a:cs typeface="Times New Roman" panose="02020603050405020304" pitchFamily="18" charset="0"/>
            </a:endParaRPr>
          </a:p>
        </p:txBody>
      </p:sp>
      <p:sp>
        <p:nvSpPr>
          <p:cNvPr id="8195" name="Rectangle 3"/>
          <p:cNvSpPr>
            <a:spLocks noGrp="1" noChangeArrowheads="1"/>
          </p:cNvSpPr>
          <p:nvPr>
            <p:ph type="body" sz="half" idx="1"/>
          </p:nvPr>
        </p:nvSpPr>
        <p:spPr>
          <a:xfrm>
            <a:off x="2336101" y="3239054"/>
            <a:ext cx="3813175" cy="838200"/>
          </a:xfrm>
        </p:spPr>
        <p:txBody>
          <a:bodyPr/>
          <a:lstStyle/>
          <a:p>
            <a:pPr eaLnBrk="1" hangingPunct="1"/>
            <a:r>
              <a:rPr lang="en-US" altLang="en-US" sz="3000" dirty="0">
                <a:solidFill>
                  <a:srgbClr val="FF0000"/>
                </a:solidFill>
                <a:latin typeface="Times New Roman" panose="02020603050405020304" pitchFamily="18" charset="0"/>
                <a:cs typeface="Times New Roman" panose="02020603050405020304" pitchFamily="18" charset="0"/>
              </a:rPr>
              <a:t>Networking</a:t>
            </a:r>
            <a:endParaRPr lang="en-US" altLang="en-US" sz="3000"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p:txBody>
      </p:sp>
      <p:sp>
        <p:nvSpPr>
          <p:cNvPr id="57348" name="Freeform 4"/>
          <p:cNvSpPr>
            <a:spLocks/>
          </p:cNvSpPr>
          <p:nvPr/>
        </p:nvSpPr>
        <p:spPr bwMode="auto">
          <a:xfrm rot="1668064">
            <a:off x="7807326" y="4162426"/>
            <a:ext cx="815975" cy="269875"/>
          </a:xfrm>
          <a:custGeom>
            <a:avLst/>
            <a:gdLst>
              <a:gd name="T0" fmla="*/ 109088 w 935"/>
              <a:gd name="T1" fmla="*/ 66792 h 299"/>
              <a:gd name="T2" fmla="*/ 161450 w 935"/>
              <a:gd name="T3" fmla="*/ 21662 h 299"/>
              <a:gd name="T4" fmla="*/ 192867 w 935"/>
              <a:gd name="T5" fmla="*/ 64987 h 299"/>
              <a:gd name="T6" fmla="*/ 254829 w 935"/>
              <a:gd name="T7" fmla="*/ 46935 h 299"/>
              <a:gd name="T8" fmla="*/ 261810 w 935"/>
              <a:gd name="T9" fmla="*/ 135389 h 299"/>
              <a:gd name="T10" fmla="*/ 318536 w 935"/>
              <a:gd name="T11" fmla="*/ 74915 h 299"/>
              <a:gd name="T12" fmla="*/ 340353 w 935"/>
              <a:gd name="T13" fmla="*/ 101993 h 299"/>
              <a:gd name="T14" fmla="*/ 359553 w 935"/>
              <a:gd name="T15" fmla="*/ 181421 h 299"/>
              <a:gd name="T16" fmla="*/ 413660 w 935"/>
              <a:gd name="T17" fmla="*/ 126363 h 299"/>
              <a:gd name="T18" fmla="*/ 450313 w 935"/>
              <a:gd name="T19" fmla="*/ 181421 h 299"/>
              <a:gd name="T20" fmla="*/ 468640 w 935"/>
              <a:gd name="T21" fmla="*/ 204888 h 299"/>
              <a:gd name="T22" fmla="*/ 521002 w 935"/>
              <a:gd name="T23" fmla="*/ 155246 h 299"/>
              <a:gd name="T24" fmla="*/ 554165 w 935"/>
              <a:gd name="T25" fmla="*/ 165174 h 299"/>
              <a:gd name="T26" fmla="*/ 573364 w 935"/>
              <a:gd name="T27" fmla="*/ 231966 h 299"/>
              <a:gd name="T28" fmla="*/ 617872 w 935"/>
              <a:gd name="T29" fmla="*/ 196765 h 299"/>
              <a:gd name="T30" fmla="*/ 664125 w 935"/>
              <a:gd name="T31" fmla="*/ 156148 h 299"/>
              <a:gd name="T32" fmla="*/ 699033 w 935"/>
              <a:gd name="T33" fmla="*/ 210304 h 299"/>
              <a:gd name="T34" fmla="*/ 732196 w 935"/>
              <a:gd name="T35" fmla="*/ 206694 h 299"/>
              <a:gd name="T36" fmla="*/ 774958 w 935"/>
              <a:gd name="T37" fmla="*/ 196765 h 299"/>
              <a:gd name="T38" fmla="*/ 811611 w 935"/>
              <a:gd name="T39" fmla="*/ 244602 h 299"/>
              <a:gd name="T40" fmla="*/ 754013 w 935"/>
              <a:gd name="T41" fmla="*/ 226551 h 299"/>
              <a:gd name="T42" fmla="*/ 706887 w 935"/>
              <a:gd name="T43" fmla="*/ 256336 h 299"/>
              <a:gd name="T44" fmla="*/ 674598 w 935"/>
              <a:gd name="T45" fmla="*/ 236479 h 299"/>
              <a:gd name="T46" fmla="*/ 608272 w 935"/>
              <a:gd name="T47" fmla="*/ 251823 h 299"/>
              <a:gd name="T48" fmla="*/ 575110 w 935"/>
              <a:gd name="T49" fmla="*/ 269875 h 299"/>
              <a:gd name="T50" fmla="*/ 549801 w 935"/>
              <a:gd name="T51" fmla="*/ 244602 h 299"/>
              <a:gd name="T52" fmla="*/ 522748 w 935"/>
              <a:gd name="T53" fmla="*/ 189544 h 299"/>
              <a:gd name="T54" fmla="*/ 450313 w 935"/>
              <a:gd name="T55" fmla="*/ 244602 h 299"/>
              <a:gd name="T56" fmla="*/ 425878 w 935"/>
              <a:gd name="T57" fmla="*/ 221135 h 299"/>
              <a:gd name="T58" fmla="*/ 399697 w 935"/>
              <a:gd name="T59" fmla="*/ 171492 h 299"/>
              <a:gd name="T60" fmla="*/ 330754 w 935"/>
              <a:gd name="T61" fmla="*/ 231966 h 299"/>
              <a:gd name="T62" fmla="*/ 308936 w 935"/>
              <a:gd name="T63" fmla="*/ 216622 h 299"/>
              <a:gd name="T64" fmla="*/ 316790 w 935"/>
              <a:gd name="T65" fmla="*/ 129973 h 299"/>
              <a:gd name="T66" fmla="*/ 283628 w 935"/>
              <a:gd name="T67" fmla="*/ 155246 h 299"/>
              <a:gd name="T68" fmla="*/ 221666 w 935"/>
              <a:gd name="T69" fmla="*/ 189544 h 299"/>
              <a:gd name="T70" fmla="*/ 221666 w 935"/>
              <a:gd name="T71" fmla="*/ 131778 h 299"/>
              <a:gd name="T72" fmla="*/ 180649 w 935"/>
              <a:gd name="T73" fmla="*/ 120045 h 299"/>
              <a:gd name="T74" fmla="*/ 107342 w 935"/>
              <a:gd name="T75" fmla="*/ 129973 h 299"/>
              <a:gd name="T76" fmla="*/ 60216 w 935"/>
              <a:gd name="T77" fmla="*/ 71305 h 299"/>
              <a:gd name="T78" fmla="*/ 0 w 935"/>
              <a:gd name="T79" fmla="*/ 16247 h 29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35" h="299">
                <a:moveTo>
                  <a:pt x="25" y="0"/>
                </a:moveTo>
                <a:lnTo>
                  <a:pt x="125" y="74"/>
                </a:lnTo>
                <a:lnTo>
                  <a:pt x="153" y="72"/>
                </a:lnTo>
                <a:lnTo>
                  <a:pt x="185" y="24"/>
                </a:lnTo>
                <a:lnTo>
                  <a:pt x="218" y="50"/>
                </a:lnTo>
                <a:lnTo>
                  <a:pt x="221" y="72"/>
                </a:lnTo>
                <a:lnTo>
                  <a:pt x="260" y="33"/>
                </a:lnTo>
                <a:lnTo>
                  <a:pt x="292" y="52"/>
                </a:lnTo>
                <a:lnTo>
                  <a:pt x="289" y="161"/>
                </a:lnTo>
                <a:lnTo>
                  <a:pt x="300" y="150"/>
                </a:lnTo>
                <a:lnTo>
                  <a:pt x="352" y="89"/>
                </a:lnTo>
                <a:lnTo>
                  <a:pt x="365" y="83"/>
                </a:lnTo>
                <a:lnTo>
                  <a:pt x="385" y="94"/>
                </a:lnTo>
                <a:lnTo>
                  <a:pt x="390" y="113"/>
                </a:lnTo>
                <a:lnTo>
                  <a:pt x="396" y="212"/>
                </a:lnTo>
                <a:lnTo>
                  <a:pt x="412" y="201"/>
                </a:lnTo>
                <a:lnTo>
                  <a:pt x="461" y="144"/>
                </a:lnTo>
                <a:lnTo>
                  <a:pt x="474" y="140"/>
                </a:lnTo>
                <a:lnTo>
                  <a:pt x="494" y="150"/>
                </a:lnTo>
                <a:lnTo>
                  <a:pt x="516" y="201"/>
                </a:lnTo>
                <a:lnTo>
                  <a:pt x="516" y="223"/>
                </a:lnTo>
                <a:lnTo>
                  <a:pt x="537" y="227"/>
                </a:lnTo>
                <a:lnTo>
                  <a:pt x="548" y="218"/>
                </a:lnTo>
                <a:lnTo>
                  <a:pt x="597" y="172"/>
                </a:lnTo>
                <a:lnTo>
                  <a:pt x="615" y="166"/>
                </a:lnTo>
                <a:lnTo>
                  <a:pt x="635" y="183"/>
                </a:lnTo>
                <a:lnTo>
                  <a:pt x="643" y="218"/>
                </a:lnTo>
                <a:lnTo>
                  <a:pt x="657" y="257"/>
                </a:lnTo>
                <a:lnTo>
                  <a:pt x="670" y="257"/>
                </a:lnTo>
                <a:lnTo>
                  <a:pt x="708" y="218"/>
                </a:lnTo>
                <a:lnTo>
                  <a:pt x="744" y="177"/>
                </a:lnTo>
                <a:lnTo>
                  <a:pt x="761" y="173"/>
                </a:lnTo>
                <a:lnTo>
                  <a:pt x="782" y="177"/>
                </a:lnTo>
                <a:lnTo>
                  <a:pt x="801" y="233"/>
                </a:lnTo>
                <a:lnTo>
                  <a:pt x="817" y="240"/>
                </a:lnTo>
                <a:lnTo>
                  <a:pt x="839" y="229"/>
                </a:lnTo>
                <a:lnTo>
                  <a:pt x="866" y="212"/>
                </a:lnTo>
                <a:lnTo>
                  <a:pt x="888" y="218"/>
                </a:lnTo>
                <a:lnTo>
                  <a:pt x="935" y="260"/>
                </a:lnTo>
                <a:lnTo>
                  <a:pt x="930" y="271"/>
                </a:lnTo>
                <a:lnTo>
                  <a:pt x="893" y="284"/>
                </a:lnTo>
                <a:lnTo>
                  <a:pt x="864" y="251"/>
                </a:lnTo>
                <a:lnTo>
                  <a:pt x="850" y="255"/>
                </a:lnTo>
                <a:lnTo>
                  <a:pt x="810" y="284"/>
                </a:lnTo>
                <a:lnTo>
                  <a:pt x="788" y="279"/>
                </a:lnTo>
                <a:lnTo>
                  <a:pt x="773" y="262"/>
                </a:lnTo>
                <a:lnTo>
                  <a:pt x="755" y="212"/>
                </a:lnTo>
                <a:lnTo>
                  <a:pt x="697" y="279"/>
                </a:lnTo>
                <a:lnTo>
                  <a:pt x="679" y="299"/>
                </a:lnTo>
                <a:lnTo>
                  <a:pt x="659" y="299"/>
                </a:lnTo>
                <a:lnTo>
                  <a:pt x="635" y="290"/>
                </a:lnTo>
                <a:lnTo>
                  <a:pt x="630" y="271"/>
                </a:lnTo>
                <a:lnTo>
                  <a:pt x="608" y="210"/>
                </a:lnTo>
                <a:lnTo>
                  <a:pt x="599" y="210"/>
                </a:lnTo>
                <a:lnTo>
                  <a:pt x="545" y="266"/>
                </a:lnTo>
                <a:lnTo>
                  <a:pt x="516" y="271"/>
                </a:lnTo>
                <a:lnTo>
                  <a:pt x="496" y="266"/>
                </a:lnTo>
                <a:lnTo>
                  <a:pt x="488" y="245"/>
                </a:lnTo>
                <a:lnTo>
                  <a:pt x="472" y="196"/>
                </a:lnTo>
                <a:lnTo>
                  <a:pt x="458" y="190"/>
                </a:lnTo>
                <a:lnTo>
                  <a:pt x="414" y="244"/>
                </a:lnTo>
                <a:lnTo>
                  <a:pt x="379" y="257"/>
                </a:lnTo>
                <a:lnTo>
                  <a:pt x="365" y="255"/>
                </a:lnTo>
                <a:lnTo>
                  <a:pt x="354" y="240"/>
                </a:lnTo>
                <a:lnTo>
                  <a:pt x="359" y="179"/>
                </a:lnTo>
                <a:lnTo>
                  <a:pt x="363" y="144"/>
                </a:lnTo>
                <a:lnTo>
                  <a:pt x="352" y="138"/>
                </a:lnTo>
                <a:lnTo>
                  <a:pt x="325" y="172"/>
                </a:lnTo>
                <a:lnTo>
                  <a:pt x="281" y="207"/>
                </a:lnTo>
                <a:lnTo>
                  <a:pt x="254" y="210"/>
                </a:lnTo>
                <a:lnTo>
                  <a:pt x="243" y="188"/>
                </a:lnTo>
                <a:lnTo>
                  <a:pt x="254" y="146"/>
                </a:lnTo>
                <a:lnTo>
                  <a:pt x="261" y="89"/>
                </a:lnTo>
                <a:lnTo>
                  <a:pt x="207" y="133"/>
                </a:lnTo>
                <a:lnTo>
                  <a:pt x="151" y="161"/>
                </a:lnTo>
                <a:lnTo>
                  <a:pt x="123" y="144"/>
                </a:lnTo>
                <a:lnTo>
                  <a:pt x="123" y="107"/>
                </a:lnTo>
                <a:lnTo>
                  <a:pt x="69" y="79"/>
                </a:lnTo>
                <a:lnTo>
                  <a:pt x="16" y="39"/>
                </a:lnTo>
                <a:lnTo>
                  <a:pt x="0" y="18"/>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57349" name="Group 5"/>
          <p:cNvGrpSpPr>
            <a:grpSpLocks/>
          </p:cNvGrpSpPr>
          <p:nvPr/>
        </p:nvGrpSpPr>
        <p:grpSpPr bwMode="auto">
          <a:xfrm flipH="1">
            <a:off x="8267701" y="4379913"/>
            <a:ext cx="1254125" cy="1103312"/>
            <a:chOff x="3983" y="2787"/>
            <a:chExt cx="1436" cy="1223"/>
          </a:xfrm>
        </p:grpSpPr>
        <p:grpSp>
          <p:nvGrpSpPr>
            <p:cNvPr id="8243" name="Group 6"/>
            <p:cNvGrpSpPr>
              <a:grpSpLocks/>
            </p:cNvGrpSpPr>
            <p:nvPr/>
          </p:nvGrpSpPr>
          <p:grpSpPr bwMode="auto">
            <a:xfrm>
              <a:off x="4497" y="2787"/>
              <a:ext cx="922" cy="983"/>
              <a:chOff x="4497" y="2787"/>
              <a:chExt cx="922" cy="983"/>
            </a:xfrm>
          </p:grpSpPr>
          <p:sp>
            <p:nvSpPr>
              <p:cNvPr id="8251" name="Freeform 7"/>
              <p:cNvSpPr>
                <a:spLocks/>
              </p:cNvSpPr>
              <p:nvPr/>
            </p:nvSpPr>
            <p:spPr bwMode="auto">
              <a:xfrm>
                <a:off x="4513" y="2795"/>
                <a:ext cx="901" cy="965"/>
              </a:xfrm>
              <a:custGeom>
                <a:avLst/>
                <a:gdLst>
                  <a:gd name="T0" fmla="*/ 186 w 901"/>
                  <a:gd name="T1" fmla="*/ 585 h 965"/>
                  <a:gd name="T2" fmla="*/ 109 w 901"/>
                  <a:gd name="T3" fmla="*/ 634 h 965"/>
                  <a:gd name="T4" fmla="*/ 14 w 901"/>
                  <a:gd name="T5" fmla="*/ 696 h 965"/>
                  <a:gd name="T6" fmla="*/ 4 w 901"/>
                  <a:gd name="T7" fmla="*/ 758 h 965"/>
                  <a:gd name="T8" fmla="*/ 0 w 901"/>
                  <a:gd name="T9" fmla="*/ 875 h 965"/>
                  <a:gd name="T10" fmla="*/ 142 w 901"/>
                  <a:gd name="T11" fmla="*/ 891 h 965"/>
                  <a:gd name="T12" fmla="*/ 302 w 901"/>
                  <a:gd name="T13" fmla="*/ 899 h 965"/>
                  <a:gd name="T14" fmla="*/ 539 w 901"/>
                  <a:gd name="T15" fmla="*/ 933 h 965"/>
                  <a:gd name="T16" fmla="*/ 714 w 901"/>
                  <a:gd name="T17" fmla="*/ 965 h 965"/>
                  <a:gd name="T18" fmla="*/ 794 w 901"/>
                  <a:gd name="T19" fmla="*/ 862 h 965"/>
                  <a:gd name="T20" fmla="*/ 901 w 901"/>
                  <a:gd name="T21" fmla="*/ 652 h 965"/>
                  <a:gd name="T22" fmla="*/ 898 w 901"/>
                  <a:gd name="T23" fmla="*/ 584 h 965"/>
                  <a:gd name="T24" fmla="*/ 875 w 901"/>
                  <a:gd name="T25" fmla="*/ 553 h 965"/>
                  <a:gd name="T26" fmla="*/ 795 w 901"/>
                  <a:gd name="T27" fmla="*/ 545 h 965"/>
                  <a:gd name="T28" fmla="*/ 860 w 901"/>
                  <a:gd name="T29" fmla="*/ 382 h 965"/>
                  <a:gd name="T30" fmla="*/ 873 w 901"/>
                  <a:gd name="T31" fmla="*/ 331 h 965"/>
                  <a:gd name="T32" fmla="*/ 875 w 901"/>
                  <a:gd name="T33" fmla="*/ 198 h 965"/>
                  <a:gd name="T34" fmla="*/ 871 w 901"/>
                  <a:gd name="T35" fmla="*/ 99 h 965"/>
                  <a:gd name="T36" fmla="*/ 846 w 901"/>
                  <a:gd name="T37" fmla="*/ 50 h 965"/>
                  <a:gd name="T38" fmla="*/ 820 w 901"/>
                  <a:gd name="T39" fmla="*/ 47 h 965"/>
                  <a:gd name="T40" fmla="*/ 756 w 901"/>
                  <a:gd name="T41" fmla="*/ 47 h 965"/>
                  <a:gd name="T42" fmla="*/ 651 w 901"/>
                  <a:gd name="T43" fmla="*/ 36 h 965"/>
                  <a:gd name="T44" fmla="*/ 585 w 901"/>
                  <a:gd name="T45" fmla="*/ 16 h 965"/>
                  <a:gd name="T46" fmla="*/ 513 w 901"/>
                  <a:gd name="T47" fmla="*/ 0 h 965"/>
                  <a:gd name="T48" fmla="*/ 484 w 901"/>
                  <a:gd name="T49" fmla="*/ 3 h 965"/>
                  <a:gd name="T50" fmla="*/ 416 w 901"/>
                  <a:gd name="T51" fmla="*/ 21 h 965"/>
                  <a:gd name="T52" fmla="*/ 322 w 901"/>
                  <a:gd name="T53" fmla="*/ 31 h 965"/>
                  <a:gd name="T54" fmla="*/ 198 w 901"/>
                  <a:gd name="T55" fmla="*/ 53 h 965"/>
                  <a:gd name="T56" fmla="*/ 150 w 901"/>
                  <a:gd name="T57" fmla="*/ 73 h 965"/>
                  <a:gd name="T58" fmla="*/ 102 w 901"/>
                  <a:gd name="T59" fmla="*/ 110 h 965"/>
                  <a:gd name="T60" fmla="*/ 84 w 901"/>
                  <a:gd name="T61" fmla="*/ 173 h 965"/>
                  <a:gd name="T62" fmla="*/ 68 w 901"/>
                  <a:gd name="T63" fmla="*/ 279 h 965"/>
                  <a:gd name="T64" fmla="*/ 52 w 901"/>
                  <a:gd name="T65" fmla="*/ 406 h 965"/>
                  <a:gd name="T66" fmla="*/ 49 w 901"/>
                  <a:gd name="T67" fmla="*/ 482 h 965"/>
                  <a:gd name="T68" fmla="*/ 60 w 901"/>
                  <a:gd name="T69" fmla="*/ 528 h 965"/>
                  <a:gd name="T70" fmla="*/ 83 w 901"/>
                  <a:gd name="T71" fmla="*/ 555 h 965"/>
                  <a:gd name="T72" fmla="*/ 114 w 901"/>
                  <a:gd name="T73" fmla="*/ 569 h 965"/>
                  <a:gd name="T74" fmla="*/ 186 w 901"/>
                  <a:gd name="T75" fmla="*/ 585 h 96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901" h="965">
                    <a:moveTo>
                      <a:pt x="186" y="585"/>
                    </a:moveTo>
                    <a:lnTo>
                      <a:pt x="109" y="634"/>
                    </a:lnTo>
                    <a:lnTo>
                      <a:pt x="14" y="696"/>
                    </a:lnTo>
                    <a:lnTo>
                      <a:pt x="4" y="758"/>
                    </a:lnTo>
                    <a:lnTo>
                      <a:pt x="0" y="875"/>
                    </a:lnTo>
                    <a:lnTo>
                      <a:pt x="142" y="891"/>
                    </a:lnTo>
                    <a:lnTo>
                      <a:pt x="302" y="899"/>
                    </a:lnTo>
                    <a:lnTo>
                      <a:pt x="539" y="933"/>
                    </a:lnTo>
                    <a:lnTo>
                      <a:pt x="714" y="965"/>
                    </a:lnTo>
                    <a:lnTo>
                      <a:pt x="794" y="862"/>
                    </a:lnTo>
                    <a:lnTo>
                      <a:pt x="901" y="652"/>
                    </a:lnTo>
                    <a:lnTo>
                      <a:pt x="898" y="584"/>
                    </a:lnTo>
                    <a:lnTo>
                      <a:pt x="875" y="553"/>
                    </a:lnTo>
                    <a:lnTo>
                      <a:pt x="795" y="545"/>
                    </a:lnTo>
                    <a:lnTo>
                      <a:pt x="860" y="382"/>
                    </a:lnTo>
                    <a:lnTo>
                      <a:pt x="873" y="331"/>
                    </a:lnTo>
                    <a:lnTo>
                      <a:pt x="875" y="198"/>
                    </a:lnTo>
                    <a:lnTo>
                      <a:pt x="871" y="99"/>
                    </a:lnTo>
                    <a:lnTo>
                      <a:pt x="846" y="50"/>
                    </a:lnTo>
                    <a:lnTo>
                      <a:pt x="820" y="47"/>
                    </a:lnTo>
                    <a:lnTo>
                      <a:pt x="756" y="47"/>
                    </a:lnTo>
                    <a:lnTo>
                      <a:pt x="651" y="36"/>
                    </a:lnTo>
                    <a:lnTo>
                      <a:pt x="585" y="16"/>
                    </a:lnTo>
                    <a:lnTo>
                      <a:pt x="513" y="0"/>
                    </a:lnTo>
                    <a:lnTo>
                      <a:pt x="484" y="3"/>
                    </a:lnTo>
                    <a:lnTo>
                      <a:pt x="416" y="21"/>
                    </a:lnTo>
                    <a:lnTo>
                      <a:pt x="322" y="31"/>
                    </a:lnTo>
                    <a:lnTo>
                      <a:pt x="198" y="53"/>
                    </a:lnTo>
                    <a:lnTo>
                      <a:pt x="150" y="73"/>
                    </a:lnTo>
                    <a:lnTo>
                      <a:pt x="102" y="110"/>
                    </a:lnTo>
                    <a:lnTo>
                      <a:pt x="84" y="173"/>
                    </a:lnTo>
                    <a:lnTo>
                      <a:pt x="68" y="279"/>
                    </a:lnTo>
                    <a:lnTo>
                      <a:pt x="52" y="406"/>
                    </a:lnTo>
                    <a:lnTo>
                      <a:pt x="49" y="482"/>
                    </a:lnTo>
                    <a:lnTo>
                      <a:pt x="60" y="528"/>
                    </a:lnTo>
                    <a:lnTo>
                      <a:pt x="83" y="555"/>
                    </a:lnTo>
                    <a:lnTo>
                      <a:pt x="114" y="569"/>
                    </a:lnTo>
                    <a:lnTo>
                      <a:pt x="186" y="585"/>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2" name="Freeform 8"/>
              <p:cNvSpPr>
                <a:spLocks/>
              </p:cNvSpPr>
              <p:nvPr/>
            </p:nvSpPr>
            <p:spPr bwMode="auto">
              <a:xfrm>
                <a:off x="4652" y="2928"/>
                <a:ext cx="500" cy="448"/>
              </a:xfrm>
              <a:custGeom>
                <a:avLst/>
                <a:gdLst>
                  <a:gd name="T0" fmla="*/ 24 w 500"/>
                  <a:gd name="T1" fmla="*/ 92 h 448"/>
                  <a:gd name="T2" fmla="*/ 41 w 500"/>
                  <a:gd name="T3" fmla="*/ 21 h 448"/>
                  <a:gd name="T4" fmla="*/ 56 w 500"/>
                  <a:gd name="T5" fmla="*/ 3 h 448"/>
                  <a:gd name="T6" fmla="*/ 87 w 500"/>
                  <a:gd name="T7" fmla="*/ 0 h 448"/>
                  <a:gd name="T8" fmla="*/ 215 w 500"/>
                  <a:gd name="T9" fmla="*/ 16 h 448"/>
                  <a:gd name="T10" fmla="*/ 371 w 500"/>
                  <a:gd name="T11" fmla="*/ 39 h 448"/>
                  <a:gd name="T12" fmla="*/ 462 w 500"/>
                  <a:gd name="T13" fmla="*/ 55 h 448"/>
                  <a:gd name="T14" fmla="*/ 482 w 500"/>
                  <a:gd name="T15" fmla="*/ 72 h 448"/>
                  <a:gd name="T16" fmla="*/ 493 w 500"/>
                  <a:gd name="T17" fmla="*/ 102 h 448"/>
                  <a:gd name="T18" fmla="*/ 498 w 500"/>
                  <a:gd name="T19" fmla="*/ 219 h 448"/>
                  <a:gd name="T20" fmla="*/ 500 w 500"/>
                  <a:gd name="T21" fmla="*/ 348 h 448"/>
                  <a:gd name="T22" fmla="*/ 493 w 500"/>
                  <a:gd name="T23" fmla="*/ 430 h 448"/>
                  <a:gd name="T24" fmla="*/ 482 w 500"/>
                  <a:gd name="T25" fmla="*/ 444 h 448"/>
                  <a:gd name="T26" fmla="*/ 453 w 500"/>
                  <a:gd name="T27" fmla="*/ 448 h 448"/>
                  <a:gd name="T28" fmla="*/ 319 w 500"/>
                  <a:gd name="T29" fmla="*/ 424 h 448"/>
                  <a:gd name="T30" fmla="*/ 117 w 500"/>
                  <a:gd name="T31" fmla="*/ 382 h 448"/>
                  <a:gd name="T32" fmla="*/ 16 w 500"/>
                  <a:gd name="T33" fmla="*/ 355 h 448"/>
                  <a:gd name="T34" fmla="*/ 3 w 500"/>
                  <a:gd name="T35" fmla="*/ 333 h 448"/>
                  <a:gd name="T36" fmla="*/ 0 w 500"/>
                  <a:gd name="T37" fmla="*/ 289 h 448"/>
                  <a:gd name="T38" fmla="*/ 6 w 500"/>
                  <a:gd name="T39" fmla="*/ 189 h 448"/>
                  <a:gd name="T40" fmla="*/ 24 w 500"/>
                  <a:gd name="T41" fmla="*/ 92 h 4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00" h="448">
                    <a:moveTo>
                      <a:pt x="24" y="92"/>
                    </a:moveTo>
                    <a:lnTo>
                      <a:pt x="41" y="21"/>
                    </a:lnTo>
                    <a:lnTo>
                      <a:pt x="56" y="3"/>
                    </a:lnTo>
                    <a:lnTo>
                      <a:pt x="87" y="0"/>
                    </a:lnTo>
                    <a:lnTo>
                      <a:pt x="215" y="16"/>
                    </a:lnTo>
                    <a:lnTo>
                      <a:pt x="371" y="39"/>
                    </a:lnTo>
                    <a:lnTo>
                      <a:pt x="462" y="55"/>
                    </a:lnTo>
                    <a:lnTo>
                      <a:pt x="482" y="72"/>
                    </a:lnTo>
                    <a:lnTo>
                      <a:pt x="493" y="102"/>
                    </a:lnTo>
                    <a:lnTo>
                      <a:pt x="498" y="219"/>
                    </a:lnTo>
                    <a:lnTo>
                      <a:pt x="500" y="348"/>
                    </a:lnTo>
                    <a:lnTo>
                      <a:pt x="493" y="430"/>
                    </a:lnTo>
                    <a:lnTo>
                      <a:pt x="482" y="444"/>
                    </a:lnTo>
                    <a:lnTo>
                      <a:pt x="453" y="448"/>
                    </a:lnTo>
                    <a:lnTo>
                      <a:pt x="319" y="424"/>
                    </a:lnTo>
                    <a:lnTo>
                      <a:pt x="117" y="382"/>
                    </a:lnTo>
                    <a:lnTo>
                      <a:pt x="16" y="355"/>
                    </a:lnTo>
                    <a:lnTo>
                      <a:pt x="3" y="333"/>
                    </a:lnTo>
                    <a:lnTo>
                      <a:pt x="0" y="289"/>
                    </a:lnTo>
                    <a:lnTo>
                      <a:pt x="6" y="189"/>
                    </a:lnTo>
                    <a:lnTo>
                      <a:pt x="24" y="92"/>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8253" name="Group 9"/>
              <p:cNvGrpSpPr>
                <a:grpSpLocks/>
              </p:cNvGrpSpPr>
              <p:nvPr/>
            </p:nvGrpSpPr>
            <p:grpSpPr bwMode="auto">
              <a:xfrm>
                <a:off x="4497" y="2787"/>
                <a:ext cx="922" cy="983"/>
                <a:chOff x="4497" y="2787"/>
                <a:chExt cx="922" cy="983"/>
              </a:xfrm>
            </p:grpSpPr>
            <p:sp>
              <p:nvSpPr>
                <p:cNvPr id="8254" name="Freeform 10"/>
                <p:cNvSpPr>
                  <a:spLocks/>
                </p:cNvSpPr>
                <p:nvPr/>
              </p:nvSpPr>
              <p:spPr bwMode="auto">
                <a:xfrm>
                  <a:off x="4497" y="3334"/>
                  <a:ext cx="922" cy="436"/>
                </a:xfrm>
                <a:custGeom>
                  <a:avLst/>
                  <a:gdLst>
                    <a:gd name="T0" fmla="*/ 15 w 922"/>
                    <a:gd name="T1" fmla="*/ 153 h 436"/>
                    <a:gd name="T2" fmla="*/ 139 w 922"/>
                    <a:gd name="T3" fmla="*/ 76 h 436"/>
                    <a:gd name="T4" fmla="*/ 139 w 922"/>
                    <a:gd name="T5" fmla="*/ 98 h 436"/>
                    <a:gd name="T6" fmla="*/ 54 w 922"/>
                    <a:gd name="T7" fmla="*/ 154 h 436"/>
                    <a:gd name="T8" fmla="*/ 186 w 922"/>
                    <a:gd name="T9" fmla="*/ 168 h 436"/>
                    <a:gd name="T10" fmla="*/ 460 w 922"/>
                    <a:gd name="T11" fmla="*/ 215 h 436"/>
                    <a:gd name="T12" fmla="*/ 607 w 922"/>
                    <a:gd name="T13" fmla="*/ 227 h 436"/>
                    <a:gd name="T14" fmla="*/ 701 w 922"/>
                    <a:gd name="T15" fmla="*/ 224 h 436"/>
                    <a:gd name="T16" fmla="*/ 727 w 922"/>
                    <a:gd name="T17" fmla="*/ 221 h 436"/>
                    <a:gd name="T18" fmla="*/ 869 w 922"/>
                    <a:gd name="T19" fmla="*/ 22 h 436"/>
                    <a:gd name="T20" fmla="*/ 821 w 922"/>
                    <a:gd name="T21" fmla="*/ 0 h 436"/>
                    <a:gd name="T22" fmla="*/ 896 w 922"/>
                    <a:gd name="T23" fmla="*/ 0 h 436"/>
                    <a:gd name="T24" fmla="*/ 922 w 922"/>
                    <a:gd name="T25" fmla="*/ 28 h 436"/>
                    <a:gd name="T26" fmla="*/ 921 w 922"/>
                    <a:gd name="T27" fmla="*/ 110 h 436"/>
                    <a:gd name="T28" fmla="*/ 889 w 922"/>
                    <a:gd name="T29" fmla="*/ 172 h 436"/>
                    <a:gd name="T30" fmla="*/ 786 w 922"/>
                    <a:gd name="T31" fmla="*/ 373 h 436"/>
                    <a:gd name="T32" fmla="*/ 742 w 922"/>
                    <a:gd name="T33" fmla="*/ 433 h 436"/>
                    <a:gd name="T34" fmla="*/ 712 w 922"/>
                    <a:gd name="T35" fmla="*/ 436 h 436"/>
                    <a:gd name="T36" fmla="*/ 490 w 922"/>
                    <a:gd name="T37" fmla="*/ 396 h 436"/>
                    <a:gd name="T38" fmla="*/ 256 w 922"/>
                    <a:gd name="T39" fmla="*/ 365 h 436"/>
                    <a:gd name="T40" fmla="*/ 34 w 922"/>
                    <a:gd name="T41" fmla="*/ 346 h 436"/>
                    <a:gd name="T42" fmla="*/ 0 w 922"/>
                    <a:gd name="T43" fmla="*/ 343 h 436"/>
                    <a:gd name="T44" fmla="*/ 7 w 922"/>
                    <a:gd name="T45" fmla="*/ 280 h 436"/>
                    <a:gd name="T46" fmla="*/ 12 w 922"/>
                    <a:gd name="T47" fmla="*/ 218 h 436"/>
                    <a:gd name="T48" fmla="*/ 16 w 922"/>
                    <a:gd name="T49" fmla="*/ 184 h 436"/>
                    <a:gd name="T50" fmla="*/ 31 w 922"/>
                    <a:gd name="T51" fmla="*/ 208 h 436"/>
                    <a:gd name="T52" fmla="*/ 27 w 922"/>
                    <a:gd name="T53" fmla="*/ 260 h 436"/>
                    <a:gd name="T54" fmla="*/ 26 w 922"/>
                    <a:gd name="T55" fmla="*/ 313 h 436"/>
                    <a:gd name="T56" fmla="*/ 87 w 922"/>
                    <a:gd name="T57" fmla="*/ 333 h 436"/>
                    <a:gd name="T58" fmla="*/ 234 w 922"/>
                    <a:gd name="T59" fmla="*/ 342 h 436"/>
                    <a:gd name="T60" fmla="*/ 359 w 922"/>
                    <a:gd name="T61" fmla="*/ 351 h 436"/>
                    <a:gd name="T62" fmla="*/ 462 w 922"/>
                    <a:gd name="T63" fmla="*/ 368 h 436"/>
                    <a:gd name="T64" fmla="*/ 615 w 922"/>
                    <a:gd name="T65" fmla="*/ 393 h 436"/>
                    <a:gd name="T66" fmla="*/ 713 w 922"/>
                    <a:gd name="T67" fmla="*/ 407 h 436"/>
                    <a:gd name="T68" fmla="*/ 721 w 922"/>
                    <a:gd name="T69" fmla="*/ 380 h 436"/>
                    <a:gd name="T70" fmla="*/ 721 w 922"/>
                    <a:gd name="T71" fmla="*/ 318 h 436"/>
                    <a:gd name="T72" fmla="*/ 723 w 922"/>
                    <a:gd name="T73" fmla="*/ 250 h 436"/>
                    <a:gd name="T74" fmla="*/ 734 w 922"/>
                    <a:gd name="T75" fmla="*/ 268 h 436"/>
                    <a:gd name="T76" fmla="*/ 736 w 922"/>
                    <a:gd name="T77" fmla="*/ 344 h 436"/>
                    <a:gd name="T78" fmla="*/ 744 w 922"/>
                    <a:gd name="T79" fmla="*/ 384 h 436"/>
                    <a:gd name="T80" fmla="*/ 764 w 922"/>
                    <a:gd name="T81" fmla="*/ 367 h 436"/>
                    <a:gd name="T82" fmla="*/ 801 w 922"/>
                    <a:gd name="T83" fmla="*/ 298 h 436"/>
                    <a:gd name="T84" fmla="*/ 856 w 922"/>
                    <a:gd name="T85" fmla="*/ 200 h 436"/>
                    <a:gd name="T86" fmla="*/ 897 w 922"/>
                    <a:gd name="T87" fmla="*/ 120 h 436"/>
                    <a:gd name="T88" fmla="*/ 906 w 922"/>
                    <a:gd name="T89" fmla="*/ 97 h 436"/>
                    <a:gd name="T90" fmla="*/ 901 w 922"/>
                    <a:gd name="T91" fmla="*/ 36 h 436"/>
                    <a:gd name="T92" fmla="*/ 888 w 922"/>
                    <a:gd name="T93" fmla="*/ 28 h 436"/>
                    <a:gd name="T94" fmla="*/ 848 w 922"/>
                    <a:gd name="T95" fmla="*/ 94 h 436"/>
                    <a:gd name="T96" fmla="*/ 782 w 922"/>
                    <a:gd name="T97" fmla="*/ 177 h 436"/>
                    <a:gd name="T98" fmla="*/ 732 w 922"/>
                    <a:gd name="T99" fmla="*/ 242 h 436"/>
                    <a:gd name="T100" fmla="*/ 693 w 922"/>
                    <a:gd name="T101" fmla="*/ 247 h 436"/>
                    <a:gd name="T102" fmla="*/ 559 w 922"/>
                    <a:gd name="T103" fmla="*/ 243 h 436"/>
                    <a:gd name="T104" fmla="*/ 397 w 922"/>
                    <a:gd name="T105" fmla="*/ 227 h 436"/>
                    <a:gd name="T106" fmla="*/ 243 w 922"/>
                    <a:gd name="T107" fmla="*/ 203 h 436"/>
                    <a:gd name="T108" fmla="*/ 66 w 922"/>
                    <a:gd name="T109" fmla="*/ 175 h 436"/>
                    <a:gd name="T110" fmla="*/ 15 w 922"/>
                    <a:gd name="T111" fmla="*/ 153 h 4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922" h="436">
                      <a:moveTo>
                        <a:pt x="15" y="153"/>
                      </a:moveTo>
                      <a:lnTo>
                        <a:pt x="139" y="76"/>
                      </a:lnTo>
                      <a:lnTo>
                        <a:pt x="139" y="98"/>
                      </a:lnTo>
                      <a:lnTo>
                        <a:pt x="54" y="154"/>
                      </a:lnTo>
                      <a:lnTo>
                        <a:pt x="186" y="168"/>
                      </a:lnTo>
                      <a:lnTo>
                        <a:pt x="460" y="215"/>
                      </a:lnTo>
                      <a:lnTo>
                        <a:pt x="607" y="227"/>
                      </a:lnTo>
                      <a:lnTo>
                        <a:pt x="701" y="224"/>
                      </a:lnTo>
                      <a:lnTo>
                        <a:pt x="727" y="221"/>
                      </a:lnTo>
                      <a:lnTo>
                        <a:pt x="869" y="22"/>
                      </a:lnTo>
                      <a:lnTo>
                        <a:pt x="821" y="0"/>
                      </a:lnTo>
                      <a:lnTo>
                        <a:pt x="896" y="0"/>
                      </a:lnTo>
                      <a:lnTo>
                        <a:pt x="922" y="28"/>
                      </a:lnTo>
                      <a:lnTo>
                        <a:pt x="921" y="110"/>
                      </a:lnTo>
                      <a:lnTo>
                        <a:pt x="889" y="172"/>
                      </a:lnTo>
                      <a:lnTo>
                        <a:pt x="786" y="373"/>
                      </a:lnTo>
                      <a:lnTo>
                        <a:pt x="742" y="433"/>
                      </a:lnTo>
                      <a:lnTo>
                        <a:pt x="712" y="436"/>
                      </a:lnTo>
                      <a:lnTo>
                        <a:pt x="490" y="396"/>
                      </a:lnTo>
                      <a:lnTo>
                        <a:pt x="256" y="365"/>
                      </a:lnTo>
                      <a:lnTo>
                        <a:pt x="34" y="346"/>
                      </a:lnTo>
                      <a:lnTo>
                        <a:pt x="0" y="343"/>
                      </a:lnTo>
                      <a:lnTo>
                        <a:pt x="7" y="280"/>
                      </a:lnTo>
                      <a:lnTo>
                        <a:pt x="12" y="218"/>
                      </a:lnTo>
                      <a:lnTo>
                        <a:pt x="16" y="184"/>
                      </a:lnTo>
                      <a:lnTo>
                        <a:pt x="31" y="208"/>
                      </a:lnTo>
                      <a:lnTo>
                        <a:pt x="27" y="260"/>
                      </a:lnTo>
                      <a:lnTo>
                        <a:pt x="26" y="313"/>
                      </a:lnTo>
                      <a:lnTo>
                        <a:pt x="87" y="333"/>
                      </a:lnTo>
                      <a:lnTo>
                        <a:pt x="234" y="342"/>
                      </a:lnTo>
                      <a:lnTo>
                        <a:pt x="359" y="351"/>
                      </a:lnTo>
                      <a:lnTo>
                        <a:pt x="462" y="368"/>
                      </a:lnTo>
                      <a:lnTo>
                        <a:pt x="615" y="393"/>
                      </a:lnTo>
                      <a:lnTo>
                        <a:pt x="713" y="407"/>
                      </a:lnTo>
                      <a:lnTo>
                        <a:pt x="721" y="380"/>
                      </a:lnTo>
                      <a:lnTo>
                        <a:pt x="721" y="318"/>
                      </a:lnTo>
                      <a:lnTo>
                        <a:pt x="723" y="250"/>
                      </a:lnTo>
                      <a:lnTo>
                        <a:pt x="734" y="268"/>
                      </a:lnTo>
                      <a:lnTo>
                        <a:pt x="736" y="344"/>
                      </a:lnTo>
                      <a:lnTo>
                        <a:pt x="744" y="384"/>
                      </a:lnTo>
                      <a:lnTo>
                        <a:pt x="764" y="367"/>
                      </a:lnTo>
                      <a:lnTo>
                        <a:pt x="801" y="298"/>
                      </a:lnTo>
                      <a:lnTo>
                        <a:pt x="856" y="200"/>
                      </a:lnTo>
                      <a:lnTo>
                        <a:pt x="897" y="120"/>
                      </a:lnTo>
                      <a:lnTo>
                        <a:pt x="906" y="97"/>
                      </a:lnTo>
                      <a:lnTo>
                        <a:pt x="901" y="36"/>
                      </a:lnTo>
                      <a:lnTo>
                        <a:pt x="888" y="28"/>
                      </a:lnTo>
                      <a:lnTo>
                        <a:pt x="848" y="94"/>
                      </a:lnTo>
                      <a:lnTo>
                        <a:pt x="782" y="177"/>
                      </a:lnTo>
                      <a:lnTo>
                        <a:pt x="732" y="242"/>
                      </a:lnTo>
                      <a:lnTo>
                        <a:pt x="693" y="247"/>
                      </a:lnTo>
                      <a:lnTo>
                        <a:pt x="559" y="243"/>
                      </a:lnTo>
                      <a:lnTo>
                        <a:pt x="397" y="227"/>
                      </a:lnTo>
                      <a:lnTo>
                        <a:pt x="243" y="203"/>
                      </a:lnTo>
                      <a:lnTo>
                        <a:pt x="66" y="175"/>
                      </a:lnTo>
                      <a:lnTo>
                        <a:pt x="15" y="1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5" name="Freeform 11"/>
                <p:cNvSpPr>
                  <a:spLocks/>
                </p:cNvSpPr>
                <p:nvPr/>
              </p:nvSpPr>
              <p:spPr bwMode="auto">
                <a:xfrm>
                  <a:off x="4687" y="3396"/>
                  <a:ext cx="460" cy="136"/>
                </a:xfrm>
                <a:custGeom>
                  <a:avLst/>
                  <a:gdLst>
                    <a:gd name="T0" fmla="*/ 15 w 460"/>
                    <a:gd name="T1" fmla="*/ 13 h 136"/>
                    <a:gd name="T2" fmla="*/ 50 w 460"/>
                    <a:gd name="T3" fmla="*/ 0 h 136"/>
                    <a:gd name="T4" fmla="*/ 65 w 460"/>
                    <a:gd name="T5" fmla="*/ 7 h 136"/>
                    <a:gd name="T6" fmla="*/ 51 w 460"/>
                    <a:gd name="T7" fmla="*/ 29 h 136"/>
                    <a:gd name="T8" fmla="*/ 25 w 460"/>
                    <a:gd name="T9" fmla="*/ 39 h 136"/>
                    <a:gd name="T10" fmla="*/ 67 w 460"/>
                    <a:gd name="T11" fmla="*/ 68 h 136"/>
                    <a:gd name="T12" fmla="*/ 134 w 460"/>
                    <a:gd name="T13" fmla="*/ 83 h 136"/>
                    <a:gd name="T14" fmla="*/ 195 w 460"/>
                    <a:gd name="T15" fmla="*/ 87 h 136"/>
                    <a:gd name="T16" fmla="*/ 238 w 460"/>
                    <a:gd name="T17" fmla="*/ 90 h 136"/>
                    <a:gd name="T18" fmla="*/ 320 w 460"/>
                    <a:gd name="T19" fmla="*/ 95 h 136"/>
                    <a:gd name="T20" fmla="*/ 372 w 460"/>
                    <a:gd name="T21" fmla="*/ 98 h 136"/>
                    <a:gd name="T22" fmla="*/ 408 w 460"/>
                    <a:gd name="T23" fmla="*/ 94 h 136"/>
                    <a:gd name="T24" fmla="*/ 442 w 460"/>
                    <a:gd name="T25" fmla="*/ 80 h 136"/>
                    <a:gd name="T26" fmla="*/ 441 w 460"/>
                    <a:gd name="T27" fmla="*/ 65 h 136"/>
                    <a:gd name="T28" fmla="*/ 460 w 460"/>
                    <a:gd name="T29" fmla="*/ 73 h 136"/>
                    <a:gd name="T30" fmla="*/ 447 w 460"/>
                    <a:gd name="T31" fmla="*/ 121 h 136"/>
                    <a:gd name="T32" fmla="*/ 396 w 460"/>
                    <a:gd name="T33" fmla="*/ 136 h 136"/>
                    <a:gd name="T34" fmla="*/ 287 w 460"/>
                    <a:gd name="T35" fmla="*/ 124 h 136"/>
                    <a:gd name="T36" fmla="*/ 177 w 460"/>
                    <a:gd name="T37" fmla="*/ 117 h 136"/>
                    <a:gd name="T38" fmla="*/ 114 w 460"/>
                    <a:gd name="T39" fmla="*/ 115 h 136"/>
                    <a:gd name="T40" fmla="*/ 42 w 460"/>
                    <a:gd name="T41" fmla="*/ 84 h 136"/>
                    <a:gd name="T42" fmla="*/ 7 w 460"/>
                    <a:gd name="T43" fmla="*/ 67 h 136"/>
                    <a:gd name="T44" fmla="*/ 0 w 460"/>
                    <a:gd name="T45" fmla="*/ 36 h 136"/>
                    <a:gd name="T46" fmla="*/ 15 w 460"/>
                    <a:gd name="T47" fmla="*/ 13 h 1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60" h="136">
                      <a:moveTo>
                        <a:pt x="15" y="13"/>
                      </a:moveTo>
                      <a:lnTo>
                        <a:pt x="50" y="0"/>
                      </a:lnTo>
                      <a:lnTo>
                        <a:pt x="65" y="7"/>
                      </a:lnTo>
                      <a:lnTo>
                        <a:pt x="51" y="29"/>
                      </a:lnTo>
                      <a:lnTo>
                        <a:pt x="25" y="39"/>
                      </a:lnTo>
                      <a:lnTo>
                        <a:pt x="67" y="68"/>
                      </a:lnTo>
                      <a:lnTo>
                        <a:pt x="134" y="83"/>
                      </a:lnTo>
                      <a:lnTo>
                        <a:pt x="195" y="87"/>
                      </a:lnTo>
                      <a:lnTo>
                        <a:pt x="238" y="90"/>
                      </a:lnTo>
                      <a:lnTo>
                        <a:pt x="320" y="95"/>
                      </a:lnTo>
                      <a:lnTo>
                        <a:pt x="372" y="98"/>
                      </a:lnTo>
                      <a:lnTo>
                        <a:pt x="408" y="94"/>
                      </a:lnTo>
                      <a:lnTo>
                        <a:pt x="442" y="80"/>
                      </a:lnTo>
                      <a:lnTo>
                        <a:pt x="441" y="65"/>
                      </a:lnTo>
                      <a:lnTo>
                        <a:pt x="460" y="73"/>
                      </a:lnTo>
                      <a:lnTo>
                        <a:pt x="447" y="121"/>
                      </a:lnTo>
                      <a:lnTo>
                        <a:pt x="396" y="136"/>
                      </a:lnTo>
                      <a:lnTo>
                        <a:pt x="287" y="124"/>
                      </a:lnTo>
                      <a:lnTo>
                        <a:pt x="177" y="117"/>
                      </a:lnTo>
                      <a:lnTo>
                        <a:pt x="114" y="115"/>
                      </a:lnTo>
                      <a:lnTo>
                        <a:pt x="42" y="84"/>
                      </a:lnTo>
                      <a:lnTo>
                        <a:pt x="7" y="67"/>
                      </a:lnTo>
                      <a:lnTo>
                        <a:pt x="0" y="36"/>
                      </a:lnTo>
                      <a:lnTo>
                        <a:pt x="15"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6" name="Freeform 12"/>
                <p:cNvSpPr>
                  <a:spLocks/>
                </p:cNvSpPr>
                <p:nvPr/>
              </p:nvSpPr>
              <p:spPr bwMode="auto">
                <a:xfrm>
                  <a:off x="4590" y="3555"/>
                  <a:ext cx="52" cy="46"/>
                </a:xfrm>
                <a:custGeom>
                  <a:avLst/>
                  <a:gdLst>
                    <a:gd name="T0" fmla="*/ 9 w 52"/>
                    <a:gd name="T1" fmla="*/ 0 h 46"/>
                    <a:gd name="T2" fmla="*/ 52 w 52"/>
                    <a:gd name="T3" fmla="*/ 5 h 46"/>
                    <a:gd name="T4" fmla="*/ 47 w 52"/>
                    <a:gd name="T5" fmla="*/ 46 h 46"/>
                    <a:gd name="T6" fmla="*/ 0 w 52"/>
                    <a:gd name="T7" fmla="*/ 39 h 46"/>
                    <a:gd name="T8" fmla="*/ 9 w 52"/>
                    <a:gd name="T9" fmla="*/ 0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46">
                      <a:moveTo>
                        <a:pt x="9" y="0"/>
                      </a:moveTo>
                      <a:lnTo>
                        <a:pt x="52" y="5"/>
                      </a:lnTo>
                      <a:lnTo>
                        <a:pt x="47" y="46"/>
                      </a:lnTo>
                      <a:lnTo>
                        <a:pt x="0" y="39"/>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7" name="Freeform 13"/>
                <p:cNvSpPr>
                  <a:spLocks/>
                </p:cNvSpPr>
                <p:nvPr/>
              </p:nvSpPr>
              <p:spPr bwMode="auto">
                <a:xfrm>
                  <a:off x="4680" y="3564"/>
                  <a:ext cx="51" cy="46"/>
                </a:xfrm>
                <a:custGeom>
                  <a:avLst/>
                  <a:gdLst>
                    <a:gd name="T0" fmla="*/ 8 w 51"/>
                    <a:gd name="T1" fmla="*/ 0 h 46"/>
                    <a:gd name="T2" fmla="*/ 51 w 51"/>
                    <a:gd name="T3" fmla="*/ 5 h 46"/>
                    <a:gd name="T4" fmla="*/ 47 w 51"/>
                    <a:gd name="T5" fmla="*/ 46 h 46"/>
                    <a:gd name="T6" fmla="*/ 0 w 51"/>
                    <a:gd name="T7" fmla="*/ 39 h 46"/>
                    <a:gd name="T8" fmla="*/ 8 w 51"/>
                    <a:gd name="T9" fmla="*/ 0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46">
                      <a:moveTo>
                        <a:pt x="8" y="0"/>
                      </a:moveTo>
                      <a:lnTo>
                        <a:pt x="51" y="5"/>
                      </a:lnTo>
                      <a:lnTo>
                        <a:pt x="47" y="46"/>
                      </a:lnTo>
                      <a:lnTo>
                        <a:pt x="0" y="39"/>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8" name="Freeform 14"/>
                <p:cNvSpPr>
                  <a:spLocks/>
                </p:cNvSpPr>
                <p:nvPr/>
              </p:nvSpPr>
              <p:spPr bwMode="auto">
                <a:xfrm>
                  <a:off x="4968" y="3608"/>
                  <a:ext cx="194" cy="51"/>
                </a:xfrm>
                <a:custGeom>
                  <a:avLst/>
                  <a:gdLst>
                    <a:gd name="T0" fmla="*/ 4 w 194"/>
                    <a:gd name="T1" fmla="*/ 0 h 51"/>
                    <a:gd name="T2" fmla="*/ 193 w 194"/>
                    <a:gd name="T3" fmla="*/ 18 h 51"/>
                    <a:gd name="T4" fmla="*/ 194 w 194"/>
                    <a:gd name="T5" fmla="*/ 51 h 51"/>
                    <a:gd name="T6" fmla="*/ 0 w 194"/>
                    <a:gd name="T7" fmla="*/ 33 h 51"/>
                    <a:gd name="T8" fmla="*/ 4 w 194"/>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51">
                      <a:moveTo>
                        <a:pt x="4" y="0"/>
                      </a:moveTo>
                      <a:lnTo>
                        <a:pt x="193" y="18"/>
                      </a:lnTo>
                      <a:lnTo>
                        <a:pt x="194" y="51"/>
                      </a:lnTo>
                      <a:lnTo>
                        <a:pt x="0" y="33"/>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9" name="Freeform 15"/>
                <p:cNvSpPr>
                  <a:spLocks/>
                </p:cNvSpPr>
                <p:nvPr/>
              </p:nvSpPr>
              <p:spPr bwMode="auto">
                <a:xfrm>
                  <a:off x="4551" y="2787"/>
                  <a:ext cx="848" cy="658"/>
                </a:xfrm>
                <a:custGeom>
                  <a:avLst/>
                  <a:gdLst>
                    <a:gd name="T0" fmla="*/ 47 w 848"/>
                    <a:gd name="T1" fmla="*/ 551 h 658"/>
                    <a:gd name="T2" fmla="*/ 28 w 848"/>
                    <a:gd name="T3" fmla="*/ 523 h 658"/>
                    <a:gd name="T4" fmla="*/ 20 w 848"/>
                    <a:gd name="T5" fmla="*/ 481 h 658"/>
                    <a:gd name="T6" fmla="*/ 31 w 848"/>
                    <a:gd name="T7" fmla="*/ 389 h 658"/>
                    <a:gd name="T8" fmla="*/ 54 w 848"/>
                    <a:gd name="T9" fmla="*/ 240 h 658"/>
                    <a:gd name="T10" fmla="*/ 76 w 848"/>
                    <a:gd name="T11" fmla="*/ 129 h 658"/>
                    <a:gd name="T12" fmla="*/ 94 w 848"/>
                    <a:gd name="T13" fmla="*/ 104 h 658"/>
                    <a:gd name="T14" fmla="*/ 123 w 848"/>
                    <a:gd name="T15" fmla="*/ 76 h 658"/>
                    <a:gd name="T16" fmla="*/ 189 w 848"/>
                    <a:gd name="T17" fmla="*/ 61 h 658"/>
                    <a:gd name="T18" fmla="*/ 300 w 848"/>
                    <a:gd name="T19" fmla="*/ 48 h 658"/>
                    <a:gd name="T20" fmla="*/ 392 w 848"/>
                    <a:gd name="T21" fmla="*/ 38 h 658"/>
                    <a:gd name="T22" fmla="*/ 434 w 848"/>
                    <a:gd name="T23" fmla="*/ 21 h 658"/>
                    <a:gd name="T24" fmla="*/ 506 w 848"/>
                    <a:gd name="T25" fmla="*/ 25 h 658"/>
                    <a:gd name="T26" fmla="*/ 628 w 848"/>
                    <a:gd name="T27" fmla="*/ 57 h 658"/>
                    <a:gd name="T28" fmla="*/ 731 w 848"/>
                    <a:gd name="T29" fmla="*/ 67 h 658"/>
                    <a:gd name="T30" fmla="*/ 776 w 848"/>
                    <a:gd name="T31" fmla="*/ 65 h 658"/>
                    <a:gd name="T32" fmla="*/ 811 w 848"/>
                    <a:gd name="T33" fmla="*/ 80 h 658"/>
                    <a:gd name="T34" fmla="*/ 825 w 848"/>
                    <a:gd name="T35" fmla="*/ 144 h 658"/>
                    <a:gd name="T36" fmla="*/ 823 w 848"/>
                    <a:gd name="T37" fmla="*/ 262 h 658"/>
                    <a:gd name="T38" fmla="*/ 823 w 848"/>
                    <a:gd name="T39" fmla="*/ 354 h 658"/>
                    <a:gd name="T40" fmla="*/ 810 w 848"/>
                    <a:gd name="T41" fmla="*/ 394 h 658"/>
                    <a:gd name="T42" fmla="*/ 766 w 848"/>
                    <a:gd name="T43" fmla="*/ 491 h 658"/>
                    <a:gd name="T44" fmla="*/ 714 w 848"/>
                    <a:gd name="T45" fmla="*/ 589 h 658"/>
                    <a:gd name="T46" fmla="*/ 683 w 848"/>
                    <a:gd name="T47" fmla="*/ 625 h 658"/>
                    <a:gd name="T48" fmla="*/ 665 w 848"/>
                    <a:gd name="T49" fmla="*/ 640 h 658"/>
                    <a:gd name="T50" fmla="*/ 686 w 848"/>
                    <a:gd name="T51" fmla="*/ 658 h 658"/>
                    <a:gd name="T52" fmla="*/ 719 w 848"/>
                    <a:gd name="T53" fmla="*/ 619 h 658"/>
                    <a:gd name="T54" fmla="*/ 769 w 848"/>
                    <a:gd name="T55" fmla="*/ 531 h 658"/>
                    <a:gd name="T56" fmla="*/ 815 w 848"/>
                    <a:gd name="T57" fmla="*/ 438 h 658"/>
                    <a:gd name="T58" fmla="*/ 831 w 848"/>
                    <a:gd name="T59" fmla="*/ 392 h 658"/>
                    <a:gd name="T60" fmla="*/ 841 w 848"/>
                    <a:gd name="T61" fmla="*/ 347 h 658"/>
                    <a:gd name="T62" fmla="*/ 844 w 848"/>
                    <a:gd name="T63" fmla="*/ 270 h 658"/>
                    <a:gd name="T64" fmla="*/ 848 w 848"/>
                    <a:gd name="T65" fmla="*/ 153 h 658"/>
                    <a:gd name="T66" fmla="*/ 836 w 848"/>
                    <a:gd name="T67" fmla="*/ 89 h 658"/>
                    <a:gd name="T68" fmla="*/ 819 w 848"/>
                    <a:gd name="T69" fmla="*/ 57 h 658"/>
                    <a:gd name="T70" fmla="*/ 787 w 848"/>
                    <a:gd name="T71" fmla="*/ 44 h 658"/>
                    <a:gd name="T72" fmla="*/ 744 w 848"/>
                    <a:gd name="T73" fmla="*/ 50 h 658"/>
                    <a:gd name="T74" fmla="*/ 679 w 848"/>
                    <a:gd name="T75" fmla="*/ 45 h 658"/>
                    <a:gd name="T76" fmla="*/ 599 w 848"/>
                    <a:gd name="T77" fmla="*/ 31 h 658"/>
                    <a:gd name="T78" fmla="*/ 516 w 848"/>
                    <a:gd name="T79" fmla="*/ 6 h 658"/>
                    <a:gd name="T80" fmla="*/ 460 w 848"/>
                    <a:gd name="T81" fmla="*/ 0 h 658"/>
                    <a:gd name="T82" fmla="*/ 430 w 848"/>
                    <a:gd name="T83" fmla="*/ 6 h 658"/>
                    <a:gd name="T84" fmla="*/ 360 w 848"/>
                    <a:gd name="T85" fmla="*/ 28 h 658"/>
                    <a:gd name="T86" fmla="*/ 235 w 848"/>
                    <a:gd name="T87" fmla="*/ 40 h 658"/>
                    <a:gd name="T88" fmla="*/ 112 w 848"/>
                    <a:gd name="T89" fmla="*/ 60 h 658"/>
                    <a:gd name="T90" fmla="*/ 72 w 848"/>
                    <a:gd name="T91" fmla="*/ 96 h 658"/>
                    <a:gd name="T92" fmla="*/ 44 w 848"/>
                    <a:gd name="T93" fmla="*/ 147 h 658"/>
                    <a:gd name="T94" fmla="*/ 24 w 848"/>
                    <a:gd name="T95" fmla="*/ 255 h 658"/>
                    <a:gd name="T96" fmla="*/ 13 w 848"/>
                    <a:gd name="T97" fmla="*/ 358 h 658"/>
                    <a:gd name="T98" fmla="*/ 0 w 848"/>
                    <a:gd name="T99" fmla="*/ 467 h 658"/>
                    <a:gd name="T100" fmla="*/ 10 w 848"/>
                    <a:gd name="T101" fmla="*/ 529 h 658"/>
                    <a:gd name="T102" fmla="*/ 24 w 848"/>
                    <a:gd name="T103" fmla="*/ 566 h 658"/>
                    <a:gd name="T104" fmla="*/ 55 w 848"/>
                    <a:gd name="T105" fmla="*/ 582 h 658"/>
                    <a:gd name="T106" fmla="*/ 73 w 848"/>
                    <a:gd name="T107" fmla="*/ 579 h 658"/>
                    <a:gd name="T108" fmla="*/ 47 w 848"/>
                    <a:gd name="T109" fmla="*/ 551 h 65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848" h="658">
                      <a:moveTo>
                        <a:pt x="47" y="551"/>
                      </a:moveTo>
                      <a:lnTo>
                        <a:pt x="28" y="523"/>
                      </a:lnTo>
                      <a:lnTo>
                        <a:pt x="20" y="481"/>
                      </a:lnTo>
                      <a:lnTo>
                        <a:pt x="31" y="389"/>
                      </a:lnTo>
                      <a:lnTo>
                        <a:pt x="54" y="240"/>
                      </a:lnTo>
                      <a:lnTo>
                        <a:pt x="76" y="129"/>
                      </a:lnTo>
                      <a:lnTo>
                        <a:pt x="94" y="104"/>
                      </a:lnTo>
                      <a:lnTo>
                        <a:pt x="123" y="76"/>
                      </a:lnTo>
                      <a:lnTo>
                        <a:pt x="189" y="61"/>
                      </a:lnTo>
                      <a:lnTo>
                        <a:pt x="300" y="48"/>
                      </a:lnTo>
                      <a:lnTo>
                        <a:pt x="392" y="38"/>
                      </a:lnTo>
                      <a:lnTo>
                        <a:pt x="434" y="21"/>
                      </a:lnTo>
                      <a:lnTo>
                        <a:pt x="506" y="25"/>
                      </a:lnTo>
                      <a:lnTo>
                        <a:pt x="628" y="57"/>
                      </a:lnTo>
                      <a:lnTo>
                        <a:pt x="731" y="67"/>
                      </a:lnTo>
                      <a:lnTo>
                        <a:pt x="776" y="65"/>
                      </a:lnTo>
                      <a:lnTo>
                        <a:pt x="811" y="80"/>
                      </a:lnTo>
                      <a:lnTo>
                        <a:pt x="825" y="144"/>
                      </a:lnTo>
                      <a:lnTo>
                        <a:pt x="823" y="262"/>
                      </a:lnTo>
                      <a:lnTo>
                        <a:pt x="823" y="354"/>
                      </a:lnTo>
                      <a:lnTo>
                        <a:pt x="810" y="394"/>
                      </a:lnTo>
                      <a:lnTo>
                        <a:pt x="766" y="491"/>
                      </a:lnTo>
                      <a:lnTo>
                        <a:pt x="714" y="589"/>
                      </a:lnTo>
                      <a:lnTo>
                        <a:pt x="683" y="625"/>
                      </a:lnTo>
                      <a:lnTo>
                        <a:pt x="665" y="640"/>
                      </a:lnTo>
                      <a:lnTo>
                        <a:pt x="686" y="658"/>
                      </a:lnTo>
                      <a:lnTo>
                        <a:pt x="719" y="619"/>
                      </a:lnTo>
                      <a:lnTo>
                        <a:pt x="769" y="531"/>
                      </a:lnTo>
                      <a:lnTo>
                        <a:pt x="815" y="438"/>
                      </a:lnTo>
                      <a:lnTo>
                        <a:pt x="831" y="392"/>
                      </a:lnTo>
                      <a:lnTo>
                        <a:pt x="841" y="347"/>
                      </a:lnTo>
                      <a:lnTo>
                        <a:pt x="844" y="270"/>
                      </a:lnTo>
                      <a:lnTo>
                        <a:pt x="848" y="153"/>
                      </a:lnTo>
                      <a:lnTo>
                        <a:pt x="836" y="89"/>
                      </a:lnTo>
                      <a:lnTo>
                        <a:pt x="819" y="57"/>
                      </a:lnTo>
                      <a:lnTo>
                        <a:pt x="787" y="44"/>
                      </a:lnTo>
                      <a:lnTo>
                        <a:pt x="744" y="50"/>
                      </a:lnTo>
                      <a:lnTo>
                        <a:pt x="679" y="45"/>
                      </a:lnTo>
                      <a:lnTo>
                        <a:pt x="599" y="31"/>
                      </a:lnTo>
                      <a:lnTo>
                        <a:pt x="516" y="6"/>
                      </a:lnTo>
                      <a:lnTo>
                        <a:pt x="460" y="0"/>
                      </a:lnTo>
                      <a:lnTo>
                        <a:pt x="430" y="6"/>
                      </a:lnTo>
                      <a:lnTo>
                        <a:pt x="360" y="28"/>
                      </a:lnTo>
                      <a:lnTo>
                        <a:pt x="235" y="40"/>
                      </a:lnTo>
                      <a:lnTo>
                        <a:pt x="112" y="60"/>
                      </a:lnTo>
                      <a:lnTo>
                        <a:pt x="72" y="96"/>
                      </a:lnTo>
                      <a:lnTo>
                        <a:pt x="44" y="147"/>
                      </a:lnTo>
                      <a:lnTo>
                        <a:pt x="24" y="255"/>
                      </a:lnTo>
                      <a:lnTo>
                        <a:pt x="13" y="358"/>
                      </a:lnTo>
                      <a:lnTo>
                        <a:pt x="0" y="467"/>
                      </a:lnTo>
                      <a:lnTo>
                        <a:pt x="10" y="529"/>
                      </a:lnTo>
                      <a:lnTo>
                        <a:pt x="24" y="566"/>
                      </a:lnTo>
                      <a:lnTo>
                        <a:pt x="55" y="582"/>
                      </a:lnTo>
                      <a:lnTo>
                        <a:pt x="73" y="579"/>
                      </a:lnTo>
                      <a:lnTo>
                        <a:pt x="47" y="5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60" name="Freeform 16"/>
                <p:cNvSpPr>
                  <a:spLocks/>
                </p:cNvSpPr>
                <p:nvPr/>
              </p:nvSpPr>
              <p:spPr bwMode="auto">
                <a:xfrm>
                  <a:off x="4595" y="2845"/>
                  <a:ext cx="778" cy="607"/>
                </a:xfrm>
                <a:custGeom>
                  <a:avLst/>
                  <a:gdLst>
                    <a:gd name="T0" fmla="*/ 0 w 778"/>
                    <a:gd name="T1" fmla="*/ 499 h 607"/>
                    <a:gd name="T2" fmla="*/ 115 w 778"/>
                    <a:gd name="T3" fmla="*/ 525 h 607"/>
                    <a:gd name="T4" fmla="*/ 276 w 778"/>
                    <a:gd name="T5" fmla="*/ 554 h 607"/>
                    <a:gd name="T6" fmla="*/ 407 w 778"/>
                    <a:gd name="T7" fmla="*/ 576 h 607"/>
                    <a:gd name="T8" fmla="*/ 526 w 778"/>
                    <a:gd name="T9" fmla="*/ 580 h 607"/>
                    <a:gd name="T10" fmla="*/ 604 w 778"/>
                    <a:gd name="T11" fmla="*/ 580 h 607"/>
                    <a:gd name="T12" fmla="*/ 627 w 778"/>
                    <a:gd name="T13" fmla="*/ 573 h 607"/>
                    <a:gd name="T14" fmla="*/ 637 w 778"/>
                    <a:gd name="T15" fmla="*/ 516 h 607"/>
                    <a:gd name="T16" fmla="*/ 633 w 778"/>
                    <a:gd name="T17" fmla="*/ 362 h 607"/>
                    <a:gd name="T18" fmla="*/ 628 w 778"/>
                    <a:gd name="T19" fmla="*/ 174 h 607"/>
                    <a:gd name="T20" fmla="*/ 622 w 778"/>
                    <a:gd name="T21" fmla="*/ 106 h 607"/>
                    <a:gd name="T22" fmla="*/ 610 w 778"/>
                    <a:gd name="T23" fmla="*/ 79 h 607"/>
                    <a:gd name="T24" fmla="*/ 405 w 778"/>
                    <a:gd name="T25" fmla="*/ 69 h 607"/>
                    <a:gd name="T26" fmla="*/ 209 w 778"/>
                    <a:gd name="T27" fmla="*/ 42 h 607"/>
                    <a:gd name="T28" fmla="*/ 101 w 778"/>
                    <a:gd name="T29" fmla="*/ 26 h 607"/>
                    <a:gd name="T30" fmla="*/ 63 w 778"/>
                    <a:gd name="T31" fmla="*/ 26 h 607"/>
                    <a:gd name="T32" fmla="*/ 87 w 778"/>
                    <a:gd name="T33" fmla="*/ 3 h 607"/>
                    <a:gd name="T34" fmla="*/ 133 w 778"/>
                    <a:gd name="T35" fmla="*/ 15 h 607"/>
                    <a:gd name="T36" fmla="*/ 268 w 778"/>
                    <a:gd name="T37" fmla="*/ 32 h 607"/>
                    <a:gd name="T38" fmla="*/ 396 w 778"/>
                    <a:gd name="T39" fmla="*/ 45 h 607"/>
                    <a:gd name="T40" fmla="*/ 511 w 778"/>
                    <a:gd name="T41" fmla="*/ 53 h 607"/>
                    <a:gd name="T42" fmla="*/ 619 w 778"/>
                    <a:gd name="T43" fmla="*/ 60 h 607"/>
                    <a:gd name="T44" fmla="*/ 709 w 778"/>
                    <a:gd name="T45" fmla="*/ 35 h 607"/>
                    <a:gd name="T46" fmla="*/ 763 w 778"/>
                    <a:gd name="T47" fmla="*/ 0 h 607"/>
                    <a:gd name="T48" fmla="*/ 778 w 778"/>
                    <a:gd name="T49" fmla="*/ 24 h 607"/>
                    <a:gd name="T50" fmla="*/ 730 w 778"/>
                    <a:gd name="T51" fmla="*/ 45 h 607"/>
                    <a:gd name="T52" fmla="*/ 660 w 778"/>
                    <a:gd name="T53" fmla="*/ 75 h 607"/>
                    <a:gd name="T54" fmla="*/ 638 w 778"/>
                    <a:gd name="T55" fmla="*/ 86 h 607"/>
                    <a:gd name="T56" fmla="*/ 645 w 778"/>
                    <a:gd name="T57" fmla="*/ 186 h 607"/>
                    <a:gd name="T58" fmla="*/ 649 w 778"/>
                    <a:gd name="T59" fmla="*/ 283 h 607"/>
                    <a:gd name="T60" fmla="*/ 651 w 778"/>
                    <a:gd name="T61" fmla="*/ 371 h 607"/>
                    <a:gd name="T62" fmla="*/ 652 w 778"/>
                    <a:gd name="T63" fmla="*/ 456 h 607"/>
                    <a:gd name="T64" fmla="*/ 655 w 778"/>
                    <a:gd name="T65" fmla="*/ 520 h 607"/>
                    <a:gd name="T66" fmla="*/ 654 w 778"/>
                    <a:gd name="T67" fmla="*/ 574 h 607"/>
                    <a:gd name="T68" fmla="*/ 640 w 778"/>
                    <a:gd name="T69" fmla="*/ 599 h 607"/>
                    <a:gd name="T70" fmla="*/ 547 w 778"/>
                    <a:gd name="T71" fmla="*/ 607 h 607"/>
                    <a:gd name="T72" fmla="*/ 389 w 778"/>
                    <a:gd name="T73" fmla="*/ 593 h 607"/>
                    <a:gd name="T74" fmla="*/ 227 w 778"/>
                    <a:gd name="T75" fmla="*/ 561 h 607"/>
                    <a:gd name="T76" fmla="*/ 108 w 778"/>
                    <a:gd name="T77" fmla="*/ 542 h 607"/>
                    <a:gd name="T78" fmla="*/ 9 w 778"/>
                    <a:gd name="T79" fmla="*/ 524 h 607"/>
                    <a:gd name="T80" fmla="*/ 0 w 778"/>
                    <a:gd name="T81" fmla="*/ 499 h 6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78" h="607">
                      <a:moveTo>
                        <a:pt x="0" y="499"/>
                      </a:moveTo>
                      <a:lnTo>
                        <a:pt x="115" y="525"/>
                      </a:lnTo>
                      <a:lnTo>
                        <a:pt x="276" y="554"/>
                      </a:lnTo>
                      <a:lnTo>
                        <a:pt x="407" y="576"/>
                      </a:lnTo>
                      <a:lnTo>
                        <a:pt x="526" y="580"/>
                      </a:lnTo>
                      <a:lnTo>
                        <a:pt x="604" y="580"/>
                      </a:lnTo>
                      <a:lnTo>
                        <a:pt x="627" y="573"/>
                      </a:lnTo>
                      <a:lnTo>
                        <a:pt x="637" y="516"/>
                      </a:lnTo>
                      <a:lnTo>
                        <a:pt x="633" y="362"/>
                      </a:lnTo>
                      <a:lnTo>
                        <a:pt x="628" y="174"/>
                      </a:lnTo>
                      <a:lnTo>
                        <a:pt x="622" y="106"/>
                      </a:lnTo>
                      <a:lnTo>
                        <a:pt x="610" y="79"/>
                      </a:lnTo>
                      <a:lnTo>
                        <a:pt x="405" y="69"/>
                      </a:lnTo>
                      <a:lnTo>
                        <a:pt x="209" y="42"/>
                      </a:lnTo>
                      <a:lnTo>
                        <a:pt x="101" y="26"/>
                      </a:lnTo>
                      <a:lnTo>
                        <a:pt x="63" y="26"/>
                      </a:lnTo>
                      <a:lnTo>
                        <a:pt x="87" y="3"/>
                      </a:lnTo>
                      <a:lnTo>
                        <a:pt x="133" y="15"/>
                      </a:lnTo>
                      <a:lnTo>
                        <a:pt x="268" y="32"/>
                      </a:lnTo>
                      <a:lnTo>
                        <a:pt x="396" y="45"/>
                      </a:lnTo>
                      <a:lnTo>
                        <a:pt x="511" y="53"/>
                      </a:lnTo>
                      <a:lnTo>
                        <a:pt x="619" y="60"/>
                      </a:lnTo>
                      <a:lnTo>
                        <a:pt x="709" y="35"/>
                      </a:lnTo>
                      <a:lnTo>
                        <a:pt x="763" y="0"/>
                      </a:lnTo>
                      <a:lnTo>
                        <a:pt x="778" y="24"/>
                      </a:lnTo>
                      <a:lnTo>
                        <a:pt x="730" y="45"/>
                      </a:lnTo>
                      <a:lnTo>
                        <a:pt x="660" y="75"/>
                      </a:lnTo>
                      <a:lnTo>
                        <a:pt x="638" y="86"/>
                      </a:lnTo>
                      <a:lnTo>
                        <a:pt x="645" y="186"/>
                      </a:lnTo>
                      <a:lnTo>
                        <a:pt x="649" y="283"/>
                      </a:lnTo>
                      <a:lnTo>
                        <a:pt x="651" y="371"/>
                      </a:lnTo>
                      <a:lnTo>
                        <a:pt x="652" y="456"/>
                      </a:lnTo>
                      <a:lnTo>
                        <a:pt x="655" y="520"/>
                      </a:lnTo>
                      <a:lnTo>
                        <a:pt x="654" y="574"/>
                      </a:lnTo>
                      <a:lnTo>
                        <a:pt x="640" y="599"/>
                      </a:lnTo>
                      <a:lnTo>
                        <a:pt x="547" y="607"/>
                      </a:lnTo>
                      <a:lnTo>
                        <a:pt x="389" y="593"/>
                      </a:lnTo>
                      <a:lnTo>
                        <a:pt x="227" y="561"/>
                      </a:lnTo>
                      <a:lnTo>
                        <a:pt x="108" y="542"/>
                      </a:lnTo>
                      <a:lnTo>
                        <a:pt x="9" y="524"/>
                      </a:lnTo>
                      <a:lnTo>
                        <a:pt x="0" y="4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61" name="Freeform 17"/>
                <p:cNvSpPr>
                  <a:spLocks/>
                </p:cNvSpPr>
                <p:nvPr/>
              </p:nvSpPr>
              <p:spPr bwMode="auto">
                <a:xfrm>
                  <a:off x="4730" y="2922"/>
                  <a:ext cx="430" cy="466"/>
                </a:xfrm>
                <a:custGeom>
                  <a:avLst/>
                  <a:gdLst>
                    <a:gd name="T0" fmla="*/ 0 w 430"/>
                    <a:gd name="T1" fmla="*/ 0 h 466"/>
                    <a:gd name="T2" fmla="*/ 159 w 430"/>
                    <a:gd name="T3" fmla="*/ 19 h 466"/>
                    <a:gd name="T4" fmla="*/ 271 w 430"/>
                    <a:gd name="T5" fmla="*/ 32 h 466"/>
                    <a:gd name="T6" fmla="*/ 394 w 430"/>
                    <a:gd name="T7" fmla="*/ 54 h 466"/>
                    <a:gd name="T8" fmla="*/ 412 w 430"/>
                    <a:gd name="T9" fmla="*/ 70 h 466"/>
                    <a:gd name="T10" fmla="*/ 422 w 430"/>
                    <a:gd name="T11" fmla="*/ 95 h 466"/>
                    <a:gd name="T12" fmla="*/ 430 w 430"/>
                    <a:gd name="T13" fmla="*/ 213 h 466"/>
                    <a:gd name="T14" fmla="*/ 430 w 430"/>
                    <a:gd name="T15" fmla="*/ 346 h 466"/>
                    <a:gd name="T16" fmla="*/ 426 w 430"/>
                    <a:gd name="T17" fmla="*/ 438 h 466"/>
                    <a:gd name="T18" fmla="*/ 412 w 430"/>
                    <a:gd name="T19" fmla="*/ 464 h 466"/>
                    <a:gd name="T20" fmla="*/ 385 w 430"/>
                    <a:gd name="T21" fmla="*/ 466 h 466"/>
                    <a:gd name="T22" fmla="*/ 246 w 430"/>
                    <a:gd name="T23" fmla="*/ 428 h 466"/>
                    <a:gd name="T24" fmla="*/ 395 w 430"/>
                    <a:gd name="T25" fmla="*/ 440 h 466"/>
                    <a:gd name="T26" fmla="*/ 405 w 430"/>
                    <a:gd name="T27" fmla="*/ 435 h 466"/>
                    <a:gd name="T28" fmla="*/ 412 w 430"/>
                    <a:gd name="T29" fmla="*/ 373 h 466"/>
                    <a:gd name="T30" fmla="*/ 414 w 430"/>
                    <a:gd name="T31" fmla="*/ 285 h 466"/>
                    <a:gd name="T32" fmla="*/ 409 w 430"/>
                    <a:gd name="T33" fmla="*/ 165 h 466"/>
                    <a:gd name="T34" fmla="*/ 401 w 430"/>
                    <a:gd name="T35" fmla="*/ 88 h 466"/>
                    <a:gd name="T36" fmla="*/ 385 w 430"/>
                    <a:gd name="T37" fmla="*/ 73 h 466"/>
                    <a:gd name="T38" fmla="*/ 297 w 430"/>
                    <a:gd name="T39" fmla="*/ 56 h 466"/>
                    <a:gd name="T40" fmla="*/ 176 w 430"/>
                    <a:gd name="T41" fmla="*/ 41 h 466"/>
                    <a:gd name="T42" fmla="*/ 78 w 430"/>
                    <a:gd name="T43" fmla="*/ 22 h 466"/>
                    <a:gd name="T44" fmla="*/ 0 w 430"/>
                    <a:gd name="T45" fmla="*/ 0 h 4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30" h="466">
                      <a:moveTo>
                        <a:pt x="0" y="0"/>
                      </a:moveTo>
                      <a:lnTo>
                        <a:pt x="159" y="19"/>
                      </a:lnTo>
                      <a:lnTo>
                        <a:pt x="271" y="32"/>
                      </a:lnTo>
                      <a:lnTo>
                        <a:pt x="394" y="54"/>
                      </a:lnTo>
                      <a:lnTo>
                        <a:pt x="412" y="70"/>
                      </a:lnTo>
                      <a:lnTo>
                        <a:pt x="422" y="95"/>
                      </a:lnTo>
                      <a:lnTo>
                        <a:pt x="430" y="213"/>
                      </a:lnTo>
                      <a:lnTo>
                        <a:pt x="430" y="346"/>
                      </a:lnTo>
                      <a:lnTo>
                        <a:pt x="426" y="438"/>
                      </a:lnTo>
                      <a:lnTo>
                        <a:pt x="412" y="464"/>
                      </a:lnTo>
                      <a:lnTo>
                        <a:pt x="385" y="466"/>
                      </a:lnTo>
                      <a:lnTo>
                        <a:pt x="246" y="428"/>
                      </a:lnTo>
                      <a:lnTo>
                        <a:pt x="395" y="440"/>
                      </a:lnTo>
                      <a:lnTo>
                        <a:pt x="405" y="435"/>
                      </a:lnTo>
                      <a:lnTo>
                        <a:pt x="412" y="373"/>
                      </a:lnTo>
                      <a:lnTo>
                        <a:pt x="414" y="285"/>
                      </a:lnTo>
                      <a:lnTo>
                        <a:pt x="409" y="165"/>
                      </a:lnTo>
                      <a:lnTo>
                        <a:pt x="401" y="88"/>
                      </a:lnTo>
                      <a:lnTo>
                        <a:pt x="385" y="73"/>
                      </a:lnTo>
                      <a:lnTo>
                        <a:pt x="297" y="56"/>
                      </a:lnTo>
                      <a:lnTo>
                        <a:pt x="176" y="41"/>
                      </a:lnTo>
                      <a:lnTo>
                        <a:pt x="78" y="2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62" name="Freeform 18"/>
                <p:cNvSpPr>
                  <a:spLocks/>
                </p:cNvSpPr>
                <p:nvPr/>
              </p:nvSpPr>
              <p:spPr bwMode="auto">
                <a:xfrm>
                  <a:off x="4646" y="2917"/>
                  <a:ext cx="453" cy="464"/>
                </a:xfrm>
                <a:custGeom>
                  <a:avLst/>
                  <a:gdLst>
                    <a:gd name="T0" fmla="*/ 257 w 453"/>
                    <a:gd name="T1" fmla="*/ 27 h 464"/>
                    <a:gd name="T2" fmla="*/ 102 w 453"/>
                    <a:gd name="T3" fmla="*/ 2 h 464"/>
                    <a:gd name="T4" fmla="*/ 57 w 453"/>
                    <a:gd name="T5" fmla="*/ 0 h 464"/>
                    <a:gd name="T6" fmla="*/ 45 w 453"/>
                    <a:gd name="T7" fmla="*/ 17 h 464"/>
                    <a:gd name="T8" fmla="*/ 32 w 453"/>
                    <a:gd name="T9" fmla="*/ 50 h 464"/>
                    <a:gd name="T10" fmla="*/ 12 w 453"/>
                    <a:gd name="T11" fmla="*/ 141 h 464"/>
                    <a:gd name="T12" fmla="*/ 2 w 453"/>
                    <a:gd name="T13" fmla="*/ 232 h 464"/>
                    <a:gd name="T14" fmla="*/ 0 w 453"/>
                    <a:gd name="T15" fmla="*/ 325 h 464"/>
                    <a:gd name="T16" fmla="*/ 14 w 453"/>
                    <a:gd name="T17" fmla="*/ 362 h 464"/>
                    <a:gd name="T18" fmla="*/ 21 w 453"/>
                    <a:gd name="T19" fmla="*/ 374 h 464"/>
                    <a:gd name="T20" fmla="*/ 119 w 453"/>
                    <a:gd name="T21" fmla="*/ 400 h 464"/>
                    <a:gd name="T22" fmla="*/ 245 w 453"/>
                    <a:gd name="T23" fmla="*/ 425 h 464"/>
                    <a:gd name="T24" fmla="*/ 340 w 453"/>
                    <a:gd name="T25" fmla="*/ 441 h 464"/>
                    <a:gd name="T26" fmla="*/ 453 w 453"/>
                    <a:gd name="T27" fmla="*/ 464 h 464"/>
                    <a:gd name="T28" fmla="*/ 450 w 453"/>
                    <a:gd name="T29" fmla="*/ 449 h 464"/>
                    <a:gd name="T30" fmla="*/ 363 w 453"/>
                    <a:gd name="T31" fmla="*/ 429 h 464"/>
                    <a:gd name="T32" fmla="*/ 248 w 453"/>
                    <a:gd name="T33" fmla="*/ 403 h 464"/>
                    <a:gd name="T34" fmla="*/ 92 w 453"/>
                    <a:gd name="T35" fmla="*/ 375 h 464"/>
                    <a:gd name="T36" fmla="*/ 36 w 453"/>
                    <a:gd name="T37" fmla="*/ 349 h 464"/>
                    <a:gd name="T38" fmla="*/ 20 w 453"/>
                    <a:gd name="T39" fmla="*/ 333 h 464"/>
                    <a:gd name="T40" fmla="*/ 18 w 453"/>
                    <a:gd name="T41" fmla="*/ 305 h 464"/>
                    <a:gd name="T42" fmla="*/ 21 w 453"/>
                    <a:gd name="T43" fmla="*/ 228 h 464"/>
                    <a:gd name="T44" fmla="*/ 35 w 453"/>
                    <a:gd name="T45" fmla="*/ 135 h 464"/>
                    <a:gd name="T46" fmla="*/ 56 w 453"/>
                    <a:gd name="T47" fmla="*/ 43 h 464"/>
                    <a:gd name="T48" fmla="*/ 69 w 453"/>
                    <a:gd name="T49" fmla="*/ 22 h 464"/>
                    <a:gd name="T50" fmla="*/ 176 w 453"/>
                    <a:gd name="T51" fmla="*/ 24 h 464"/>
                    <a:gd name="T52" fmla="*/ 257 w 453"/>
                    <a:gd name="T53" fmla="*/ 27 h 46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53" h="464">
                      <a:moveTo>
                        <a:pt x="257" y="27"/>
                      </a:moveTo>
                      <a:lnTo>
                        <a:pt x="102" y="2"/>
                      </a:lnTo>
                      <a:lnTo>
                        <a:pt x="57" y="0"/>
                      </a:lnTo>
                      <a:lnTo>
                        <a:pt x="45" y="17"/>
                      </a:lnTo>
                      <a:lnTo>
                        <a:pt x="32" y="50"/>
                      </a:lnTo>
                      <a:lnTo>
                        <a:pt x="12" y="141"/>
                      </a:lnTo>
                      <a:lnTo>
                        <a:pt x="2" y="232"/>
                      </a:lnTo>
                      <a:lnTo>
                        <a:pt x="0" y="325"/>
                      </a:lnTo>
                      <a:lnTo>
                        <a:pt x="14" y="362"/>
                      </a:lnTo>
                      <a:lnTo>
                        <a:pt x="21" y="374"/>
                      </a:lnTo>
                      <a:lnTo>
                        <a:pt x="119" y="400"/>
                      </a:lnTo>
                      <a:lnTo>
                        <a:pt x="245" y="425"/>
                      </a:lnTo>
                      <a:lnTo>
                        <a:pt x="340" y="441"/>
                      </a:lnTo>
                      <a:lnTo>
                        <a:pt x="453" y="464"/>
                      </a:lnTo>
                      <a:lnTo>
                        <a:pt x="450" y="449"/>
                      </a:lnTo>
                      <a:lnTo>
                        <a:pt x="363" y="429"/>
                      </a:lnTo>
                      <a:lnTo>
                        <a:pt x="248" y="403"/>
                      </a:lnTo>
                      <a:lnTo>
                        <a:pt x="92" y="375"/>
                      </a:lnTo>
                      <a:lnTo>
                        <a:pt x="36" y="349"/>
                      </a:lnTo>
                      <a:lnTo>
                        <a:pt x="20" y="333"/>
                      </a:lnTo>
                      <a:lnTo>
                        <a:pt x="18" y="305"/>
                      </a:lnTo>
                      <a:lnTo>
                        <a:pt x="21" y="228"/>
                      </a:lnTo>
                      <a:lnTo>
                        <a:pt x="35" y="135"/>
                      </a:lnTo>
                      <a:lnTo>
                        <a:pt x="56" y="43"/>
                      </a:lnTo>
                      <a:lnTo>
                        <a:pt x="69" y="22"/>
                      </a:lnTo>
                      <a:lnTo>
                        <a:pt x="176" y="24"/>
                      </a:lnTo>
                      <a:lnTo>
                        <a:pt x="25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8244" name="Group 19"/>
            <p:cNvGrpSpPr>
              <a:grpSpLocks/>
            </p:cNvGrpSpPr>
            <p:nvPr/>
          </p:nvGrpSpPr>
          <p:grpSpPr bwMode="auto">
            <a:xfrm>
              <a:off x="3983" y="3211"/>
              <a:ext cx="973" cy="799"/>
              <a:chOff x="3983" y="3211"/>
              <a:chExt cx="973" cy="799"/>
            </a:xfrm>
          </p:grpSpPr>
          <p:sp>
            <p:nvSpPr>
              <p:cNvPr id="8245" name="Freeform 20"/>
              <p:cNvSpPr>
                <a:spLocks/>
              </p:cNvSpPr>
              <p:nvPr/>
            </p:nvSpPr>
            <p:spPr bwMode="auto">
              <a:xfrm>
                <a:off x="4038" y="3211"/>
                <a:ext cx="353" cy="287"/>
              </a:xfrm>
              <a:custGeom>
                <a:avLst/>
                <a:gdLst>
                  <a:gd name="T0" fmla="*/ 221 w 353"/>
                  <a:gd name="T1" fmla="*/ 76 h 287"/>
                  <a:gd name="T2" fmla="*/ 194 w 353"/>
                  <a:gd name="T3" fmla="*/ 41 h 287"/>
                  <a:gd name="T4" fmla="*/ 164 w 353"/>
                  <a:gd name="T5" fmla="*/ 18 h 287"/>
                  <a:gd name="T6" fmla="*/ 130 w 353"/>
                  <a:gd name="T7" fmla="*/ 5 h 287"/>
                  <a:gd name="T8" fmla="*/ 103 w 353"/>
                  <a:gd name="T9" fmla="*/ 0 h 287"/>
                  <a:gd name="T10" fmla="*/ 67 w 353"/>
                  <a:gd name="T11" fmla="*/ 8 h 287"/>
                  <a:gd name="T12" fmla="*/ 39 w 353"/>
                  <a:gd name="T13" fmla="*/ 23 h 287"/>
                  <a:gd name="T14" fmla="*/ 17 w 353"/>
                  <a:gd name="T15" fmla="*/ 44 h 287"/>
                  <a:gd name="T16" fmla="*/ 5 w 353"/>
                  <a:gd name="T17" fmla="*/ 78 h 287"/>
                  <a:gd name="T18" fmla="*/ 0 w 353"/>
                  <a:gd name="T19" fmla="*/ 113 h 287"/>
                  <a:gd name="T20" fmla="*/ 8 w 353"/>
                  <a:gd name="T21" fmla="*/ 150 h 287"/>
                  <a:gd name="T22" fmla="*/ 18 w 353"/>
                  <a:gd name="T23" fmla="*/ 195 h 287"/>
                  <a:gd name="T24" fmla="*/ 44 w 353"/>
                  <a:gd name="T25" fmla="*/ 235 h 287"/>
                  <a:gd name="T26" fmla="*/ 68 w 353"/>
                  <a:gd name="T27" fmla="*/ 260 h 287"/>
                  <a:gd name="T28" fmla="*/ 103 w 353"/>
                  <a:gd name="T29" fmla="*/ 278 h 287"/>
                  <a:gd name="T30" fmla="*/ 135 w 353"/>
                  <a:gd name="T31" fmla="*/ 287 h 287"/>
                  <a:gd name="T32" fmla="*/ 171 w 353"/>
                  <a:gd name="T33" fmla="*/ 287 h 287"/>
                  <a:gd name="T34" fmla="*/ 200 w 353"/>
                  <a:gd name="T35" fmla="*/ 273 h 287"/>
                  <a:gd name="T36" fmla="*/ 221 w 353"/>
                  <a:gd name="T37" fmla="*/ 255 h 287"/>
                  <a:gd name="T38" fmla="*/ 236 w 353"/>
                  <a:gd name="T39" fmla="*/ 226 h 287"/>
                  <a:gd name="T40" fmla="*/ 241 w 353"/>
                  <a:gd name="T41" fmla="*/ 205 h 287"/>
                  <a:gd name="T42" fmla="*/ 244 w 353"/>
                  <a:gd name="T43" fmla="*/ 173 h 287"/>
                  <a:gd name="T44" fmla="*/ 236 w 353"/>
                  <a:gd name="T45" fmla="*/ 140 h 287"/>
                  <a:gd name="T46" fmla="*/ 232 w 353"/>
                  <a:gd name="T47" fmla="*/ 108 h 287"/>
                  <a:gd name="T48" fmla="*/ 280 w 353"/>
                  <a:gd name="T49" fmla="*/ 81 h 287"/>
                  <a:gd name="T50" fmla="*/ 330 w 353"/>
                  <a:gd name="T51" fmla="*/ 63 h 287"/>
                  <a:gd name="T52" fmla="*/ 348 w 353"/>
                  <a:gd name="T53" fmla="*/ 49 h 287"/>
                  <a:gd name="T54" fmla="*/ 353 w 353"/>
                  <a:gd name="T55" fmla="*/ 27 h 287"/>
                  <a:gd name="T56" fmla="*/ 341 w 353"/>
                  <a:gd name="T57" fmla="*/ 17 h 287"/>
                  <a:gd name="T58" fmla="*/ 321 w 353"/>
                  <a:gd name="T59" fmla="*/ 9 h 287"/>
                  <a:gd name="T60" fmla="*/ 295 w 353"/>
                  <a:gd name="T61" fmla="*/ 21 h 287"/>
                  <a:gd name="T62" fmla="*/ 268 w 353"/>
                  <a:gd name="T63" fmla="*/ 53 h 287"/>
                  <a:gd name="T64" fmla="*/ 221 w 353"/>
                  <a:gd name="T65" fmla="*/ 76 h 28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53" h="287">
                    <a:moveTo>
                      <a:pt x="221" y="76"/>
                    </a:moveTo>
                    <a:lnTo>
                      <a:pt x="194" y="41"/>
                    </a:lnTo>
                    <a:lnTo>
                      <a:pt x="164" y="18"/>
                    </a:lnTo>
                    <a:lnTo>
                      <a:pt x="130" y="5"/>
                    </a:lnTo>
                    <a:lnTo>
                      <a:pt x="103" y="0"/>
                    </a:lnTo>
                    <a:lnTo>
                      <a:pt x="67" y="8"/>
                    </a:lnTo>
                    <a:lnTo>
                      <a:pt x="39" y="23"/>
                    </a:lnTo>
                    <a:lnTo>
                      <a:pt x="17" y="44"/>
                    </a:lnTo>
                    <a:lnTo>
                      <a:pt x="5" y="78"/>
                    </a:lnTo>
                    <a:lnTo>
                      <a:pt x="0" y="113"/>
                    </a:lnTo>
                    <a:lnTo>
                      <a:pt x="8" y="150"/>
                    </a:lnTo>
                    <a:lnTo>
                      <a:pt x="18" y="195"/>
                    </a:lnTo>
                    <a:lnTo>
                      <a:pt x="44" y="235"/>
                    </a:lnTo>
                    <a:lnTo>
                      <a:pt x="68" y="260"/>
                    </a:lnTo>
                    <a:lnTo>
                      <a:pt x="103" y="278"/>
                    </a:lnTo>
                    <a:lnTo>
                      <a:pt x="135" y="287"/>
                    </a:lnTo>
                    <a:lnTo>
                      <a:pt x="171" y="287"/>
                    </a:lnTo>
                    <a:lnTo>
                      <a:pt x="200" y="273"/>
                    </a:lnTo>
                    <a:lnTo>
                      <a:pt x="221" y="255"/>
                    </a:lnTo>
                    <a:lnTo>
                      <a:pt x="236" y="226"/>
                    </a:lnTo>
                    <a:lnTo>
                      <a:pt x="241" y="205"/>
                    </a:lnTo>
                    <a:lnTo>
                      <a:pt x="244" y="173"/>
                    </a:lnTo>
                    <a:lnTo>
                      <a:pt x="236" y="140"/>
                    </a:lnTo>
                    <a:lnTo>
                      <a:pt x="232" y="108"/>
                    </a:lnTo>
                    <a:lnTo>
                      <a:pt x="280" y="81"/>
                    </a:lnTo>
                    <a:lnTo>
                      <a:pt x="330" y="63"/>
                    </a:lnTo>
                    <a:lnTo>
                      <a:pt x="348" y="49"/>
                    </a:lnTo>
                    <a:lnTo>
                      <a:pt x="353" y="27"/>
                    </a:lnTo>
                    <a:lnTo>
                      <a:pt x="341" y="17"/>
                    </a:lnTo>
                    <a:lnTo>
                      <a:pt x="321" y="9"/>
                    </a:lnTo>
                    <a:lnTo>
                      <a:pt x="295" y="21"/>
                    </a:lnTo>
                    <a:lnTo>
                      <a:pt x="268" y="53"/>
                    </a:lnTo>
                    <a:lnTo>
                      <a:pt x="221"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6" name="Freeform 21"/>
              <p:cNvSpPr>
                <a:spLocks/>
              </p:cNvSpPr>
              <p:nvPr/>
            </p:nvSpPr>
            <p:spPr bwMode="auto">
              <a:xfrm>
                <a:off x="4167" y="3499"/>
                <a:ext cx="297" cy="493"/>
              </a:xfrm>
              <a:custGeom>
                <a:avLst/>
                <a:gdLst>
                  <a:gd name="T0" fmla="*/ 40 w 297"/>
                  <a:gd name="T1" fmla="*/ 170 h 493"/>
                  <a:gd name="T2" fmla="*/ 14 w 297"/>
                  <a:gd name="T3" fmla="*/ 143 h 493"/>
                  <a:gd name="T4" fmla="*/ 3 w 297"/>
                  <a:gd name="T5" fmla="*/ 112 h 493"/>
                  <a:gd name="T6" fmla="*/ 0 w 297"/>
                  <a:gd name="T7" fmla="*/ 86 h 493"/>
                  <a:gd name="T8" fmla="*/ 9 w 297"/>
                  <a:gd name="T9" fmla="*/ 62 h 493"/>
                  <a:gd name="T10" fmla="*/ 21 w 297"/>
                  <a:gd name="T11" fmla="*/ 39 h 493"/>
                  <a:gd name="T12" fmla="*/ 49 w 297"/>
                  <a:gd name="T13" fmla="*/ 21 h 493"/>
                  <a:gd name="T14" fmla="*/ 78 w 297"/>
                  <a:gd name="T15" fmla="*/ 3 h 493"/>
                  <a:gd name="T16" fmla="*/ 122 w 297"/>
                  <a:gd name="T17" fmla="*/ 0 h 493"/>
                  <a:gd name="T18" fmla="*/ 149 w 297"/>
                  <a:gd name="T19" fmla="*/ 8 h 493"/>
                  <a:gd name="T20" fmla="*/ 169 w 297"/>
                  <a:gd name="T21" fmla="*/ 21 h 493"/>
                  <a:gd name="T22" fmla="*/ 201 w 297"/>
                  <a:gd name="T23" fmla="*/ 48 h 493"/>
                  <a:gd name="T24" fmla="*/ 224 w 297"/>
                  <a:gd name="T25" fmla="*/ 90 h 493"/>
                  <a:gd name="T26" fmla="*/ 245 w 297"/>
                  <a:gd name="T27" fmla="*/ 130 h 493"/>
                  <a:gd name="T28" fmla="*/ 263 w 297"/>
                  <a:gd name="T29" fmla="*/ 198 h 493"/>
                  <a:gd name="T30" fmla="*/ 274 w 297"/>
                  <a:gd name="T31" fmla="*/ 249 h 493"/>
                  <a:gd name="T32" fmla="*/ 282 w 297"/>
                  <a:gd name="T33" fmla="*/ 311 h 493"/>
                  <a:gd name="T34" fmla="*/ 288 w 297"/>
                  <a:gd name="T35" fmla="*/ 360 h 493"/>
                  <a:gd name="T36" fmla="*/ 297 w 297"/>
                  <a:gd name="T37" fmla="*/ 398 h 493"/>
                  <a:gd name="T38" fmla="*/ 297 w 297"/>
                  <a:gd name="T39" fmla="*/ 433 h 493"/>
                  <a:gd name="T40" fmla="*/ 288 w 297"/>
                  <a:gd name="T41" fmla="*/ 461 h 493"/>
                  <a:gd name="T42" fmla="*/ 274 w 297"/>
                  <a:gd name="T43" fmla="*/ 479 h 493"/>
                  <a:gd name="T44" fmla="*/ 251 w 297"/>
                  <a:gd name="T45" fmla="*/ 488 h 493"/>
                  <a:gd name="T46" fmla="*/ 222 w 297"/>
                  <a:gd name="T47" fmla="*/ 493 h 493"/>
                  <a:gd name="T48" fmla="*/ 90 w 297"/>
                  <a:gd name="T49" fmla="*/ 487 h 493"/>
                  <a:gd name="T50" fmla="*/ 62 w 297"/>
                  <a:gd name="T51" fmla="*/ 470 h 493"/>
                  <a:gd name="T52" fmla="*/ 44 w 297"/>
                  <a:gd name="T53" fmla="*/ 430 h 493"/>
                  <a:gd name="T54" fmla="*/ 37 w 297"/>
                  <a:gd name="T55" fmla="*/ 392 h 493"/>
                  <a:gd name="T56" fmla="*/ 40 w 297"/>
                  <a:gd name="T57" fmla="*/ 339 h 493"/>
                  <a:gd name="T58" fmla="*/ 53 w 297"/>
                  <a:gd name="T59" fmla="*/ 303 h 493"/>
                  <a:gd name="T60" fmla="*/ 73 w 297"/>
                  <a:gd name="T61" fmla="*/ 280 h 493"/>
                  <a:gd name="T62" fmla="*/ 78 w 297"/>
                  <a:gd name="T63" fmla="*/ 262 h 493"/>
                  <a:gd name="T64" fmla="*/ 73 w 297"/>
                  <a:gd name="T65" fmla="*/ 244 h 493"/>
                  <a:gd name="T66" fmla="*/ 64 w 297"/>
                  <a:gd name="T67" fmla="*/ 217 h 493"/>
                  <a:gd name="T68" fmla="*/ 49 w 297"/>
                  <a:gd name="T69" fmla="*/ 193 h 493"/>
                  <a:gd name="T70" fmla="*/ 40 w 297"/>
                  <a:gd name="T71" fmla="*/ 170 h 4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97" h="493">
                    <a:moveTo>
                      <a:pt x="40" y="170"/>
                    </a:moveTo>
                    <a:lnTo>
                      <a:pt x="14" y="143"/>
                    </a:lnTo>
                    <a:lnTo>
                      <a:pt x="3" y="112"/>
                    </a:lnTo>
                    <a:lnTo>
                      <a:pt x="0" y="86"/>
                    </a:lnTo>
                    <a:lnTo>
                      <a:pt x="9" y="62"/>
                    </a:lnTo>
                    <a:lnTo>
                      <a:pt x="21" y="39"/>
                    </a:lnTo>
                    <a:lnTo>
                      <a:pt x="49" y="21"/>
                    </a:lnTo>
                    <a:lnTo>
                      <a:pt x="78" y="3"/>
                    </a:lnTo>
                    <a:lnTo>
                      <a:pt x="122" y="0"/>
                    </a:lnTo>
                    <a:lnTo>
                      <a:pt x="149" y="8"/>
                    </a:lnTo>
                    <a:lnTo>
                      <a:pt x="169" y="21"/>
                    </a:lnTo>
                    <a:lnTo>
                      <a:pt x="201" y="48"/>
                    </a:lnTo>
                    <a:lnTo>
                      <a:pt x="224" y="90"/>
                    </a:lnTo>
                    <a:lnTo>
                      <a:pt x="245" y="130"/>
                    </a:lnTo>
                    <a:lnTo>
                      <a:pt x="263" y="198"/>
                    </a:lnTo>
                    <a:lnTo>
                      <a:pt x="274" y="249"/>
                    </a:lnTo>
                    <a:lnTo>
                      <a:pt x="282" y="311"/>
                    </a:lnTo>
                    <a:lnTo>
                      <a:pt x="288" y="360"/>
                    </a:lnTo>
                    <a:lnTo>
                      <a:pt x="297" y="398"/>
                    </a:lnTo>
                    <a:lnTo>
                      <a:pt x="297" y="433"/>
                    </a:lnTo>
                    <a:lnTo>
                      <a:pt x="288" y="461"/>
                    </a:lnTo>
                    <a:lnTo>
                      <a:pt x="274" y="479"/>
                    </a:lnTo>
                    <a:lnTo>
                      <a:pt x="251" y="488"/>
                    </a:lnTo>
                    <a:lnTo>
                      <a:pt x="222" y="493"/>
                    </a:lnTo>
                    <a:lnTo>
                      <a:pt x="90" y="487"/>
                    </a:lnTo>
                    <a:lnTo>
                      <a:pt x="62" y="470"/>
                    </a:lnTo>
                    <a:lnTo>
                      <a:pt x="44" y="430"/>
                    </a:lnTo>
                    <a:lnTo>
                      <a:pt x="37" y="392"/>
                    </a:lnTo>
                    <a:lnTo>
                      <a:pt x="40" y="339"/>
                    </a:lnTo>
                    <a:lnTo>
                      <a:pt x="53" y="303"/>
                    </a:lnTo>
                    <a:lnTo>
                      <a:pt x="73" y="280"/>
                    </a:lnTo>
                    <a:lnTo>
                      <a:pt x="78" y="262"/>
                    </a:lnTo>
                    <a:lnTo>
                      <a:pt x="73" y="244"/>
                    </a:lnTo>
                    <a:lnTo>
                      <a:pt x="64" y="217"/>
                    </a:lnTo>
                    <a:lnTo>
                      <a:pt x="49" y="193"/>
                    </a:lnTo>
                    <a:lnTo>
                      <a:pt x="40"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7" name="Freeform 22"/>
              <p:cNvSpPr>
                <a:spLocks/>
              </p:cNvSpPr>
              <p:nvPr/>
            </p:nvSpPr>
            <p:spPr bwMode="auto">
              <a:xfrm>
                <a:off x="3983" y="3542"/>
                <a:ext cx="250" cy="455"/>
              </a:xfrm>
              <a:custGeom>
                <a:avLst/>
                <a:gdLst>
                  <a:gd name="T0" fmla="*/ 153 w 250"/>
                  <a:gd name="T1" fmla="*/ 74 h 455"/>
                  <a:gd name="T2" fmla="*/ 186 w 250"/>
                  <a:gd name="T3" fmla="*/ 24 h 455"/>
                  <a:gd name="T4" fmla="*/ 209 w 250"/>
                  <a:gd name="T5" fmla="*/ 5 h 455"/>
                  <a:gd name="T6" fmla="*/ 235 w 250"/>
                  <a:gd name="T7" fmla="*/ 0 h 455"/>
                  <a:gd name="T8" fmla="*/ 250 w 250"/>
                  <a:gd name="T9" fmla="*/ 45 h 455"/>
                  <a:gd name="T10" fmla="*/ 227 w 250"/>
                  <a:gd name="T11" fmla="*/ 83 h 455"/>
                  <a:gd name="T12" fmla="*/ 209 w 250"/>
                  <a:gd name="T13" fmla="*/ 97 h 455"/>
                  <a:gd name="T14" fmla="*/ 175 w 250"/>
                  <a:gd name="T15" fmla="*/ 132 h 455"/>
                  <a:gd name="T16" fmla="*/ 144 w 250"/>
                  <a:gd name="T17" fmla="*/ 187 h 455"/>
                  <a:gd name="T18" fmla="*/ 129 w 250"/>
                  <a:gd name="T19" fmla="*/ 254 h 455"/>
                  <a:gd name="T20" fmla="*/ 124 w 250"/>
                  <a:gd name="T21" fmla="*/ 314 h 455"/>
                  <a:gd name="T22" fmla="*/ 121 w 250"/>
                  <a:gd name="T23" fmla="*/ 369 h 455"/>
                  <a:gd name="T24" fmla="*/ 124 w 250"/>
                  <a:gd name="T25" fmla="*/ 408 h 455"/>
                  <a:gd name="T26" fmla="*/ 135 w 250"/>
                  <a:gd name="T27" fmla="*/ 408 h 455"/>
                  <a:gd name="T28" fmla="*/ 161 w 250"/>
                  <a:gd name="T29" fmla="*/ 387 h 455"/>
                  <a:gd name="T30" fmla="*/ 193 w 250"/>
                  <a:gd name="T31" fmla="*/ 399 h 455"/>
                  <a:gd name="T32" fmla="*/ 172 w 250"/>
                  <a:gd name="T33" fmla="*/ 419 h 455"/>
                  <a:gd name="T34" fmla="*/ 130 w 250"/>
                  <a:gd name="T35" fmla="*/ 437 h 455"/>
                  <a:gd name="T36" fmla="*/ 117 w 250"/>
                  <a:gd name="T37" fmla="*/ 453 h 455"/>
                  <a:gd name="T38" fmla="*/ 80 w 250"/>
                  <a:gd name="T39" fmla="*/ 455 h 455"/>
                  <a:gd name="T40" fmla="*/ 46 w 250"/>
                  <a:gd name="T41" fmla="*/ 440 h 455"/>
                  <a:gd name="T42" fmla="*/ 0 w 250"/>
                  <a:gd name="T43" fmla="*/ 419 h 455"/>
                  <a:gd name="T44" fmla="*/ 5 w 250"/>
                  <a:gd name="T45" fmla="*/ 392 h 455"/>
                  <a:gd name="T46" fmla="*/ 20 w 250"/>
                  <a:gd name="T47" fmla="*/ 387 h 455"/>
                  <a:gd name="T48" fmla="*/ 57 w 250"/>
                  <a:gd name="T49" fmla="*/ 413 h 455"/>
                  <a:gd name="T50" fmla="*/ 37 w 250"/>
                  <a:gd name="T51" fmla="*/ 372 h 455"/>
                  <a:gd name="T52" fmla="*/ 48 w 250"/>
                  <a:gd name="T53" fmla="*/ 364 h 455"/>
                  <a:gd name="T54" fmla="*/ 66 w 250"/>
                  <a:gd name="T55" fmla="*/ 369 h 455"/>
                  <a:gd name="T56" fmla="*/ 87 w 250"/>
                  <a:gd name="T57" fmla="*/ 399 h 455"/>
                  <a:gd name="T58" fmla="*/ 87 w 250"/>
                  <a:gd name="T59" fmla="*/ 333 h 455"/>
                  <a:gd name="T60" fmla="*/ 87 w 250"/>
                  <a:gd name="T61" fmla="*/ 263 h 455"/>
                  <a:gd name="T62" fmla="*/ 97 w 250"/>
                  <a:gd name="T63" fmla="*/ 200 h 455"/>
                  <a:gd name="T64" fmla="*/ 115 w 250"/>
                  <a:gd name="T65" fmla="*/ 147 h 455"/>
                  <a:gd name="T66" fmla="*/ 133 w 250"/>
                  <a:gd name="T67" fmla="*/ 100 h 455"/>
                  <a:gd name="T68" fmla="*/ 153 w 250"/>
                  <a:gd name="T69" fmla="*/ 74 h 45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50" h="455">
                    <a:moveTo>
                      <a:pt x="153" y="74"/>
                    </a:moveTo>
                    <a:lnTo>
                      <a:pt x="186" y="24"/>
                    </a:lnTo>
                    <a:lnTo>
                      <a:pt x="209" y="5"/>
                    </a:lnTo>
                    <a:lnTo>
                      <a:pt x="235" y="0"/>
                    </a:lnTo>
                    <a:lnTo>
                      <a:pt x="250" y="45"/>
                    </a:lnTo>
                    <a:lnTo>
                      <a:pt x="227" y="83"/>
                    </a:lnTo>
                    <a:lnTo>
                      <a:pt x="209" y="97"/>
                    </a:lnTo>
                    <a:lnTo>
                      <a:pt x="175" y="132"/>
                    </a:lnTo>
                    <a:lnTo>
                      <a:pt x="144" y="187"/>
                    </a:lnTo>
                    <a:lnTo>
                      <a:pt x="129" y="254"/>
                    </a:lnTo>
                    <a:lnTo>
                      <a:pt x="124" y="314"/>
                    </a:lnTo>
                    <a:lnTo>
                      <a:pt x="121" y="369"/>
                    </a:lnTo>
                    <a:lnTo>
                      <a:pt x="124" y="408"/>
                    </a:lnTo>
                    <a:lnTo>
                      <a:pt x="135" y="408"/>
                    </a:lnTo>
                    <a:lnTo>
                      <a:pt x="161" y="387"/>
                    </a:lnTo>
                    <a:lnTo>
                      <a:pt x="193" y="399"/>
                    </a:lnTo>
                    <a:lnTo>
                      <a:pt x="172" y="419"/>
                    </a:lnTo>
                    <a:lnTo>
                      <a:pt x="130" y="437"/>
                    </a:lnTo>
                    <a:lnTo>
                      <a:pt x="117" y="453"/>
                    </a:lnTo>
                    <a:lnTo>
                      <a:pt x="80" y="455"/>
                    </a:lnTo>
                    <a:lnTo>
                      <a:pt x="46" y="440"/>
                    </a:lnTo>
                    <a:lnTo>
                      <a:pt x="0" y="419"/>
                    </a:lnTo>
                    <a:lnTo>
                      <a:pt x="5" y="392"/>
                    </a:lnTo>
                    <a:lnTo>
                      <a:pt x="20" y="387"/>
                    </a:lnTo>
                    <a:lnTo>
                      <a:pt x="57" y="413"/>
                    </a:lnTo>
                    <a:lnTo>
                      <a:pt x="37" y="372"/>
                    </a:lnTo>
                    <a:lnTo>
                      <a:pt x="48" y="364"/>
                    </a:lnTo>
                    <a:lnTo>
                      <a:pt x="66" y="369"/>
                    </a:lnTo>
                    <a:lnTo>
                      <a:pt x="87" y="399"/>
                    </a:lnTo>
                    <a:lnTo>
                      <a:pt x="87" y="333"/>
                    </a:lnTo>
                    <a:lnTo>
                      <a:pt x="87" y="263"/>
                    </a:lnTo>
                    <a:lnTo>
                      <a:pt x="97" y="200"/>
                    </a:lnTo>
                    <a:lnTo>
                      <a:pt x="115" y="147"/>
                    </a:lnTo>
                    <a:lnTo>
                      <a:pt x="133" y="100"/>
                    </a:lnTo>
                    <a:lnTo>
                      <a:pt x="153"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8" name="Freeform 23"/>
              <p:cNvSpPr>
                <a:spLocks/>
              </p:cNvSpPr>
              <p:nvPr/>
            </p:nvSpPr>
            <p:spPr bwMode="auto">
              <a:xfrm>
                <a:off x="4265" y="3517"/>
                <a:ext cx="457" cy="493"/>
              </a:xfrm>
              <a:custGeom>
                <a:avLst/>
                <a:gdLst>
                  <a:gd name="T0" fmla="*/ 53 w 457"/>
                  <a:gd name="T1" fmla="*/ 3 h 493"/>
                  <a:gd name="T2" fmla="*/ 80 w 457"/>
                  <a:gd name="T3" fmla="*/ 5 h 493"/>
                  <a:gd name="T4" fmla="*/ 118 w 457"/>
                  <a:gd name="T5" fmla="*/ 23 h 493"/>
                  <a:gd name="T6" fmla="*/ 161 w 457"/>
                  <a:gd name="T7" fmla="*/ 62 h 493"/>
                  <a:gd name="T8" fmla="*/ 208 w 457"/>
                  <a:gd name="T9" fmla="*/ 116 h 493"/>
                  <a:gd name="T10" fmla="*/ 261 w 457"/>
                  <a:gd name="T11" fmla="*/ 190 h 493"/>
                  <a:gd name="T12" fmla="*/ 302 w 457"/>
                  <a:gd name="T13" fmla="*/ 271 h 493"/>
                  <a:gd name="T14" fmla="*/ 324 w 457"/>
                  <a:gd name="T15" fmla="*/ 365 h 493"/>
                  <a:gd name="T16" fmla="*/ 347 w 457"/>
                  <a:gd name="T17" fmla="*/ 421 h 493"/>
                  <a:gd name="T18" fmla="*/ 360 w 457"/>
                  <a:gd name="T19" fmla="*/ 452 h 493"/>
                  <a:gd name="T20" fmla="*/ 388 w 457"/>
                  <a:gd name="T21" fmla="*/ 460 h 493"/>
                  <a:gd name="T22" fmla="*/ 428 w 457"/>
                  <a:gd name="T23" fmla="*/ 460 h 493"/>
                  <a:gd name="T24" fmla="*/ 448 w 457"/>
                  <a:gd name="T25" fmla="*/ 461 h 493"/>
                  <a:gd name="T26" fmla="*/ 457 w 457"/>
                  <a:gd name="T27" fmla="*/ 484 h 493"/>
                  <a:gd name="T28" fmla="*/ 430 w 457"/>
                  <a:gd name="T29" fmla="*/ 491 h 493"/>
                  <a:gd name="T30" fmla="*/ 392 w 457"/>
                  <a:gd name="T31" fmla="*/ 488 h 493"/>
                  <a:gd name="T32" fmla="*/ 356 w 457"/>
                  <a:gd name="T33" fmla="*/ 484 h 493"/>
                  <a:gd name="T34" fmla="*/ 333 w 457"/>
                  <a:gd name="T35" fmla="*/ 464 h 493"/>
                  <a:gd name="T36" fmla="*/ 315 w 457"/>
                  <a:gd name="T37" fmla="*/ 470 h 493"/>
                  <a:gd name="T38" fmla="*/ 308 w 457"/>
                  <a:gd name="T39" fmla="*/ 488 h 493"/>
                  <a:gd name="T40" fmla="*/ 284 w 457"/>
                  <a:gd name="T41" fmla="*/ 493 h 493"/>
                  <a:gd name="T42" fmla="*/ 271 w 457"/>
                  <a:gd name="T43" fmla="*/ 482 h 493"/>
                  <a:gd name="T44" fmla="*/ 279 w 457"/>
                  <a:gd name="T45" fmla="*/ 460 h 493"/>
                  <a:gd name="T46" fmla="*/ 303 w 457"/>
                  <a:gd name="T47" fmla="*/ 433 h 493"/>
                  <a:gd name="T48" fmla="*/ 306 w 457"/>
                  <a:gd name="T49" fmla="*/ 398 h 493"/>
                  <a:gd name="T50" fmla="*/ 294 w 457"/>
                  <a:gd name="T51" fmla="*/ 362 h 493"/>
                  <a:gd name="T52" fmla="*/ 270 w 457"/>
                  <a:gd name="T53" fmla="*/ 294 h 493"/>
                  <a:gd name="T54" fmla="*/ 238 w 457"/>
                  <a:gd name="T55" fmla="*/ 244 h 493"/>
                  <a:gd name="T56" fmla="*/ 207 w 457"/>
                  <a:gd name="T57" fmla="*/ 193 h 493"/>
                  <a:gd name="T58" fmla="*/ 175 w 457"/>
                  <a:gd name="T59" fmla="*/ 154 h 493"/>
                  <a:gd name="T60" fmla="*/ 130 w 457"/>
                  <a:gd name="T61" fmla="*/ 112 h 493"/>
                  <a:gd name="T62" fmla="*/ 80 w 457"/>
                  <a:gd name="T63" fmla="*/ 84 h 493"/>
                  <a:gd name="T64" fmla="*/ 12 w 457"/>
                  <a:gd name="T65" fmla="*/ 57 h 493"/>
                  <a:gd name="T66" fmla="*/ 0 w 457"/>
                  <a:gd name="T67" fmla="*/ 23 h 493"/>
                  <a:gd name="T68" fmla="*/ 21 w 457"/>
                  <a:gd name="T69" fmla="*/ 0 h 493"/>
                  <a:gd name="T70" fmla="*/ 53 w 457"/>
                  <a:gd name="T71" fmla="*/ 3 h 4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57" h="493">
                    <a:moveTo>
                      <a:pt x="53" y="3"/>
                    </a:moveTo>
                    <a:lnTo>
                      <a:pt x="80" y="5"/>
                    </a:lnTo>
                    <a:lnTo>
                      <a:pt x="118" y="23"/>
                    </a:lnTo>
                    <a:lnTo>
                      <a:pt x="161" y="62"/>
                    </a:lnTo>
                    <a:lnTo>
                      <a:pt x="208" y="116"/>
                    </a:lnTo>
                    <a:lnTo>
                      <a:pt x="261" y="190"/>
                    </a:lnTo>
                    <a:lnTo>
                      <a:pt x="302" y="271"/>
                    </a:lnTo>
                    <a:lnTo>
                      <a:pt x="324" y="365"/>
                    </a:lnTo>
                    <a:lnTo>
                      <a:pt x="347" y="421"/>
                    </a:lnTo>
                    <a:lnTo>
                      <a:pt x="360" y="452"/>
                    </a:lnTo>
                    <a:lnTo>
                      <a:pt x="388" y="460"/>
                    </a:lnTo>
                    <a:lnTo>
                      <a:pt x="428" y="460"/>
                    </a:lnTo>
                    <a:lnTo>
                      <a:pt x="448" y="461"/>
                    </a:lnTo>
                    <a:lnTo>
                      <a:pt x="457" y="484"/>
                    </a:lnTo>
                    <a:lnTo>
                      <a:pt x="430" y="491"/>
                    </a:lnTo>
                    <a:lnTo>
                      <a:pt x="392" y="488"/>
                    </a:lnTo>
                    <a:lnTo>
                      <a:pt x="356" y="484"/>
                    </a:lnTo>
                    <a:lnTo>
                      <a:pt x="333" y="464"/>
                    </a:lnTo>
                    <a:lnTo>
                      <a:pt x="315" y="470"/>
                    </a:lnTo>
                    <a:lnTo>
                      <a:pt x="308" y="488"/>
                    </a:lnTo>
                    <a:lnTo>
                      <a:pt x="284" y="493"/>
                    </a:lnTo>
                    <a:lnTo>
                      <a:pt x="271" y="482"/>
                    </a:lnTo>
                    <a:lnTo>
                      <a:pt x="279" y="460"/>
                    </a:lnTo>
                    <a:lnTo>
                      <a:pt x="303" y="433"/>
                    </a:lnTo>
                    <a:lnTo>
                      <a:pt x="306" y="398"/>
                    </a:lnTo>
                    <a:lnTo>
                      <a:pt x="294" y="362"/>
                    </a:lnTo>
                    <a:lnTo>
                      <a:pt x="270" y="294"/>
                    </a:lnTo>
                    <a:lnTo>
                      <a:pt x="238" y="244"/>
                    </a:lnTo>
                    <a:lnTo>
                      <a:pt x="207" y="193"/>
                    </a:lnTo>
                    <a:lnTo>
                      <a:pt x="175" y="154"/>
                    </a:lnTo>
                    <a:lnTo>
                      <a:pt x="130" y="112"/>
                    </a:lnTo>
                    <a:lnTo>
                      <a:pt x="80" y="84"/>
                    </a:lnTo>
                    <a:lnTo>
                      <a:pt x="12" y="57"/>
                    </a:lnTo>
                    <a:lnTo>
                      <a:pt x="0" y="23"/>
                    </a:lnTo>
                    <a:lnTo>
                      <a:pt x="21" y="0"/>
                    </a:lnTo>
                    <a:lnTo>
                      <a:pt x="53"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9" name="Freeform 24"/>
              <p:cNvSpPr>
                <a:spLocks/>
              </p:cNvSpPr>
              <p:nvPr/>
            </p:nvSpPr>
            <p:spPr bwMode="auto">
              <a:xfrm>
                <a:off x="4357" y="3627"/>
                <a:ext cx="599" cy="359"/>
              </a:xfrm>
              <a:custGeom>
                <a:avLst/>
                <a:gdLst>
                  <a:gd name="T0" fmla="*/ 29 w 599"/>
                  <a:gd name="T1" fmla="*/ 247 h 359"/>
                  <a:gd name="T2" fmla="*/ 5 w 599"/>
                  <a:gd name="T3" fmla="*/ 264 h 359"/>
                  <a:gd name="T4" fmla="*/ 0 w 599"/>
                  <a:gd name="T5" fmla="*/ 292 h 359"/>
                  <a:gd name="T6" fmla="*/ 5 w 599"/>
                  <a:gd name="T7" fmla="*/ 341 h 359"/>
                  <a:gd name="T8" fmla="*/ 27 w 599"/>
                  <a:gd name="T9" fmla="*/ 359 h 359"/>
                  <a:gd name="T10" fmla="*/ 86 w 599"/>
                  <a:gd name="T11" fmla="*/ 345 h 359"/>
                  <a:gd name="T12" fmla="*/ 150 w 599"/>
                  <a:gd name="T13" fmla="*/ 306 h 359"/>
                  <a:gd name="T14" fmla="*/ 234 w 599"/>
                  <a:gd name="T15" fmla="*/ 259 h 359"/>
                  <a:gd name="T16" fmla="*/ 293 w 599"/>
                  <a:gd name="T17" fmla="*/ 232 h 359"/>
                  <a:gd name="T18" fmla="*/ 329 w 599"/>
                  <a:gd name="T19" fmla="*/ 227 h 359"/>
                  <a:gd name="T20" fmla="*/ 383 w 599"/>
                  <a:gd name="T21" fmla="*/ 224 h 359"/>
                  <a:gd name="T22" fmla="*/ 414 w 599"/>
                  <a:gd name="T23" fmla="*/ 220 h 359"/>
                  <a:gd name="T24" fmla="*/ 452 w 599"/>
                  <a:gd name="T25" fmla="*/ 197 h 359"/>
                  <a:gd name="T26" fmla="*/ 489 w 599"/>
                  <a:gd name="T27" fmla="*/ 186 h 359"/>
                  <a:gd name="T28" fmla="*/ 507 w 599"/>
                  <a:gd name="T29" fmla="*/ 186 h 359"/>
                  <a:gd name="T30" fmla="*/ 536 w 599"/>
                  <a:gd name="T31" fmla="*/ 186 h 359"/>
                  <a:gd name="T32" fmla="*/ 545 w 599"/>
                  <a:gd name="T33" fmla="*/ 173 h 359"/>
                  <a:gd name="T34" fmla="*/ 549 w 599"/>
                  <a:gd name="T35" fmla="*/ 136 h 359"/>
                  <a:gd name="T36" fmla="*/ 566 w 599"/>
                  <a:gd name="T37" fmla="*/ 97 h 359"/>
                  <a:gd name="T38" fmla="*/ 590 w 599"/>
                  <a:gd name="T39" fmla="*/ 59 h 359"/>
                  <a:gd name="T40" fmla="*/ 599 w 599"/>
                  <a:gd name="T41" fmla="*/ 41 h 359"/>
                  <a:gd name="T42" fmla="*/ 593 w 599"/>
                  <a:gd name="T43" fmla="*/ 18 h 359"/>
                  <a:gd name="T44" fmla="*/ 557 w 599"/>
                  <a:gd name="T45" fmla="*/ 0 h 359"/>
                  <a:gd name="T46" fmla="*/ 531 w 599"/>
                  <a:gd name="T47" fmla="*/ 5 h 359"/>
                  <a:gd name="T48" fmla="*/ 504 w 599"/>
                  <a:gd name="T49" fmla="*/ 86 h 359"/>
                  <a:gd name="T50" fmla="*/ 494 w 599"/>
                  <a:gd name="T51" fmla="*/ 150 h 359"/>
                  <a:gd name="T52" fmla="*/ 476 w 599"/>
                  <a:gd name="T53" fmla="*/ 159 h 359"/>
                  <a:gd name="T54" fmla="*/ 401 w 599"/>
                  <a:gd name="T55" fmla="*/ 165 h 359"/>
                  <a:gd name="T56" fmla="*/ 321 w 599"/>
                  <a:gd name="T57" fmla="*/ 173 h 359"/>
                  <a:gd name="T58" fmla="*/ 270 w 599"/>
                  <a:gd name="T59" fmla="*/ 170 h 359"/>
                  <a:gd name="T60" fmla="*/ 243 w 599"/>
                  <a:gd name="T61" fmla="*/ 182 h 359"/>
                  <a:gd name="T62" fmla="*/ 189 w 599"/>
                  <a:gd name="T63" fmla="*/ 200 h 359"/>
                  <a:gd name="T64" fmla="*/ 99 w 599"/>
                  <a:gd name="T65" fmla="*/ 227 h 359"/>
                  <a:gd name="T66" fmla="*/ 29 w 599"/>
                  <a:gd name="T67" fmla="*/ 247 h 35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99" h="359">
                    <a:moveTo>
                      <a:pt x="29" y="247"/>
                    </a:moveTo>
                    <a:lnTo>
                      <a:pt x="5" y="264"/>
                    </a:lnTo>
                    <a:lnTo>
                      <a:pt x="0" y="292"/>
                    </a:lnTo>
                    <a:lnTo>
                      <a:pt x="5" y="341"/>
                    </a:lnTo>
                    <a:lnTo>
                      <a:pt x="27" y="359"/>
                    </a:lnTo>
                    <a:lnTo>
                      <a:pt x="86" y="345"/>
                    </a:lnTo>
                    <a:lnTo>
                      <a:pt x="150" y="306"/>
                    </a:lnTo>
                    <a:lnTo>
                      <a:pt x="234" y="259"/>
                    </a:lnTo>
                    <a:lnTo>
                      <a:pt x="293" y="232"/>
                    </a:lnTo>
                    <a:lnTo>
                      <a:pt x="329" y="227"/>
                    </a:lnTo>
                    <a:lnTo>
                      <a:pt x="383" y="224"/>
                    </a:lnTo>
                    <a:lnTo>
                      <a:pt x="414" y="220"/>
                    </a:lnTo>
                    <a:lnTo>
                      <a:pt x="452" y="197"/>
                    </a:lnTo>
                    <a:lnTo>
                      <a:pt x="489" y="186"/>
                    </a:lnTo>
                    <a:lnTo>
                      <a:pt x="507" y="186"/>
                    </a:lnTo>
                    <a:lnTo>
                      <a:pt x="536" y="186"/>
                    </a:lnTo>
                    <a:lnTo>
                      <a:pt x="545" y="173"/>
                    </a:lnTo>
                    <a:lnTo>
                      <a:pt x="549" y="136"/>
                    </a:lnTo>
                    <a:lnTo>
                      <a:pt x="566" y="97"/>
                    </a:lnTo>
                    <a:lnTo>
                      <a:pt x="590" y="59"/>
                    </a:lnTo>
                    <a:lnTo>
                      <a:pt x="599" y="41"/>
                    </a:lnTo>
                    <a:lnTo>
                      <a:pt x="593" y="18"/>
                    </a:lnTo>
                    <a:lnTo>
                      <a:pt x="557" y="0"/>
                    </a:lnTo>
                    <a:lnTo>
                      <a:pt x="531" y="5"/>
                    </a:lnTo>
                    <a:lnTo>
                      <a:pt x="504" y="86"/>
                    </a:lnTo>
                    <a:lnTo>
                      <a:pt x="494" y="150"/>
                    </a:lnTo>
                    <a:lnTo>
                      <a:pt x="476" y="159"/>
                    </a:lnTo>
                    <a:lnTo>
                      <a:pt x="401" y="165"/>
                    </a:lnTo>
                    <a:lnTo>
                      <a:pt x="321" y="173"/>
                    </a:lnTo>
                    <a:lnTo>
                      <a:pt x="270" y="170"/>
                    </a:lnTo>
                    <a:lnTo>
                      <a:pt x="243" y="182"/>
                    </a:lnTo>
                    <a:lnTo>
                      <a:pt x="189" y="200"/>
                    </a:lnTo>
                    <a:lnTo>
                      <a:pt x="99" y="227"/>
                    </a:lnTo>
                    <a:lnTo>
                      <a:pt x="29" y="2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0" name="Freeform 25"/>
              <p:cNvSpPr>
                <a:spLocks/>
              </p:cNvSpPr>
              <p:nvPr/>
            </p:nvSpPr>
            <p:spPr bwMode="auto">
              <a:xfrm>
                <a:off x="4241" y="3569"/>
                <a:ext cx="488" cy="411"/>
              </a:xfrm>
              <a:custGeom>
                <a:avLst/>
                <a:gdLst>
                  <a:gd name="T0" fmla="*/ 18 w 488"/>
                  <a:gd name="T1" fmla="*/ 310 h 411"/>
                  <a:gd name="T2" fmla="*/ 0 w 488"/>
                  <a:gd name="T3" fmla="*/ 329 h 411"/>
                  <a:gd name="T4" fmla="*/ 0 w 488"/>
                  <a:gd name="T5" fmla="*/ 356 h 411"/>
                  <a:gd name="T6" fmla="*/ 12 w 488"/>
                  <a:gd name="T7" fmla="*/ 397 h 411"/>
                  <a:gd name="T8" fmla="*/ 35 w 488"/>
                  <a:gd name="T9" fmla="*/ 411 h 411"/>
                  <a:gd name="T10" fmla="*/ 85 w 488"/>
                  <a:gd name="T11" fmla="*/ 388 h 411"/>
                  <a:gd name="T12" fmla="*/ 136 w 488"/>
                  <a:gd name="T13" fmla="*/ 341 h 411"/>
                  <a:gd name="T14" fmla="*/ 202 w 488"/>
                  <a:gd name="T15" fmla="*/ 285 h 411"/>
                  <a:gd name="T16" fmla="*/ 249 w 488"/>
                  <a:gd name="T17" fmla="*/ 251 h 411"/>
                  <a:gd name="T18" fmla="*/ 281 w 488"/>
                  <a:gd name="T19" fmla="*/ 240 h 411"/>
                  <a:gd name="T20" fmla="*/ 328 w 488"/>
                  <a:gd name="T21" fmla="*/ 228 h 411"/>
                  <a:gd name="T22" fmla="*/ 355 w 488"/>
                  <a:gd name="T23" fmla="*/ 220 h 411"/>
                  <a:gd name="T24" fmla="*/ 384 w 488"/>
                  <a:gd name="T25" fmla="*/ 194 h 411"/>
                  <a:gd name="T26" fmla="*/ 416 w 488"/>
                  <a:gd name="T27" fmla="*/ 178 h 411"/>
                  <a:gd name="T28" fmla="*/ 431 w 488"/>
                  <a:gd name="T29" fmla="*/ 173 h 411"/>
                  <a:gd name="T30" fmla="*/ 457 w 488"/>
                  <a:gd name="T31" fmla="*/ 169 h 411"/>
                  <a:gd name="T32" fmla="*/ 462 w 488"/>
                  <a:gd name="T33" fmla="*/ 156 h 411"/>
                  <a:gd name="T34" fmla="*/ 461 w 488"/>
                  <a:gd name="T35" fmla="*/ 123 h 411"/>
                  <a:gd name="T36" fmla="*/ 469 w 488"/>
                  <a:gd name="T37" fmla="*/ 85 h 411"/>
                  <a:gd name="T38" fmla="*/ 483 w 488"/>
                  <a:gd name="T39" fmla="*/ 46 h 411"/>
                  <a:gd name="T40" fmla="*/ 488 w 488"/>
                  <a:gd name="T41" fmla="*/ 30 h 411"/>
                  <a:gd name="T42" fmla="*/ 479 w 488"/>
                  <a:gd name="T43" fmla="*/ 11 h 411"/>
                  <a:gd name="T44" fmla="*/ 443 w 488"/>
                  <a:gd name="T45" fmla="*/ 0 h 411"/>
                  <a:gd name="T46" fmla="*/ 422 w 488"/>
                  <a:gd name="T47" fmla="*/ 8 h 411"/>
                  <a:gd name="T48" fmla="*/ 411 w 488"/>
                  <a:gd name="T49" fmla="*/ 86 h 411"/>
                  <a:gd name="T50" fmla="*/ 413 w 488"/>
                  <a:gd name="T51" fmla="*/ 143 h 411"/>
                  <a:gd name="T52" fmla="*/ 400 w 488"/>
                  <a:gd name="T53" fmla="*/ 154 h 411"/>
                  <a:gd name="T54" fmla="*/ 333 w 488"/>
                  <a:gd name="T55" fmla="*/ 173 h 411"/>
                  <a:gd name="T56" fmla="*/ 264 w 488"/>
                  <a:gd name="T57" fmla="*/ 194 h 411"/>
                  <a:gd name="T58" fmla="*/ 218 w 488"/>
                  <a:gd name="T59" fmla="*/ 201 h 411"/>
                  <a:gd name="T60" fmla="*/ 197 w 488"/>
                  <a:gd name="T61" fmla="*/ 216 h 411"/>
                  <a:gd name="T62" fmla="*/ 152 w 488"/>
                  <a:gd name="T63" fmla="*/ 242 h 411"/>
                  <a:gd name="T64" fmla="*/ 76 w 488"/>
                  <a:gd name="T65" fmla="*/ 280 h 411"/>
                  <a:gd name="T66" fmla="*/ 18 w 488"/>
                  <a:gd name="T67" fmla="*/ 310 h 4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88" h="411">
                    <a:moveTo>
                      <a:pt x="18" y="310"/>
                    </a:moveTo>
                    <a:lnTo>
                      <a:pt x="0" y="329"/>
                    </a:lnTo>
                    <a:lnTo>
                      <a:pt x="0" y="356"/>
                    </a:lnTo>
                    <a:lnTo>
                      <a:pt x="12" y="397"/>
                    </a:lnTo>
                    <a:lnTo>
                      <a:pt x="35" y="411"/>
                    </a:lnTo>
                    <a:lnTo>
                      <a:pt x="85" y="388"/>
                    </a:lnTo>
                    <a:lnTo>
                      <a:pt x="136" y="341"/>
                    </a:lnTo>
                    <a:lnTo>
                      <a:pt x="202" y="285"/>
                    </a:lnTo>
                    <a:lnTo>
                      <a:pt x="249" y="251"/>
                    </a:lnTo>
                    <a:lnTo>
                      <a:pt x="281" y="240"/>
                    </a:lnTo>
                    <a:lnTo>
                      <a:pt x="328" y="228"/>
                    </a:lnTo>
                    <a:lnTo>
                      <a:pt x="355" y="220"/>
                    </a:lnTo>
                    <a:lnTo>
                      <a:pt x="384" y="194"/>
                    </a:lnTo>
                    <a:lnTo>
                      <a:pt x="416" y="178"/>
                    </a:lnTo>
                    <a:lnTo>
                      <a:pt x="431" y="173"/>
                    </a:lnTo>
                    <a:lnTo>
                      <a:pt x="457" y="169"/>
                    </a:lnTo>
                    <a:lnTo>
                      <a:pt x="462" y="156"/>
                    </a:lnTo>
                    <a:lnTo>
                      <a:pt x="461" y="123"/>
                    </a:lnTo>
                    <a:lnTo>
                      <a:pt x="469" y="85"/>
                    </a:lnTo>
                    <a:lnTo>
                      <a:pt x="483" y="46"/>
                    </a:lnTo>
                    <a:lnTo>
                      <a:pt x="488" y="30"/>
                    </a:lnTo>
                    <a:lnTo>
                      <a:pt x="479" y="11"/>
                    </a:lnTo>
                    <a:lnTo>
                      <a:pt x="443" y="0"/>
                    </a:lnTo>
                    <a:lnTo>
                      <a:pt x="422" y="8"/>
                    </a:lnTo>
                    <a:lnTo>
                      <a:pt x="411" y="86"/>
                    </a:lnTo>
                    <a:lnTo>
                      <a:pt x="413" y="143"/>
                    </a:lnTo>
                    <a:lnTo>
                      <a:pt x="400" y="154"/>
                    </a:lnTo>
                    <a:lnTo>
                      <a:pt x="333" y="173"/>
                    </a:lnTo>
                    <a:lnTo>
                      <a:pt x="264" y="194"/>
                    </a:lnTo>
                    <a:lnTo>
                      <a:pt x="218" y="201"/>
                    </a:lnTo>
                    <a:lnTo>
                      <a:pt x="197" y="216"/>
                    </a:lnTo>
                    <a:lnTo>
                      <a:pt x="152" y="242"/>
                    </a:lnTo>
                    <a:lnTo>
                      <a:pt x="76" y="280"/>
                    </a:lnTo>
                    <a:lnTo>
                      <a:pt x="18" y="3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57370" name="Group 26"/>
          <p:cNvGrpSpPr>
            <a:grpSpLocks/>
          </p:cNvGrpSpPr>
          <p:nvPr/>
        </p:nvGrpSpPr>
        <p:grpSpPr bwMode="auto">
          <a:xfrm>
            <a:off x="6172200" y="2601913"/>
            <a:ext cx="3265488" cy="2882900"/>
            <a:chOff x="2928" y="1728"/>
            <a:chExt cx="2057" cy="1756"/>
          </a:xfrm>
        </p:grpSpPr>
        <p:sp>
          <p:nvSpPr>
            <p:cNvPr id="8216" name="Freeform 27"/>
            <p:cNvSpPr>
              <a:spLocks/>
            </p:cNvSpPr>
            <p:nvPr/>
          </p:nvSpPr>
          <p:spPr bwMode="auto">
            <a:xfrm rot="-3568356">
              <a:off x="3783" y="2220"/>
              <a:ext cx="514" cy="164"/>
            </a:xfrm>
            <a:custGeom>
              <a:avLst/>
              <a:gdLst>
                <a:gd name="T0" fmla="*/ 69 w 935"/>
                <a:gd name="T1" fmla="*/ 41 h 299"/>
                <a:gd name="T2" fmla="*/ 102 w 935"/>
                <a:gd name="T3" fmla="*/ 13 h 299"/>
                <a:gd name="T4" fmla="*/ 121 w 935"/>
                <a:gd name="T5" fmla="*/ 39 h 299"/>
                <a:gd name="T6" fmla="*/ 161 w 935"/>
                <a:gd name="T7" fmla="*/ 29 h 299"/>
                <a:gd name="T8" fmla="*/ 165 w 935"/>
                <a:gd name="T9" fmla="*/ 82 h 299"/>
                <a:gd name="T10" fmla="*/ 201 w 935"/>
                <a:gd name="T11" fmla="*/ 46 h 299"/>
                <a:gd name="T12" fmla="*/ 214 w 935"/>
                <a:gd name="T13" fmla="*/ 62 h 299"/>
                <a:gd name="T14" fmla="*/ 226 w 935"/>
                <a:gd name="T15" fmla="*/ 110 h 299"/>
                <a:gd name="T16" fmla="*/ 261 w 935"/>
                <a:gd name="T17" fmla="*/ 77 h 299"/>
                <a:gd name="T18" fmla="*/ 284 w 935"/>
                <a:gd name="T19" fmla="*/ 110 h 299"/>
                <a:gd name="T20" fmla="*/ 295 w 935"/>
                <a:gd name="T21" fmla="*/ 125 h 299"/>
                <a:gd name="T22" fmla="*/ 328 w 935"/>
                <a:gd name="T23" fmla="*/ 94 h 299"/>
                <a:gd name="T24" fmla="*/ 349 w 935"/>
                <a:gd name="T25" fmla="*/ 100 h 299"/>
                <a:gd name="T26" fmla="*/ 361 w 935"/>
                <a:gd name="T27" fmla="*/ 141 h 299"/>
                <a:gd name="T28" fmla="*/ 389 w 935"/>
                <a:gd name="T29" fmla="*/ 120 h 299"/>
                <a:gd name="T30" fmla="*/ 418 w 935"/>
                <a:gd name="T31" fmla="*/ 95 h 299"/>
                <a:gd name="T32" fmla="*/ 440 w 935"/>
                <a:gd name="T33" fmla="*/ 128 h 299"/>
                <a:gd name="T34" fmla="*/ 461 w 935"/>
                <a:gd name="T35" fmla="*/ 126 h 299"/>
                <a:gd name="T36" fmla="*/ 488 w 935"/>
                <a:gd name="T37" fmla="*/ 120 h 299"/>
                <a:gd name="T38" fmla="*/ 511 w 935"/>
                <a:gd name="T39" fmla="*/ 149 h 299"/>
                <a:gd name="T40" fmla="*/ 475 w 935"/>
                <a:gd name="T41" fmla="*/ 138 h 299"/>
                <a:gd name="T42" fmla="*/ 445 w 935"/>
                <a:gd name="T43" fmla="*/ 156 h 299"/>
                <a:gd name="T44" fmla="*/ 425 w 935"/>
                <a:gd name="T45" fmla="*/ 144 h 299"/>
                <a:gd name="T46" fmla="*/ 383 w 935"/>
                <a:gd name="T47" fmla="*/ 153 h 299"/>
                <a:gd name="T48" fmla="*/ 362 w 935"/>
                <a:gd name="T49" fmla="*/ 164 h 299"/>
                <a:gd name="T50" fmla="*/ 346 w 935"/>
                <a:gd name="T51" fmla="*/ 149 h 299"/>
                <a:gd name="T52" fmla="*/ 329 w 935"/>
                <a:gd name="T53" fmla="*/ 115 h 299"/>
                <a:gd name="T54" fmla="*/ 284 w 935"/>
                <a:gd name="T55" fmla="*/ 149 h 299"/>
                <a:gd name="T56" fmla="*/ 268 w 935"/>
                <a:gd name="T57" fmla="*/ 134 h 299"/>
                <a:gd name="T58" fmla="*/ 252 w 935"/>
                <a:gd name="T59" fmla="*/ 104 h 299"/>
                <a:gd name="T60" fmla="*/ 208 w 935"/>
                <a:gd name="T61" fmla="*/ 141 h 299"/>
                <a:gd name="T62" fmla="*/ 195 w 935"/>
                <a:gd name="T63" fmla="*/ 132 h 299"/>
                <a:gd name="T64" fmla="*/ 200 w 935"/>
                <a:gd name="T65" fmla="*/ 79 h 299"/>
                <a:gd name="T66" fmla="*/ 179 w 935"/>
                <a:gd name="T67" fmla="*/ 94 h 299"/>
                <a:gd name="T68" fmla="*/ 140 w 935"/>
                <a:gd name="T69" fmla="*/ 115 h 299"/>
                <a:gd name="T70" fmla="*/ 140 w 935"/>
                <a:gd name="T71" fmla="*/ 80 h 299"/>
                <a:gd name="T72" fmla="*/ 114 w 935"/>
                <a:gd name="T73" fmla="*/ 73 h 299"/>
                <a:gd name="T74" fmla="*/ 68 w 935"/>
                <a:gd name="T75" fmla="*/ 79 h 299"/>
                <a:gd name="T76" fmla="*/ 38 w 935"/>
                <a:gd name="T77" fmla="*/ 43 h 299"/>
                <a:gd name="T78" fmla="*/ 0 w 935"/>
                <a:gd name="T79" fmla="*/ 10 h 29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35" h="299">
                  <a:moveTo>
                    <a:pt x="25" y="0"/>
                  </a:moveTo>
                  <a:lnTo>
                    <a:pt x="125" y="74"/>
                  </a:lnTo>
                  <a:lnTo>
                    <a:pt x="153" y="72"/>
                  </a:lnTo>
                  <a:lnTo>
                    <a:pt x="185" y="24"/>
                  </a:lnTo>
                  <a:lnTo>
                    <a:pt x="218" y="50"/>
                  </a:lnTo>
                  <a:lnTo>
                    <a:pt x="221" y="72"/>
                  </a:lnTo>
                  <a:lnTo>
                    <a:pt x="260" y="33"/>
                  </a:lnTo>
                  <a:lnTo>
                    <a:pt x="292" y="52"/>
                  </a:lnTo>
                  <a:lnTo>
                    <a:pt x="289" y="161"/>
                  </a:lnTo>
                  <a:lnTo>
                    <a:pt x="300" y="150"/>
                  </a:lnTo>
                  <a:lnTo>
                    <a:pt x="352" y="89"/>
                  </a:lnTo>
                  <a:lnTo>
                    <a:pt x="365" y="83"/>
                  </a:lnTo>
                  <a:lnTo>
                    <a:pt x="385" y="94"/>
                  </a:lnTo>
                  <a:lnTo>
                    <a:pt x="390" y="113"/>
                  </a:lnTo>
                  <a:lnTo>
                    <a:pt x="396" y="212"/>
                  </a:lnTo>
                  <a:lnTo>
                    <a:pt x="412" y="201"/>
                  </a:lnTo>
                  <a:lnTo>
                    <a:pt x="461" y="144"/>
                  </a:lnTo>
                  <a:lnTo>
                    <a:pt x="474" y="140"/>
                  </a:lnTo>
                  <a:lnTo>
                    <a:pt x="494" y="150"/>
                  </a:lnTo>
                  <a:lnTo>
                    <a:pt x="516" y="201"/>
                  </a:lnTo>
                  <a:lnTo>
                    <a:pt x="516" y="223"/>
                  </a:lnTo>
                  <a:lnTo>
                    <a:pt x="537" y="227"/>
                  </a:lnTo>
                  <a:lnTo>
                    <a:pt x="548" y="218"/>
                  </a:lnTo>
                  <a:lnTo>
                    <a:pt x="597" y="172"/>
                  </a:lnTo>
                  <a:lnTo>
                    <a:pt x="615" y="166"/>
                  </a:lnTo>
                  <a:lnTo>
                    <a:pt x="635" y="183"/>
                  </a:lnTo>
                  <a:lnTo>
                    <a:pt x="643" y="218"/>
                  </a:lnTo>
                  <a:lnTo>
                    <a:pt x="657" y="257"/>
                  </a:lnTo>
                  <a:lnTo>
                    <a:pt x="670" y="257"/>
                  </a:lnTo>
                  <a:lnTo>
                    <a:pt x="708" y="218"/>
                  </a:lnTo>
                  <a:lnTo>
                    <a:pt x="744" y="177"/>
                  </a:lnTo>
                  <a:lnTo>
                    <a:pt x="761" y="173"/>
                  </a:lnTo>
                  <a:lnTo>
                    <a:pt x="782" y="177"/>
                  </a:lnTo>
                  <a:lnTo>
                    <a:pt x="801" y="233"/>
                  </a:lnTo>
                  <a:lnTo>
                    <a:pt x="817" y="240"/>
                  </a:lnTo>
                  <a:lnTo>
                    <a:pt x="839" y="229"/>
                  </a:lnTo>
                  <a:lnTo>
                    <a:pt x="866" y="212"/>
                  </a:lnTo>
                  <a:lnTo>
                    <a:pt x="888" y="218"/>
                  </a:lnTo>
                  <a:lnTo>
                    <a:pt x="935" y="260"/>
                  </a:lnTo>
                  <a:lnTo>
                    <a:pt x="930" y="271"/>
                  </a:lnTo>
                  <a:lnTo>
                    <a:pt x="893" y="284"/>
                  </a:lnTo>
                  <a:lnTo>
                    <a:pt x="864" y="251"/>
                  </a:lnTo>
                  <a:lnTo>
                    <a:pt x="850" y="255"/>
                  </a:lnTo>
                  <a:lnTo>
                    <a:pt x="810" y="284"/>
                  </a:lnTo>
                  <a:lnTo>
                    <a:pt x="788" y="279"/>
                  </a:lnTo>
                  <a:lnTo>
                    <a:pt x="773" y="262"/>
                  </a:lnTo>
                  <a:lnTo>
                    <a:pt x="755" y="212"/>
                  </a:lnTo>
                  <a:lnTo>
                    <a:pt x="697" y="279"/>
                  </a:lnTo>
                  <a:lnTo>
                    <a:pt x="679" y="299"/>
                  </a:lnTo>
                  <a:lnTo>
                    <a:pt x="659" y="299"/>
                  </a:lnTo>
                  <a:lnTo>
                    <a:pt x="635" y="290"/>
                  </a:lnTo>
                  <a:lnTo>
                    <a:pt x="630" y="271"/>
                  </a:lnTo>
                  <a:lnTo>
                    <a:pt x="608" y="210"/>
                  </a:lnTo>
                  <a:lnTo>
                    <a:pt x="599" y="210"/>
                  </a:lnTo>
                  <a:lnTo>
                    <a:pt x="545" y="266"/>
                  </a:lnTo>
                  <a:lnTo>
                    <a:pt x="516" y="271"/>
                  </a:lnTo>
                  <a:lnTo>
                    <a:pt x="496" y="266"/>
                  </a:lnTo>
                  <a:lnTo>
                    <a:pt x="488" y="245"/>
                  </a:lnTo>
                  <a:lnTo>
                    <a:pt x="472" y="196"/>
                  </a:lnTo>
                  <a:lnTo>
                    <a:pt x="458" y="190"/>
                  </a:lnTo>
                  <a:lnTo>
                    <a:pt x="414" y="244"/>
                  </a:lnTo>
                  <a:lnTo>
                    <a:pt x="379" y="257"/>
                  </a:lnTo>
                  <a:lnTo>
                    <a:pt x="365" y="255"/>
                  </a:lnTo>
                  <a:lnTo>
                    <a:pt x="354" y="240"/>
                  </a:lnTo>
                  <a:lnTo>
                    <a:pt x="359" y="179"/>
                  </a:lnTo>
                  <a:lnTo>
                    <a:pt x="363" y="144"/>
                  </a:lnTo>
                  <a:lnTo>
                    <a:pt x="352" y="138"/>
                  </a:lnTo>
                  <a:lnTo>
                    <a:pt x="325" y="172"/>
                  </a:lnTo>
                  <a:lnTo>
                    <a:pt x="281" y="207"/>
                  </a:lnTo>
                  <a:lnTo>
                    <a:pt x="254" y="210"/>
                  </a:lnTo>
                  <a:lnTo>
                    <a:pt x="243" y="188"/>
                  </a:lnTo>
                  <a:lnTo>
                    <a:pt x="254" y="146"/>
                  </a:lnTo>
                  <a:lnTo>
                    <a:pt x="261" y="89"/>
                  </a:lnTo>
                  <a:lnTo>
                    <a:pt x="207" y="133"/>
                  </a:lnTo>
                  <a:lnTo>
                    <a:pt x="151" y="161"/>
                  </a:lnTo>
                  <a:lnTo>
                    <a:pt x="123" y="144"/>
                  </a:lnTo>
                  <a:lnTo>
                    <a:pt x="123" y="107"/>
                  </a:lnTo>
                  <a:lnTo>
                    <a:pt x="69" y="79"/>
                  </a:lnTo>
                  <a:lnTo>
                    <a:pt x="16" y="39"/>
                  </a:lnTo>
                  <a:lnTo>
                    <a:pt x="0" y="18"/>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7" name="Freeform 28"/>
            <p:cNvSpPr>
              <a:spLocks/>
            </p:cNvSpPr>
            <p:nvPr/>
          </p:nvSpPr>
          <p:spPr bwMode="auto">
            <a:xfrm rot="2090987">
              <a:off x="3562" y="2230"/>
              <a:ext cx="514" cy="164"/>
            </a:xfrm>
            <a:custGeom>
              <a:avLst/>
              <a:gdLst>
                <a:gd name="T0" fmla="*/ 69 w 935"/>
                <a:gd name="T1" fmla="*/ 41 h 299"/>
                <a:gd name="T2" fmla="*/ 102 w 935"/>
                <a:gd name="T3" fmla="*/ 13 h 299"/>
                <a:gd name="T4" fmla="*/ 121 w 935"/>
                <a:gd name="T5" fmla="*/ 39 h 299"/>
                <a:gd name="T6" fmla="*/ 161 w 935"/>
                <a:gd name="T7" fmla="*/ 29 h 299"/>
                <a:gd name="T8" fmla="*/ 165 w 935"/>
                <a:gd name="T9" fmla="*/ 82 h 299"/>
                <a:gd name="T10" fmla="*/ 201 w 935"/>
                <a:gd name="T11" fmla="*/ 46 h 299"/>
                <a:gd name="T12" fmla="*/ 214 w 935"/>
                <a:gd name="T13" fmla="*/ 62 h 299"/>
                <a:gd name="T14" fmla="*/ 226 w 935"/>
                <a:gd name="T15" fmla="*/ 110 h 299"/>
                <a:gd name="T16" fmla="*/ 261 w 935"/>
                <a:gd name="T17" fmla="*/ 77 h 299"/>
                <a:gd name="T18" fmla="*/ 284 w 935"/>
                <a:gd name="T19" fmla="*/ 110 h 299"/>
                <a:gd name="T20" fmla="*/ 295 w 935"/>
                <a:gd name="T21" fmla="*/ 125 h 299"/>
                <a:gd name="T22" fmla="*/ 328 w 935"/>
                <a:gd name="T23" fmla="*/ 94 h 299"/>
                <a:gd name="T24" fmla="*/ 349 w 935"/>
                <a:gd name="T25" fmla="*/ 100 h 299"/>
                <a:gd name="T26" fmla="*/ 361 w 935"/>
                <a:gd name="T27" fmla="*/ 141 h 299"/>
                <a:gd name="T28" fmla="*/ 389 w 935"/>
                <a:gd name="T29" fmla="*/ 120 h 299"/>
                <a:gd name="T30" fmla="*/ 418 w 935"/>
                <a:gd name="T31" fmla="*/ 95 h 299"/>
                <a:gd name="T32" fmla="*/ 440 w 935"/>
                <a:gd name="T33" fmla="*/ 128 h 299"/>
                <a:gd name="T34" fmla="*/ 461 w 935"/>
                <a:gd name="T35" fmla="*/ 126 h 299"/>
                <a:gd name="T36" fmla="*/ 488 w 935"/>
                <a:gd name="T37" fmla="*/ 120 h 299"/>
                <a:gd name="T38" fmla="*/ 511 w 935"/>
                <a:gd name="T39" fmla="*/ 149 h 299"/>
                <a:gd name="T40" fmla="*/ 475 w 935"/>
                <a:gd name="T41" fmla="*/ 138 h 299"/>
                <a:gd name="T42" fmla="*/ 445 w 935"/>
                <a:gd name="T43" fmla="*/ 156 h 299"/>
                <a:gd name="T44" fmla="*/ 425 w 935"/>
                <a:gd name="T45" fmla="*/ 144 h 299"/>
                <a:gd name="T46" fmla="*/ 383 w 935"/>
                <a:gd name="T47" fmla="*/ 153 h 299"/>
                <a:gd name="T48" fmla="*/ 362 w 935"/>
                <a:gd name="T49" fmla="*/ 164 h 299"/>
                <a:gd name="T50" fmla="*/ 346 w 935"/>
                <a:gd name="T51" fmla="*/ 149 h 299"/>
                <a:gd name="T52" fmla="*/ 329 w 935"/>
                <a:gd name="T53" fmla="*/ 115 h 299"/>
                <a:gd name="T54" fmla="*/ 284 w 935"/>
                <a:gd name="T55" fmla="*/ 149 h 299"/>
                <a:gd name="T56" fmla="*/ 268 w 935"/>
                <a:gd name="T57" fmla="*/ 134 h 299"/>
                <a:gd name="T58" fmla="*/ 252 w 935"/>
                <a:gd name="T59" fmla="*/ 104 h 299"/>
                <a:gd name="T60" fmla="*/ 208 w 935"/>
                <a:gd name="T61" fmla="*/ 141 h 299"/>
                <a:gd name="T62" fmla="*/ 195 w 935"/>
                <a:gd name="T63" fmla="*/ 132 h 299"/>
                <a:gd name="T64" fmla="*/ 200 w 935"/>
                <a:gd name="T65" fmla="*/ 79 h 299"/>
                <a:gd name="T66" fmla="*/ 179 w 935"/>
                <a:gd name="T67" fmla="*/ 94 h 299"/>
                <a:gd name="T68" fmla="*/ 140 w 935"/>
                <a:gd name="T69" fmla="*/ 115 h 299"/>
                <a:gd name="T70" fmla="*/ 140 w 935"/>
                <a:gd name="T71" fmla="*/ 80 h 299"/>
                <a:gd name="T72" fmla="*/ 114 w 935"/>
                <a:gd name="T73" fmla="*/ 73 h 299"/>
                <a:gd name="T74" fmla="*/ 68 w 935"/>
                <a:gd name="T75" fmla="*/ 79 h 299"/>
                <a:gd name="T76" fmla="*/ 38 w 935"/>
                <a:gd name="T77" fmla="*/ 43 h 299"/>
                <a:gd name="T78" fmla="*/ 0 w 935"/>
                <a:gd name="T79" fmla="*/ 10 h 29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35" h="299">
                  <a:moveTo>
                    <a:pt x="25" y="0"/>
                  </a:moveTo>
                  <a:lnTo>
                    <a:pt x="125" y="74"/>
                  </a:lnTo>
                  <a:lnTo>
                    <a:pt x="153" y="72"/>
                  </a:lnTo>
                  <a:lnTo>
                    <a:pt x="185" y="24"/>
                  </a:lnTo>
                  <a:lnTo>
                    <a:pt x="218" y="50"/>
                  </a:lnTo>
                  <a:lnTo>
                    <a:pt x="221" y="72"/>
                  </a:lnTo>
                  <a:lnTo>
                    <a:pt x="260" y="33"/>
                  </a:lnTo>
                  <a:lnTo>
                    <a:pt x="292" y="52"/>
                  </a:lnTo>
                  <a:lnTo>
                    <a:pt x="289" y="161"/>
                  </a:lnTo>
                  <a:lnTo>
                    <a:pt x="300" y="150"/>
                  </a:lnTo>
                  <a:lnTo>
                    <a:pt x="352" y="89"/>
                  </a:lnTo>
                  <a:lnTo>
                    <a:pt x="365" y="83"/>
                  </a:lnTo>
                  <a:lnTo>
                    <a:pt x="385" y="94"/>
                  </a:lnTo>
                  <a:lnTo>
                    <a:pt x="390" y="113"/>
                  </a:lnTo>
                  <a:lnTo>
                    <a:pt x="396" y="212"/>
                  </a:lnTo>
                  <a:lnTo>
                    <a:pt x="412" y="201"/>
                  </a:lnTo>
                  <a:lnTo>
                    <a:pt x="461" y="144"/>
                  </a:lnTo>
                  <a:lnTo>
                    <a:pt x="474" y="140"/>
                  </a:lnTo>
                  <a:lnTo>
                    <a:pt x="494" y="150"/>
                  </a:lnTo>
                  <a:lnTo>
                    <a:pt x="516" y="201"/>
                  </a:lnTo>
                  <a:lnTo>
                    <a:pt x="516" y="223"/>
                  </a:lnTo>
                  <a:lnTo>
                    <a:pt x="537" y="227"/>
                  </a:lnTo>
                  <a:lnTo>
                    <a:pt x="548" y="218"/>
                  </a:lnTo>
                  <a:lnTo>
                    <a:pt x="597" y="172"/>
                  </a:lnTo>
                  <a:lnTo>
                    <a:pt x="615" y="166"/>
                  </a:lnTo>
                  <a:lnTo>
                    <a:pt x="635" y="183"/>
                  </a:lnTo>
                  <a:lnTo>
                    <a:pt x="643" y="218"/>
                  </a:lnTo>
                  <a:lnTo>
                    <a:pt x="657" y="257"/>
                  </a:lnTo>
                  <a:lnTo>
                    <a:pt x="670" y="257"/>
                  </a:lnTo>
                  <a:lnTo>
                    <a:pt x="708" y="218"/>
                  </a:lnTo>
                  <a:lnTo>
                    <a:pt x="744" y="177"/>
                  </a:lnTo>
                  <a:lnTo>
                    <a:pt x="761" y="173"/>
                  </a:lnTo>
                  <a:lnTo>
                    <a:pt x="782" y="177"/>
                  </a:lnTo>
                  <a:lnTo>
                    <a:pt x="801" y="233"/>
                  </a:lnTo>
                  <a:lnTo>
                    <a:pt x="817" y="240"/>
                  </a:lnTo>
                  <a:lnTo>
                    <a:pt x="839" y="229"/>
                  </a:lnTo>
                  <a:lnTo>
                    <a:pt x="866" y="212"/>
                  </a:lnTo>
                  <a:lnTo>
                    <a:pt x="888" y="218"/>
                  </a:lnTo>
                  <a:lnTo>
                    <a:pt x="935" y="260"/>
                  </a:lnTo>
                  <a:lnTo>
                    <a:pt x="930" y="271"/>
                  </a:lnTo>
                  <a:lnTo>
                    <a:pt x="893" y="284"/>
                  </a:lnTo>
                  <a:lnTo>
                    <a:pt x="864" y="251"/>
                  </a:lnTo>
                  <a:lnTo>
                    <a:pt x="850" y="255"/>
                  </a:lnTo>
                  <a:lnTo>
                    <a:pt x="810" y="284"/>
                  </a:lnTo>
                  <a:lnTo>
                    <a:pt x="788" y="279"/>
                  </a:lnTo>
                  <a:lnTo>
                    <a:pt x="773" y="262"/>
                  </a:lnTo>
                  <a:lnTo>
                    <a:pt x="755" y="212"/>
                  </a:lnTo>
                  <a:lnTo>
                    <a:pt x="697" y="279"/>
                  </a:lnTo>
                  <a:lnTo>
                    <a:pt x="679" y="299"/>
                  </a:lnTo>
                  <a:lnTo>
                    <a:pt x="659" y="299"/>
                  </a:lnTo>
                  <a:lnTo>
                    <a:pt x="635" y="290"/>
                  </a:lnTo>
                  <a:lnTo>
                    <a:pt x="630" y="271"/>
                  </a:lnTo>
                  <a:lnTo>
                    <a:pt x="608" y="210"/>
                  </a:lnTo>
                  <a:lnTo>
                    <a:pt x="599" y="210"/>
                  </a:lnTo>
                  <a:lnTo>
                    <a:pt x="545" y="266"/>
                  </a:lnTo>
                  <a:lnTo>
                    <a:pt x="516" y="271"/>
                  </a:lnTo>
                  <a:lnTo>
                    <a:pt x="496" y="266"/>
                  </a:lnTo>
                  <a:lnTo>
                    <a:pt x="488" y="245"/>
                  </a:lnTo>
                  <a:lnTo>
                    <a:pt x="472" y="196"/>
                  </a:lnTo>
                  <a:lnTo>
                    <a:pt x="458" y="190"/>
                  </a:lnTo>
                  <a:lnTo>
                    <a:pt x="414" y="244"/>
                  </a:lnTo>
                  <a:lnTo>
                    <a:pt x="379" y="257"/>
                  </a:lnTo>
                  <a:lnTo>
                    <a:pt x="365" y="255"/>
                  </a:lnTo>
                  <a:lnTo>
                    <a:pt x="354" y="240"/>
                  </a:lnTo>
                  <a:lnTo>
                    <a:pt x="359" y="179"/>
                  </a:lnTo>
                  <a:lnTo>
                    <a:pt x="363" y="144"/>
                  </a:lnTo>
                  <a:lnTo>
                    <a:pt x="352" y="138"/>
                  </a:lnTo>
                  <a:lnTo>
                    <a:pt x="325" y="172"/>
                  </a:lnTo>
                  <a:lnTo>
                    <a:pt x="281" y="207"/>
                  </a:lnTo>
                  <a:lnTo>
                    <a:pt x="254" y="210"/>
                  </a:lnTo>
                  <a:lnTo>
                    <a:pt x="243" y="188"/>
                  </a:lnTo>
                  <a:lnTo>
                    <a:pt x="254" y="146"/>
                  </a:lnTo>
                  <a:lnTo>
                    <a:pt x="261" y="89"/>
                  </a:lnTo>
                  <a:lnTo>
                    <a:pt x="207" y="133"/>
                  </a:lnTo>
                  <a:lnTo>
                    <a:pt x="151" y="161"/>
                  </a:lnTo>
                  <a:lnTo>
                    <a:pt x="123" y="144"/>
                  </a:lnTo>
                  <a:lnTo>
                    <a:pt x="123" y="107"/>
                  </a:lnTo>
                  <a:lnTo>
                    <a:pt x="69" y="79"/>
                  </a:lnTo>
                  <a:lnTo>
                    <a:pt x="16" y="39"/>
                  </a:lnTo>
                  <a:lnTo>
                    <a:pt x="0" y="18"/>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8" name="Freeform 29"/>
            <p:cNvSpPr>
              <a:spLocks/>
            </p:cNvSpPr>
            <p:nvPr/>
          </p:nvSpPr>
          <p:spPr bwMode="auto">
            <a:xfrm rot="-3611767">
              <a:off x="3404" y="2704"/>
              <a:ext cx="514" cy="165"/>
            </a:xfrm>
            <a:custGeom>
              <a:avLst/>
              <a:gdLst>
                <a:gd name="T0" fmla="*/ 69 w 935"/>
                <a:gd name="T1" fmla="*/ 41 h 299"/>
                <a:gd name="T2" fmla="*/ 102 w 935"/>
                <a:gd name="T3" fmla="*/ 13 h 299"/>
                <a:gd name="T4" fmla="*/ 121 w 935"/>
                <a:gd name="T5" fmla="*/ 40 h 299"/>
                <a:gd name="T6" fmla="*/ 161 w 935"/>
                <a:gd name="T7" fmla="*/ 29 h 299"/>
                <a:gd name="T8" fmla="*/ 165 w 935"/>
                <a:gd name="T9" fmla="*/ 83 h 299"/>
                <a:gd name="T10" fmla="*/ 201 w 935"/>
                <a:gd name="T11" fmla="*/ 46 h 299"/>
                <a:gd name="T12" fmla="*/ 214 w 935"/>
                <a:gd name="T13" fmla="*/ 62 h 299"/>
                <a:gd name="T14" fmla="*/ 226 w 935"/>
                <a:gd name="T15" fmla="*/ 111 h 299"/>
                <a:gd name="T16" fmla="*/ 261 w 935"/>
                <a:gd name="T17" fmla="*/ 77 h 299"/>
                <a:gd name="T18" fmla="*/ 284 w 935"/>
                <a:gd name="T19" fmla="*/ 111 h 299"/>
                <a:gd name="T20" fmla="*/ 295 w 935"/>
                <a:gd name="T21" fmla="*/ 125 h 299"/>
                <a:gd name="T22" fmla="*/ 328 w 935"/>
                <a:gd name="T23" fmla="*/ 95 h 299"/>
                <a:gd name="T24" fmla="*/ 349 w 935"/>
                <a:gd name="T25" fmla="*/ 101 h 299"/>
                <a:gd name="T26" fmla="*/ 361 w 935"/>
                <a:gd name="T27" fmla="*/ 142 h 299"/>
                <a:gd name="T28" fmla="*/ 389 w 935"/>
                <a:gd name="T29" fmla="*/ 120 h 299"/>
                <a:gd name="T30" fmla="*/ 418 w 935"/>
                <a:gd name="T31" fmla="*/ 95 h 299"/>
                <a:gd name="T32" fmla="*/ 440 w 935"/>
                <a:gd name="T33" fmla="*/ 129 h 299"/>
                <a:gd name="T34" fmla="*/ 461 w 935"/>
                <a:gd name="T35" fmla="*/ 126 h 299"/>
                <a:gd name="T36" fmla="*/ 488 w 935"/>
                <a:gd name="T37" fmla="*/ 120 h 299"/>
                <a:gd name="T38" fmla="*/ 511 w 935"/>
                <a:gd name="T39" fmla="*/ 150 h 299"/>
                <a:gd name="T40" fmla="*/ 475 w 935"/>
                <a:gd name="T41" fmla="*/ 139 h 299"/>
                <a:gd name="T42" fmla="*/ 445 w 935"/>
                <a:gd name="T43" fmla="*/ 157 h 299"/>
                <a:gd name="T44" fmla="*/ 425 w 935"/>
                <a:gd name="T45" fmla="*/ 145 h 299"/>
                <a:gd name="T46" fmla="*/ 383 w 935"/>
                <a:gd name="T47" fmla="*/ 154 h 299"/>
                <a:gd name="T48" fmla="*/ 362 w 935"/>
                <a:gd name="T49" fmla="*/ 165 h 299"/>
                <a:gd name="T50" fmla="*/ 346 w 935"/>
                <a:gd name="T51" fmla="*/ 150 h 299"/>
                <a:gd name="T52" fmla="*/ 329 w 935"/>
                <a:gd name="T53" fmla="*/ 116 h 299"/>
                <a:gd name="T54" fmla="*/ 284 w 935"/>
                <a:gd name="T55" fmla="*/ 150 h 299"/>
                <a:gd name="T56" fmla="*/ 268 w 935"/>
                <a:gd name="T57" fmla="*/ 135 h 299"/>
                <a:gd name="T58" fmla="*/ 252 w 935"/>
                <a:gd name="T59" fmla="*/ 105 h 299"/>
                <a:gd name="T60" fmla="*/ 208 w 935"/>
                <a:gd name="T61" fmla="*/ 142 h 299"/>
                <a:gd name="T62" fmla="*/ 195 w 935"/>
                <a:gd name="T63" fmla="*/ 132 h 299"/>
                <a:gd name="T64" fmla="*/ 200 w 935"/>
                <a:gd name="T65" fmla="*/ 79 h 299"/>
                <a:gd name="T66" fmla="*/ 179 w 935"/>
                <a:gd name="T67" fmla="*/ 95 h 299"/>
                <a:gd name="T68" fmla="*/ 140 w 935"/>
                <a:gd name="T69" fmla="*/ 116 h 299"/>
                <a:gd name="T70" fmla="*/ 140 w 935"/>
                <a:gd name="T71" fmla="*/ 81 h 299"/>
                <a:gd name="T72" fmla="*/ 114 w 935"/>
                <a:gd name="T73" fmla="*/ 73 h 299"/>
                <a:gd name="T74" fmla="*/ 68 w 935"/>
                <a:gd name="T75" fmla="*/ 79 h 299"/>
                <a:gd name="T76" fmla="*/ 38 w 935"/>
                <a:gd name="T77" fmla="*/ 44 h 299"/>
                <a:gd name="T78" fmla="*/ 0 w 935"/>
                <a:gd name="T79" fmla="*/ 10 h 29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35" h="299">
                  <a:moveTo>
                    <a:pt x="25" y="0"/>
                  </a:moveTo>
                  <a:lnTo>
                    <a:pt x="125" y="74"/>
                  </a:lnTo>
                  <a:lnTo>
                    <a:pt x="153" y="72"/>
                  </a:lnTo>
                  <a:lnTo>
                    <a:pt x="185" y="24"/>
                  </a:lnTo>
                  <a:lnTo>
                    <a:pt x="218" y="50"/>
                  </a:lnTo>
                  <a:lnTo>
                    <a:pt x="221" y="72"/>
                  </a:lnTo>
                  <a:lnTo>
                    <a:pt x="260" y="33"/>
                  </a:lnTo>
                  <a:lnTo>
                    <a:pt x="292" y="52"/>
                  </a:lnTo>
                  <a:lnTo>
                    <a:pt x="289" y="161"/>
                  </a:lnTo>
                  <a:lnTo>
                    <a:pt x="300" y="150"/>
                  </a:lnTo>
                  <a:lnTo>
                    <a:pt x="352" y="89"/>
                  </a:lnTo>
                  <a:lnTo>
                    <a:pt x="365" y="83"/>
                  </a:lnTo>
                  <a:lnTo>
                    <a:pt x="385" y="94"/>
                  </a:lnTo>
                  <a:lnTo>
                    <a:pt x="390" y="113"/>
                  </a:lnTo>
                  <a:lnTo>
                    <a:pt x="396" y="212"/>
                  </a:lnTo>
                  <a:lnTo>
                    <a:pt x="412" y="201"/>
                  </a:lnTo>
                  <a:lnTo>
                    <a:pt x="461" y="144"/>
                  </a:lnTo>
                  <a:lnTo>
                    <a:pt x="474" y="140"/>
                  </a:lnTo>
                  <a:lnTo>
                    <a:pt x="494" y="150"/>
                  </a:lnTo>
                  <a:lnTo>
                    <a:pt x="516" y="201"/>
                  </a:lnTo>
                  <a:lnTo>
                    <a:pt x="516" y="223"/>
                  </a:lnTo>
                  <a:lnTo>
                    <a:pt x="537" y="227"/>
                  </a:lnTo>
                  <a:lnTo>
                    <a:pt x="548" y="218"/>
                  </a:lnTo>
                  <a:lnTo>
                    <a:pt x="597" y="172"/>
                  </a:lnTo>
                  <a:lnTo>
                    <a:pt x="615" y="166"/>
                  </a:lnTo>
                  <a:lnTo>
                    <a:pt x="635" y="183"/>
                  </a:lnTo>
                  <a:lnTo>
                    <a:pt x="643" y="218"/>
                  </a:lnTo>
                  <a:lnTo>
                    <a:pt x="657" y="257"/>
                  </a:lnTo>
                  <a:lnTo>
                    <a:pt x="670" y="257"/>
                  </a:lnTo>
                  <a:lnTo>
                    <a:pt x="708" y="218"/>
                  </a:lnTo>
                  <a:lnTo>
                    <a:pt x="744" y="177"/>
                  </a:lnTo>
                  <a:lnTo>
                    <a:pt x="761" y="173"/>
                  </a:lnTo>
                  <a:lnTo>
                    <a:pt x="782" y="177"/>
                  </a:lnTo>
                  <a:lnTo>
                    <a:pt x="801" y="233"/>
                  </a:lnTo>
                  <a:lnTo>
                    <a:pt x="817" y="240"/>
                  </a:lnTo>
                  <a:lnTo>
                    <a:pt x="839" y="229"/>
                  </a:lnTo>
                  <a:lnTo>
                    <a:pt x="866" y="212"/>
                  </a:lnTo>
                  <a:lnTo>
                    <a:pt x="888" y="218"/>
                  </a:lnTo>
                  <a:lnTo>
                    <a:pt x="935" y="260"/>
                  </a:lnTo>
                  <a:lnTo>
                    <a:pt x="930" y="271"/>
                  </a:lnTo>
                  <a:lnTo>
                    <a:pt x="893" y="284"/>
                  </a:lnTo>
                  <a:lnTo>
                    <a:pt x="864" y="251"/>
                  </a:lnTo>
                  <a:lnTo>
                    <a:pt x="850" y="255"/>
                  </a:lnTo>
                  <a:lnTo>
                    <a:pt x="810" y="284"/>
                  </a:lnTo>
                  <a:lnTo>
                    <a:pt x="788" y="279"/>
                  </a:lnTo>
                  <a:lnTo>
                    <a:pt x="773" y="262"/>
                  </a:lnTo>
                  <a:lnTo>
                    <a:pt x="755" y="212"/>
                  </a:lnTo>
                  <a:lnTo>
                    <a:pt x="697" y="279"/>
                  </a:lnTo>
                  <a:lnTo>
                    <a:pt x="679" y="299"/>
                  </a:lnTo>
                  <a:lnTo>
                    <a:pt x="659" y="299"/>
                  </a:lnTo>
                  <a:lnTo>
                    <a:pt x="635" y="290"/>
                  </a:lnTo>
                  <a:lnTo>
                    <a:pt x="630" y="271"/>
                  </a:lnTo>
                  <a:lnTo>
                    <a:pt x="608" y="210"/>
                  </a:lnTo>
                  <a:lnTo>
                    <a:pt x="599" y="210"/>
                  </a:lnTo>
                  <a:lnTo>
                    <a:pt x="545" y="266"/>
                  </a:lnTo>
                  <a:lnTo>
                    <a:pt x="516" y="271"/>
                  </a:lnTo>
                  <a:lnTo>
                    <a:pt x="496" y="266"/>
                  </a:lnTo>
                  <a:lnTo>
                    <a:pt x="488" y="245"/>
                  </a:lnTo>
                  <a:lnTo>
                    <a:pt x="472" y="196"/>
                  </a:lnTo>
                  <a:lnTo>
                    <a:pt x="458" y="190"/>
                  </a:lnTo>
                  <a:lnTo>
                    <a:pt x="414" y="244"/>
                  </a:lnTo>
                  <a:lnTo>
                    <a:pt x="379" y="257"/>
                  </a:lnTo>
                  <a:lnTo>
                    <a:pt x="365" y="255"/>
                  </a:lnTo>
                  <a:lnTo>
                    <a:pt x="354" y="240"/>
                  </a:lnTo>
                  <a:lnTo>
                    <a:pt x="359" y="179"/>
                  </a:lnTo>
                  <a:lnTo>
                    <a:pt x="363" y="144"/>
                  </a:lnTo>
                  <a:lnTo>
                    <a:pt x="352" y="138"/>
                  </a:lnTo>
                  <a:lnTo>
                    <a:pt x="325" y="172"/>
                  </a:lnTo>
                  <a:lnTo>
                    <a:pt x="281" y="207"/>
                  </a:lnTo>
                  <a:lnTo>
                    <a:pt x="254" y="210"/>
                  </a:lnTo>
                  <a:lnTo>
                    <a:pt x="243" y="188"/>
                  </a:lnTo>
                  <a:lnTo>
                    <a:pt x="254" y="146"/>
                  </a:lnTo>
                  <a:lnTo>
                    <a:pt x="261" y="89"/>
                  </a:lnTo>
                  <a:lnTo>
                    <a:pt x="207" y="133"/>
                  </a:lnTo>
                  <a:lnTo>
                    <a:pt x="151" y="161"/>
                  </a:lnTo>
                  <a:lnTo>
                    <a:pt x="123" y="144"/>
                  </a:lnTo>
                  <a:lnTo>
                    <a:pt x="123" y="107"/>
                  </a:lnTo>
                  <a:lnTo>
                    <a:pt x="69" y="79"/>
                  </a:lnTo>
                  <a:lnTo>
                    <a:pt x="16" y="39"/>
                  </a:lnTo>
                  <a:lnTo>
                    <a:pt x="0" y="18"/>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9" name="AutoShape 30"/>
            <p:cNvSpPr>
              <a:spLocks noChangeArrowheads="1"/>
            </p:cNvSpPr>
            <p:nvPr/>
          </p:nvSpPr>
          <p:spPr bwMode="auto">
            <a:xfrm>
              <a:off x="3694" y="2362"/>
              <a:ext cx="475" cy="369"/>
            </a:xfrm>
            <a:prstGeom prst="irregularSeal2">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aphicFrame>
          <p:nvGraphicFramePr>
            <p:cNvPr id="8220" name="Object 31"/>
            <p:cNvGraphicFramePr>
              <a:graphicFrameLocks noChangeAspect="1"/>
            </p:cNvGraphicFramePr>
            <p:nvPr/>
          </p:nvGraphicFramePr>
          <p:xfrm>
            <a:off x="2928" y="1728"/>
            <a:ext cx="789" cy="673"/>
          </p:xfrm>
          <a:graphic>
            <a:graphicData uri="http://schemas.openxmlformats.org/presentationml/2006/ole">
              <mc:AlternateContent xmlns:mc="http://schemas.openxmlformats.org/markup-compatibility/2006">
                <mc:Choice xmlns:v="urn:schemas-microsoft-com:vml" Requires="v">
                  <p:oleObj name="Microsoft ClipArt Gallery" r:id="rId2" imgW="2276475" imgH="1943100" progId="MS_ClipArt_Gallery">
                    <p:embed/>
                  </p:oleObj>
                </mc:Choice>
                <mc:Fallback>
                  <p:oleObj name="Microsoft ClipArt Gallery" r:id="rId2" imgW="2276475" imgH="1943100" progId="MS_ClipArt_Gallery">
                    <p:embed/>
                    <p:pic>
                      <p:nvPicPr>
                        <p:cNvPr id="8220" name="Object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1728"/>
                          <a:ext cx="789" cy="6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221" name="Group 32"/>
            <p:cNvGrpSpPr>
              <a:grpSpLocks/>
            </p:cNvGrpSpPr>
            <p:nvPr/>
          </p:nvGrpSpPr>
          <p:grpSpPr bwMode="auto">
            <a:xfrm flipH="1">
              <a:off x="4195" y="1754"/>
              <a:ext cx="790" cy="673"/>
              <a:chOff x="3983" y="2787"/>
              <a:chExt cx="1436" cy="1223"/>
            </a:xfrm>
          </p:grpSpPr>
          <p:grpSp>
            <p:nvGrpSpPr>
              <p:cNvPr id="8223" name="Group 33"/>
              <p:cNvGrpSpPr>
                <a:grpSpLocks/>
              </p:cNvGrpSpPr>
              <p:nvPr/>
            </p:nvGrpSpPr>
            <p:grpSpPr bwMode="auto">
              <a:xfrm>
                <a:off x="4497" y="2787"/>
                <a:ext cx="922" cy="983"/>
                <a:chOff x="4497" y="2787"/>
                <a:chExt cx="922" cy="983"/>
              </a:xfrm>
            </p:grpSpPr>
            <p:sp>
              <p:nvSpPr>
                <p:cNvPr id="8231" name="Freeform 34"/>
                <p:cNvSpPr>
                  <a:spLocks/>
                </p:cNvSpPr>
                <p:nvPr/>
              </p:nvSpPr>
              <p:spPr bwMode="auto">
                <a:xfrm>
                  <a:off x="4513" y="2795"/>
                  <a:ext cx="901" cy="965"/>
                </a:xfrm>
                <a:custGeom>
                  <a:avLst/>
                  <a:gdLst>
                    <a:gd name="T0" fmla="*/ 186 w 901"/>
                    <a:gd name="T1" fmla="*/ 585 h 965"/>
                    <a:gd name="T2" fmla="*/ 109 w 901"/>
                    <a:gd name="T3" fmla="*/ 634 h 965"/>
                    <a:gd name="T4" fmla="*/ 14 w 901"/>
                    <a:gd name="T5" fmla="*/ 696 h 965"/>
                    <a:gd name="T6" fmla="*/ 4 w 901"/>
                    <a:gd name="T7" fmla="*/ 758 h 965"/>
                    <a:gd name="T8" fmla="*/ 0 w 901"/>
                    <a:gd name="T9" fmla="*/ 875 h 965"/>
                    <a:gd name="T10" fmla="*/ 142 w 901"/>
                    <a:gd name="T11" fmla="*/ 891 h 965"/>
                    <a:gd name="T12" fmla="*/ 302 w 901"/>
                    <a:gd name="T13" fmla="*/ 899 h 965"/>
                    <a:gd name="T14" fmla="*/ 539 w 901"/>
                    <a:gd name="T15" fmla="*/ 933 h 965"/>
                    <a:gd name="T16" fmla="*/ 714 w 901"/>
                    <a:gd name="T17" fmla="*/ 965 h 965"/>
                    <a:gd name="T18" fmla="*/ 794 w 901"/>
                    <a:gd name="T19" fmla="*/ 862 h 965"/>
                    <a:gd name="T20" fmla="*/ 901 w 901"/>
                    <a:gd name="T21" fmla="*/ 652 h 965"/>
                    <a:gd name="T22" fmla="*/ 898 w 901"/>
                    <a:gd name="T23" fmla="*/ 584 h 965"/>
                    <a:gd name="T24" fmla="*/ 875 w 901"/>
                    <a:gd name="T25" fmla="*/ 553 h 965"/>
                    <a:gd name="T26" fmla="*/ 795 w 901"/>
                    <a:gd name="T27" fmla="*/ 545 h 965"/>
                    <a:gd name="T28" fmla="*/ 860 w 901"/>
                    <a:gd name="T29" fmla="*/ 382 h 965"/>
                    <a:gd name="T30" fmla="*/ 873 w 901"/>
                    <a:gd name="T31" fmla="*/ 331 h 965"/>
                    <a:gd name="T32" fmla="*/ 875 w 901"/>
                    <a:gd name="T33" fmla="*/ 198 h 965"/>
                    <a:gd name="T34" fmla="*/ 871 w 901"/>
                    <a:gd name="T35" fmla="*/ 99 h 965"/>
                    <a:gd name="T36" fmla="*/ 846 w 901"/>
                    <a:gd name="T37" fmla="*/ 50 h 965"/>
                    <a:gd name="T38" fmla="*/ 820 w 901"/>
                    <a:gd name="T39" fmla="*/ 47 h 965"/>
                    <a:gd name="T40" fmla="*/ 756 w 901"/>
                    <a:gd name="T41" fmla="*/ 47 h 965"/>
                    <a:gd name="T42" fmla="*/ 651 w 901"/>
                    <a:gd name="T43" fmla="*/ 36 h 965"/>
                    <a:gd name="T44" fmla="*/ 585 w 901"/>
                    <a:gd name="T45" fmla="*/ 16 h 965"/>
                    <a:gd name="T46" fmla="*/ 513 w 901"/>
                    <a:gd name="T47" fmla="*/ 0 h 965"/>
                    <a:gd name="T48" fmla="*/ 484 w 901"/>
                    <a:gd name="T49" fmla="*/ 3 h 965"/>
                    <a:gd name="T50" fmla="*/ 416 w 901"/>
                    <a:gd name="T51" fmla="*/ 21 h 965"/>
                    <a:gd name="T52" fmla="*/ 322 w 901"/>
                    <a:gd name="T53" fmla="*/ 31 h 965"/>
                    <a:gd name="T54" fmla="*/ 198 w 901"/>
                    <a:gd name="T55" fmla="*/ 53 h 965"/>
                    <a:gd name="T56" fmla="*/ 150 w 901"/>
                    <a:gd name="T57" fmla="*/ 73 h 965"/>
                    <a:gd name="T58" fmla="*/ 102 w 901"/>
                    <a:gd name="T59" fmla="*/ 110 h 965"/>
                    <a:gd name="T60" fmla="*/ 84 w 901"/>
                    <a:gd name="T61" fmla="*/ 173 h 965"/>
                    <a:gd name="T62" fmla="*/ 68 w 901"/>
                    <a:gd name="T63" fmla="*/ 279 h 965"/>
                    <a:gd name="T64" fmla="*/ 52 w 901"/>
                    <a:gd name="T65" fmla="*/ 406 h 965"/>
                    <a:gd name="T66" fmla="*/ 49 w 901"/>
                    <a:gd name="T67" fmla="*/ 482 h 965"/>
                    <a:gd name="T68" fmla="*/ 60 w 901"/>
                    <a:gd name="T69" fmla="*/ 528 h 965"/>
                    <a:gd name="T70" fmla="*/ 83 w 901"/>
                    <a:gd name="T71" fmla="*/ 555 h 965"/>
                    <a:gd name="T72" fmla="*/ 114 w 901"/>
                    <a:gd name="T73" fmla="*/ 569 h 965"/>
                    <a:gd name="T74" fmla="*/ 186 w 901"/>
                    <a:gd name="T75" fmla="*/ 585 h 96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901" h="965">
                      <a:moveTo>
                        <a:pt x="186" y="585"/>
                      </a:moveTo>
                      <a:lnTo>
                        <a:pt x="109" y="634"/>
                      </a:lnTo>
                      <a:lnTo>
                        <a:pt x="14" y="696"/>
                      </a:lnTo>
                      <a:lnTo>
                        <a:pt x="4" y="758"/>
                      </a:lnTo>
                      <a:lnTo>
                        <a:pt x="0" y="875"/>
                      </a:lnTo>
                      <a:lnTo>
                        <a:pt x="142" y="891"/>
                      </a:lnTo>
                      <a:lnTo>
                        <a:pt x="302" y="899"/>
                      </a:lnTo>
                      <a:lnTo>
                        <a:pt x="539" y="933"/>
                      </a:lnTo>
                      <a:lnTo>
                        <a:pt x="714" y="965"/>
                      </a:lnTo>
                      <a:lnTo>
                        <a:pt x="794" y="862"/>
                      </a:lnTo>
                      <a:lnTo>
                        <a:pt x="901" y="652"/>
                      </a:lnTo>
                      <a:lnTo>
                        <a:pt x="898" y="584"/>
                      </a:lnTo>
                      <a:lnTo>
                        <a:pt x="875" y="553"/>
                      </a:lnTo>
                      <a:lnTo>
                        <a:pt x="795" y="545"/>
                      </a:lnTo>
                      <a:lnTo>
                        <a:pt x="860" y="382"/>
                      </a:lnTo>
                      <a:lnTo>
                        <a:pt x="873" y="331"/>
                      </a:lnTo>
                      <a:lnTo>
                        <a:pt x="875" y="198"/>
                      </a:lnTo>
                      <a:lnTo>
                        <a:pt x="871" y="99"/>
                      </a:lnTo>
                      <a:lnTo>
                        <a:pt x="846" y="50"/>
                      </a:lnTo>
                      <a:lnTo>
                        <a:pt x="820" y="47"/>
                      </a:lnTo>
                      <a:lnTo>
                        <a:pt x="756" y="47"/>
                      </a:lnTo>
                      <a:lnTo>
                        <a:pt x="651" y="36"/>
                      </a:lnTo>
                      <a:lnTo>
                        <a:pt x="585" y="16"/>
                      </a:lnTo>
                      <a:lnTo>
                        <a:pt x="513" y="0"/>
                      </a:lnTo>
                      <a:lnTo>
                        <a:pt x="484" y="3"/>
                      </a:lnTo>
                      <a:lnTo>
                        <a:pt x="416" y="21"/>
                      </a:lnTo>
                      <a:lnTo>
                        <a:pt x="322" y="31"/>
                      </a:lnTo>
                      <a:lnTo>
                        <a:pt x="198" y="53"/>
                      </a:lnTo>
                      <a:lnTo>
                        <a:pt x="150" y="73"/>
                      </a:lnTo>
                      <a:lnTo>
                        <a:pt x="102" y="110"/>
                      </a:lnTo>
                      <a:lnTo>
                        <a:pt x="84" y="173"/>
                      </a:lnTo>
                      <a:lnTo>
                        <a:pt x="68" y="279"/>
                      </a:lnTo>
                      <a:lnTo>
                        <a:pt x="52" y="406"/>
                      </a:lnTo>
                      <a:lnTo>
                        <a:pt x="49" y="482"/>
                      </a:lnTo>
                      <a:lnTo>
                        <a:pt x="60" y="528"/>
                      </a:lnTo>
                      <a:lnTo>
                        <a:pt x="83" y="555"/>
                      </a:lnTo>
                      <a:lnTo>
                        <a:pt x="114" y="569"/>
                      </a:lnTo>
                      <a:lnTo>
                        <a:pt x="186" y="585"/>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2" name="Freeform 35"/>
                <p:cNvSpPr>
                  <a:spLocks/>
                </p:cNvSpPr>
                <p:nvPr/>
              </p:nvSpPr>
              <p:spPr bwMode="auto">
                <a:xfrm>
                  <a:off x="4652" y="2928"/>
                  <a:ext cx="500" cy="448"/>
                </a:xfrm>
                <a:custGeom>
                  <a:avLst/>
                  <a:gdLst>
                    <a:gd name="T0" fmla="*/ 24 w 500"/>
                    <a:gd name="T1" fmla="*/ 92 h 448"/>
                    <a:gd name="T2" fmla="*/ 41 w 500"/>
                    <a:gd name="T3" fmla="*/ 21 h 448"/>
                    <a:gd name="T4" fmla="*/ 56 w 500"/>
                    <a:gd name="T5" fmla="*/ 3 h 448"/>
                    <a:gd name="T6" fmla="*/ 87 w 500"/>
                    <a:gd name="T7" fmla="*/ 0 h 448"/>
                    <a:gd name="T8" fmla="*/ 215 w 500"/>
                    <a:gd name="T9" fmla="*/ 16 h 448"/>
                    <a:gd name="T10" fmla="*/ 371 w 500"/>
                    <a:gd name="T11" fmla="*/ 39 h 448"/>
                    <a:gd name="T12" fmla="*/ 462 w 500"/>
                    <a:gd name="T13" fmla="*/ 55 h 448"/>
                    <a:gd name="T14" fmla="*/ 482 w 500"/>
                    <a:gd name="T15" fmla="*/ 72 h 448"/>
                    <a:gd name="T16" fmla="*/ 493 w 500"/>
                    <a:gd name="T17" fmla="*/ 102 h 448"/>
                    <a:gd name="T18" fmla="*/ 498 w 500"/>
                    <a:gd name="T19" fmla="*/ 219 h 448"/>
                    <a:gd name="T20" fmla="*/ 500 w 500"/>
                    <a:gd name="T21" fmla="*/ 348 h 448"/>
                    <a:gd name="T22" fmla="*/ 493 w 500"/>
                    <a:gd name="T23" fmla="*/ 430 h 448"/>
                    <a:gd name="T24" fmla="*/ 482 w 500"/>
                    <a:gd name="T25" fmla="*/ 444 h 448"/>
                    <a:gd name="T26" fmla="*/ 453 w 500"/>
                    <a:gd name="T27" fmla="*/ 448 h 448"/>
                    <a:gd name="T28" fmla="*/ 319 w 500"/>
                    <a:gd name="T29" fmla="*/ 424 h 448"/>
                    <a:gd name="T30" fmla="*/ 117 w 500"/>
                    <a:gd name="T31" fmla="*/ 382 h 448"/>
                    <a:gd name="T32" fmla="*/ 16 w 500"/>
                    <a:gd name="T33" fmla="*/ 355 h 448"/>
                    <a:gd name="T34" fmla="*/ 3 w 500"/>
                    <a:gd name="T35" fmla="*/ 333 h 448"/>
                    <a:gd name="T36" fmla="*/ 0 w 500"/>
                    <a:gd name="T37" fmla="*/ 289 h 448"/>
                    <a:gd name="T38" fmla="*/ 6 w 500"/>
                    <a:gd name="T39" fmla="*/ 189 h 448"/>
                    <a:gd name="T40" fmla="*/ 24 w 500"/>
                    <a:gd name="T41" fmla="*/ 92 h 4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00" h="448">
                      <a:moveTo>
                        <a:pt x="24" y="92"/>
                      </a:moveTo>
                      <a:lnTo>
                        <a:pt x="41" y="21"/>
                      </a:lnTo>
                      <a:lnTo>
                        <a:pt x="56" y="3"/>
                      </a:lnTo>
                      <a:lnTo>
                        <a:pt x="87" y="0"/>
                      </a:lnTo>
                      <a:lnTo>
                        <a:pt x="215" y="16"/>
                      </a:lnTo>
                      <a:lnTo>
                        <a:pt x="371" y="39"/>
                      </a:lnTo>
                      <a:lnTo>
                        <a:pt x="462" y="55"/>
                      </a:lnTo>
                      <a:lnTo>
                        <a:pt x="482" y="72"/>
                      </a:lnTo>
                      <a:lnTo>
                        <a:pt x="493" y="102"/>
                      </a:lnTo>
                      <a:lnTo>
                        <a:pt x="498" y="219"/>
                      </a:lnTo>
                      <a:lnTo>
                        <a:pt x="500" y="348"/>
                      </a:lnTo>
                      <a:lnTo>
                        <a:pt x="493" y="430"/>
                      </a:lnTo>
                      <a:lnTo>
                        <a:pt x="482" y="444"/>
                      </a:lnTo>
                      <a:lnTo>
                        <a:pt x="453" y="448"/>
                      </a:lnTo>
                      <a:lnTo>
                        <a:pt x="319" y="424"/>
                      </a:lnTo>
                      <a:lnTo>
                        <a:pt x="117" y="382"/>
                      </a:lnTo>
                      <a:lnTo>
                        <a:pt x="16" y="355"/>
                      </a:lnTo>
                      <a:lnTo>
                        <a:pt x="3" y="333"/>
                      </a:lnTo>
                      <a:lnTo>
                        <a:pt x="0" y="289"/>
                      </a:lnTo>
                      <a:lnTo>
                        <a:pt x="6" y="189"/>
                      </a:lnTo>
                      <a:lnTo>
                        <a:pt x="24" y="92"/>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8233" name="Group 36"/>
                <p:cNvGrpSpPr>
                  <a:grpSpLocks/>
                </p:cNvGrpSpPr>
                <p:nvPr/>
              </p:nvGrpSpPr>
              <p:grpSpPr bwMode="auto">
                <a:xfrm>
                  <a:off x="4497" y="2787"/>
                  <a:ext cx="922" cy="983"/>
                  <a:chOff x="4497" y="2787"/>
                  <a:chExt cx="922" cy="983"/>
                </a:xfrm>
              </p:grpSpPr>
              <p:sp>
                <p:nvSpPr>
                  <p:cNvPr id="8234" name="Freeform 37"/>
                  <p:cNvSpPr>
                    <a:spLocks/>
                  </p:cNvSpPr>
                  <p:nvPr/>
                </p:nvSpPr>
                <p:spPr bwMode="auto">
                  <a:xfrm>
                    <a:off x="4497" y="3334"/>
                    <a:ext cx="922" cy="436"/>
                  </a:xfrm>
                  <a:custGeom>
                    <a:avLst/>
                    <a:gdLst>
                      <a:gd name="T0" fmla="*/ 15 w 922"/>
                      <a:gd name="T1" fmla="*/ 153 h 436"/>
                      <a:gd name="T2" fmla="*/ 139 w 922"/>
                      <a:gd name="T3" fmla="*/ 76 h 436"/>
                      <a:gd name="T4" fmla="*/ 139 w 922"/>
                      <a:gd name="T5" fmla="*/ 98 h 436"/>
                      <a:gd name="T6" fmla="*/ 54 w 922"/>
                      <a:gd name="T7" fmla="*/ 154 h 436"/>
                      <a:gd name="T8" fmla="*/ 186 w 922"/>
                      <a:gd name="T9" fmla="*/ 168 h 436"/>
                      <a:gd name="T10" fmla="*/ 460 w 922"/>
                      <a:gd name="T11" fmla="*/ 215 h 436"/>
                      <a:gd name="T12" fmla="*/ 607 w 922"/>
                      <a:gd name="T13" fmla="*/ 227 h 436"/>
                      <a:gd name="T14" fmla="*/ 701 w 922"/>
                      <a:gd name="T15" fmla="*/ 224 h 436"/>
                      <a:gd name="T16" fmla="*/ 727 w 922"/>
                      <a:gd name="T17" fmla="*/ 221 h 436"/>
                      <a:gd name="T18" fmla="*/ 869 w 922"/>
                      <a:gd name="T19" fmla="*/ 22 h 436"/>
                      <a:gd name="T20" fmla="*/ 821 w 922"/>
                      <a:gd name="T21" fmla="*/ 0 h 436"/>
                      <a:gd name="T22" fmla="*/ 896 w 922"/>
                      <a:gd name="T23" fmla="*/ 0 h 436"/>
                      <a:gd name="T24" fmla="*/ 922 w 922"/>
                      <a:gd name="T25" fmla="*/ 28 h 436"/>
                      <a:gd name="T26" fmla="*/ 921 w 922"/>
                      <a:gd name="T27" fmla="*/ 110 h 436"/>
                      <a:gd name="T28" fmla="*/ 889 w 922"/>
                      <a:gd name="T29" fmla="*/ 172 h 436"/>
                      <a:gd name="T30" fmla="*/ 786 w 922"/>
                      <a:gd name="T31" fmla="*/ 373 h 436"/>
                      <a:gd name="T32" fmla="*/ 742 w 922"/>
                      <a:gd name="T33" fmla="*/ 433 h 436"/>
                      <a:gd name="T34" fmla="*/ 712 w 922"/>
                      <a:gd name="T35" fmla="*/ 436 h 436"/>
                      <a:gd name="T36" fmla="*/ 490 w 922"/>
                      <a:gd name="T37" fmla="*/ 396 h 436"/>
                      <a:gd name="T38" fmla="*/ 256 w 922"/>
                      <a:gd name="T39" fmla="*/ 365 h 436"/>
                      <a:gd name="T40" fmla="*/ 34 w 922"/>
                      <a:gd name="T41" fmla="*/ 346 h 436"/>
                      <a:gd name="T42" fmla="*/ 0 w 922"/>
                      <a:gd name="T43" fmla="*/ 343 h 436"/>
                      <a:gd name="T44" fmla="*/ 7 w 922"/>
                      <a:gd name="T45" fmla="*/ 280 h 436"/>
                      <a:gd name="T46" fmla="*/ 12 w 922"/>
                      <a:gd name="T47" fmla="*/ 218 h 436"/>
                      <a:gd name="T48" fmla="*/ 16 w 922"/>
                      <a:gd name="T49" fmla="*/ 184 h 436"/>
                      <a:gd name="T50" fmla="*/ 31 w 922"/>
                      <a:gd name="T51" fmla="*/ 208 h 436"/>
                      <a:gd name="T52" fmla="*/ 27 w 922"/>
                      <a:gd name="T53" fmla="*/ 260 h 436"/>
                      <a:gd name="T54" fmla="*/ 26 w 922"/>
                      <a:gd name="T55" fmla="*/ 313 h 436"/>
                      <a:gd name="T56" fmla="*/ 87 w 922"/>
                      <a:gd name="T57" fmla="*/ 333 h 436"/>
                      <a:gd name="T58" fmla="*/ 234 w 922"/>
                      <a:gd name="T59" fmla="*/ 342 h 436"/>
                      <a:gd name="T60" fmla="*/ 359 w 922"/>
                      <a:gd name="T61" fmla="*/ 351 h 436"/>
                      <a:gd name="T62" fmla="*/ 462 w 922"/>
                      <a:gd name="T63" fmla="*/ 368 h 436"/>
                      <a:gd name="T64" fmla="*/ 615 w 922"/>
                      <a:gd name="T65" fmla="*/ 393 h 436"/>
                      <a:gd name="T66" fmla="*/ 713 w 922"/>
                      <a:gd name="T67" fmla="*/ 407 h 436"/>
                      <a:gd name="T68" fmla="*/ 721 w 922"/>
                      <a:gd name="T69" fmla="*/ 380 h 436"/>
                      <a:gd name="T70" fmla="*/ 721 w 922"/>
                      <a:gd name="T71" fmla="*/ 318 h 436"/>
                      <a:gd name="T72" fmla="*/ 723 w 922"/>
                      <a:gd name="T73" fmla="*/ 250 h 436"/>
                      <a:gd name="T74" fmla="*/ 734 w 922"/>
                      <a:gd name="T75" fmla="*/ 268 h 436"/>
                      <a:gd name="T76" fmla="*/ 736 w 922"/>
                      <a:gd name="T77" fmla="*/ 344 h 436"/>
                      <a:gd name="T78" fmla="*/ 744 w 922"/>
                      <a:gd name="T79" fmla="*/ 384 h 436"/>
                      <a:gd name="T80" fmla="*/ 764 w 922"/>
                      <a:gd name="T81" fmla="*/ 367 h 436"/>
                      <a:gd name="T82" fmla="*/ 801 w 922"/>
                      <a:gd name="T83" fmla="*/ 298 h 436"/>
                      <a:gd name="T84" fmla="*/ 856 w 922"/>
                      <a:gd name="T85" fmla="*/ 200 h 436"/>
                      <a:gd name="T86" fmla="*/ 897 w 922"/>
                      <a:gd name="T87" fmla="*/ 120 h 436"/>
                      <a:gd name="T88" fmla="*/ 906 w 922"/>
                      <a:gd name="T89" fmla="*/ 97 h 436"/>
                      <a:gd name="T90" fmla="*/ 901 w 922"/>
                      <a:gd name="T91" fmla="*/ 36 h 436"/>
                      <a:gd name="T92" fmla="*/ 888 w 922"/>
                      <a:gd name="T93" fmla="*/ 28 h 436"/>
                      <a:gd name="T94" fmla="*/ 848 w 922"/>
                      <a:gd name="T95" fmla="*/ 94 h 436"/>
                      <a:gd name="T96" fmla="*/ 782 w 922"/>
                      <a:gd name="T97" fmla="*/ 177 h 436"/>
                      <a:gd name="T98" fmla="*/ 732 w 922"/>
                      <a:gd name="T99" fmla="*/ 242 h 436"/>
                      <a:gd name="T100" fmla="*/ 693 w 922"/>
                      <a:gd name="T101" fmla="*/ 247 h 436"/>
                      <a:gd name="T102" fmla="*/ 559 w 922"/>
                      <a:gd name="T103" fmla="*/ 243 h 436"/>
                      <a:gd name="T104" fmla="*/ 397 w 922"/>
                      <a:gd name="T105" fmla="*/ 227 h 436"/>
                      <a:gd name="T106" fmla="*/ 243 w 922"/>
                      <a:gd name="T107" fmla="*/ 203 h 436"/>
                      <a:gd name="T108" fmla="*/ 66 w 922"/>
                      <a:gd name="T109" fmla="*/ 175 h 436"/>
                      <a:gd name="T110" fmla="*/ 15 w 922"/>
                      <a:gd name="T111" fmla="*/ 153 h 4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922" h="436">
                        <a:moveTo>
                          <a:pt x="15" y="153"/>
                        </a:moveTo>
                        <a:lnTo>
                          <a:pt x="139" y="76"/>
                        </a:lnTo>
                        <a:lnTo>
                          <a:pt x="139" y="98"/>
                        </a:lnTo>
                        <a:lnTo>
                          <a:pt x="54" y="154"/>
                        </a:lnTo>
                        <a:lnTo>
                          <a:pt x="186" y="168"/>
                        </a:lnTo>
                        <a:lnTo>
                          <a:pt x="460" y="215"/>
                        </a:lnTo>
                        <a:lnTo>
                          <a:pt x="607" y="227"/>
                        </a:lnTo>
                        <a:lnTo>
                          <a:pt x="701" y="224"/>
                        </a:lnTo>
                        <a:lnTo>
                          <a:pt x="727" y="221"/>
                        </a:lnTo>
                        <a:lnTo>
                          <a:pt x="869" y="22"/>
                        </a:lnTo>
                        <a:lnTo>
                          <a:pt x="821" y="0"/>
                        </a:lnTo>
                        <a:lnTo>
                          <a:pt x="896" y="0"/>
                        </a:lnTo>
                        <a:lnTo>
                          <a:pt x="922" y="28"/>
                        </a:lnTo>
                        <a:lnTo>
                          <a:pt x="921" y="110"/>
                        </a:lnTo>
                        <a:lnTo>
                          <a:pt x="889" y="172"/>
                        </a:lnTo>
                        <a:lnTo>
                          <a:pt x="786" y="373"/>
                        </a:lnTo>
                        <a:lnTo>
                          <a:pt x="742" y="433"/>
                        </a:lnTo>
                        <a:lnTo>
                          <a:pt x="712" y="436"/>
                        </a:lnTo>
                        <a:lnTo>
                          <a:pt x="490" y="396"/>
                        </a:lnTo>
                        <a:lnTo>
                          <a:pt x="256" y="365"/>
                        </a:lnTo>
                        <a:lnTo>
                          <a:pt x="34" y="346"/>
                        </a:lnTo>
                        <a:lnTo>
                          <a:pt x="0" y="343"/>
                        </a:lnTo>
                        <a:lnTo>
                          <a:pt x="7" y="280"/>
                        </a:lnTo>
                        <a:lnTo>
                          <a:pt x="12" y="218"/>
                        </a:lnTo>
                        <a:lnTo>
                          <a:pt x="16" y="184"/>
                        </a:lnTo>
                        <a:lnTo>
                          <a:pt x="31" y="208"/>
                        </a:lnTo>
                        <a:lnTo>
                          <a:pt x="27" y="260"/>
                        </a:lnTo>
                        <a:lnTo>
                          <a:pt x="26" y="313"/>
                        </a:lnTo>
                        <a:lnTo>
                          <a:pt x="87" y="333"/>
                        </a:lnTo>
                        <a:lnTo>
                          <a:pt x="234" y="342"/>
                        </a:lnTo>
                        <a:lnTo>
                          <a:pt x="359" y="351"/>
                        </a:lnTo>
                        <a:lnTo>
                          <a:pt x="462" y="368"/>
                        </a:lnTo>
                        <a:lnTo>
                          <a:pt x="615" y="393"/>
                        </a:lnTo>
                        <a:lnTo>
                          <a:pt x="713" y="407"/>
                        </a:lnTo>
                        <a:lnTo>
                          <a:pt x="721" y="380"/>
                        </a:lnTo>
                        <a:lnTo>
                          <a:pt x="721" y="318"/>
                        </a:lnTo>
                        <a:lnTo>
                          <a:pt x="723" y="250"/>
                        </a:lnTo>
                        <a:lnTo>
                          <a:pt x="734" y="268"/>
                        </a:lnTo>
                        <a:lnTo>
                          <a:pt x="736" y="344"/>
                        </a:lnTo>
                        <a:lnTo>
                          <a:pt x="744" y="384"/>
                        </a:lnTo>
                        <a:lnTo>
                          <a:pt x="764" y="367"/>
                        </a:lnTo>
                        <a:lnTo>
                          <a:pt x="801" y="298"/>
                        </a:lnTo>
                        <a:lnTo>
                          <a:pt x="856" y="200"/>
                        </a:lnTo>
                        <a:lnTo>
                          <a:pt x="897" y="120"/>
                        </a:lnTo>
                        <a:lnTo>
                          <a:pt x="906" y="97"/>
                        </a:lnTo>
                        <a:lnTo>
                          <a:pt x="901" y="36"/>
                        </a:lnTo>
                        <a:lnTo>
                          <a:pt x="888" y="28"/>
                        </a:lnTo>
                        <a:lnTo>
                          <a:pt x="848" y="94"/>
                        </a:lnTo>
                        <a:lnTo>
                          <a:pt x="782" y="177"/>
                        </a:lnTo>
                        <a:lnTo>
                          <a:pt x="732" y="242"/>
                        </a:lnTo>
                        <a:lnTo>
                          <a:pt x="693" y="247"/>
                        </a:lnTo>
                        <a:lnTo>
                          <a:pt x="559" y="243"/>
                        </a:lnTo>
                        <a:lnTo>
                          <a:pt x="397" y="227"/>
                        </a:lnTo>
                        <a:lnTo>
                          <a:pt x="243" y="203"/>
                        </a:lnTo>
                        <a:lnTo>
                          <a:pt x="66" y="175"/>
                        </a:lnTo>
                        <a:lnTo>
                          <a:pt x="15" y="1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5" name="Freeform 38"/>
                  <p:cNvSpPr>
                    <a:spLocks/>
                  </p:cNvSpPr>
                  <p:nvPr/>
                </p:nvSpPr>
                <p:spPr bwMode="auto">
                  <a:xfrm>
                    <a:off x="4687" y="3396"/>
                    <a:ext cx="460" cy="136"/>
                  </a:xfrm>
                  <a:custGeom>
                    <a:avLst/>
                    <a:gdLst>
                      <a:gd name="T0" fmla="*/ 15 w 460"/>
                      <a:gd name="T1" fmla="*/ 13 h 136"/>
                      <a:gd name="T2" fmla="*/ 50 w 460"/>
                      <a:gd name="T3" fmla="*/ 0 h 136"/>
                      <a:gd name="T4" fmla="*/ 65 w 460"/>
                      <a:gd name="T5" fmla="*/ 7 h 136"/>
                      <a:gd name="T6" fmla="*/ 51 w 460"/>
                      <a:gd name="T7" fmla="*/ 29 h 136"/>
                      <a:gd name="T8" fmla="*/ 25 w 460"/>
                      <a:gd name="T9" fmla="*/ 39 h 136"/>
                      <a:gd name="T10" fmla="*/ 67 w 460"/>
                      <a:gd name="T11" fmla="*/ 68 h 136"/>
                      <a:gd name="T12" fmla="*/ 134 w 460"/>
                      <a:gd name="T13" fmla="*/ 83 h 136"/>
                      <a:gd name="T14" fmla="*/ 195 w 460"/>
                      <a:gd name="T15" fmla="*/ 87 h 136"/>
                      <a:gd name="T16" fmla="*/ 238 w 460"/>
                      <a:gd name="T17" fmla="*/ 90 h 136"/>
                      <a:gd name="T18" fmla="*/ 320 w 460"/>
                      <a:gd name="T19" fmla="*/ 95 h 136"/>
                      <a:gd name="T20" fmla="*/ 372 w 460"/>
                      <a:gd name="T21" fmla="*/ 98 h 136"/>
                      <a:gd name="T22" fmla="*/ 408 w 460"/>
                      <a:gd name="T23" fmla="*/ 94 h 136"/>
                      <a:gd name="T24" fmla="*/ 442 w 460"/>
                      <a:gd name="T25" fmla="*/ 80 h 136"/>
                      <a:gd name="T26" fmla="*/ 441 w 460"/>
                      <a:gd name="T27" fmla="*/ 65 h 136"/>
                      <a:gd name="T28" fmla="*/ 460 w 460"/>
                      <a:gd name="T29" fmla="*/ 73 h 136"/>
                      <a:gd name="T30" fmla="*/ 447 w 460"/>
                      <a:gd name="T31" fmla="*/ 121 h 136"/>
                      <a:gd name="T32" fmla="*/ 396 w 460"/>
                      <a:gd name="T33" fmla="*/ 136 h 136"/>
                      <a:gd name="T34" fmla="*/ 287 w 460"/>
                      <a:gd name="T35" fmla="*/ 124 h 136"/>
                      <a:gd name="T36" fmla="*/ 177 w 460"/>
                      <a:gd name="T37" fmla="*/ 117 h 136"/>
                      <a:gd name="T38" fmla="*/ 114 w 460"/>
                      <a:gd name="T39" fmla="*/ 115 h 136"/>
                      <a:gd name="T40" fmla="*/ 42 w 460"/>
                      <a:gd name="T41" fmla="*/ 84 h 136"/>
                      <a:gd name="T42" fmla="*/ 7 w 460"/>
                      <a:gd name="T43" fmla="*/ 67 h 136"/>
                      <a:gd name="T44" fmla="*/ 0 w 460"/>
                      <a:gd name="T45" fmla="*/ 36 h 136"/>
                      <a:gd name="T46" fmla="*/ 15 w 460"/>
                      <a:gd name="T47" fmla="*/ 13 h 1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60" h="136">
                        <a:moveTo>
                          <a:pt x="15" y="13"/>
                        </a:moveTo>
                        <a:lnTo>
                          <a:pt x="50" y="0"/>
                        </a:lnTo>
                        <a:lnTo>
                          <a:pt x="65" y="7"/>
                        </a:lnTo>
                        <a:lnTo>
                          <a:pt x="51" y="29"/>
                        </a:lnTo>
                        <a:lnTo>
                          <a:pt x="25" y="39"/>
                        </a:lnTo>
                        <a:lnTo>
                          <a:pt x="67" y="68"/>
                        </a:lnTo>
                        <a:lnTo>
                          <a:pt x="134" y="83"/>
                        </a:lnTo>
                        <a:lnTo>
                          <a:pt x="195" y="87"/>
                        </a:lnTo>
                        <a:lnTo>
                          <a:pt x="238" y="90"/>
                        </a:lnTo>
                        <a:lnTo>
                          <a:pt x="320" y="95"/>
                        </a:lnTo>
                        <a:lnTo>
                          <a:pt x="372" y="98"/>
                        </a:lnTo>
                        <a:lnTo>
                          <a:pt x="408" y="94"/>
                        </a:lnTo>
                        <a:lnTo>
                          <a:pt x="442" y="80"/>
                        </a:lnTo>
                        <a:lnTo>
                          <a:pt x="441" y="65"/>
                        </a:lnTo>
                        <a:lnTo>
                          <a:pt x="460" y="73"/>
                        </a:lnTo>
                        <a:lnTo>
                          <a:pt x="447" y="121"/>
                        </a:lnTo>
                        <a:lnTo>
                          <a:pt x="396" y="136"/>
                        </a:lnTo>
                        <a:lnTo>
                          <a:pt x="287" y="124"/>
                        </a:lnTo>
                        <a:lnTo>
                          <a:pt x="177" y="117"/>
                        </a:lnTo>
                        <a:lnTo>
                          <a:pt x="114" y="115"/>
                        </a:lnTo>
                        <a:lnTo>
                          <a:pt x="42" y="84"/>
                        </a:lnTo>
                        <a:lnTo>
                          <a:pt x="7" y="67"/>
                        </a:lnTo>
                        <a:lnTo>
                          <a:pt x="0" y="36"/>
                        </a:lnTo>
                        <a:lnTo>
                          <a:pt x="15"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6" name="Freeform 39"/>
                  <p:cNvSpPr>
                    <a:spLocks/>
                  </p:cNvSpPr>
                  <p:nvPr/>
                </p:nvSpPr>
                <p:spPr bwMode="auto">
                  <a:xfrm>
                    <a:off x="4590" y="3555"/>
                    <a:ext cx="52" cy="46"/>
                  </a:xfrm>
                  <a:custGeom>
                    <a:avLst/>
                    <a:gdLst>
                      <a:gd name="T0" fmla="*/ 9 w 52"/>
                      <a:gd name="T1" fmla="*/ 0 h 46"/>
                      <a:gd name="T2" fmla="*/ 52 w 52"/>
                      <a:gd name="T3" fmla="*/ 5 h 46"/>
                      <a:gd name="T4" fmla="*/ 47 w 52"/>
                      <a:gd name="T5" fmla="*/ 46 h 46"/>
                      <a:gd name="T6" fmla="*/ 0 w 52"/>
                      <a:gd name="T7" fmla="*/ 39 h 46"/>
                      <a:gd name="T8" fmla="*/ 9 w 52"/>
                      <a:gd name="T9" fmla="*/ 0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46">
                        <a:moveTo>
                          <a:pt x="9" y="0"/>
                        </a:moveTo>
                        <a:lnTo>
                          <a:pt x="52" y="5"/>
                        </a:lnTo>
                        <a:lnTo>
                          <a:pt x="47" y="46"/>
                        </a:lnTo>
                        <a:lnTo>
                          <a:pt x="0" y="39"/>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7" name="Freeform 40"/>
                  <p:cNvSpPr>
                    <a:spLocks/>
                  </p:cNvSpPr>
                  <p:nvPr/>
                </p:nvSpPr>
                <p:spPr bwMode="auto">
                  <a:xfrm>
                    <a:off x="4680" y="3564"/>
                    <a:ext cx="51" cy="46"/>
                  </a:xfrm>
                  <a:custGeom>
                    <a:avLst/>
                    <a:gdLst>
                      <a:gd name="T0" fmla="*/ 8 w 51"/>
                      <a:gd name="T1" fmla="*/ 0 h 46"/>
                      <a:gd name="T2" fmla="*/ 51 w 51"/>
                      <a:gd name="T3" fmla="*/ 5 h 46"/>
                      <a:gd name="T4" fmla="*/ 47 w 51"/>
                      <a:gd name="T5" fmla="*/ 46 h 46"/>
                      <a:gd name="T6" fmla="*/ 0 w 51"/>
                      <a:gd name="T7" fmla="*/ 39 h 46"/>
                      <a:gd name="T8" fmla="*/ 8 w 51"/>
                      <a:gd name="T9" fmla="*/ 0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46">
                        <a:moveTo>
                          <a:pt x="8" y="0"/>
                        </a:moveTo>
                        <a:lnTo>
                          <a:pt x="51" y="5"/>
                        </a:lnTo>
                        <a:lnTo>
                          <a:pt x="47" y="46"/>
                        </a:lnTo>
                        <a:lnTo>
                          <a:pt x="0" y="39"/>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8" name="Freeform 41"/>
                  <p:cNvSpPr>
                    <a:spLocks/>
                  </p:cNvSpPr>
                  <p:nvPr/>
                </p:nvSpPr>
                <p:spPr bwMode="auto">
                  <a:xfrm>
                    <a:off x="4968" y="3608"/>
                    <a:ext cx="194" cy="51"/>
                  </a:xfrm>
                  <a:custGeom>
                    <a:avLst/>
                    <a:gdLst>
                      <a:gd name="T0" fmla="*/ 4 w 194"/>
                      <a:gd name="T1" fmla="*/ 0 h 51"/>
                      <a:gd name="T2" fmla="*/ 193 w 194"/>
                      <a:gd name="T3" fmla="*/ 18 h 51"/>
                      <a:gd name="T4" fmla="*/ 194 w 194"/>
                      <a:gd name="T5" fmla="*/ 51 h 51"/>
                      <a:gd name="T6" fmla="*/ 0 w 194"/>
                      <a:gd name="T7" fmla="*/ 33 h 51"/>
                      <a:gd name="T8" fmla="*/ 4 w 194"/>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51">
                        <a:moveTo>
                          <a:pt x="4" y="0"/>
                        </a:moveTo>
                        <a:lnTo>
                          <a:pt x="193" y="18"/>
                        </a:lnTo>
                        <a:lnTo>
                          <a:pt x="194" y="51"/>
                        </a:lnTo>
                        <a:lnTo>
                          <a:pt x="0" y="33"/>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9" name="Freeform 42"/>
                  <p:cNvSpPr>
                    <a:spLocks/>
                  </p:cNvSpPr>
                  <p:nvPr/>
                </p:nvSpPr>
                <p:spPr bwMode="auto">
                  <a:xfrm>
                    <a:off x="4551" y="2787"/>
                    <a:ext cx="848" cy="658"/>
                  </a:xfrm>
                  <a:custGeom>
                    <a:avLst/>
                    <a:gdLst>
                      <a:gd name="T0" fmla="*/ 47 w 848"/>
                      <a:gd name="T1" fmla="*/ 551 h 658"/>
                      <a:gd name="T2" fmla="*/ 28 w 848"/>
                      <a:gd name="T3" fmla="*/ 523 h 658"/>
                      <a:gd name="T4" fmla="*/ 20 w 848"/>
                      <a:gd name="T5" fmla="*/ 481 h 658"/>
                      <a:gd name="T6" fmla="*/ 31 w 848"/>
                      <a:gd name="T7" fmla="*/ 389 h 658"/>
                      <a:gd name="T8" fmla="*/ 54 w 848"/>
                      <a:gd name="T9" fmla="*/ 240 h 658"/>
                      <a:gd name="T10" fmla="*/ 76 w 848"/>
                      <a:gd name="T11" fmla="*/ 129 h 658"/>
                      <a:gd name="T12" fmla="*/ 94 w 848"/>
                      <a:gd name="T13" fmla="*/ 104 h 658"/>
                      <a:gd name="T14" fmla="*/ 123 w 848"/>
                      <a:gd name="T15" fmla="*/ 76 h 658"/>
                      <a:gd name="T16" fmla="*/ 189 w 848"/>
                      <a:gd name="T17" fmla="*/ 61 h 658"/>
                      <a:gd name="T18" fmla="*/ 300 w 848"/>
                      <a:gd name="T19" fmla="*/ 48 h 658"/>
                      <a:gd name="T20" fmla="*/ 392 w 848"/>
                      <a:gd name="T21" fmla="*/ 38 h 658"/>
                      <a:gd name="T22" fmla="*/ 434 w 848"/>
                      <a:gd name="T23" fmla="*/ 21 h 658"/>
                      <a:gd name="T24" fmla="*/ 506 w 848"/>
                      <a:gd name="T25" fmla="*/ 25 h 658"/>
                      <a:gd name="T26" fmla="*/ 628 w 848"/>
                      <a:gd name="T27" fmla="*/ 57 h 658"/>
                      <a:gd name="T28" fmla="*/ 731 w 848"/>
                      <a:gd name="T29" fmla="*/ 67 h 658"/>
                      <a:gd name="T30" fmla="*/ 776 w 848"/>
                      <a:gd name="T31" fmla="*/ 65 h 658"/>
                      <a:gd name="T32" fmla="*/ 811 w 848"/>
                      <a:gd name="T33" fmla="*/ 80 h 658"/>
                      <a:gd name="T34" fmla="*/ 825 w 848"/>
                      <a:gd name="T35" fmla="*/ 144 h 658"/>
                      <a:gd name="T36" fmla="*/ 823 w 848"/>
                      <a:gd name="T37" fmla="*/ 262 h 658"/>
                      <a:gd name="T38" fmla="*/ 823 w 848"/>
                      <a:gd name="T39" fmla="*/ 354 h 658"/>
                      <a:gd name="T40" fmla="*/ 810 w 848"/>
                      <a:gd name="T41" fmla="*/ 394 h 658"/>
                      <a:gd name="T42" fmla="*/ 766 w 848"/>
                      <a:gd name="T43" fmla="*/ 491 h 658"/>
                      <a:gd name="T44" fmla="*/ 714 w 848"/>
                      <a:gd name="T45" fmla="*/ 589 h 658"/>
                      <a:gd name="T46" fmla="*/ 683 w 848"/>
                      <a:gd name="T47" fmla="*/ 625 h 658"/>
                      <a:gd name="T48" fmla="*/ 665 w 848"/>
                      <a:gd name="T49" fmla="*/ 640 h 658"/>
                      <a:gd name="T50" fmla="*/ 686 w 848"/>
                      <a:gd name="T51" fmla="*/ 658 h 658"/>
                      <a:gd name="T52" fmla="*/ 719 w 848"/>
                      <a:gd name="T53" fmla="*/ 619 h 658"/>
                      <a:gd name="T54" fmla="*/ 769 w 848"/>
                      <a:gd name="T55" fmla="*/ 531 h 658"/>
                      <a:gd name="T56" fmla="*/ 815 w 848"/>
                      <a:gd name="T57" fmla="*/ 438 h 658"/>
                      <a:gd name="T58" fmla="*/ 831 w 848"/>
                      <a:gd name="T59" fmla="*/ 392 h 658"/>
                      <a:gd name="T60" fmla="*/ 841 w 848"/>
                      <a:gd name="T61" fmla="*/ 347 h 658"/>
                      <a:gd name="T62" fmla="*/ 844 w 848"/>
                      <a:gd name="T63" fmla="*/ 270 h 658"/>
                      <a:gd name="T64" fmla="*/ 848 w 848"/>
                      <a:gd name="T65" fmla="*/ 153 h 658"/>
                      <a:gd name="T66" fmla="*/ 836 w 848"/>
                      <a:gd name="T67" fmla="*/ 89 h 658"/>
                      <a:gd name="T68" fmla="*/ 819 w 848"/>
                      <a:gd name="T69" fmla="*/ 57 h 658"/>
                      <a:gd name="T70" fmla="*/ 787 w 848"/>
                      <a:gd name="T71" fmla="*/ 44 h 658"/>
                      <a:gd name="T72" fmla="*/ 744 w 848"/>
                      <a:gd name="T73" fmla="*/ 50 h 658"/>
                      <a:gd name="T74" fmla="*/ 679 w 848"/>
                      <a:gd name="T75" fmla="*/ 45 h 658"/>
                      <a:gd name="T76" fmla="*/ 599 w 848"/>
                      <a:gd name="T77" fmla="*/ 31 h 658"/>
                      <a:gd name="T78" fmla="*/ 516 w 848"/>
                      <a:gd name="T79" fmla="*/ 6 h 658"/>
                      <a:gd name="T80" fmla="*/ 460 w 848"/>
                      <a:gd name="T81" fmla="*/ 0 h 658"/>
                      <a:gd name="T82" fmla="*/ 430 w 848"/>
                      <a:gd name="T83" fmla="*/ 6 h 658"/>
                      <a:gd name="T84" fmla="*/ 360 w 848"/>
                      <a:gd name="T85" fmla="*/ 28 h 658"/>
                      <a:gd name="T86" fmla="*/ 235 w 848"/>
                      <a:gd name="T87" fmla="*/ 40 h 658"/>
                      <a:gd name="T88" fmla="*/ 112 w 848"/>
                      <a:gd name="T89" fmla="*/ 60 h 658"/>
                      <a:gd name="T90" fmla="*/ 72 w 848"/>
                      <a:gd name="T91" fmla="*/ 96 h 658"/>
                      <a:gd name="T92" fmla="*/ 44 w 848"/>
                      <a:gd name="T93" fmla="*/ 147 h 658"/>
                      <a:gd name="T94" fmla="*/ 24 w 848"/>
                      <a:gd name="T95" fmla="*/ 255 h 658"/>
                      <a:gd name="T96" fmla="*/ 13 w 848"/>
                      <a:gd name="T97" fmla="*/ 358 h 658"/>
                      <a:gd name="T98" fmla="*/ 0 w 848"/>
                      <a:gd name="T99" fmla="*/ 467 h 658"/>
                      <a:gd name="T100" fmla="*/ 10 w 848"/>
                      <a:gd name="T101" fmla="*/ 529 h 658"/>
                      <a:gd name="T102" fmla="*/ 24 w 848"/>
                      <a:gd name="T103" fmla="*/ 566 h 658"/>
                      <a:gd name="T104" fmla="*/ 55 w 848"/>
                      <a:gd name="T105" fmla="*/ 582 h 658"/>
                      <a:gd name="T106" fmla="*/ 73 w 848"/>
                      <a:gd name="T107" fmla="*/ 579 h 658"/>
                      <a:gd name="T108" fmla="*/ 47 w 848"/>
                      <a:gd name="T109" fmla="*/ 551 h 65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848" h="658">
                        <a:moveTo>
                          <a:pt x="47" y="551"/>
                        </a:moveTo>
                        <a:lnTo>
                          <a:pt x="28" y="523"/>
                        </a:lnTo>
                        <a:lnTo>
                          <a:pt x="20" y="481"/>
                        </a:lnTo>
                        <a:lnTo>
                          <a:pt x="31" y="389"/>
                        </a:lnTo>
                        <a:lnTo>
                          <a:pt x="54" y="240"/>
                        </a:lnTo>
                        <a:lnTo>
                          <a:pt x="76" y="129"/>
                        </a:lnTo>
                        <a:lnTo>
                          <a:pt x="94" y="104"/>
                        </a:lnTo>
                        <a:lnTo>
                          <a:pt x="123" y="76"/>
                        </a:lnTo>
                        <a:lnTo>
                          <a:pt x="189" y="61"/>
                        </a:lnTo>
                        <a:lnTo>
                          <a:pt x="300" y="48"/>
                        </a:lnTo>
                        <a:lnTo>
                          <a:pt x="392" y="38"/>
                        </a:lnTo>
                        <a:lnTo>
                          <a:pt x="434" y="21"/>
                        </a:lnTo>
                        <a:lnTo>
                          <a:pt x="506" y="25"/>
                        </a:lnTo>
                        <a:lnTo>
                          <a:pt x="628" y="57"/>
                        </a:lnTo>
                        <a:lnTo>
                          <a:pt x="731" y="67"/>
                        </a:lnTo>
                        <a:lnTo>
                          <a:pt x="776" y="65"/>
                        </a:lnTo>
                        <a:lnTo>
                          <a:pt x="811" y="80"/>
                        </a:lnTo>
                        <a:lnTo>
                          <a:pt x="825" y="144"/>
                        </a:lnTo>
                        <a:lnTo>
                          <a:pt x="823" y="262"/>
                        </a:lnTo>
                        <a:lnTo>
                          <a:pt x="823" y="354"/>
                        </a:lnTo>
                        <a:lnTo>
                          <a:pt x="810" y="394"/>
                        </a:lnTo>
                        <a:lnTo>
                          <a:pt x="766" y="491"/>
                        </a:lnTo>
                        <a:lnTo>
                          <a:pt x="714" y="589"/>
                        </a:lnTo>
                        <a:lnTo>
                          <a:pt x="683" y="625"/>
                        </a:lnTo>
                        <a:lnTo>
                          <a:pt x="665" y="640"/>
                        </a:lnTo>
                        <a:lnTo>
                          <a:pt x="686" y="658"/>
                        </a:lnTo>
                        <a:lnTo>
                          <a:pt x="719" y="619"/>
                        </a:lnTo>
                        <a:lnTo>
                          <a:pt x="769" y="531"/>
                        </a:lnTo>
                        <a:lnTo>
                          <a:pt x="815" y="438"/>
                        </a:lnTo>
                        <a:lnTo>
                          <a:pt x="831" y="392"/>
                        </a:lnTo>
                        <a:lnTo>
                          <a:pt x="841" y="347"/>
                        </a:lnTo>
                        <a:lnTo>
                          <a:pt x="844" y="270"/>
                        </a:lnTo>
                        <a:lnTo>
                          <a:pt x="848" y="153"/>
                        </a:lnTo>
                        <a:lnTo>
                          <a:pt x="836" y="89"/>
                        </a:lnTo>
                        <a:lnTo>
                          <a:pt x="819" y="57"/>
                        </a:lnTo>
                        <a:lnTo>
                          <a:pt x="787" y="44"/>
                        </a:lnTo>
                        <a:lnTo>
                          <a:pt x="744" y="50"/>
                        </a:lnTo>
                        <a:lnTo>
                          <a:pt x="679" y="45"/>
                        </a:lnTo>
                        <a:lnTo>
                          <a:pt x="599" y="31"/>
                        </a:lnTo>
                        <a:lnTo>
                          <a:pt x="516" y="6"/>
                        </a:lnTo>
                        <a:lnTo>
                          <a:pt x="460" y="0"/>
                        </a:lnTo>
                        <a:lnTo>
                          <a:pt x="430" y="6"/>
                        </a:lnTo>
                        <a:lnTo>
                          <a:pt x="360" y="28"/>
                        </a:lnTo>
                        <a:lnTo>
                          <a:pt x="235" y="40"/>
                        </a:lnTo>
                        <a:lnTo>
                          <a:pt x="112" y="60"/>
                        </a:lnTo>
                        <a:lnTo>
                          <a:pt x="72" y="96"/>
                        </a:lnTo>
                        <a:lnTo>
                          <a:pt x="44" y="147"/>
                        </a:lnTo>
                        <a:lnTo>
                          <a:pt x="24" y="255"/>
                        </a:lnTo>
                        <a:lnTo>
                          <a:pt x="13" y="358"/>
                        </a:lnTo>
                        <a:lnTo>
                          <a:pt x="0" y="467"/>
                        </a:lnTo>
                        <a:lnTo>
                          <a:pt x="10" y="529"/>
                        </a:lnTo>
                        <a:lnTo>
                          <a:pt x="24" y="566"/>
                        </a:lnTo>
                        <a:lnTo>
                          <a:pt x="55" y="582"/>
                        </a:lnTo>
                        <a:lnTo>
                          <a:pt x="73" y="579"/>
                        </a:lnTo>
                        <a:lnTo>
                          <a:pt x="47" y="5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0" name="Freeform 43"/>
                  <p:cNvSpPr>
                    <a:spLocks/>
                  </p:cNvSpPr>
                  <p:nvPr/>
                </p:nvSpPr>
                <p:spPr bwMode="auto">
                  <a:xfrm>
                    <a:off x="4595" y="2845"/>
                    <a:ext cx="778" cy="607"/>
                  </a:xfrm>
                  <a:custGeom>
                    <a:avLst/>
                    <a:gdLst>
                      <a:gd name="T0" fmla="*/ 0 w 778"/>
                      <a:gd name="T1" fmla="*/ 499 h 607"/>
                      <a:gd name="T2" fmla="*/ 115 w 778"/>
                      <a:gd name="T3" fmla="*/ 525 h 607"/>
                      <a:gd name="T4" fmla="*/ 276 w 778"/>
                      <a:gd name="T5" fmla="*/ 554 h 607"/>
                      <a:gd name="T6" fmla="*/ 407 w 778"/>
                      <a:gd name="T7" fmla="*/ 576 h 607"/>
                      <a:gd name="T8" fmla="*/ 526 w 778"/>
                      <a:gd name="T9" fmla="*/ 580 h 607"/>
                      <a:gd name="T10" fmla="*/ 604 w 778"/>
                      <a:gd name="T11" fmla="*/ 580 h 607"/>
                      <a:gd name="T12" fmla="*/ 627 w 778"/>
                      <a:gd name="T13" fmla="*/ 573 h 607"/>
                      <a:gd name="T14" fmla="*/ 637 w 778"/>
                      <a:gd name="T15" fmla="*/ 516 h 607"/>
                      <a:gd name="T16" fmla="*/ 633 w 778"/>
                      <a:gd name="T17" fmla="*/ 362 h 607"/>
                      <a:gd name="T18" fmla="*/ 628 w 778"/>
                      <a:gd name="T19" fmla="*/ 174 h 607"/>
                      <a:gd name="T20" fmla="*/ 622 w 778"/>
                      <a:gd name="T21" fmla="*/ 106 h 607"/>
                      <a:gd name="T22" fmla="*/ 610 w 778"/>
                      <a:gd name="T23" fmla="*/ 79 h 607"/>
                      <a:gd name="T24" fmla="*/ 405 w 778"/>
                      <a:gd name="T25" fmla="*/ 69 h 607"/>
                      <a:gd name="T26" fmla="*/ 209 w 778"/>
                      <a:gd name="T27" fmla="*/ 42 h 607"/>
                      <a:gd name="T28" fmla="*/ 101 w 778"/>
                      <a:gd name="T29" fmla="*/ 26 h 607"/>
                      <a:gd name="T30" fmla="*/ 63 w 778"/>
                      <a:gd name="T31" fmla="*/ 26 h 607"/>
                      <a:gd name="T32" fmla="*/ 87 w 778"/>
                      <a:gd name="T33" fmla="*/ 3 h 607"/>
                      <a:gd name="T34" fmla="*/ 133 w 778"/>
                      <a:gd name="T35" fmla="*/ 15 h 607"/>
                      <a:gd name="T36" fmla="*/ 268 w 778"/>
                      <a:gd name="T37" fmla="*/ 32 h 607"/>
                      <a:gd name="T38" fmla="*/ 396 w 778"/>
                      <a:gd name="T39" fmla="*/ 45 h 607"/>
                      <a:gd name="T40" fmla="*/ 511 w 778"/>
                      <a:gd name="T41" fmla="*/ 53 h 607"/>
                      <a:gd name="T42" fmla="*/ 619 w 778"/>
                      <a:gd name="T43" fmla="*/ 60 h 607"/>
                      <a:gd name="T44" fmla="*/ 709 w 778"/>
                      <a:gd name="T45" fmla="*/ 35 h 607"/>
                      <a:gd name="T46" fmla="*/ 763 w 778"/>
                      <a:gd name="T47" fmla="*/ 0 h 607"/>
                      <a:gd name="T48" fmla="*/ 778 w 778"/>
                      <a:gd name="T49" fmla="*/ 24 h 607"/>
                      <a:gd name="T50" fmla="*/ 730 w 778"/>
                      <a:gd name="T51" fmla="*/ 45 h 607"/>
                      <a:gd name="T52" fmla="*/ 660 w 778"/>
                      <a:gd name="T53" fmla="*/ 75 h 607"/>
                      <a:gd name="T54" fmla="*/ 638 w 778"/>
                      <a:gd name="T55" fmla="*/ 86 h 607"/>
                      <a:gd name="T56" fmla="*/ 645 w 778"/>
                      <a:gd name="T57" fmla="*/ 186 h 607"/>
                      <a:gd name="T58" fmla="*/ 649 w 778"/>
                      <a:gd name="T59" fmla="*/ 283 h 607"/>
                      <a:gd name="T60" fmla="*/ 651 w 778"/>
                      <a:gd name="T61" fmla="*/ 371 h 607"/>
                      <a:gd name="T62" fmla="*/ 652 w 778"/>
                      <a:gd name="T63" fmla="*/ 456 h 607"/>
                      <a:gd name="T64" fmla="*/ 655 w 778"/>
                      <a:gd name="T65" fmla="*/ 520 h 607"/>
                      <a:gd name="T66" fmla="*/ 654 w 778"/>
                      <a:gd name="T67" fmla="*/ 574 h 607"/>
                      <a:gd name="T68" fmla="*/ 640 w 778"/>
                      <a:gd name="T69" fmla="*/ 599 h 607"/>
                      <a:gd name="T70" fmla="*/ 547 w 778"/>
                      <a:gd name="T71" fmla="*/ 607 h 607"/>
                      <a:gd name="T72" fmla="*/ 389 w 778"/>
                      <a:gd name="T73" fmla="*/ 593 h 607"/>
                      <a:gd name="T74" fmla="*/ 227 w 778"/>
                      <a:gd name="T75" fmla="*/ 561 h 607"/>
                      <a:gd name="T76" fmla="*/ 108 w 778"/>
                      <a:gd name="T77" fmla="*/ 542 h 607"/>
                      <a:gd name="T78" fmla="*/ 9 w 778"/>
                      <a:gd name="T79" fmla="*/ 524 h 607"/>
                      <a:gd name="T80" fmla="*/ 0 w 778"/>
                      <a:gd name="T81" fmla="*/ 499 h 6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78" h="607">
                        <a:moveTo>
                          <a:pt x="0" y="499"/>
                        </a:moveTo>
                        <a:lnTo>
                          <a:pt x="115" y="525"/>
                        </a:lnTo>
                        <a:lnTo>
                          <a:pt x="276" y="554"/>
                        </a:lnTo>
                        <a:lnTo>
                          <a:pt x="407" y="576"/>
                        </a:lnTo>
                        <a:lnTo>
                          <a:pt x="526" y="580"/>
                        </a:lnTo>
                        <a:lnTo>
                          <a:pt x="604" y="580"/>
                        </a:lnTo>
                        <a:lnTo>
                          <a:pt x="627" y="573"/>
                        </a:lnTo>
                        <a:lnTo>
                          <a:pt x="637" y="516"/>
                        </a:lnTo>
                        <a:lnTo>
                          <a:pt x="633" y="362"/>
                        </a:lnTo>
                        <a:lnTo>
                          <a:pt x="628" y="174"/>
                        </a:lnTo>
                        <a:lnTo>
                          <a:pt x="622" y="106"/>
                        </a:lnTo>
                        <a:lnTo>
                          <a:pt x="610" y="79"/>
                        </a:lnTo>
                        <a:lnTo>
                          <a:pt x="405" y="69"/>
                        </a:lnTo>
                        <a:lnTo>
                          <a:pt x="209" y="42"/>
                        </a:lnTo>
                        <a:lnTo>
                          <a:pt x="101" y="26"/>
                        </a:lnTo>
                        <a:lnTo>
                          <a:pt x="63" y="26"/>
                        </a:lnTo>
                        <a:lnTo>
                          <a:pt x="87" y="3"/>
                        </a:lnTo>
                        <a:lnTo>
                          <a:pt x="133" y="15"/>
                        </a:lnTo>
                        <a:lnTo>
                          <a:pt x="268" y="32"/>
                        </a:lnTo>
                        <a:lnTo>
                          <a:pt x="396" y="45"/>
                        </a:lnTo>
                        <a:lnTo>
                          <a:pt x="511" y="53"/>
                        </a:lnTo>
                        <a:lnTo>
                          <a:pt x="619" y="60"/>
                        </a:lnTo>
                        <a:lnTo>
                          <a:pt x="709" y="35"/>
                        </a:lnTo>
                        <a:lnTo>
                          <a:pt x="763" y="0"/>
                        </a:lnTo>
                        <a:lnTo>
                          <a:pt x="778" y="24"/>
                        </a:lnTo>
                        <a:lnTo>
                          <a:pt x="730" y="45"/>
                        </a:lnTo>
                        <a:lnTo>
                          <a:pt x="660" y="75"/>
                        </a:lnTo>
                        <a:lnTo>
                          <a:pt x="638" y="86"/>
                        </a:lnTo>
                        <a:lnTo>
                          <a:pt x="645" y="186"/>
                        </a:lnTo>
                        <a:lnTo>
                          <a:pt x="649" y="283"/>
                        </a:lnTo>
                        <a:lnTo>
                          <a:pt x="651" y="371"/>
                        </a:lnTo>
                        <a:lnTo>
                          <a:pt x="652" y="456"/>
                        </a:lnTo>
                        <a:lnTo>
                          <a:pt x="655" y="520"/>
                        </a:lnTo>
                        <a:lnTo>
                          <a:pt x="654" y="574"/>
                        </a:lnTo>
                        <a:lnTo>
                          <a:pt x="640" y="599"/>
                        </a:lnTo>
                        <a:lnTo>
                          <a:pt x="547" y="607"/>
                        </a:lnTo>
                        <a:lnTo>
                          <a:pt x="389" y="593"/>
                        </a:lnTo>
                        <a:lnTo>
                          <a:pt x="227" y="561"/>
                        </a:lnTo>
                        <a:lnTo>
                          <a:pt x="108" y="542"/>
                        </a:lnTo>
                        <a:lnTo>
                          <a:pt x="9" y="524"/>
                        </a:lnTo>
                        <a:lnTo>
                          <a:pt x="0" y="4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1" name="Freeform 44"/>
                  <p:cNvSpPr>
                    <a:spLocks/>
                  </p:cNvSpPr>
                  <p:nvPr/>
                </p:nvSpPr>
                <p:spPr bwMode="auto">
                  <a:xfrm>
                    <a:off x="4730" y="2922"/>
                    <a:ext cx="430" cy="466"/>
                  </a:xfrm>
                  <a:custGeom>
                    <a:avLst/>
                    <a:gdLst>
                      <a:gd name="T0" fmla="*/ 0 w 430"/>
                      <a:gd name="T1" fmla="*/ 0 h 466"/>
                      <a:gd name="T2" fmla="*/ 159 w 430"/>
                      <a:gd name="T3" fmla="*/ 19 h 466"/>
                      <a:gd name="T4" fmla="*/ 271 w 430"/>
                      <a:gd name="T5" fmla="*/ 32 h 466"/>
                      <a:gd name="T6" fmla="*/ 394 w 430"/>
                      <a:gd name="T7" fmla="*/ 54 h 466"/>
                      <a:gd name="T8" fmla="*/ 412 w 430"/>
                      <a:gd name="T9" fmla="*/ 70 h 466"/>
                      <a:gd name="T10" fmla="*/ 422 w 430"/>
                      <a:gd name="T11" fmla="*/ 95 h 466"/>
                      <a:gd name="T12" fmla="*/ 430 w 430"/>
                      <a:gd name="T13" fmla="*/ 213 h 466"/>
                      <a:gd name="T14" fmla="*/ 430 w 430"/>
                      <a:gd name="T15" fmla="*/ 346 h 466"/>
                      <a:gd name="T16" fmla="*/ 426 w 430"/>
                      <a:gd name="T17" fmla="*/ 438 h 466"/>
                      <a:gd name="T18" fmla="*/ 412 w 430"/>
                      <a:gd name="T19" fmla="*/ 464 h 466"/>
                      <a:gd name="T20" fmla="*/ 385 w 430"/>
                      <a:gd name="T21" fmla="*/ 466 h 466"/>
                      <a:gd name="T22" fmla="*/ 246 w 430"/>
                      <a:gd name="T23" fmla="*/ 428 h 466"/>
                      <a:gd name="T24" fmla="*/ 395 w 430"/>
                      <a:gd name="T25" fmla="*/ 440 h 466"/>
                      <a:gd name="T26" fmla="*/ 405 w 430"/>
                      <a:gd name="T27" fmla="*/ 435 h 466"/>
                      <a:gd name="T28" fmla="*/ 412 w 430"/>
                      <a:gd name="T29" fmla="*/ 373 h 466"/>
                      <a:gd name="T30" fmla="*/ 414 w 430"/>
                      <a:gd name="T31" fmla="*/ 285 h 466"/>
                      <a:gd name="T32" fmla="*/ 409 w 430"/>
                      <a:gd name="T33" fmla="*/ 165 h 466"/>
                      <a:gd name="T34" fmla="*/ 401 w 430"/>
                      <a:gd name="T35" fmla="*/ 88 h 466"/>
                      <a:gd name="T36" fmla="*/ 385 w 430"/>
                      <a:gd name="T37" fmla="*/ 73 h 466"/>
                      <a:gd name="T38" fmla="*/ 297 w 430"/>
                      <a:gd name="T39" fmla="*/ 56 h 466"/>
                      <a:gd name="T40" fmla="*/ 176 w 430"/>
                      <a:gd name="T41" fmla="*/ 41 h 466"/>
                      <a:gd name="T42" fmla="*/ 78 w 430"/>
                      <a:gd name="T43" fmla="*/ 22 h 466"/>
                      <a:gd name="T44" fmla="*/ 0 w 430"/>
                      <a:gd name="T45" fmla="*/ 0 h 4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30" h="466">
                        <a:moveTo>
                          <a:pt x="0" y="0"/>
                        </a:moveTo>
                        <a:lnTo>
                          <a:pt x="159" y="19"/>
                        </a:lnTo>
                        <a:lnTo>
                          <a:pt x="271" y="32"/>
                        </a:lnTo>
                        <a:lnTo>
                          <a:pt x="394" y="54"/>
                        </a:lnTo>
                        <a:lnTo>
                          <a:pt x="412" y="70"/>
                        </a:lnTo>
                        <a:lnTo>
                          <a:pt x="422" y="95"/>
                        </a:lnTo>
                        <a:lnTo>
                          <a:pt x="430" y="213"/>
                        </a:lnTo>
                        <a:lnTo>
                          <a:pt x="430" y="346"/>
                        </a:lnTo>
                        <a:lnTo>
                          <a:pt x="426" y="438"/>
                        </a:lnTo>
                        <a:lnTo>
                          <a:pt x="412" y="464"/>
                        </a:lnTo>
                        <a:lnTo>
                          <a:pt x="385" y="466"/>
                        </a:lnTo>
                        <a:lnTo>
                          <a:pt x="246" y="428"/>
                        </a:lnTo>
                        <a:lnTo>
                          <a:pt x="395" y="440"/>
                        </a:lnTo>
                        <a:lnTo>
                          <a:pt x="405" y="435"/>
                        </a:lnTo>
                        <a:lnTo>
                          <a:pt x="412" y="373"/>
                        </a:lnTo>
                        <a:lnTo>
                          <a:pt x="414" y="285"/>
                        </a:lnTo>
                        <a:lnTo>
                          <a:pt x="409" y="165"/>
                        </a:lnTo>
                        <a:lnTo>
                          <a:pt x="401" y="88"/>
                        </a:lnTo>
                        <a:lnTo>
                          <a:pt x="385" y="73"/>
                        </a:lnTo>
                        <a:lnTo>
                          <a:pt x="297" y="56"/>
                        </a:lnTo>
                        <a:lnTo>
                          <a:pt x="176" y="41"/>
                        </a:lnTo>
                        <a:lnTo>
                          <a:pt x="78" y="2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2" name="Freeform 45"/>
                  <p:cNvSpPr>
                    <a:spLocks/>
                  </p:cNvSpPr>
                  <p:nvPr/>
                </p:nvSpPr>
                <p:spPr bwMode="auto">
                  <a:xfrm>
                    <a:off x="4646" y="2917"/>
                    <a:ext cx="453" cy="464"/>
                  </a:xfrm>
                  <a:custGeom>
                    <a:avLst/>
                    <a:gdLst>
                      <a:gd name="T0" fmla="*/ 257 w 453"/>
                      <a:gd name="T1" fmla="*/ 27 h 464"/>
                      <a:gd name="T2" fmla="*/ 102 w 453"/>
                      <a:gd name="T3" fmla="*/ 2 h 464"/>
                      <a:gd name="T4" fmla="*/ 57 w 453"/>
                      <a:gd name="T5" fmla="*/ 0 h 464"/>
                      <a:gd name="T6" fmla="*/ 45 w 453"/>
                      <a:gd name="T7" fmla="*/ 17 h 464"/>
                      <a:gd name="T8" fmla="*/ 32 w 453"/>
                      <a:gd name="T9" fmla="*/ 50 h 464"/>
                      <a:gd name="T10" fmla="*/ 12 w 453"/>
                      <a:gd name="T11" fmla="*/ 141 h 464"/>
                      <a:gd name="T12" fmla="*/ 2 w 453"/>
                      <a:gd name="T13" fmla="*/ 232 h 464"/>
                      <a:gd name="T14" fmla="*/ 0 w 453"/>
                      <a:gd name="T15" fmla="*/ 325 h 464"/>
                      <a:gd name="T16" fmla="*/ 14 w 453"/>
                      <a:gd name="T17" fmla="*/ 362 h 464"/>
                      <a:gd name="T18" fmla="*/ 21 w 453"/>
                      <a:gd name="T19" fmla="*/ 374 h 464"/>
                      <a:gd name="T20" fmla="*/ 119 w 453"/>
                      <a:gd name="T21" fmla="*/ 400 h 464"/>
                      <a:gd name="T22" fmla="*/ 245 w 453"/>
                      <a:gd name="T23" fmla="*/ 425 h 464"/>
                      <a:gd name="T24" fmla="*/ 340 w 453"/>
                      <a:gd name="T25" fmla="*/ 441 h 464"/>
                      <a:gd name="T26" fmla="*/ 453 w 453"/>
                      <a:gd name="T27" fmla="*/ 464 h 464"/>
                      <a:gd name="T28" fmla="*/ 450 w 453"/>
                      <a:gd name="T29" fmla="*/ 449 h 464"/>
                      <a:gd name="T30" fmla="*/ 363 w 453"/>
                      <a:gd name="T31" fmla="*/ 429 h 464"/>
                      <a:gd name="T32" fmla="*/ 248 w 453"/>
                      <a:gd name="T33" fmla="*/ 403 h 464"/>
                      <a:gd name="T34" fmla="*/ 92 w 453"/>
                      <a:gd name="T35" fmla="*/ 375 h 464"/>
                      <a:gd name="T36" fmla="*/ 36 w 453"/>
                      <a:gd name="T37" fmla="*/ 349 h 464"/>
                      <a:gd name="T38" fmla="*/ 20 w 453"/>
                      <a:gd name="T39" fmla="*/ 333 h 464"/>
                      <a:gd name="T40" fmla="*/ 18 w 453"/>
                      <a:gd name="T41" fmla="*/ 305 h 464"/>
                      <a:gd name="T42" fmla="*/ 21 w 453"/>
                      <a:gd name="T43" fmla="*/ 228 h 464"/>
                      <a:gd name="T44" fmla="*/ 35 w 453"/>
                      <a:gd name="T45" fmla="*/ 135 h 464"/>
                      <a:gd name="T46" fmla="*/ 56 w 453"/>
                      <a:gd name="T47" fmla="*/ 43 h 464"/>
                      <a:gd name="T48" fmla="*/ 69 w 453"/>
                      <a:gd name="T49" fmla="*/ 22 h 464"/>
                      <a:gd name="T50" fmla="*/ 176 w 453"/>
                      <a:gd name="T51" fmla="*/ 24 h 464"/>
                      <a:gd name="T52" fmla="*/ 257 w 453"/>
                      <a:gd name="T53" fmla="*/ 27 h 46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53" h="464">
                        <a:moveTo>
                          <a:pt x="257" y="27"/>
                        </a:moveTo>
                        <a:lnTo>
                          <a:pt x="102" y="2"/>
                        </a:lnTo>
                        <a:lnTo>
                          <a:pt x="57" y="0"/>
                        </a:lnTo>
                        <a:lnTo>
                          <a:pt x="45" y="17"/>
                        </a:lnTo>
                        <a:lnTo>
                          <a:pt x="32" y="50"/>
                        </a:lnTo>
                        <a:lnTo>
                          <a:pt x="12" y="141"/>
                        </a:lnTo>
                        <a:lnTo>
                          <a:pt x="2" y="232"/>
                        </a:lnTo>
                        <a:lnTo>
                          <a:pt x="0" y="325"/>
                        </a:lnTo>
                        <a:lnTo>
                          <a:pt x="14" y="362"/>
                        </a:lnTo>
                        <a:lnTo>
                          <a:pt x="21" y="374"/>
                        </a:lnTo>
                        <a:lnTo>
                          <a:pt x="119" y="400"/>
                        </a:lnTo>
                        <a:lnTo>
                          <a:pt x="245" y="425"/>
                        </a:lnTo>
                        <a:lnTo>
                          <a:pt x="340" y="441"/>
                        </a:lnTo>
                        <a:lnTo>
                          <a:pt x="453" y="464"/>
                        </a:lnTo>
                        <a:lnTo>
                          <a:pt x="450" y="449"/>
                        </a:lnTo>
                        <a:lnTo>
                          <a:pt x="363" y="429"/>
                        </a:lnTo>
                        <a:lnTo>
                          <a:pt x="248" y="403"/>
                        </a:lnTo>
                        <a:lnTo>
                          <a:pt x="92" y="375"/>
                        </a:lnTo>
                        <a:lnTo>
                          <a:pt x="36" y="349"/>
                        </a:lnTo>
                        <a:lnTo>
                          <a:pt x="20" y="333"/>
                        </a:lnTo>
                        <a:lnTo>
                          <a:pt x="18" y="305"/>
                        </a:lnTo>
                        <a:lnTo>
                          <a:pt x="21" y="228"/>
                        </a:lnTo>
                        <a:lnTo>
                          <a:pt x="35" y="135"/>
                        </a:lnTo>
                        <a:lnTo>
                          <a:pt x="56" y="43"/>
                        </a:lnTo>
                        <a:lnTo>
                          <a:pt x="69" y="22"/>
                        </a:lnTo>
                        <a:lnTo>
                          <a:pt x="176" y="24"/>
                        </a:lnTo>
                        <a:lnTo>
                          <a:pt x="25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8224" name="Group 46"/>
              <p:cNvGrpSpPr>
                <a:grpSpLocks/>
              </p:cNvGrpSpPr>
              <p:nvPr/>
            </p:nvGrpSpPr>
            <p:grpSpPr bwMode="auto">
              <a:xfrm>
                <a:off x="3983" y="3211"/>
                <a:ext cx="973" cy="799"/>
                <a:chOff x="3983" y="3211"/>
                <a:chExt cx="973" cy="799"/>
              </a:xfrm>
            </p:grpSpPr>
            <p:sp>
              <p:nvSpPr>
                <p:cNvPr id="8225" name="Freeform 47"/>
                <p:cNvSpPr>
                  <a:spLocks/>
                </p:cNvSpPr>
                <p:nvPr/>
              </p:nvSpPr>
              <p:spPr bwMode="auto">
                <a:xfrm>
                  <a:off x="4038" y="3211"/>
                  <a:ext cx="353" cy="287"/>
                </a:xfrm>
                <a:custGeom>
                  <a:avLst/>
                  <a:gdLst>
                    <a:gd name="T0" fmla="*/ 221 w 353"/>
                    <a:gd name="T1" fmla="*/ 76 h 287"/>
                    <a:gd name="T2" fmla="*/ 194 w 353"/>
                    <a:gd name="T3" fmla="*/ 41 h 287"/>
                    <a:gd name="T4" fmla="*/ 164 w 353"/>
                    <a:gd name="T5" fmla="*/ 18 h 287"/>
                    <a:gd name="T6" fmla="*/ 130 w 353"/>
                    <a:gd name="T7" fmla="*/ 5 h 287"/>
                    <a:gd name="T8" fmla="*/ 103 w 353"/>
                    <a:gd name="T9" fmla="*/ 0 h 287"/>
                    <a:gd name="T10" fmla="*/ 67 w 353"/>
                    <a:gd name="T11" fmla="*/ 8 h 287"/>
                    <a:gd name="T12" fmla="*/ 39 w 353"/>
                    <a:gd name="T13" fmla="*/ 23 h 287"/>
                    <a:gd name="T14" fmla="*/ 17 w 353"/>
                    <a:gd name="T15" fmla="*/ 44 h 287"/>
                    <a:gd name="T16" fmla="*/ 5 w 353"/>
                    <a:gd name="T17" fmla="*/ 78 h 287"/>
                    <a:gd name="T18" fmla="*/ 0 w 353"/>
                    <a:gd name="T19" fmla="*/ 113 h 287"/>
                    <a:gd name="T20" fmla="*/ 8 w 353"/>
                    <a:gd name="T21" fmla="*/ 150 h 287"/>
                    <a:gd name="T22" fmla="*/ 18 w 353"/>
                    <a:gd name="T23" fmla="*/ 195 h 287"/>
                    <a:gd name="T24" fmla="*/ 44 w 353"/>
                    <a:gd name="T25" fmla="*/ 235 h 287"/>
                    <a:gd name="T26" fmla="*/ 68 w 353"/>
                    <a:gd name="T27" fmla="*/ 260 h 287"/>
                    <a:gd name="T28" fmla="*/ 103 w 353"/>
                    <a:gd name="T29" fmla="*/ 278 h 287"/>
                    <a:gd name="T30" fmla="*/ 135 w 353"/>
                    <a:gd name="T31" fmla="*/ 287 h 287"/>
                    <a:gd name="T32" fmla="*/ 171 w 353"/>
                    <a:gd name="T33" fmla="*/ 287 h 287"/>
                    <a:gd name="T34" fmla="*/ 200 w 353"/>
                    <a:gd name="T35" fmla="*/ 273 h 287"/>
                    <a:gd name="T36" fmla="*/ 221 w 353"/>
                    <a:gd name="T37" fmla="*/ 255 h 287"/>
                    <a:gd name="T38" fmla="*/ 236 w 353"/>
                    <a:gd name="T39" fmla="*/ 226 h 287"/>
                    <a:gd name="T40" fmla="*/ 241 w 353"/>
                    <a:gd name="T41" fmla="*/ 205 h 287"/>
                    <a:gd name="T42" fmla="*/ 244 w 353"/>
                    <a:gd name="T43" fmla="*/ 173 h 287"/>
                    <a:gd name="T44" fmla="*/ 236 w 353"/>
                    <a:gd name="T45" fmla="*/ 140 h 287"/>
                    <a:gd name="T46" fmla="*/ 232 w 353"/>
                    <a:gd name="T47" fmla="*/ 108 h 287"/>
                    <a:gd name="T48" fmla="*/ 280 w 353"/>
                    <a:gd name="T49" fmla="*/ 81 h 287"/>
                    <a:gd name="T50" fmla="*/ 330 w 353"/>
                    <a:gd name="T51" fmla="*/ 63 h 287"/>
                    <a:gd name="T52" fmla="*/ 348 w 353"/>
                    <a:gd name="T53" fmla="*/ 49 h 287"/>
                    <a:gd name="T54" fmla="*/ 353 w 353"/>
                    <a:gd name="T55" fmla="*/ 27 h 287"/>
                    <a:gd name="T56" fmla="*/ 341 w 353"/>
                    <a:gd name="T57" fmla="*/ 17 h 287"/>
                    <a:gd name="T58" fmla="*/ 321 w 353"/>
                    <a:gd name="T59" fmla="*/ 9 h 287"/>
                    <a:gd name="T60" fmla="*/ 295 w 353"/>
                    <a:gd name="T61" fmla="*/ 21 h 287"/>
                    <a:gd name="T62" fmla="*/ 268 w 353"/>
                    <a:gd name="T63" fmla="*/ 53 h 287"/>
                    <a:gd name="T64" fmla="*/ 221 w 353"/>
                    <a:gd name="T65" fmla="*/ 76 h 28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53" h="287">
                      <a:moveTo>
                        <a:pt x="221" y="76"/>
                      </a:moveTo>
                      <a:lnTo>
                        <a:pt x="194" y="41"/>
                      </a:lnTo>
                      <a:lnTo>
                        <a:pt x="164" y="18"/>
                      </a:lnTo>
                      <a:lnTo>
                        <a:pt x="130" y="5"/>
                      </a:lnTo>
                      <a:lnTo>
                        <a:pt x="103" y="0"/>
                      </a:lnTo>
                      <a:lnTo>
                        <a:pt x="67" y="8"/>
                      </a:lnTo>
                      <a:lnTo>
                        <a:pt x="39" y="23"/>
                      </a:lnTo>
                      <a:lnTo>
                        <a:pt x="17" y="44"/>
                      </a:lnTo>
                      <a:lnTo>
                        <a:pt x="5" y="78"/>
                      </a:lnTo>
                      <a:lnTo>
                        <a:pt x="0" y="113"/>
                      </a:lnTo>
                      <a:lnTo>
                        <a:pt x="8" y="150"/>
                      </a:lnTo>
                      <a:lnTo>
                        <a:pt x="18" y="195"/>
                      </a:lnTo>
                      <a:lnTo>
                        <a:pt x="44" y="235"/>
                      </a:lnTo>
                      <a:lnTo>
                        <a:pt x="68" y="260"/>
                      </a:lnTo>
                      <a:lnTo>
                        <a:pt x="103" y="278"/>
                      </a:lnTo>
                      <a:lnTo>
                        <a:pt x="135" y="287"/>
                      </a:lnTo>
                      <a:lnTo>
                        <a:pt x="171" y="287"/>
                      </a:lnTo>
                      <a:lnTo>
                        <a:pt x="200" y="273"/>
                      </a:lnTo>
                      <a:lnTo>
                        <a:pt x="221" y="255"/>
                      </a:lnTo>
                      <a:lnTo>
                        <a:pt x="236" y="226"/>
                      </a:lnTo>
                      <a:lnTo>
                        <a:pt x="241" y="205"/>
                      </a:lnTo>
                      <a:lnTo>
                        <a:pt x="244" y="173"/>
                      </a:lnTo>
                      <a:lnTo>
                        <a:pt x="236" y="140"/>
                      </a:lnTo>
                      <a:lnTo>
                        <a:pt x="232" y="108"/>
                      </a:lnTo>
                      <a:lnTo>
                        <a:pt x="280" y="81"/>
                      </a:lnTo>
                      <a:lnTo>
                        <a:pt x="330" y="63"/>
                      </a:lnTo>
                      <a:lnTo>
                        <a:pt x="348" y="49"/>
                      </a:lnTo>
                      <a:lnTo>
                        <a:pt x="353" y="27"/>
                      </a:lnTo>
                      <a:lnTo>
                        <a:pt x="341" y="17"/>
                      </a:lnTo>
                      <a:lnTo>
                        <a:pt x="321" y="9"/>
                      </a:lnTo>
                      <a:lnTo>
                        <a:pt x="295" y="21"/>
                      </a:lnTo>
                      <a:lnTo>
                        <a:pt x="268" y="53"/>
                      </a:lnTo>
                      <a:lnTo>
                        <a:pt x="221"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6" name="Freeform 48"/>
                <p:cNvSpPr>
                  <a:spLocks/>
                </p:cNvSpPr>
                <p:nvPr/>
              </p:nvSpPr>
              <p:spPr bwMode="auto">
                <a:xfrm>
                  <a:off x="4167" y="3499"/>
                  <a:ext cx="297" cy="493"/>
                </a:xfrm>
                <a:custGeom>
                  <a:avLst/>
                  <a:gdLst>
                    <a:gd name="T0" fmla="*/ 40 w 297"/>
                    <a:gd name="T1" fmla="*/ 170 h 493"/>
                    <a:gd name="T2" fmla="*/ 14 w 297"/>
                    <a:gd name="T3" fmla="*/ 143 h 493"/>
                    <a:gd name="T4" fmla="*/ 3 w 297"/>
                    <a:gd name="T5" fmla="*/ 112 h 493"/>
                    <a:gd name="T6" fmla="*/ 0 w 297"/>
                    <a:gd name="T7" fmla="*/ 86 h 493"/>
                    <a:gd name="T8" fmla="*/ 9 w 297"/>
                    <a:gd name="T9" fmla="*/ 62 h 493"/>
                    <a:gd name="T10" fmla="*/ 21 w 297"/>
                    <a:gd name="T11" fmla="*/ 39 h 493"/>
                    <a:gd name="T12" fmla="*/ 49 w 297"/>
                    <a:gd name="T13" fmla="*/ 21 h 493"/>
                    <a:gd name="T14" fmla="*/ 78 w 297"/>
                    <a:gd name="T15" fmla="*/ 3 h 493"/>
                    <a:gd name="T16" fmla="*/ 122 w 297"/>
                    <a:gd name="T17" fmla="*/ 0 h 493"/>
                    <a:gd name="T18" fmla="*/ 149 w 297"/>
                    <a:gd name="T19" fmla="*/ 8 h 493"/>
                    <a:gd name="T20" fmla="*/ 169 w 297"/>
                    <a:gd name="T21" fmla="*/ 21 h 493"/>
                    <a:gd name="T22" fmla="*/ 201 w 297"/>
                    <a:gd name="T23" fmla="*/ 48 h 493"/>
                    <a:gd name="T24" fmla="*/ 224 w 297"/>
                    <a:gd name="T25" fmla="*/ 90 h 493"/>
                    <a:gd name="T26" fmla="*/ 245 w 297"/>
                    <a:gd name="T27" fmla="*/ 130 h 493"/>
                    <a:gd name="T28" fmla="*/ 263 w 297"/>
                    <a:gd name="T29" fmla="*/ 198 h 493"/>
                    <a:gd name="T30" fmla="*/ 274 w 297"/>
                    <a:gd name="T31" fmla="*/ 249 h 493"/>
                    <a:gd name="T32" fmla="*/ 282 w 297"/>
                    <a:gd name="T33" fmla="*/ 311 h 493"/>
                    <a:gd name="T34" fmla="*/ 288 w 297"/>
                    <a:gd name="T35" fmla="*/ 360 h 493"/>
                    <a:gd name="T36" fmla="*/ 297 w 297"/>
                    <a:gd name="T37" fmla="*/ 398 h 493"/>
                    <a:gd name="T38" fmla="*/ 297 w 297"/>
                    <a:gd name="T39" fmla="*/ 433 h 493"/>
                    <a:gd name="T40" fmla="*/ 288 w 297"/>
                    <a:gd name="T41" fmla="*/ 461 h 493"/>
                    <a:gd name="T42" fmla="*/ 274 w 297"/>
                    <a:gd name="T43" fmla="*/ 479 h 493"/>
                    <a:gd name="T44" fmla="*/ 251 w 297"/>
                    <a:gd name="T45" fmla="*/ 488 h 493"/>
                    <a:gd name="T46" fmla="*/ 222 w 297"/>
                    <a:gd name="T47" fmla="*/ 493 h 493"/>
                    <a:gd name="T48" fmla="*/ 90 w 297"/>
                    <a:gd name="T49" fmla="*/ 487 h 493"/>
                    <a:gd name="T50" fmla="*/ 62 w 297"/>
                    <a:gd name="T51" fmla="*/ 470 h 493"/>
                    <a:gd name="T52" fmla="*/ 44 w 297"/>
                    <a:gd name="T53" fmla="*/ 430 h 493"/>
                    <a:gd name="T54" fmla="*/ 37 w 297"/>
                    <a:gd name="T55" fmla="*/ 392 h 493"/>
                    <a:gd name="T56" fmla="*/ 40 w 297"/>
                    <a:gd name="T57" fmla="*/ 339 h 493"/>
                    <a:gd name="T58" fmla="*/ 53 w 297"/>
                    <a:gd name="T59" fmla="*/ 303 h 493"/>
                    <a:gd name="T60" fmla="*/ 73 w 297"/>
                    <a:gd name="T61" fmla="*/ 280 h 493"/>
                    <a:gd name="T62" fmla="*/ 78 w 297"/>
                    <a:gd name="T63" fmla="*/ 262 h 493"/>
                    <a:gd name="T64" fmla="*/ 73 w 297"/>
                    <a:gd name="T65" fmla="*/ 244 h 493"/>
                    <a:gd name="T66" fmla="*/ 64 w 297"/>
                    <a:gd name="T67" fmla="*/ 217 h 493"/>
                    <a:gd name="T68" fmla="*/ 49 w 297"/>
                    <a:gd name="T69" fmla="*/ 193 h 493"/>
                    <a:gd name="T70" fmla="*/ 40 w 297"/>
                    <a:gd name="T71" fmla="*/ 170 h 4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97" h="493">
                      <a:moveTo>
                        <a:pt x="40" y="170"/>
                      </a:moveTo>
                      <a:lnTo>
                        <a:pt x="14" y="143"/>
                      </a:lnTo>
                      <a:lnTo>
                        <a:pt x="3" y="112"/>
                      </a:lnTo>
                      <a:lnTo>
                        <a:pt x="0" y="86"/>
                      </a:lnTo>
                      <a:lnTo>
                        <a:pt x="9" y="62"/>
                      </a:lnTo>
                      <a:lnTo>
                        <a:pt x="21" y="39"/>
                      </a:lnTo>
                      <a:lnTo>
                        <a:pt x="49" y="21"/>
                      </a:lnTo>
                      <a:lnTo>
                        <a:pt x="78" y="3"/>
                      </a:lnTo>
                      <a:lnTo>
                        <a:pt x="122" y="0"/>
                      </a:lnTo>
                      <a:lnTo>
                        <a:pt x="149" y="8"/>
                      </a:lnTo>
                      <a:lnTo>
                        <a:pt x="169" y="21"/>
                      </a:lnTo>
                      <a:lnTo>
                        <a:pt x="201" y="48"/>
                      </a:lnTo>
                      <a:lnTo>
                        <a:pt x="224" y="90"/>
                      </a:lnTo>
                      <a:lnTo>
                        <a:pt x="245" y="130"/>
                      </a:lnTo>
                      <a:lnTo>
                        <a:pt x="263" y="198"/>
                      </a:lnTo>
                      <a:lnTo>
                        <a:pt x="274" y="249"/>
                      </a:lnTo>
                      <a:lnTo>
                        <a:pt x="282" y="311"/>
                      </a:lnTo>
                      <a:lnTo>
                        <a:pt x="288" y="360"/>
                      </a:lnTo>
                      <a:lnTo>
                        <a:pt x="297" y="398"/>
                      </a:lnTo>
                      <a:lnTo>
                        <a:pt x="297" y="433"/>
                      </a:lnTo>
                      <a:lnTo>
                        <a:pt x="288" y="461"/>
                      </a:lnTo>
                      <a:lnTo>
                        <a:pt x="274" y="479"/>
                      </a:lnTo>
                      <a:lnTo>
                        <a:pt x="251" y="488"/>
                      </a:lnTo>
                      <a:lnTo>
                        <a:pt x="222" y="493"/>
                      </a:lnTo>
                      <a:lnTo>
                        <a:pt x="90" y="487"/>
                      </a:lnTo>
                      <a:lnTo>
                        <a:pt x="62" y="470"/>
                      </a:lnTo>
                      <a:lnTo>
                        <a:pt x="44" y="430"/>
                      </a:lnTo>
                      <a:lnTo>
                        <a:pt x="37" y="392"/>
                      </a:lnTo>
                      <a:lnTo>
                        <a:pt x="40" y="339"/>
                      </a:lnTo>
                      <a:lnTo>
                        <a:pt x="53" y="303"/>
                      </a:lnTo>
                      <a:lnTo>
                        <a:pt x="73" y="280"/>
                      </a:lnTo>
                      <a:lnTo>
                        <a:pt x="78" y="262"/>
                      </a:lnTo>
                      <a:lnTo>
                        <a:pt x="73" y="244"/>
                      </a:lnTo>
                      <a:lnTo>
                        <a:pt x="64" y="217"/>
                      </a:lnTo>
                      <a:lnTo>
                        <a:pt x="49" y="193"/>
                      </a:lnTo>
                      <a:lnTo>
                        <a:pt x="40"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7" name="Freeform 49"/>
                <p:cNvSpPr>
                  <a:spLocks/>
                </p:cNvSpPr>
                <p:nvPr/>
              </p:nvSpPr>
              <p:spPr bwMode="auto">
                <a:xfrm>
                  <a:off x="3983" y="3542"/>
                  <a:ext cx="250" cy="455"/>
                </a:xfrm>
                <a:custGeom>
                  <a:avLst/>
                  <a:gdLst>
                    <a:gd name="T0" fmla="*/ 153 w 250"/>
                    <a:gd name="T1" fmla="*/ 74 h 455"/>
                    <a:gd name="T2" fmla="*/ 186 w 250"/>
                    <a:gd name="T3" fmla="*/ 24 h 455"/>
                    <a:gd name="T4" fmla="*/ 209 w 250"/>
                    <a:gd name="T5" fmla="*/ 5 h 455"/>
                    <a:gd name="T6" fmla="*/ 235 w 250"/>
                    <a:gd name="T7" fmla="*/ 0 h 455"/>
                    <a:gd name="T8" fmla="*/ 250 w 250"/>
                    <a:gd name="T9" fmla="*/ 45 h 455"/>
                    <a:gd name="T10" fmla="*/ 227 w 250"/>
                    <a:gd name="T11" fmla="*/ 83 h 455"/>
                    <a:gd name="T12" fmla="*/ 209 w 250"/>
                    <a:gd name="T13" fmla="*/ 97 h 455"/>
                    <a:gd name="T14" fmla="*/ 175 w 250"/>
                    <a:gd name="T15" fmla="*/ 132 h 455"/>
                    <a:gd name="T16" fmla="*/ 144 w 250"/>
                    <a:gd name="T17" fmla="*/ 187 h 455"/>
                    <a:gd name="T18" fmla="*/ 129 w 250"/>
                    <a:gd name="T19" fmla="*/ 254 h 455"/>
                    <a:gd name="T20" fmla="*/ 124 w 250"/>
                    <a:gd name="T21" fmla="*/ 314 h 455"/>
                    <a:gd name="T22" fmla="*/ 121 w 250"/>
                    <a:gd name="T23" fmla="*/ 369 h 455"/>
                    <a:gd name="T24" fmla="*/ 124 w 250"/>
                    <a:gd name="T25" fmla="*/ 408 h 455"/>
                    <a:gd name="T26" fmla="*/ 135 w 250"/>
                    <a:gd name="T27" fmla="*/ 408 h 455"/>
                    <a:gd name="T28" fmla="*/ 161 w 250"/>
                    <a:gd name="T29" fmla="*/ 387 h 455"/>
                    <a:gd name="T30" fmla="*/ 193 w 250"/>
                    <a:gd name="T31" fmla="*/ 399 h 455"/>
                    <a:gd name="T32" fmla="*/ 172 w 250"/>
                    <a:gd name="T33" fmla="*/ 419 h 455"/>
                    <a:gd name="T34" fmla="*/ 130 w 250"/>
                    <a:gd name="T35" fmla="*/ 437 h 455"/>
                    <a:gd name="T36" fmla="*/ 117 w 250"/>
                    <a:gd name="T37" fmla="*/ 453 h 455"/>
                    <a:gd name="T38" fmla="*/ 80 w 250"/>
                    <a:gd name="T39" fmla="*/ 455 h 455"/>
                    <a:gd name="T40" fmla="*/ 46 w 250"/>
                    <a:gd name="T41" fmla="*/ 440 h 455"/>
                    <a:gd name="T42" fmla="*/ 0 w 250"/>
                    <a:gd name="T43" fmla="*/ 419 h 455"/>
                    <a:gd name="T44" fmla="*/ 5 w 250"/>
                    <a:gd name="T45" fmla="*/ 392 h 455"/>
                    <a:gd name="T46" fmla="*/ 20 w 250"/>
                    <a:gd name="T47" fmla="*/ 387 h 455"/>
                    <a:gd name="T48" fmla="*/ 57 w 250"/>
                    <a:gd name="T49" fmla="*/ 413 h 455"/>
                    <a:gd name="T50" fmla="*/ 37 w 250"/>
                    <a:gd name="T51" fmla="*/ 372 h 455"/>
                    <a:gd name="T52" fmla="*/ 48 w 250"/>
                    <a:gd name="T53" fmla="*/ 364 h 455"/>
                    <a:gd name="T54" fmla="*/ 66 w 250"/>
                    <a:gd name="T55" fmla="*/ 369 h 455"/>
                    <a:gd name="T56" fmla="*/ 87 w 250"/>
                    <a:gd name="T57" fmla="*/ 399 h 455"/>
                    <a:gd name="T58" fmla="*/ 87 w 250"/>
                    <a:gd name="T59" fmla="*/ 333 h 455"/>
                    <a:gd name="T60" fmla="*/ 87 w 250"/>
                    <a:gd name="T61" fmla="*/ 263 h 455"/>
                    <a:gd name="T62" fmla="*/ 97 w 250"/>
                    <a:gd name="T63" fmla="*/ 200 h 455"/>
                    <a:gd name="T64" fmla="*/ 115 w 250"/>
                    <a:gd name="T65" fmla="*/ 147 h 455"/>
                    <a:gd name="T66" fmla="*/ 133 w 250"/>
                    <a:gd name="T67" fmla="*/ 100 h 455"/>
                    <a:gd name="T68" fmla="*/ 153 w 250"/>
                    <a:gd name="T69" fmla="*/ 74 h 45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50" h="455">
                      <a:moveTo>
                        <a:pt x="153" y="74"/>
                      </a:moveTo>
                      <a:lnTo>
                        <a:pt x="186" y="24"/>
                      </a:lnTo>
                      <a:lnTo>
                        <a:pt x="209" y="5"/>
                      </a:lnTo>
                      <a:lnTo>
                        <a:pt x="235" y="0"/>
                      </a:lnTo>
                      <a:lnTo>
                        <a:pt x="250" y="45"/>
                      </a:lnTo>
                      <a:lnTo>
                        <a:pt x="227" y="83"/>
                      </a:lnTo>
                      <a:lnTo>
                        <a:pt x="209" y="97"/>
                      </a:lnTo>
                      <a:lnTo>
                        <a:pt x="175" y="132"/>
                      </a:lnTo>
                      <a:lnTo>
                        <a:pt x="144" y="187"/>
                      </a:lnTo>
                      <a:lnTo>
                        <a:pt x="129" y="254"/>
                      </a:lnTo>
                      <a:lnTo>
                        <a:pt x="124" y="314"/>
                      </a:lnTo>
                      <a:lnTo>
                        <a:pt x="121" y="369"/>
                      </a:lnTo>
                      <a:lnTo>
                        <a:pt x="124" y="408"/>
                      </a:lnTo>
                      <a:lnTo>
                        <a:pt x="135" y="408"/>
                      </a:lnTo>
                      <a:lnTo>
                        <a:pt x="161" y="387"/>
                      </a:lnTo>
                      <a:lnTo>
                        <a:pt x="193" y="399"/>
                      </a:lnTo>
                      <a:lnTo>
                        <a:pt x="172" y="419"/>
                      </a:lnTo>
                      <a:lnTo>
                        <a:pt x="130" y="437"/>
                      </a:lnTo>
                      <a:lnTo>
                        <a:pt x="117" y="453"/>
                      </a:lnTo>
                      <a:lnTo>
                        <a:pt x="80" y="455"/>
                      </a:lnTo>
                      <a:lnTo>
                        <a:pt x="46" y="440"/>
                      </a:lnTo>
                      <a:lnTo>
                        <a:pt x="0" y="419"/>
                      </a:lnTo>
                      <a:lnTo>
                        <a:pt x="5" y="392"/>
                      </a:lnTo>
                      <a:lnTo>
                        <a:pt x="20" y="387"/>
                      </a:lnTo>
                      <a:lnTo>
                        <a:pt x="57" y="413"/>
                      </a:lnTo>
                      <a:lnTo>
                        <a:pt x="37" y="372"/>
                      </a:lnTo>
                      <a:lnTo>
                        <a:pt x="48" y="364"/>
                      </a:lnTo>
                      <a:lnTo>
                        <a:pt x="66" y="369"/>
                      </a:lnTo>
                      <a:lnTo>
                        <a:pt x="87" y="399"/>
                      </a:lnTo>
                      <a:lnTo>
                        <a:pt x="87" y="333"/>
                      </a:lnTo>
                      <a:lnTo>
                        <a:pt x="87" y="263"/>
                      </a:lnTo>
                      <a:lnTo>
                        <a:pt x="97" y="200"/>
                      </a:lnTo>
                      <a:lnTo>
                        <a:pt x="115" y="147"/>
                      </a:lnTo>
                      <a:lnTo>
                        <a:pt x="133" y="100"/>
                      </a:lnTo>
                      <a:lnTo>
                        <a:pt x="153"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8" name="Freeform 50"/>
                <p:cNvSpPr>
                  <a:spLocks/>
                </p:cNvSpPr>
                <p:nvPr/>
              </p:nvSpPr>
              <p:spPr bwMode="auto">
                <a:xfrm>
                  <a:off x="4265" y="3517"/>
                  <a:ext cx="457" cy="493"/>
                </a:xfrm>
                <a:custGeom>
                  <a:avLst/>
                  <a:gdLst>
                    <a:gd name="T0" fmla="*/ 53 w 457"/>
                    <a:gd name="T1" fmla="*/ 3 h 493"/>
                    <a:gd name="T2" fmla="*/ 80 w 457"/>
                    <a:gd name="T3" fmla="*/ 5 h 493"/>
                    <a:gd name="T4" fmla="*/ 118 w 457"/>
                    <a:gd name="T5" fmla="*/ 23 h 493"/>
                    <a:gd name="T6" fmla="*/ 161 w 457"/>
                    <a:gd name="T7" fmla="*/ 62 h 493"/>
                    <a:gd name="T8" fmla="*/ 208 w 457"/>
                    <a:gd name="T9" fmla="*/ 116 h 493"/>
                    <a:gd name="T10" fmla="*/ 261 w 457"/>
                    <a:gd name="T11" fmla="*/ 190 h 493"/>
                    <a:gd name="T12" fmla="*/ 302 w 457"/>
                    <a:gd name="T13" fmla="*/ 271 h 493"/>
                    <a:gd name="T14" fmla="*/ 324 w 457"/>
                    <a:gd name="T15" fmla="*/ 365 h 493"/>
                    <a:gd name="T16" fmla="*/ 347 w 457"/>
                    <a:gd name="T17" fmla="*/ 421 h 493"/>
                    <a:gd name="T18" fmla="*/ 360 w 457"/>
                    <a:gd name="T19" fmla="*/ 452 h 493"/>
                    <a:gd name="T20" fmla="*/ 388 w 457"/>
                    <a:gd name="T21" fmla="*/ 460 h 493"/>
                    <a:gd name="T22" fmla="*/ 428 w 457"/>
                    <a:gd name="T23" fmla="*/ 460 h 493"/>
                    <a:gd name="T24" fmla="*/ 448 w 457"/>
                    <a:gd name="T25" fmla="*/ 461 h 493"/>
                    <a:gd name="T26" fmla="*/ 457 w 457"/>
                    <a:gd name="T27" fmla="*/ 484 h 493"/>
                    <a:gd name="T28" fmla="*/ 430 w 457"/>
                    <a:gd name="T29" fmla="*/ 491 h 493"/>
                    <a:gd name="T30" fmla="*/ 392 w 457"/>
                    <a:gd name="T31" fmla="*/ 488 h 493"/>
                    <a:gd name="T32" fmla="*/ 356 w 457"/>
                    <a:gd name="T33" fmla="*/ 484 h 493"/>
                    <a:gd name="T34" fmla="*/ 333 w 457"/>
                    <a:gd name="T35" fmla="*/ 464 h 493"/>
                    <a:gd name="T36" fmla="*/ 315 w 457"/>
                    <a:gd name="T37" fmla="*/ 470 h 493"/>
                    <a:gd name="T38" fmla="*/ 308 w 457"/>
                    <a:gd name="T39" fmla="*/ 488 h 493"/>
                    <a:gd name="T40" fmla="*/ 284 w 457"/>
                    <a:gd name="T41" fmla="*/ 493 h 493"/>
                    <a:gd name="T42" fmla="*/ 271 w 457"/>
                    <a:gd name="T43" fmla="*/ 482 h 493"/>
                    <a:gd name="T44" fmla="*/ 279 w 457"/>
                    <a:gd name="T45" fmla="*/ 460 h 493"/>
                    <a:gd name="T46" fmla="*/ 303 w 457"/>
                    <a:gd name="T47" fmla="*/ 433 h 493"/>
                    <a:gd name="T48" fmla="*/ 306 w 457"/>
                    <a:gd name="T49" fmla="*/ 398 h 493"/>
                    <a:gd name="T50" fmla="*/ 294 w 457"/>
                    <a:gd name="T51" fmla="*/ 362 h 493"/>
                    <a:gd name="T52" fmla="*/ 270 w 457"/>
                    <a:gd name="T53" fmla="*/ 294 h 493"/>
                    <a:gd name="T54" fmla="*/ 238 w 457"/>
                    <a:gd name="T55" fmla="*/ 244 h 493"/>
                    <a:gd name="T56" fmla="*/ 207 w 457"/>
                    <a:gd name="T57" fmla="*/ 193 h 493"/>
                    <a:gd name="T58" fmla="*/ 175 w 457"/>
                    <a:gd name="T59" fmla="*/ 154 h 493"/>
                    <a:gd name="T60" fmla="*/ 130 w 457"/>
                    <a:gd name="T61" fmla="*/ 112 h 493"/>
                    <a:gd name="T62" fmla="*/ 80 w 457"/>
                    <a:gd name="T63" fmla="*/ 84 h 493"/>
                    <a:gd name="T64" fmla="*/ 12 w 457"/>
                    <a:gd name="T65" fmla="*/ 57 h 493"/>
                    <a:gd name="T66" fmla="*/ 0 w 457"/>
                    <a:gd name="T67" fmla="*/ 23 h 493"/>
                    <a:gd name="T68" fmla="*/ 21 w 457"/>
                    <a:gd name="T69" fmla="*/ 0 h 493"/>
                    <a:gd name="T70" fmla="*/ 53 w 457"/>
                    <a:gd name="T71" fmla="*/ 3 h 4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57" h="493">
                      <a:moveTo>
                        <a:pt x="53" y="3"/>
                      </a:moveTo>
                      <a:lnTo>
                        <a:pt x="80" y="5"/>
                      </a:lnTo>
                      <a:lnTo>
                        <a:pt x="118" y="23"/>
                      </a:lnTo>
                      <a:lnTo>
                        <a:pt x="161" y="62"/>
                      </a:lnTo>
                      <a:lnTo>
                        <a:pt x="208" y="116"/>
                      </a:lnTo>
                      <a:lnTo>
                        <a:pt x="261" y="190"/>
                      </a:lnTo>
                      <a:lnTo>
                        <a:pt x="302" y="271"/>
                      </a:lnTo>
                      <a:lnTo>
                        <a:pt x="324" y="365"/>
                      </a:lnTo>
                      <a:lnTo>
                        <a:pt x="347" y="421"/>
                      </a:lnTo>
                      <a:lnTo>
                        <a:pt x="360" y="452"/>
                      </a:lnTo>
                      <a:lnTo>
                        <a:pt x="388" y="460"/>
                      </a:lnTo>
                      <a:lnTo>
                        <a:pt x="428" y="460"/>
                      </a:lnTo>
                      <a:lnTo>
                        <a:pt x="448" y="461"/>
                      </a:lnTo>
                      <a:lnTo>
                        <a:pt x="457" y="484"/>
                      </a:lnTo>
                      <a:lnTo>
                        <a:pt x="430" y="491"/>
                      </a:lnTo>
                      <a:lnTo>
                        <a:pt x="392" y="488"/>
                      </a:lnTo>
                      <a:lnTo>
                        <a:pt x="356" y="484"/>
                      </a:lnTo>
                      <a:lnTo>
                        <a:pt x="333" y="464"/>
                      </a:lnTo>
                      <a:lnTo>
                        <a:pt x="315" y="470"/>
                      </a:lnTo>
                      <a:lnTo>
                        <a:pt x="308" y="488"/>
                      </a:lnTo>
                      <a:lnTo>
                        <a:pt x="284" y="493"/>
                      </a:lnTo>
                      <a:lnTo>
                        <a:pt x="271" y="482"/>
                      </a:lnTo>
                      <a:lnTo>
                        <a:pt x="279" y="460"/>
                      </a:lnTo>
                      <a:lnTo>
                        <a:pt x="303" y="433"/>
                      </a:lnTo>
                      <a:lnTo>
                        <a:pt x="306" y="398"/>
                      </a:lnTo>
                      <a:lnTo>
                        <a:pt x="294" y="362"/>
                      </a:lnTo>
                      <a:lnTo>
                        <a:pt x="270" y="294"/>
                      </a:lnTo>
                      <a:lnTo>
                        <a:pt x="238" y="244"/>
                      </a:lnTo>
                      <a:lnTo>
                        <a:pt x="207" y="193"/>
                      </a:lnTo>
                      <a:lnTo>
                        <a:pt x="175" y="154"/>
                      </a:lnTo>
                      <a:lnTo>
                        <a:pt x="130" y="112"/>
                      </a:lnTo>
                      <a:lnTo>
                        <a:pt x="80" y="84"/>
                      </a:lnTo>
                      <a:lnTo>
                        <a:pt x="12" y="57"/>
                      </a:lnTo>
                      <a:lnTo>
                        <a:pt x="0" y="23"/>
                      </a:lnTo>
                      <a:lnTo>
                        <a:pt x="21" y="0"/>
                      </a:lnTo>
                      <a:lnTo>
                        <a:pt x="53"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9" name="Freeform 51"/>
                <p:cNvSpPr>
                  <a:spLocks/>
                </p:cNvSpPr>
                <p:nvPr/>
              </p:nvSpPr>
              <p:spPr bwMode="auto">
                <a:xfrm>
                  <a:off x="4357" y="3627"/>
                  <a:ext cx="599" cy="359"/>
                </a:xfrm>
                <a:custGeom>
                  <a:avLst/>
                  <a:gdLst>
                    <a:gd name="T0" fmla="*/ 29 w 599"/>
                    <a:gd name="T1" fmla="*/ 247 h 359"/>
                    <a:gd name="T2" fmla="*/ 5 w 599"/>
                    <a:gd name="T3" fmla="*/ 264 h 359"/>
                    <a:gd name="T4" fmla="*/ 0 w 599"/>
                    <a:gd name="T5" fmla="*/ 292 h 359"/>
                    <a:gd name="T6" fmla="*/ 5 w 599"/>
                    <a:gd name="T7" fmla="*/ 341 h 359"/>
                    <a:gd name="T8" fmla="*/ 27 w 599"/>
                    <a:gd name="T9" fmla="*/ 359 h 359"/>
                    <a:gd name="T10" fmla="*/ 86 w 599"/>
                    <a:gd name="T11" fmla="*/ 345 h 359"/>
                    <a:gd name="T12" fmla="*/ 150 w 599"/>
                    <a:gd name="T13" fmla="*/ 306 h 359"/>
                    <a:gd name="T14" fmla="*/ 234 w 599"/>
                    <a:gd name="T15" fmla="*/ 259 h 359"/>
                    <a:gd name="T16" fmla="*/ 293 w 599"/>
                    <a:gd name="T17" fmla="*/ 232 h 359"/>
                    <a:gd name="T18" fmla="*/ 329 w 599"/>
                    <a:gd name="T19" fmla="*/ 227 h 359"/>
                    <a:gd name="T20" fmla="*/ 383 w 599"/>
                    <a:gd name="T21" fmla="*/ 224 h 359"/>
                    <a:gd name="T22" fmla="*/ 414 w 599"/>
                    <a:gd name="T23" fmla="*/ 220 h 359"/>
                    <a:gd name="T24" fmla="*/ 452 w 599"/>
                    <a:gd name="T25" fmla="*/ 197 h 359"/>
                    <a:gd name="T26" fmla="*/ 489 w 599"/>
                    <a:gd name="T27" fmla="*/ 186 h 359"/>
                    <a:gd name="T28" fmla="*/ 507 w 599"/>
                    <a:gd name="T29" fmla="*/ 186 h 359"/>
                    <a:gd name="T30" fmla="*/ 536 w 599"/>
                    <a:gd name="T31" fmla="*/ 186 h 359"/>
                    <a:gd name="T32" fmla="*/ 545 w 599"/>
                    <a:gd name="T33" fmla="*/ 173 h 359"/>
                    <a:gd name="T34" fmla="*/ 549 w 599"/>
                    <a:gd name="T35" fmla="*/ 136 h 359"/>
                    <a:gd name="T36" fmla="*/ 566 w 599"/>
                    <a:gd name="T37" fmla="*/ 97 h 359"/>
                    <a:gd name="T38" fmla="*/ 590 w 599"/>
                    <a:gd name="T39" fmla="*/ 59 h 359"/>
                    <a:gd name="T40" fmla="*/ 599 w 599"/>
                    <a:gd name="T41" fmla="*/ 41 h 359"/>
                    <a:gd name="T42" fmla="*/ 593 w 599"/>
                    <a:gd name="T43" fmla="*/ 18 h 359"/>
                    <a:gd name="T44" fmla="*/ 557 w 599"/>
                    <a:gd name="T45" fmla="*/ 0 h 359"/>
                    <a:gd name="T46" fmla="*/ 531 w 599"/>
                    <a:gd name="T47" fmla="*/ 5 h 359"/>
                    <a:gd name="T48" fmla="*/ 504 w 599"/>
                    <a:gd name="T49" fmla="*/ 86 h 359"/>
                    <a:gd name="T50" fmla="*/ 494 w 599"/>
                    <a:gd name="T51" fmla="*/ 150 h 359"/>
                    <a:gd name="T52" fmla="*/ 476 w 599"/>
                    <a:gd name="T53" fmla="*/ 159 h 359"/>
                    <a:gd name="T54" fmla="*/ 401 w 599"/>
                    <a:gd name="T55" fmla="*/ 165 h 359"/>
                    <a:gd name="T56" fmla="*/ 321 w 599"/>
                    <a:gd name="T57" fmla="*/ 173 h 359"/>
                    <a:gd name="T58" fmla="*/ 270 w 599"/>
                    <a:gd name="T59" fmla="*/ 170 h 359"/>
                    <a:gd name="T60" fmla="*/ 243 w 599"/>
                    <a:gd name="T61" fmla="*/ 182 h 359"/>
                    <a:gd name="T62" fmla="*/ 189 w 599"/>
                    <a:gd name="T63" fmla="*/ 200 h 359"/>
                    <a:gd name="T64" fmla="*/ 99 w 599"/>
                    <a:gd name="T65" fmla="*/ 227 h 359"/>
                    <a:gd name="T66" fmla="*/ 29 w 599"/>
                    <a:gd name="T67" fmla="*/ 247 h 35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99" h="359">
                      <a:moveTo>
                        <a:pt x="29" y="247"/>
                      </a:moveTo>
                      <a:lnTo>
                        <a:pt x="5" y="264"/>
                      </a:lnTo>
                      <a:lnTo>
                        <a:pt x="0" y="292"/>
                      </a:lnTo>
                      <a:lnTo>
                        <a:pt x="5" y="341"/>
                      </a:lnTo>
                      <a:lnTo>
                        <a:pt x="27" y="359"/>
                      </a:lnTo>
                      <a:lnTo>
                        <a:pt x="86" y="345"/>
                      </a:lnTo>
                      <a:lnTo>
                        <a:pt x="150" y="306"/>
                      </a:lnTo>
                      <a:lnTo>
                        <a:pt x="234" y="259"/>
                      </a:lnTo>
                      <a:lnTo>
                        <a:pt x="293" y="232"/>
                      </a:lnTo>
                      <a:lnTo>
                        <a:pt x="329" y="227"/>
                      </a:lnTo>
                      <a:lnTo>
                        <a:pt x="383" y="224"/>
                      </a:lnTo>
                      <a:lnTo>
                        <a:pt x="414" y="220"/>
                      </a:lnTo>
                      <a:lnTo>
                        <a:pt x="452" y="197"/>
                      </a:lnTo>
                      <a:lnTo>
                        <a:pt x="489" y="186"/>
                      </a:lnTo>
                      <a:lnTo>
                        <a:pt x="507" y="186"/>
                      </a:lnTo>
                      <a:lnTo>
                        <a:pt x="536" y="186"/>
                      </a:lnTo>
                      <a:lnTo>
                        <a:pt x="545" y="173"/>
                      </a:lnTo>
                      <a:lnTo>
                        <a:pt x="549" y="136"/>
                      </a:lnTo>
                      <a:lnTo>
                        <a:pt x="566" y="97"/>
                      </a:lnTo>
                      <a:lnTo>
                        <a:pt x="590" y="59"/>
                      </a:lnTo>
                      <a:lnTo>
                        <a:pt x="599" y="41"/>
                      </a:lnTo>
                      <a:lnTo>
                        <a:pt x="593" y="18"/>
                      </a:lnTo>
                      <a:lnTo>
                        <a:pt x="557" y="0"/>
                      </a:lnTo>
                      <a:lnTo>
                        <a:pt x="531" y="5"/>
                      </a:lnTo>
                      <a:lnTo>
                        <a:pt x="504" y="86"/>
                      </a:lnTo>
                      <a:lnTo>
                        <a:pt x="494" y="150"/>
                      </a:lnTo>
                      <a:lnTo>
                        <a:pt x="476" y="159"/>
                      </a:lnTo>
                      <a:lnTo>
                        <a:pt x="401" y="165"/>
                      </a:lnTo>
                      <a:lnTo>
                        <a:pt x="321" y="173"/>
                      </a:lnTo>
                      <a:lnTo>
                        <a:pt x="270" y="170"/>
                      </a:lnTo>
                      <a:lnTo>
                        <a:pt x="243" y="182"/>
                      </a:lnTo>
                      <a:lnTo>
                        <a:pt x="189" y="200"/>
                      </a:lnTo>
                      <a:lnTo>
                        <a:pt x="99" y="227"/>
                      </a:lnTo>
                      <a:lnTo>
                        <a:pt x="29" y="2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0" name="Freeform 52"/>
                <p:cNvSpPr>
                  <a:spLocks/>
                </p:cNvSpPr>
                <p:nvPr/>
              </p:nvSpPr>
              <p:spPr bwMode="auto">
                <a:xfrm>
                  <a:off x="4241" y="3569"/>
                  <a:ext cx="488" cy="411"/>
                </a:xfrm>
                <a:custGeom>
                  <a:avLst/>
                  <a:gdLst>
                    <a:gd name="T0" fmla="*/ 18 w 488"/>
                    <a:gd name="T1" fmla="*/ 310 h 411"/>
                    <a:gd name="T2" fmla="*/ 0 w 488"/>
                    <a:gd name="T3" fmla="*/ 329 h 411"/>
                    <a:gd name="T4" fmla="*/ 0 w 488"/>
                    <a:gd name="T5" fmla="*/ 356 h 411"/>
                    <a:gd name="T6" fmla="*/ 12 w 488"/>
                    <a:gd name="T7" fmla="*/ 397 h 411"/>
                    <a:gd name="T8" fmla="*/ 35 w 488"/>
                    <a:gd name="T9" fmla="*/ 411 h 411"/>
                    <a:gd name="T10" fmla="*/ 85 w 488"/>
                    <a:gd name="T11" fmla="*/ 388 h 411"/>
                    <a:gd name="T12" fmla="*/ 136 w 488"/>
                    <a:gd name="T13" fmla="*/ 341 h 411"/>
                    <a:gd name="T14" fmla="*/ 202 w 488"/>
                    <a:gd name="T15" fmla="*/ 285 h 411"/>
                    <a:gd name="T16" fmla="*/ 249 w 488"/>
                    <a:gd name="T17" fmla="*/ 251 h 411"/>
                    <a:gd name="T18" fmla="*/ 281 w 488"/>
                    <a:gd name="T19" fmla="*/ 240 h 411"/>
                    <a:gd name="T20" fmla="*/ 328 w 488"/>
                    <a:gd name="T21" fmla="*/ 228 h 411"/>
                    <a:gd name="T22" fmla="*/ 355 w 488"/>
                    <a:gd name="T23" fmla="*/ 220 h 411"/>
                    <a:gd name="T24" fmla="*/ 384 w 488"/>
                    <a:gd name="T25" fmla="*/ 194 h 411"/>
                    <a:gd name="T26" fmla="*/ 416 w 488"/>
                    <a:gd name="T27" fmla="*/ 178 h 411"/>
                    <a:gd name="T28" fmla="*/ 431 w 488"/>
                    <a:gd name="T29" fmla="*/ 173 h 411"/>
                    <a:gd name="T30" fmla="*/ 457 w 488"/>
                    <a:gd name="T31" fmla="*/ 169 h 411"/>
                    <a:gd name="T32" fmla="*/ 462 w 488"/>
                    <a:gd name="T33" fmla="*/ 156 h 411"/>
                    <a:gd name="T34" fmla="*/ 461 w 488"/>
                    <a:gd name="T35" fmla="*/ 123 h 411"/>
                    <a:gd name="T36" fmla="*/ 469 w 488"/>
                    <a:gd name="T37" fmla="*/ 85 h 411"/>
                    <a:gd name="T38" fmla="*/ 483 w 488"/>
                    <a:gd name="T39" fmla="*/ 46 h 411"/>
                    <a:gd name="T40" fmla="*/ 488 w 488"/>
                    <a:gd name="T41" fmla="*/ 30 h 411"/>
                    <a:gd name="T42" fmla="*/ 479 w 488"/>
                    <a:gd name="T43" fmla="*/ 11 h 411"/>
                    <a:gd name="T44" fmla="*/ 443 w 488"/>
                    <a:gd name="T45" fmla="*/ 0 h 411"/>
                    <a:gd name="T46" fmla="*/ 422 w 488"/>
                    <a:gd name="T47" fmla="*/ 8 h 411"/>
                    <a:gd name="T48" fmla="*/ 411 w 488"/>
                    <a:gd name="T49" fmla="*/ 86 h 411"/>
                    <a:gd name="T50" fmla="*/ 413 w 488"/>
                    <a:gd name="T51" fmla="*/ 143 h 411"/>
                    <a:gd name="T52" fmla="*/ 400 w 488"/>
                    <a:gd name="T53" fmla="*/ 154 h 411"/>
                    <a:gd name="T54" fmla="*/ 333 w 488"/>
                    <a:gd name="T55" fmla="*/ 173 h 411"/>
                    <a:gd name="T56" fmla="*/ 264 w 488"/>
                    <a:gd name="T57" fmla="*/ 194 h 411"/>
                    <a:gd name="T58" fmla="*/ 218 w 488"/>
                    <a:gd name="T59" fmla="*/ 201 h 411"/>
                    <a:gd name="T60" fmla="*/ 197 w 488"/>
                    <a:gd name="T61" fmla="*/ 216 h 411"/>
                    <a:gd name="T62" fmla="*/ 152 w 488"/>
                    <a:gd name="T63" fmla="*/ 242 h 411"/>
                    <a:gd name="T64" fmla="*/ 76 w 488"/>
                    <a:gd name="T65" fmla="*/ 280 h 411"/>
                    <a:gd name="T66" fmla="*/ 18 w 488"/>
                    <a:gd name="T67" fmla="*/ 310 h 4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88" h="411">
                      <a:moveTo>
                        <a:pt x="18" y="310"/>
                      </a:moveTo>
                      <a:lnTo>
                        <a:pt x="0" y="329"/>
                      </a:lnTo>
                      <a:lnTo>
                        <a:pt x="0" y="356"/>
                      </a:lnTo>
                      <a:lnTo>
                        <a:pt x="12" y="397"/>
                      </a:lnTo>
                      <a:lnTo>
                        <a:pt x="35" y="411"/>
                      </a:lnTo>
                      <a:lnTo>
                        <a:pt x="85" y="388"/>
                      </a:lnTo>
                      <a:lnTo>
                        <a:pt x="136" y="341"/>
                      </a:lnTo>
                      <a:lnTo>
                        <a:pt x="202" y="285"/>
                      </a:lnTo>
                      <a:lnTo>
                        <a:pt x="249" y="251"/>
                      </a:lnTo>
                      <a:lnTo>
                        <a:pt x="281" y="240"/>
                      </a:lnTo>
                      <a:lnTo>
                        <a:pt x="328" y="228"/>
                      </a:lnTo>
                      <a:lnTo>
                        <a:pt x="355" y="220"/>
                      </a:lnTo>
                      <a:lnTo>
                        <a:pt x="384" y="194"/>
                      </a:lnTo>
                      <a:lnTo>
                        <a:pt x="416" y="178"/>
                      </a:lnTo>
                      <a:lnTo>
                        <a:pt x="431" y="173"/>
                      </a:lnTo>
                      <a:lnTo>
                        <a:pt x="457" y="169"/>
                      </a:lnTo>
                      <a:lnTo>
                        <a:pt x="462" y="156"/>
                      </a:lnTo>
                      <a:lnTo>
                        <a:pt x="461" y="123"/>
                      </a:lnTo>
                      <a:lnTo>
                        <a:pt x="469" y="85"/>
                      </a:lnTo>
                      <a:lnTo>
                        <a:pt x="483" y="46"/>
                      </a:lnTo>
                      <a:lnTo>
                        <a:pt x="488" y="30"/>
                      </a:lnTo>
                      <a:lnTo>
                        <a:pt x="479" y="11"/>
                      </a:lnTo>
                      <a:lnTo>
                        <a:pt x="443" y="0"/>
                      </a:lnTo>
                      <a:lnTo>
                        <a:pt x="422" y="8"/>
                      </a:lnTo>
                      <a:lnTo>
                        <a:pt x="411" y="86"/>
                      </a:lnTo>
                      <a:lnTo>
                        <a:pt x="413" y="143"/>
                      </a:lnTo>
                      <a:lnTo>
                        <a:pt x="400" y="154"/>
                      </a:lnTo>
                      <a:lnTo>
                        <a:pt x="333" y="173"/>
                      </a:lnTo>
                      <a:lnTo>
                        <a:pt x="264" y="194"/>
                      </a:lnTo>
                      <a:lnTo>
                        <a:pt x="218" y="201"/>
                      </a:lnTo>
                      <a:lnTo>
                        <a:pt x="197" y="216"/>
                      </a:lnTo>
                      <a:lnTo>
                        <a:pt x="152" y="242"/>
                      </a:lnTo>
                      <a:lnTo>
                        <a:pt x="76" y="280"/>
                      </a:lnTo>
                      <a:lnTo>
                        <a:pt x="18" y="3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aphicFrame>
          <p:nvGraphicFramePr>
            <p:cNvPr id="8222" name="Object 53"/>
            <p:cNvGraphicFramePr>
              <a:graphicFrameLocks noChangeAspect="1"/>
            </p:cNvGraphicFramePr>
            <p:nvPr/>
          </p:nvGraphicFramePr>
          <p:xfrm>
            <a:off x="2928" y="2811"/>
            <a:ext cx="789" cy="673"/>
          </p:xfrm>
          <a:graphic>
            <a:graphicData uri="http://schemas.openxmlformats.org/presentationml/2006/ole">
              <mc:AlternateContent xmlns:mc="http://schemas.openxmlformats.org/markup-compatibility/2006">
                <mc:Choice xmlns:v="urn:schemas-microsoft-com:vml" Requires="v">
                  <p:oleObj name="Microsoft ClipArt Gallery" r:id="rId4" imgW="2276475" imgH="1943100" progId="MS_ClipArt_Gallery">
                    <p:embed/>
                  </p:oleObj>
                </mc:Choice>
                <mc:Fallback>
                  <p:oleObj name="Microsoft ClipArt Gallery" r:id="rId4" imgW="2276475" imgH="1943100" progId="MS_ClipArt_Gallery">
                    <p:embed/>
                    <p:pic>
                      <p:nvPicPr>
                        <p:cNvPr id="8222" name="Object 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 y="2811"/>
                          <a:ext cx="789" cy="6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7398" name="Group 54"/>
          <p:cNvGrpSpPr>
            <a:grpSpLocks/>
          </p:cNvGrpSpPr>
          <p:nvPr/>
        </p:nvGrpSpPr>
        <p:grpSpPr bwMode="auto">
          <a:xfrm>
            <a:off x="9399588" y="3902076"/>
            <a:ext cx="963612" cy="650875"/>
            <a:chOff x="4961" y="2376"/>
            <a:chExt cx="607" cy="396"/>
          </a:xfrm>
        </p:grpSpPr>
        <p:sp>
          <p:nvSpPr>
            <p:cNvPr id="8210" name="AutoShape 55"/>
            <p:cNvSpPr>
              <a:spLocks noChangeArrowheads="1"/>
            </p:cNvSpPr>
            <p:nvPr/>
          </p:nvSpPr>
          <p:spPr bwMode="auto">
            <a:xfrm>
              <a:off x="4961" y="2376"/>
              <a:ext cx="607" cy="396"/>
            </a:xfrm>
            <a:prstGeom prst="cloudCallout">
              <a:avLst>
                <a:gd name="adj1" fmla="val -43750"/>
                <a:gd name="adj2" fmla="val 70000"/>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en-US" altLang="en-US" sz="1600">
                <a:latin typeface="Times New Roman" panose="02020603050405020304" pitchFamily="18" charset="0"/>
              </a:endParaRPr>
            </a:p>
          </p:txBody>
        </p:sp>
        <p:grpSp>
          <p:nvGrpSpPr>
            <p:cNvPr id="8211" name="Group 56"/>
            <p:cNvGrpSpPr>
              <a:grpSpLocks/>
            </p:cNvGrpSpPr>
            <p:nvPr/>
          </p:nvGrpSpPr>
          <p:grpSpPr bwMode="auto">
            <a:xfrm>
              <a:off x="5136" y="2448"/>
              <a:ext cx="288" cy="240"/>
              <a:chOff x="1109" y="2592"/>
              <a:chExt cx="125" cy="134"/>
            </a:xfrm>
          </p:grpSpPr>
          <p:sp>
            <p:nvSpPr>
              <p:cNvPr id="8212" name="Freeform 57"/>
              <p:cNvSpPr>
                <a:spLocks/>
              </p:cNvSpPr>
              <p:nvPr/>
            </p:nvSpPr>
            <p:spPr bwMode="auto">
              <a:xfrm>
                <a:off x="1119" y="2602"/>
                <a:ext cx="107" cy="112"/>
              </a:xfrm>
              <a:custGeom>
                <a:avLst/>
                <a:gdLst>
                  <a:gd name="T0" fmla="*/ 49 w 107"/>
                  <a:gd name="T1" fmla="*/ 112 h 112"/>
                  <a:gd name="T2" fmla="*/ 10 w 107"/>
                  <a:gd name="T3" fmla="*/ 71 h 112"/>
                  <a:gd name="T4" fmla="*/ 0 w 107"/>
                  <a:gd name="T5" fmla="*/ 41 h 112"/>
                  <a:gd name="T6" fmla="*/ 1 w 107"/>
                  <a:gd name="T7" fmla="*/ 20 h 112"/>
                  <a:gd name="T8" fmla="*/ 14 w 107"/>
                  <a:gd name="T9" fmla="*/ 6 h 112"/>
                  <a:gd name="T10" fmla="*/ 36 w 107"/>
                  <a:gd name="T11" fmla="*/ 3 h 112"/>
                  <a:gd name="T12" fmla="*/ 52 w 107"/>
                  <a:gd name="T13" fmla="*/ 18 h 112"/>
                  <a:gd name="T14" fmla="*/ 56 w 107"/>
                  <a:gd name="T15" fmla="*/ 21 h 112"/>
                  <a:gd name="T16" fmla="*/ 68 w 107"/>
                  <a:gd name="T17" fmla="*/ 6 h 112"/>
                  <a:gd name="T18" fmla="*/ 84 w 107"/>
                  <a:gd name="T19" fmla="*/ 0 h 112"/>
                  <a:gd name="T20" fmla="*/ 100 w 107"/>
                  <a:gd name="T21" fmla="*/ 9 h 112"/>
                  <a:gd name="T22" fmla="*/ 102 w 107"/>
                  <a:gd name="T23" fmla="*/ 29 h 112"/>
                  <a:gd name="T24" fmla="*/ 107 w 107"/>
                  <a:gd name="T25" fmla="*/ 50 h 112"/>
                  <a:gd name="T26" fmla="*/ 89 w 107"/>
                  <a:gd name="T27" fmla="*/ 77 h 112"/>
                  <a:gd name="T28" fmla="*/ 62 w 107"/>
                  <a:gd name="T29" fmla="*/ 100 h 112"/>
                  <a:gd name="T30" fmla="*/ 49 w 107"/>
                  <a:gd name="T31" fmla="*/ 112 h 11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07" h="112">
                    <a:moveTo>
                      <a:pt x="49" y="112"/>
                    </a:moveTo>
                    <a:lnTo>
                      <a:pt x="10" y="71"/>
                    </a:lnTo>
                    <a:lnTo>
                      <a:pt x="0" y="41"/>
                    </a:lnTo>
                    <a:lnTo>
                      <a:pt x="1" y="20"/>
                    </a:lnTo>
                    <a:lnTo>
                      <a:pt x="14" y="6"/>
                    </a:lnTo>
                    <a:lnTo>
                      <a:pt x="36" y="3"/>
                    </a:lnTo>
                    <a:lnTo>
                      <a:pt x="52" y="18"/>
                    </a:lnTo>
                    <a:lnTo>
                      <a:pt x="56" y="21"/>
                    </a:lnTo>
                    <a:lnTo>
                      <a:pt x="68" y="6"/>
                    </a:lnTo>
                    <a:lnTo>
                      <a:pt x="84" y="0"/>
                    </a:lnTo>
                    <a:lnTo>
                      <a:pt x="100" y="9"/>
                    </a:lnTo>
                    <a:lnTo>
                      <a:pt x="102" y="29"/>
                    </a:lnTo>
                    <a:lnTo>
                      <a:pt x="107" y="50"/>
                    </a:lnTo>
                    <a:lnTo>
                      <a:pt x="89" y="77"/>
                    </a:lnTo>
                    <a:lnTo>
                      <a:pt x="62" y="100"/>
                    </a:lnTo>
                    <a:lnTo>
                      <a:pt x="49" y="112"/>
                    </a:lnTo>
                    <a:close/>
                  </a:path>
                </a:pathLst>
              </a:custGeom>
              <a:solidFill>
                <a:srgbClr val="FF00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8213" name="Group 58"/>
              <p:cNvGrpSpPr>
                <a:grpSpLocks/>
              </p:cNvGrpSpPr>
              <p:nvPr/>
            </p:nvGrpSpPr>
            <p:grpSpPr bwMode="auto">
              <a:xfrm>
                <a:off x="1109" y="2592"/>
                <a:ext cx="125" cy="134"/>
                <a:chOff x="1109" y="2592"/>
                <a:chExt cx="125" cy="134"/>
              </a:xfrm>
            </p:grpSpPr>
            <p:sp>
              <p:nvSpPr>
                <p:cNvPr id="8214" name="Freeform 59"/>
                <p:cNvSpPr>
                  <a:spLocks/>
                </p:cNvSpPr>
                <p:nvPr/>
              </p:nvSpPr>
              <p:spPr bwMode="auto">
                <a:xfrm>
                  <a:off x="1109" y="2592"/>
                  <a:ext cx="72" cy="134"/>
                </a:xfrm>
                <a:custGeom>
                  <a:avLst/>
                  <a:gdLst>
                    <a:gd name="T0" fmla="*/ 61 w 72"/>
                    <a:gd name="T1" fmla="*/ 134 h 134"/>
                    <a:gd name="T2" fmla="*/ 34 w 72"/>
                    <a:gd name="T3" fmla="*/ 110 h 134"/>
                    <a:gd name="T4" fmla="*/ 15 w 72"/>
                    <a:gd name="T5" fmla="*/ 89 h 134"/>
                    <a:gd name="T6" fmla="*/ 4 w 72"/>
                    <a:gd name="T7" fmla="*/ 65 h 134"/>
                    <a:gd name="T8" fmla="*/ 0 w 72"/>
                    <a:gd name="T9" fmla="*/ 45 h 134"/>
                    <a:gd name="T10" fmla="*/ 4 w 72"/>
                    <a:gd name="T11" fmla="*/ 27 h 134"/>
                    <a:gd name="T12" fmla="*/ 10 w 72"/>
                    <a:gd name="T13" fmla="*/ 15 h 134"/>
                    <a:gd name="T14" fmla="*/ 22 w 72"/>
                    <a:gd name="T15" fmla="*/ 2 h 134"/>
                    <a:gd name="T16" fmla="*/ 42 w 72"/>
                    <a:gd name="T17" fmla="*/ 0 h 134"/>
                    <a:gd name="T18" fmla="*/ 63 w 72"/>
                    <a:gd name="T19" fmla="*/ 8 h 134"/>
                    <a:gd name="T20" fmla="*/ 70 w 72"/>
                    <a:gd name="T21" fmla="*/ 20 h 134"/>
                    <a:gd name="T22" fmla="*/ 72 w 72"/>
                    <a:gd name="T23" fmla="*/ 39 h 134"/>
                    <a:gd name="T24" fmla="*/ 65 w 72"/>
                    <a:gd name="T25" fmla="*/ 50 h 134"/>
                    <a:gd name="T26" fmla="*/ 57 w 72"/>
                    <a:gd name="T27" fmla="*/ 44 h 134"/>
                    <a:gd name="T28" fmla="*/ 53 w 72"/>
                    <a:gd name="T29" fmla="*/ 30 h 134"/>
                    <a:gd name="T30" fmla="*/ 42 w 72"/>
                    <a:gd name="T31" fmla="*/ 21 h 134"/>
                    <a:gd name="T32" fmla="*/ 27 w 72"/>
                    <a:gd name="T33" fmla="*/ 21 h 134"/>
                    <a:gd name="T34" fmla="*/ 22 w 72"/>
                    <a:gd name="T35" fmla="*/ 32 h 134"/>
                    <a:gd name="T36" fmla="*/ 18 w 72"/>
                    <a:gd name="T37" fmla="*/ 45 h 134"/>
                    <a:gd name="T38" fmla="*/ 21 w 72"/>
                    <a:gd name="T39" fmla="*/ 62 h 134"/>
                    <a:gd name="T40" fmla="*/ 27 w 72"/>
                    <a:gd name="T41" fmla="*/ 77 h 134"/>
                    <a:gd name="T42" fmla="*/ 41 w 72"/>
                    <a:gd name="T43" fmla="*/ 92 h 134"/>
                    <a:gd name="T44" fmla="*/ 59 w 72"/>
                    <a:gd name="T45" fmla="*/ 106 h 134"/>
                    <a:gd name="T46" fmla="*/ 68 w 72"/>
                    <a:gd name="T47" fmla="*/ 112 h 134"/>
                    <a:gd name="T48" fmla="*/ 72 w 72"/>
                    <a:gd name="T49" fmla="*/ 122 h 134"/>
                    <a:gd name="T50" fmla="*/ 61 w 72"/>
                    <a:gd name="T51" fmla="*/ 134 h 13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72" h="134">
                      <a:moveTo>
                        <a:pt x="61" y="134"/>
                      </a:moveTo>
                      <a:lnTo>
                        <a:pt x="34" y="110"/>
                      </a:lnTo>
                      <a:lnTo>
                        <a:pt x="15" y="89"/>
                      </a:lnTo>
                      <a:lnTo>
                        <a:pt x="4" y="65"/>
                      </a:lnTo>
                      <a:lnTo>
                        <a:pt x="0" y="45"/>
                      </a:lnTo>
                      <a:lnTo>
                        <a:pt x="4" y="27"/>
                      </a:lnTo>
                      <a:lnTo>
                        <a:pt x="10" y="15"/>
                      </a:lnTo>
                      <a:lnTo>
                        <a:pt x="22" y="2"/>
                      </a:lnTo>
                      <a:lnTo>
                        <a:pt x="42" y="0"/>
                      </a:lnTo>
                      <a:lnTo>
                        <a:pt x="63" y="8"/>
                      </a:lnTo>
                      <a:lnTo>
                        <a:pt x="70" y="20"/>
                      </a:lnTo>
                      <a:lnTo>
                        <a:pt x="72" y="39"/>
                      </a:lnTo>
                      <a:lnTo>
                        <a:pt x="65" y="50"/>
                      </a:lnTo>
                      <a:lnTo>
                        <a:pt x="57" y="44"/>
                      </a:lnTo>
                      <a:lnTo>
                        <a:pt x="53" y="30"/>
                      </a:lnTo>
                      <a:lnTo>
                        <a:pt x="42" y="21"/>
                      </a:lnTo>
                      <a:lnTo>
                        <a:pt x="27" y="21"/>
                      </a:lnTo>
                      <a:lnTo>
                        <a:pt x="22" y="32"/>
                      </a:lnTo>
                      <a:lnTo>
                        <a:pt x="18" y="45"/>
                      </a:lnTo>
                      <a:lnTo>
                        <a:pt x="21" y="62"/>
                      </a:lnTo>
                      <a:lnTo>
                        <a:pt x="27" y="77"/>
                      </a:lnTo>
                      <a:lnTo>
                        <a:pt x="41" y="92"/>
                      </a:lnTo>
                      <a:lnTo>
                        <a:pt x="59" y="106"/>
                      </a:lnTo>
                      <a:lnTo>
                        <a:pt x="68" y="112"/>
                      </a:lnTo>
                      <a:lnTo>
                        <a:pt x="72" y="122"/>
                      </a:lnTo>
                      <a:lnTo>
                        <a:pt x="61" y="13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5" name="Freeform 60"/>
                <p:cNvSpPr>
                  <a:spLocks/>
                </p:cNvSpPr>
                <p:nvPr/>
              </p:nvSpPr>
              <p:spPr bwMode="auto">
                <a:xfrm>
                  <a:off x="1162" y="2593"/>
                  <a:ext cx="72" cy="129"/>
                </a:xfrm>
                <a:custGeom>
                  <a:avLst/>
                  <a:gdLst>
                    <a:gd name="T0" fmla="*/ 0 w 72"/>
                    <a:gd name="T1" fmla="*/ 120 h 129"/>
                    <a:gd name="T2" fmla="*/ 18 w 72"/>
                    <a:gd name="T3" fmla="*/ 102 h 129"/>
                    <a:gd name="T4" fmla="*/ 33 w 72"/>
                    <a:gd name="T5" fmla="*/ 87 h 129"/>
                    <a:gd name="T6" fmla="*/ 48 w 72"/>
                    <a:gd name="T7" fmla="*/ 74 h 129"/>
                    <a:gd name="T8" fmla="*/ 59 w 72"/>
                    <a:gd name="T9" fmla="*/ 53 h 129"/>
                    <a:gd name="T10" fmla="*/ 55 w 72"/>
                    <a:gd name="T11" fmla="*/ 33 h 129"/>
                    <a:gd name="T12" fmla="*/ 48 w 72"/>
                    <a:gd name="T13" fmla="*/ 18 h 129"/>
                    <a:gd name="T14" fmla="*/ 36 w 72"/>
                    <a:gd name="T15" fmla="*/ 18 h 129"/>
                    <a:gd name="T16" fmla="*/ 22 w 72"/>
                    <a:gd name="T17" fmla="*/ 26 h 129"/>
                    <a:gd name="T18" fmla="*/ 15 w 72"/>
                    <a:gd name="T19" fmla="*/ 38 h 129"/>
                    <a:gd name="T20" fmla="*/ 10 w 72"/>
                    <a:gd name="T21" fmla="*/ 42 h 129"/>
                    <a:gd name="T22" fmla="*/ 4 w 72"/>
                    <a:gd name="T23" fmla="*/ 29 h 129"/>
                    <a:gd name="T24" fmla="*/ 12 w 72"/>
                    <a:gd name="T25" fmla="*/ 20 h 129"/>
                    <a:gd name="T26" fmla="*/ 22 w 72"/>
                    <a:gd name="T27" fmla="*/ 8 h 129"/>
                    <a:gd name="T28" fmla="*/ 34 w 72"/>
                    <a:gd name="T29" fmla="*/ 0 h 129"/>
                    <a:gd name="T30" fmla="*/ 50 w 72"/>
                    <a:gd name="T31" fmla="*/ 0 h 129"/>
                    <a:gd name="T32" fmla="*/ 61 w 72"/>
                    <a:gd name="T33" fmla="*/ 5 h 129"/>
                    <a:gd name="T34" fmla="*/ 70 w 72"/>
                    <a:gd name="T35" fmla="*/ 24 h 129"/>
                    <a:gd name="T36" fmla="*/ 72 w 72"/>
                    <a:gd name="T37" fmla="*/ 42 h 129"/>
                    <a:gd name="T38" fmla="*/ 71 w 72"/>
                    <a:gd name="T39" fmla="*/ 60 h 129"/>
                    <a:gd name="T40" fmla="*/ 63 w 72"/>
                    <a:gd name="T41" fmla="*/ 77 h 129"/>
                    <a:gd name="T42" fmla="*/ 50 w 72"/>
                    <a:gd name="T43" fmla="*/ 93 h 129"/>
                    <a:gd name="T44" fmla="*/ 37 w 72"/>
                    <a:gd name="T45" fmla="*/ 108 h 129"/>
                    <a:gd name="T46" fmla="*/ 23 w 72"/>
                    <a:gd name="T47" fmla="*/ 119 h 129"/>
                    <a:gd name="T48" fmla="*/ 8 w 72"/>
                    <a:gd name="T49" fmla="*/ 128 h 129"/>
                    <a:gd name="T50" fmla="*/ 4 w 72"/>
                    <a:gd name="T51" fmla="*/ 129 h 129"/>
                    <a:gd name="T52" fmla="*/ 0 w 72"/>
                    <a:gd name="T53" fmla="*/ 120 h 12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72" h="129">
                      <a:moveTo>
                        <a:pt x="0" y="120"/>
                      </a:moveTo>
                      <a:lnTo>
                        <a:pt x="18" y="102"/>
                      </a:lnTo>
                      <a:lnTo>
                        <a:pt x="33" y="87"/>
                      </a:lnTo>
                      <a:lnTo>
                        <a:pt x="48" y="74"/>
                      </a:lnTo>
                      <a:lnTo>
                        <a:pt x="59" y="53"/>
                      </a:lnTo>
                      <a:lnTo>
                        <a:pt x="55" y="33"/>
                      </a:lnTo>
                      <a:lnTo>
                        <a:pt x="48" y="18"/>
                      </a:lnTo>
                      <a:lnTo>
                        <a:pt x="36" y="18"/>
                      </a:lnTo>
                      <a:lnTo>
                        <a:pt x="22" y="26"/>
                      </a:lnTo>
                      <a:lnTo>
                        <a:pt x="15" y="38"/>
                      </a:lnTo>
                      <a:lnTo>
                        <a:pt x="10" y="42"/>
                      </a:lnTo>
                      <a:lnTo>
                        <a:pt x="4" y="29"/>
                      </a:lnTo>
                      <a:lnTo>
                        <a:pt x="12" y="20"/>
                      </a:lnTo>
                      <a:lnTo>
                        <a:pt x="22" y="8"/>
                      </a:lnTo>
                      <a:lnTo>
                        <a:pt x="34" y="0"/>
                      </a:lnTo>
                      <a:lnTo>
                        <a:pt x="50" y="0"/>
                      </a:lnTo>
                      <a:lnTo>
                        <a:pt x="61" y="5"/>
                      </a:lnTo>
                      <a:lnTo>
                        <a:pt x="70" y="24"/>
                      </a:lnTo>
                      <a:lnTo>
                        <a:pt x="72" y="42"/>
                      </a:lnTo>
                      <a:lnTo>
                        <a:pt x="71" y="60"/>
                      </a:lnTo>
                      <a:lnTo>
                        <a:pt x="63" y="77"/>
                      </a:lnTo>
                      <a:lnTo>
                        <a:pt x="50" y="93"/>
                      </a:lnTo>
                      <a:lnTo>
                        <a:pt x="37" y="108"/>
                      </a:lnTo>
                      <a:lnTo>
                        <a:pt x="23" y="119"/>
                      </a:lnTo>
                      <a:lnTo>
                        <a:pt x="8" y="128"/>
                      </a:lnTo>
                      <a:lnTo>
                        <a:pt x="4" y="129"/>
                      </a:lnTo>
                      <a:lnTo>
                        <a:pt x="0" y="12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grpSp>
        <p:nvGrpSpPr>
          <p:cNvPr id="57405" name="Group 61"/>
          <p:cNvGrpSpPr>
            <a:grpSpLocks/>
          </p:cNvGrpSpPr>
          <p:nvPr/>
        </p:nvGrpSpPr>
        <p:grpSpPr bwMode="auto">
          <a:xfrm>
            <a:off x="6096001" y="3862389"/>
            <a:ext cx="963613" cy="650875"/>
            <a:chOff x="2880" y="2496"/>
            <a:chExt cx="607" cy="396"/>
          </a:xfrm>
        </p:grpSpPr>
        <p:sp>
          <p:nvSpPr>
            <p:cNvPr id="8208" name="AutoShape 62"/>
            <p:cNvSpPr>
              <a:spLocks noChangeArrowheads="1"/>
            </p:cNvSpPr>
            <p:nvPr/>
          </p:nvSpPr>
          <p:spPr bwMode="auto">
            <a:xfrm>
              <a:off x="2880" y="2496"/>
              <a:ext cx="607" cy="396"/>
            </a:xfrm>
            <a:prstGeom prst="cloudCallout">
              <a:avLst>
                <a:gd name="adj1" fmla="val -43750"/>
                <a:gd name="adj2" fmla="val 70000"/>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en-US" altLang="en-US" sz="1600">
                <a:latin typeface="Times New Roman" panose="02020603050405020304" pitchFamily="18" charset="0"/>
              </a:endParaRPr>
            </a:p>
          </p:txBody>
        </p:sp>
        <p:sp>
          <p:nvSpPr>
            <p:cNvPr id="8209" name="Text Box 63"/>
            <p:cNvSpPr txBox="1">
              <a:spLocks noChangeArrowheads="1"/>
            </p:cNvSpPr>
            <p:nvPr/>
          </p:nvSpPr>
          <p:spPr bwMode="auto">
            <a:xfrm>
              <a:off x="2976" y="2582"/>
              <a:ext cx="3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20000"/>
                </a:spcBef>
                <a:buClr>
                  <a:schemeClr val="accent2"/>
                </a:buClr>
                <a:buFont typeface="Monotype Sorts" pitchFamily="2" charset="2"/>
                <a:buNone/>
              </a:pPr>
              <a:r>
                <a:rPr kumimoji="1" lang="en-US" altLang="en-US" sz="2000">
                  <a:latin typeface="Comic Sans MS" panose="030F0702030302020204" pitchFamily="66" charset="0"/>
                </a:rPr>
                <a:t>???</a:t>
              </a:r>
              <a:endParaRPr kumimoji="1" lang="en-US" altLang="en-US" sz="1600">
                <a:latin typeface="Comic Sans MS" panose="030F0702030302020204" pitchFamily="66" charset="0"/>
              </a:endParaRPr>
            </a:p>
          </p:txBody>
        </p:sp>
      </p:grpSp>
      <p:grpSp>
        <p:nvGrpSpPr>
          <p:cNvPr id="57408" name="Group 64"/>
          <p:cNvGrpSpPr>
            <a:grpSpLocks/>
          </p:cNvGrpSpPr>
          <p:nvPr/>
        </p:nvGrpSpPr>
        <p:grpSpPr bwMode="auto">
          <a:xfrm>
            <a:off x="9144000" y="2128839"/>
            <a:ext cx="1066800" cy="649287"/>
            <a:chOff x="4800" y="1440"/>
            <a:chExt cx="672" cy="396"/>
          </a:xfrm>
        </p:grpSpPr>
        <p:sp>
          <p:nvSpPr>
            <p:cNvPr id="8206" name="AutoShape 65"/>
            <p:cNvSpPr>
              <a:spLocks noChangeArrowheads="1"/>
            </p:cNvSpPr>
            <p:nvPr/>
          </p:nvSpPr>
          <p:spPr bwMode="auto">
            <a:xfrm>
              <a:off x="4800" y="1440"/>
              <a:ext cx="672" cy="396"/>
            </a:xfrm>
            <a:prstGeom prst="cloudCallout">
              <a:avLst>
                <a:gd name="adj1" fmla="val -44347"/>
                <a:gd name="adj2" fmla="val 69949"/>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en-US" altLang="en-US" sz="1600">
                <a:latin typeface="Times New Roman" panose="02020603050405020304" pitchFamily="18" charset="0"/>
              </a:endParaRPr>
            </a:p>
          </p:txBody>
        </p:sp>
        <p:sp>
          <p:nvSpPr>
            <p:cNvPr id="8207" name="Text Box 66"/>
            <p:cNvSpPr txBox="1">
              <a:spLocks noChangeArrowheads="1"/>
            </p:cNvSpPr>
            <p:nvPr/>
          </p:nvSpPr>
          <p:spPr bwMode="auto">
            <a:xfrm>
              <a:off x="4800" y="1497"/>
              <a:ext cx="66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20000"/>
                </a:spcBef>
                <a:buClr>
                  <a:schemeClr val="accent2"/>
                </a:buClr>
                <a:buFont typeface="Monotype Sorts" pitchFamily="2" charset="2"/>
                <a:buNone/>
              </a:pPr>
              <a:r>
                <a:rPr kumimoji="1" lang="en-US" altLang="en-US" sz="1800">
                  <a:latin typeface="Comic Sans MS" panose="030F0702030302020204" pitchFamily="66" charset="0"/>
                </a:rPr>
                <a:t>@#$% !</a:t>
              </a:r>
              <a:endParaRPr kumimoji="1" lang="en-US" altLang="en-US" sz="3200">
                <a:latin typeface="Comic Sans MS" panose="030F0702030302020204" pitchFamily="66" charset="0"/>
              </a:endParaRPr>
            </a:p>
          </p:txBody>
        </p:sp>
      </p:grpSp>
      <p:sp>
        <p:nvSpPr>
          <p:cNvPr id="57411" name="Text Box 67"/>
          <p:cNvSpPr txBox="1">
            <a:spLocks noChangeArrowheads="1"/>
          </p:cNvSpPr>
          <p:nvPr/>
        </p:nvSpPr>
        <p:spPr bwMode="auto">
          <a:xfrm>
            <a:off x="6384926" y="5751514"/>
            <a:ext cx="3732213"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20000"/>
              </a:spcBef>
              <a:buClr>
                <a:schemeClr val="accent2"/>
              </a:buClr>
              <a:buFont typeface="Monotype Sorts" pitchFamily="2" charset="2"/>
              <a:buNone/>
            </a:pPr>
            <a:r>
              <a:rPr kumimoji="1" lang="en-US" altLang="en-US" sz="2800" i="1">
                <a:latin typeface="Comic Sans MS" panose="030F0702030302020204" pitchFamily="66" charset="0"/>
              </a:rPr>
              <a:t>Community computing</a:t>
            </a:r>
          </a:p>
        </p:txBody>
      </p:sp>
      <p:grpSp>
        <p:nvGrpSpPr>
          <p:cNvPr id="57412" name="Group 68"/>
          <p:cNvGrpSpPr>
            <a:grpSpLocks/>
          </p:cNvGrpSpPr>
          <p:nvPr/>
        </p:nvGrpSpPr>
        <p:grpSpPr bwMode="auto">
          <a:xfrm>
            <a:off x="5791201" y="1892300"/>
            <a:ext cx="1268413" cy="787400"/>
            <a:chOff x="2688" y="1152"/>
            <a:chExt cx="799" cy="480"/>
          </a:xfrm>
        </p:grpSpPr>
        <p:sp>
          <p:nvSpPr>
            <p:cNvPr id="8204" name="AutoShape 69"/>
            <p:cNvSpPr>
              <a:spLocks noChangeArrowheads="1"/>
            </p:cNvSpPr>
            <p:nvPr/>
          </p:nvSpPr>
          <p:spPr bwMode="auto">
            <a:xfrm>
              <a:off x="2688" y="1152"/>
              <a:ext cx="799" cy="480"/>
            </a:xfrm>
            <a:prstGeom prst="cloudCallout">
              <a:avLst>
                <a:gd name="adj1" fmla="val -21213"/>
                <a:gd name="adj2" fmla="val 66458"/>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en-US" altLang="en-US" sz="1600">
                <a:latin typeface="Times New Roman" panose="02020603050405020304" pitchFamily="18" charset="0"/>
              </a:endParaRPr>
            </a:p>
          </p:txBody>
        </p:sp>
        <p:sp>
          <p:nvSpPr>
            <p:cNvPr id="8205" name="AutoShape 70"/>
            <p:cNvSpPr>
              <a:spLocks noChangeArrowheads="1"/>
            </p:cNvSpPr>
            <p:nvPr/>
          </p:nvSpPr>
          <p:spPr bwMode="auto">
            <a:xfrm>
              <a:off x="2880" y="1200"/>
              <a:ext cx="384" cy="384"/>
            </a:xfrm>
            <a:prstGeom prst="smileyFace">
              <a:avLst>
                <a:gd name="adj" fmla="val 4653"/>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spTree>
    <p:extLst>
      <p:ext uri="{BB962C8B-B14F-4D97-AF65-F5344CB8AC3E}">
        <p14:creationId xmlns:p14="http://schemas.microsoft.com/office/powerpoint/2010/main" val="39862360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734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1" fill="hold" nodeType="clickEffect">
                                  <p:stCondLst>
                                    <p:cond delay="0"/>
                                  </p:stCondLst>
                                  <p:childTnLst>
                                    <p:set>
                                      <p:cBhvr>
                                        <p:cTn id="10" dur="1" fill="hold">
                                          <p:stCondLst>
                                            <p:cond delay="0"/>
                                          </p:stCondLst>
                                        </p:cTn>
                                        <p:tgtEl>
                                          <p:spTgt spid="57348"/>
                                        </p:tgtEl>
                                        <p:attrNameLst>
                                          <p:attrName>style.visibility</p:attrName>
                                        </p:attrNameLst>
                                      </p:cBhvr>
                                      <p:to>
                                        <p:strVal val="visible"/>
                                      </p:to>
                                    </p:set>
                                    <p:anim calcmode="lin" valueType="num">
                                      <p:cBhvr additive="base">
                                        <p:cTn id="11" dur="500" fill="hold"/>
                                        <p:tgtEl>
                                          <p:spTgt spid="57348"/>
                                        </p:tgtEl>
                                        <p:attrNameLst>
                                          <p:attrName>ppt_x</p:attrName>
                                        </p:attrNameLst>
                                      </p:cBhvr>
                                      <p:tavLst>
                                        <p:tav tm="0">
                                          <p:val>
                                            <p:strVal val="#ppt_x"/>
                                          </p:val>
                                        </p:tav>
                                        <p:tav tm="100000">
                                          <p:val>
                                            <p:strVal val="#ppt_x"/>
                                          </p:val>
                                        </p:tav>
                                      </p:tavLst>
                                    </p:anim>
                                    <p:anim calcmode="lin" valueType="num">
                                      <p:cBhvr additive="base">
                                        <p:cTn id="12" dur="500" fill="hold"/>
                                        <p:tgtEl>
                                          <p:spTgt spid="57348"/>
                                        </p:tgtEl>
                                        <p:attrNameLst>
                                          <p:attrName>ppt_y</p:attrName>
                                        </p:attrNameLst>
                                      </p:cBhvr>
                                      <p:tavLst>
                                        <p:tav tm="0">
                                          <p:val>
                                            <p:strVal val="0-#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9" fill="hold" nodeType="clickEffect">
                                  <p:stCondLst>
                                    <p:cond delay="0"/>
                                  </p:stCondLst>
                                  <p:childTnLst>
                                    <p:set>
                                      <p:cBhvr>
                                        <p:cTn id="16" dur="1" fill="hold">
                                          <p:stCondLst>
                                            <p:cond delay="0"/>
                                          </p:stCondLst>
                                        </p:cTn>
                                        <p:tgtEl>
                                          <p:spTgt spid="57370"/>
                                        </p:tgtEl>
                                        <p:attrNameLst>
                                          <p:attrName>style.visibility</p:attrName>
                                        </p:attrNameLst>
                                      </p:cBhvr>
                                      <p:to>
                                        <p:strVal val="visible"/>
                                      </p:to>
                                    </p:set>
                                    <p:anim calcmode="lin" valueType="num">
                                      <p:cBhvr additive="base">
                                        <p:cTn id="17" dur="500" fill="hold"/>
                                        <p:tgtEl>
                                          <p:spTgt spid="57370"/>
                                        </p:tgtEl>
                                        <p:attrNameLst>
                                          <p:attrName>ppt_x</p:attrName>
                                        </p:attrNameLst>
                                      </p:cBhvr>
                                      <p:tavLst>
                                        <p:tav tm="0">
                                          <p:val>
                                            <p:strVal val="0-#ppt_w/2"/>
                                          </p:val>
                                        </p:tav>
                                        <p:tav tm="100000">
                                          <p:val>
                                            <p:strVal val="#ppt_x"/>
                                          </p:val>
                                        </p:tav>
                                      </p:tavLst>
                                    </p:anim>
                                    <p:anim calcmode="lin" valueType="num">
                                      <p:cBhvr additive="base">
                                        <p:cTn id="18" dur="500" fill="hold"/>
                                        <p:tgtEl>
                                          <p:spTgt spid="57370"/>
                                        </p:tgtEl>
                                        <p:attrNameLst>
                                          <p:attrName>ppt_y</p:attrName>
                                        </p:attrNameLst>
                                      </p:cBhvr>
                                      <p:tavLst>
                                        <p:tav tm="0">
                                          <p:val>
                                            <p:strVal val="0-#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57398"/>
                                        </p:tgtEl>
                                        <p:attrNameLst>
                                          <p:attrName>style.visibility</p:attrName>
                                        </p:attrNameLst>
                                      </p:cBhvr>
                                      <p:to>
                                        <p:strVal val="visible"/>
                                      </p:to>
                                    </p:set>
                                    <p:animEffect transition="in" filter="dissolve">
                                      <p:cBhvr>
                                        <p:cTn id="23" dur="500"/>
                                        <p:tgtEl>
                                          <p:spTgt spid="5739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57405"/>
                                        </p:tgtEl>
                                        <p:attrNameLst>
                                          <p:attrName>style.visibility</p:attrName>
                                        </p:attrNameLst>
                                      </p:cBhvr>
                                      <p:to>
                                        <p:strVal val="visible"/>
                                      </p:to>
                                    </p:set>
                                    <p:animEffect transition="in" filter="dissolve">
                                      <p:cBhvr>
                                        <p:cTn id="28" dur="500"/>
                                        <p:tgtEl>
                                          <p:spTgt spid="5740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57408"/>
                                        </p:tgtEl>
                                        <p:attrNameLst>
                                          <p:attrName>style.visibility</p:attrName>
                                        </p:attrNameLst>
                                      </p:cBhvr>
                                      <p:to>
                                        <p:strVal val="visible"/>
                                      </p:to>
                                    </p:set>
                                    <p:animEffect transition="in" filter="dissolve">
                                      <p:cBhvr>
                                        <p:cTn id="33" dur="500"/>
                                        <p:tgtEl>
                                          <p:spTgt spid="5740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57412"/>
                                        </p:tgtEl>
                                        <p:attrNameLst>
                                          <p:attrName>style.visibility</p:attrName>
                                        </p:attrNameLst>
                                      </p:cBhvr>
                                      <p:to>
                                        <p:strVal val="visible"/>
                                      </p:to>
                                    </p:set>
                                    <p:animEffect transition="in" filter="dissolve">
                                      <p:cBhvr>
                                        <p:cTn id="38" dur="500"/>
                                        <p:tgtEl>
                                          <p:spTgt spid="5741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57411"/>
                                        </p:tgtEl>
                                        <p:attrNameLst>
                                          <p:attrName>style.visibility</p:attrName>
                                        </p:attrNameLst>
                                      </p:cBhvr>
                                      <p:to>
                                        <p:strVal val="visible"/>
                                      </p:to>
                                    </p:set>
                                    <p:animEffect transition="in" filter="dissolve">
                                      <p:cBhvr>
                                        <p:cTn id="43" dur="500"/>
                                        <p:tgtEl>
                                          <p:spTgt spid="57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11"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0" name="Group 2"/>
          <p:cNvGrpSpPr>
            <a:grpSpLocks/>
          </p:cNvGrpSpPr>
          <p:nvPr/>
        </p:nvGrpSpPr>
        <p:grpSpPr bwMode="auto">
          <a:xfrm>
            <a:off x="8153400" y="3460750"/>
            <a:ext cx="2133600" cy="2152650"/>
            <a:chOff x="4176" y="2107"/>
            <a:chExt cx="1344" cy="1311"/>
          </a:xfrm>
        </p:grpSpPr>
        <p:grpSp>
          <p:nvGrpSpPr>
            <p:cNvPr id="9247" name="Group 3"/>
            <p:cNvGrpSpPr>
              <a:grpSpLocks/>
            </p:cNvGrpSpPr>
            <p:nvPr/>
          </p:nvGrpSpPr>
          <p:grpSpPr bwMode="auto">
            <a:xfrm>
              <a:off x="4552" y="2107"/>
              <a:ext cx="968" cy="1311"/>
              <a:chOff x="4552" y="2107"/>
              <a:chExt cx="968" cy="1311"/>
            </a:xfrm>
          </p:grpSpPr>
          <p:sp>
            <p:nvSpPr>
              <p:cNvPr id="9255" name="Freeform 4"/>
              <p:cNvSpPr>
                <a:spLocks/>
              </p:cNvSpPr>
              <p:nvPr/>
            </p:nvSpPr>
            <p:spPr bwMode="auto">
              <a:xfrm rot="3406287">
                <a:off x="5198" y="3164"/>
                <a:ext cx="146" cy="203"/>
              </a:xfrm>
              <a:custGeom>
                <a:avLst/>
                <a:gdLst>
                  <a:gd name="T0" fmla="*/ 0 w 274"/>
                  <a:gd name="T1" fmla="*/ 28 h 287"/>
                  <a:gd name="T2" fmla="*/ 7 w 274"/>
                  <a:gd name="T3" fmla="*/ 23 h 287"/>
                  <a:gd name="T4" fmla="*/ 15 w 274"/>
                  <a:gd name="T5" fmla="*/ 18 h 287"/>
                  <a:gd name="T6" fmla="*/ 27 w 274"/>
                  <a:gd name="T7" fmla="*/ 13 h 287"/>
                  <a:gd name="T8" fmla="*/ 39 w 274"/>
                  <a:gd name="T9" fmla="*/ 8 h 287"/>
                  <a:gd name="T10" fmla="*/ 52 w 274"/>
                  <a:gd name="T11" fmla="*/ 6 h 287"/>
                  <a:gd name="T12" fmla="*/ 66 w 274"/>
                  <a:gd name="T13" fmla="*/ 2 h 287"/>
                  <a:gd name="T14" fmla="*/ 79 w 274"/>
                  <a:gd name="T15" fmla="*/ 1 h 287"/>
                  <a:gd name="T16" fmla="*/ 93 w 274"/>
                  <a:gd name="T17" fmla="*/ 0 h 287"/>
                  <a:gd name="T18" fmla="*/ 100 w 274"/>
                  <a:gd name="T19" fmla="*/ 16 h 287"/>
                  <a:gd name="T20" fmla="*/ 108 w 274"/>
                  <a:gd name="T21" fmla="*/ 33 h 287"/>
                  <a:gd name="T22" fmla="*/ 116 w 274"/>
                  <a:gd name="T23" fmla="*/ 54 h 287"/>
                  <a:gd name="T24" fmla="*/ 124 w 274"/>
                  <a:gd name="T25" fmla="*/ 76 h 287"/>
                  <a:gd name="T26" fmla="*/ 132 w 274"/>
                  <a:gd name="T27" fmla="*/ 98 h 287"/>
                  <a:gd name="T28" fmla="*/ 137 w 274"/>
                  <a:gd name="T29" fmla="*/ 120 h 287"/>
                  <a:gd name="T30" fmla="*/ 142 w 274"/>
                  <a:gd name="T31" fmla="*/ 141 h 287"/>
                  <a:gd name="T32" fmla="*/ 146 w 274"/>
                  <a:gd name="T33" fmla="*/ 161 h 287"/>
                  <a:gd name="T34" fmla="*/ 136 w 274"/>
                  <a:gd name="T35" fmla="*/ 163 h 287"/>
                  <a:gd name="T36" fmla="*/ 126 w 274"/>
                  <a:gd name="T37" fmla="*/ 168 h 287"/>
                  <a:gd name="T38" fmla="*/ 113 w 274"/>
                  <a:gd name="T39" fmla="*/ 174 h 287"/>
                  <a:gd name="T40" fmla="*/ 102 w 274"/>
                  <a:gd name="T41" fmla="*/ 181 h 287"/>
                  <a:gd name="T42" fmla="*/ 90 w 274"/>
                  <a:gd name="T43" fmla="*/ 188 h 287"/>
                  <a:gd name="T44" fmla="*/ 79 w 274"/>
                  <a:gd name="T45" fmla="*/ 195 h 287"/>
                  <a:gd name="T46" fmla="*/ 69 w 274"/>
                  <a:gd name="T47" fmla="*/ 200 h 287"/>
                  <a:gd name="T48" fmla="*/ 60 w 274"/>
                  <a:gd name="T49" fmla="*/ 203 h 287"/>
                  <a:gd name="T50" fmla="*/ 55 w 274"/>
                  <a:gd name="T51" fmla="*/ 192 h 287"/>
                  <a:gd name="T52" fmla="*/ 47 w 274"/>
                  <a:gd name="T53" fmla="*/ 170 h 287"/>
                  <a:gd name="T54" fmla="*/ 40 w 274"/>
                  <a:gd name="T55" fmla="*/ 144 h 287"/>
                  <a:gd name="T56" fmla="*/ 31 w 274"/>
                  <a:gd name="T57" fmla="*/ 115 h 287"/>
                  <a:gd name="T58" fmla="*/ 23 w 274"/>
                  <a:gd name="T59" fmla="*/ 84 h 287"/>
                  <a:gd name="T60" fmla="*/ 14 w 274"/>
                  <a:gd name="T61" fmla="*/ 59 h 287"/>
                  <a:gd name="T62" fmla="*/ 7 w 274"/>
                  <a:gd name="T63" fmla="*/ 39 h 287"/>
                  <a:gd name="T64" fmla="*/ 0 w 274"/>
                  <a:gd name="T65" fmla="*/ 28 h 28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74" h="287">
                    <a:moveTo>
                      <a:pt x="0" y="40"/>
                    </a:moveTo>
                    <a:lnTo>
                      <a:pt x="13" y="32"/>
                    </a:lnTo>
                    <a:lnTo>
                      <a:pt x="29" y="25"/>
                    </a:lnTo>
                    <a:lnTo>
                      <a:pt x="50" y="18"/>
                    </a:lnTo>
                    <a:lnTo>
                      <a:pt x="73" y="12"/>
                    </a:lnTo>
                    <a:lnTo>
                      <a:pt x="97" y="8"/>
                    </a:lnTo>
                    <a:lnTo>
                      <a:pt x="123" y="3"/>
                    </a:lnTo>
                    <a:lnTo>
                      <a:pt x="149" y="1"/>
                    </a:lnTo>
                    <a:lnTo>
                      <a:pt x="174" y="0"/>
                    </a:lnTo>
                    <a:lnTo>
                      <a:pt x="188" y="22"/>
                    </a:lnTo>
                    <a:lnTo>
                      <a:pt x="203" y="47"/>
                    </a:lnTo>
                    <a:lnTo>
                      <a:pt x="218" y="76"/>
                    </a:lnTo>
                    <a:lnTo>
                      <a:pt x="233" y="107"/>
                    </a:lnTo>
                    <a:lnTo>
                      <a:pt x="247" y="138"/>
                    </a:lnTo>
                    <a:lnTo>
                      <a:pt x="258" y="169"/>
                    </a:lnTo>
                    <a:lnTo>
                      <a:pt x="267" y="199"/>
                    </a:lnTo>
                    <a:lnTo>
                      <a:pt x="274" y="227"/>
                    </a:lnTo>
                    <a:lnTo>
                      <a:pt x="256" y="230"/>
                    </a:lnTo>
                    <a:lnTo>
                      <a:pt x="236" y="237"/>
                    </a:lnTo>
                    <a:lnTo>
                      <a:pt x="213" y="246"/>
                    </a:lnTo>
                    <a:lnTo>
                      <a:pt x="191" y="256"/>
                    </a:lnTo>
                    <a:lnTo>
                      <a:pt x="168" y="266"/>
                    </a:lnTo>
                    <a:lnTo>
                      <a:pt x="148" y="275"/>
                    </a:lnTo>
                    <a:lnTo>
                      <a:pt x="129" y="283"/>
                    </a:lnTo>
                    <a:lnTo>
                      <a:pt x="113" y="287"/>
                    </a:lnTo>
                    <a:lnTo>
                      <a:pt x="103" y="271"/>
                    </a:lnTo>
                    <a:lnTo>
                      <a:pt x="89" y="241"/>
                    </a:lnTo>
                    <a:lnTo>
                      <a:pt x="75" y="203"/>
                    </a:lnTo>
                    <a:lnTo>
                      <a:pt x="59" y="162"/>
                    </a:lnTo>
                    <a:lnTo>
                      <a:pt x="43" y="119"/>
                    </a:lnTo>
                    <a:lnTo>
                      <a:pt x="27" y="83"/>
                    </a:lnTo>
                    <a:lnTo>
                      <a:pt x="13" y="55"/>
                    </a:lnTo>
                    <a:lnTo>
                      <a:pt x="0" y="40"/>
                    </a:lnTo>
                    <a:close/>
                  </a:path>
                </a:pathLst>
              </a:custGeom>
              <a:solidFill>
                <a:srgbClr val="7FC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6" name="Freeform 5"/>
              <p:cNvSpPr>
                <a:spLocks/>
              </p:cNvSpPr>
              <p:nvPr/>
            </p:nvSpPr>
            <p:spPr bwMode="auto">
              <a:xfrm rot="3406287">
                <a:off x="5278" y="3185"/>
                <a:ext cx="59" cy="67"/>
              </a:xfrm>
              <a:custGeom>
                <a:avLst/>
                <a:gdLst>
                  <a:gd name="T0" fmla="*/ 6 w 111"/>
                  <a:gd name="T1" fmla="*/ 67 h 94"/>
                  <a:gd name="T2" fmla="*/ 12 w 111"/>
                  <a:gd name="T3" fmla="*/ 66 h 94"/>
                  <a:gd name="T4" fmla="*/ 20 w 111"/>
                  <a:gd name="T5" fmla="*/ 64 h 94"/>
                  <a:gd name="T6" fmla="*/ 27 w 111"/>
                  <a:gd name="T7" fmla="*/ 60 h 94"/>
                  <a:gd name="T8" fmla="*/ 35 w 111"/>
                  <a:gd name="T9" fmla="*/ 55 h 94"/>
                  <a:gd name="T10" fmla="*/ 43 w 111"/>
                  <a:gd name="T11" fmla="*/ 50 h 94"/>
                  <a:gd name="T12" fmla="*/ 49 w 111"/>
                  <a:gd name="T13" fmla="*/ 44 h 94"/>
                  <a:gd name="T14" fmla="*/ 55 w 111"/>
                  <a:gd name="T15" fmla="*/ 39 h 94"/>
                  <a:gd name="T16" fmla="*/ 59 w 111"/>
                  <a:gd name="T17" fmla="*/ 36 h 94"/>
                  <a:gd name="T18" fmla="*/ 59 w 111"/>
                  <a:gd name="T19" fmla="*/ 31 h 94"/>
                  <a:gd name="T20" fmla="*/ 58 w 111"/>
                  <a:gd name="T21" fmla="*/ 25 h 94"/>
                  <a:gd name="T22" fmla="*/ 56 w 111"/>
                  <a:gd name="T23" fmla="*/ 18 h 94"/>
                  <a:gd name="T24" fmla="*/ 53 w 111"/>
                  <a:gd name="T25" fmla="*/ 12 h 94"/>
                  <a:gd name="T26" fmla="*/ 50 w 111"/>
                  <a:gd name="T27" fmla="*/ 7 h 94"/>
                  <a:gd name="T28" fmla="*/ 47 w 111"/>
                  <a:gd name="T29" fmla="*/ 4 h 94"/>
                  <a:gd name="T30" fmla="*/ 44 w 111"/>
                  <a:gd name="T31" fmla="*/ 1 h 94"/>
                  <a:gd name="T32" fmla="*/ 40 w 111"/>
                  <a:gd name="T33" fmla="*/ 0 h 94"/>
                  <a:gd name="T34" fmla="*/ 35 w 111"/>
                  <a:gd name="T35" fmla="*/ 3 h 94"/>
                  <a:gd name="T36" fmla="*/ 29 w 111"/>
                  <a:gd name="T37" fmla="*/ 6 h 94"/>
                  <a:gd name="T38" fmla="*/ 26 w 111"/>
                  <a:gd name="T39" fmla="*/ 9 h 94"/>
                  <a:gd name="T40" fmla="*/ 25 w 111"/>
                  <a:gd name="T41" fmla="*/ 11 h 94"/>
                  <a:gd name="T42" fmla="*/ 27 w 111"/>
                  <a:gd name="T43" fmla="*/ 12 h 94"/>
                  <a:gd name="T44" fmla="*/ 28 w 111"/>
                  <a:gd name="T45" fmla="*/ 13 h 94"/>
                  <a:gd name="T46" fmla="*/ 29 w 111"/>
                  <a:gd name="T47" fmla="*/ 13 h 94"/>
                  <a:gd name="T48" fmla="*/ 30 w 111"/>
                  <a:gd name="T49" fmla="*/ 13 h 94"/>
                  <a:gd name="T50" fmla="*/ 32 w 111"/>
                  <a:gd name="T51" fmla="*/ 12 h 94"/>
                  <a:gd name="T52" fmla="*/ 35 w 111"/>
                  <a:gd name="T53" fmla="*/ 11 h 94"/>
                  <a:gd name="T54" fmla="*/ 37 w 111"/>
                  <a:gd name="T55" fmla="*/ 9 h 94"/>
                  <a:gd name="T56" fmla="*/ 39 w 111"/>
                  <a:gd name="T57" fmla="*/ 9 h 94"/>
                  <a:gd name="T58" fmla="*/ 40 w 111"/>
                  <a:gd name="T59" fmla="*/ 11 h 94"/>
                  <a:gd name="T60" fmla="*/ 44 w 111"/>
                  <a:gd name="T61" fmla="*/ 17 h 94"/>
                  <a:gd name="T62" fmla="*/ 47 w 111"/>
                  <a:gd name="T63" fmla="*/ 26 h 94"/>
                  <a:gd name="T64" fmla="*/ 47 w 111"/>
                  <a:gd name="T65" fmla="*/ 36 h 94"/>
                  <a:gd name="T66" fmla="*/ 43 w 111"/>
                  <a:gd name="T67" fmla="*/ 38 h 94"/>
                  <a:gd name="T68" fmla="*/ 37 w 111"/>
                  <a:gd name="T69" fmla="*/ 41 h 94"/>
                  <a:gd name="T70" fmla="*/ 31 w 111"/>
                  <a:gd name="T71" fmla="*/ 43 h 94"/>
                  <a:gd name="T72" fmla="*/ 24 w 111"/>
                  <a:gd name="T73" fmla="*/ 47 h 94"/>
                  <a:gd name="T74" fmla="*/ 17 w 111"/>
                  <a:gd name="T75" fmla="*/ 50 h 94"/>
                  <a:gd name="T76" fmla="*/ 12 w 111"/>
                  <a:gd name="T77" fmla="*/ 52 h 94"/>
                  <a:gd name="T78" fmla="*/ 9 w 111"/>
                  <a:gd name="T79" fmla="*/ 53 h 94"/>
                  <a:gd name="T80" fmla="*/ 7 w 111"/>
                  <a:gd name="T81" fmla="*/ 54 h 94"/>
                  <a:gd name="T82" fmla="*/ 7 w 111"/>
                  <a:gd name="T83" fmla="*/ 53 h 94"/>
                  <a:gd name="T84" fmla="*/ 7 w 111"/>
                  <a:gd name="T85" fmla="*/ 50 h 94"/>
                  <a:gd name="T86" fmla="*/ 6 w 111"/>
                  <a:gd name="T87" fmla="*/ 48 h 94"/>
                  <a:gd name="T88" fmla="*/ 3 w 111"/>
                  <a:gd name="T89" fmla="*/ 47 h 94"/>
                  <a:gd name="T90" fmla="*/ 0 w 111"/>
                  <a:gd name="T91" fmla="*/ 54 h 94"/>
                  <a:gd name="T92" fmla="*/ 1 w 111"/>
                  <a:gd name="T93" fmla="*/ 61 h 94"/>
                  <a:gd name="T94" fmla="*/ 4 w 111"/>
                  <a:gd name="T95" fmla="*/ 66 h 94"/>
                  <a:gd name="T96" fmla="*/ 6 w 111"/>
                  <a:gd name="T97" fmla="*/ 67 h 9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11" h="94">
                    <a:moveTo>
                      <a:pt x="11" y="94"/>
                    </a:moveTo>
                    <a:lnTo>
                      <a:pt x="23" y="93"/>
                    </a:lnTo>
                    <a:lnTo>
                      <a:pt x="37" y="90"/>
                    </a:lnTo>
                    <a:lnTo>
                      <a:pt x="51" y="84"/>
                    </a:lnTo>
                    <a:lnTo>
                      <a:pt x="66" y="77"/>
                    </a:lnTo>
                    <a:lnTo>
                      <a:pt x="80" y="70"/>
                    </a:lnTo>
                    <a:lnTo>
                      <a:pt x="92" y="62"/>
                    </a:lnTo>
                    <a:lnTo>
                      <a:pt x="103" y="55"/>
                    </a:lnTo>
                    <a:lnTo>
                      <a:pt x="111" y="50"/>
                    </a:lnTo>
                    <a:lnTo>
                      <a:pt x="111" y="43"/>
                    </a:lnTo>
                    <a:lnTo>
                      <a:pt x="110" y="35"/>
                    </a:lnTo>
                    <a:lnTo>
                      <a:pt x="106" y="25"/>
                    </a:lnTo>
                    <a:lnTo>
                      <a:pt x="100" y="17"/>
                    </a:lnTo>
                    <a:lnTo>
                      <a:pt x="95" y="10"/>
                    </a:lnTo>
                    <a:lnTo>
                      <a:pt x="88" y="5"/>
                    </a:lnTo>
                    <a:lnTo>
                      <a:pt x="82" y="1"/>
                    </a:lnTo>
                    <a:lnTo>
                      <a:pt x="75" y="0"/>
                    </a:lnTo>
                    <a:lnTo>
                      <a:pt x="65" y="4"/>
                    </a:lnTo>
                    <a:lnTo>
                      <a:pt x="55" y="8"/>
                    </a:lnTo>
                    <a:lnTo>
                      <a:pt x="49" y="12"/>
                    </a:lnTo>
                    <a:lnTo>
                      <a:pt x="47" y="15"/>
                    </a:lnTo>
                    <a:lnTo>
                      <a:pt x="50" y="17"/>
                    </a:lnTo>
                    <a:lnTo>
                      <a:pt x="52" y="18"/>
                    </a:lnTo>
                    <a:lnTo>
                      <a:pt x="55" y="18"/>
                    </a:lnTo>
                    <a:lnTo>
                      <a:pt x="57" y="18"/>
                    </a:lnTo>
                    <a:lnTo>
                      <a:pt x="60" y="17"/>
                    </a:lnTo>
                    <a:lnTo>
                      <a:pt x="66" y="15"/>
                    </a:lnTo>
                    <a:lnTo>
                      <a:pt x="70" y="13"/>
                    </a:lnTo>
                    <a:lnTo>
                      <a:pt x="73" y="12"/>
                    </a:lnTo>
                    <a:lnTo>
                      <a:pt x="76" y="15"/>
                    </a:lnTo>
                    <a:lnTo>
                      <a:pt x="83" y="24"/>
                    </a:lnTo>
                    <a:lnTo>
                      <a:pt x="89" y="37"/>
                    </a:lnTo>
                    <a:lnTo>
                      <a:pt x="88" y="50"/>
                    </a:lnTo>
                    <a:lnTo>
                      <a:pt x="80" y="53"/>
                    </a:lnTo>
                    <a:lnTo>
                      <a:pt x="69" y="58"/>
                    </a:lnTo>
                    <a:lnTo>
                      <a:pt x="58" y="61"/>
                    </a:lnTo>
                    <a:lnTo>
                      <a:pt x="45" y="66"/>
                    </a:lnTo>
                    <a:lnTo>
                      <a:pt x="32" y="70"/>
                    </a:lnTo>
                    <a:lnTo>
                      <a:pt x="23" y="73"/>
                    </a:lnTo>
                    <a:lnTo>
                      <a:pt x="16" y="75"/>
                    </a:lnTo>
                    <a:lnTo>
                      <a:pt x="13" y="76"/>
                    </a:lnTo>
                    <a:lnTo>
                      <a:pt x="13" y="75"/>
                    </a:lnTo>
                    <a:lnTo>
                      <a:pt x="13" y="70"/>
                    </a:lnTo>
                    <a:lnTo>
                      <a:pt x="11" y="67"/>
                    </a:lnTo>
                    <a:lnTo>
                      <a:pt x="6" y="66"/>
                    </a:lnTo>
                    <a:lnTo>
                      <a:pt x="0" y="76"/>
                    </a:lnTo>
                    <a:lnTo>
                      <a:pt x="2" y="85"/>
                    </a:lnTo>
                    <a:lnTo>
                      <a:pt x="7" y="92"/>
                    </a:lnTo>
                    <a:lnTo>
                      <a:pt x="11" y="9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7" name="Freeform 6"/>
              <p:cNvSpPr>
                <a:spLocks/>
              </p:cNvSpPr>
              <p:nvPr/>
            </p:nvSpPr>
            <p:spPr bwMode="auto">
              <a:xfrm rot="3406287">
                <a:off x="5248" y="3037"/>
                <a:ext cx="316" cy="165"/>
              </a:xfrm>
              <a:custGeom>
                <a:avLst/>
                <a:gdLst>
                  <a:gd name="T0" fmla="*/ 36 w 595"/>
                  <a:gd name="T1" fmla="*/ 138 h 234"/>
                  <a:gd name="T2" fmla="*/ 58 w 595"/>
                  <a:gd name="T3" fmla="*/ 117 h 234"/>
                  <a:gd name="T4" fmla="*/ 80 w 595"/>
                  <a:gd name="T5" fmla="*/ 97 h 234"/>
                  <a:gd name="T6" fmla="*/ 103 w 595"/>
                  <a:gd name="T7" fmla="*/ 77 h 234"/>
                  <a:gd name="T8" fmla="*/ 126 w 595"/>
                  <a:gd name="T9" fmla="*/ 59 h 234"/>
                  <a:gd name="T10" fmla="*/ 149 w 595"/>
                  <a:gd name="T11" fmla="*/ 45 h 234"/>
                  <a:gd name="T12" fmla="*/ 167 w 595"/>
                  <a:gd name="T13" fmla="*/ 35 h 234"/>
                  <a:gd name="T14" fmla="*/ 185 w 595"/>
                  <a:gd name="T15" fmla="*/ 25 h 234"/>
                  <a:gd name="T16" fmla="*/ 204 w 595"/>
                  <a:gd name="T17" fmla="*/ 19 h 234"/>
                  <a:gd name="T18" fmla="*/ 224 w 595"/>
                  <a:gd name="T19" fmla="*/ 14 h 234"/>
                  <a:gd name="T20" fmla="*/ 243 w 595"/>
                  <a:gd name="T21" fmla="*/ 13 h 234"/>
                  <a:gd name="T22" fmla="*/ 269 w 595"/>
                  <a:gd name="T23" fmla="*/ 14 h 234"/>
                  <a:gd name="T24" fmla="*/ 294 w 595"/>
                  <a:gd name="T25" fmla="*/ 26 h 234"/>
                  <a:gd name="T26" fmla="*/ 305 w 595"/>
                  <a:gd name="T27" fmla="*/ 53 h 234"/>
                  <a:gd name="T28" fmla="*/ 293 w 595"/>
                  <a:gd name="T29" fmla="*/ 73 h 234"/>
                  <a:gd name="T30" fmla="*/ 274 w 595"/>
                  <a:gd name="T31" fmla="*/ 84 h 234"/>
                  <a:gd name="T32" fmla="*/ 250 w 595"/>
                  <a:gd name="T33" fmla="*/ 94 h 234"/>
                  <a:gd name="T34" fmla="*/ 217 w 595"/>
                  <a:gd name="T35" fmla="*/ 102 h 234"/>
                  <a:gd name="T36" fmla="*/ 184 w 595"/>
                  <a:gd name="T37" fmla="*/ 113 h 234"/>
                  <a:gd name="T38" fmla="*/ 161 w 595"/>
                  <a:gd name="T39" fmla="*/ 127 h 234"/>
                  <a:gd name="T40" fmla="*/ 143 w 595"/>
                  <a:gd name="T41" fmla="*/ 145 h 234"/>
                  <a:gd name="T42" fmla="*/ 155 w 595"/>
                  <a:gd name="T43" fmla="*/ 161 h 234"/>
                  <a:gd name="T44" fmla="*/ 165 w 595"/>
                  <a:gd name="T45" fmla="*/ 164 h 234"/>
                  <a:gd name="T46" fmla="*/ 173 w 595"/>
                  <a:gd name="T47" fmla="*/ 165 h 234"/>
                  <a:gd name="T48" fmla="*/ 180 w 595"/>
                  <a:gd name="T49" fmla="*/ 164 h 234"/>
                  <a:gd name="T50" fmla="*/ 183 w 595"/>
                  <a:gd name="T51" fmla="*/ 158 h 234"/>
                  <a:gd name="T52" fmla="*/ 178 w 595"/>
                  <a:gd name="T53" fmla="*/ 152 h 234"/>
                  <a:gd name="T54" fmla="*/ 173 w 595"/>
                  <a:gd name="T55" fmla="*/ 152 h 234"/>
                  <a:gd name="T56" fmla="*/ 164 w 595"/>
                  <a:gd name="T57" fmla="*/ 152 h 234"/>
                  <a:gd name="T58" fmla="*/ 158 w 595"/>
                  <a:gd name="T59" fmla="*/ 145 h 234"/>
                  <a:gd name="T60" fmla="*/ 174 w 595"/>
                  <a:gd name="T61" fmla="*/ 124 h 234"/>
                  <a:gd name="T62" fmla="*/ 200 w 595"/>
                  <a:gd name="T63" fmla="*/ 113 h 234"/>
                  <a:gd name="T64" fmla="*/ 232 w 595"/>
                  <a:gd name="T65" fmla="*/ 106 h 234"/>
                  <a:gd name="T66" fmla="*/ 264 w 595"/>
                  <a:gd name="T67" fmla="*/ 99 h 234"/>
                  <a:gd name="T68" fmla="*/ 294 w 595"/>
                  <a:gd name="T69" fmla="*/ 84 h 234"/>
                  <a:gd name="T70" fmla="*/ 313 w 595"/>
                  <a:gd name="T71" fmla="*/ 63 h 234"/>
                  <a:gd name="T72" fmla="*/ 315 w 595"/>
                  <a:gd name="T73" fmla="*/ 46 h 234"/>
                  <a:gd name="T74" fmla="*/ 313 w 595"/>
                  <a:gd name="T75" fmla="*/ 39 h 234"/>
                  <a:gd name="T76" fmla="*/ 291 w 595"/>
                  <a:gd name="T77" fmla="*/ 12 h 234"/>
                  <a:gd name="T78" fmla="*/ 262 w 595"/>
                  <a:gd name="T79" fmla="*/ 1 h 234"/>
                  <a:gd name="T80" fmla="*/ 230 w 595"/>
                  <a:gd name="T81" fmla="*/ 1 h 234"/>
                  <a:gd name="T82" fmla="*/ 197 w 595"/>
                  <a:gd name="T83" fmla="*/ 9 h 234"/>
                  <a:gd name="T84" fmla="*/ 164 w 595"/>
                  <a:gd name="T85" fmla="*/ 24 h 234"/>
                  <a:gd name="T86" fmla="*/ 135 w 595"/>
                  <a:gd name="T87" fmla="*/ 41 h 234"/>
                  <a:gd name="T88" fmla="*/ 108 w 595"/>
                  <a:gd name="T89" fmla="*/ 59 h 234"/>
                  <a:gd name="T90" fmla="*/ 83 w 595"/>
                  <a:gd name="T91" fmla="*/ 81 h 234"/>
                  <a:gd name="T92" fmla="*/ 59 w 595"/>
                  <a:gd name="T93" fmla="*/ 104 h 234"/>
                  <a:gd name="T94" fmla="*/ 35 w 595"/>
                  <a:gd name="T95" fmla="*/ 128 h 234"/>
                  <a:gd name="T96" fmla="*/ 13 w 595"/>
                  <a:gd name="T97" fmla="*/ 149 h 234"/>
                  <a:gd name="T98" fmla="*/ 0 w 595"/>
                  <a:gd name="T99" fmla="*/ 159 h 234"/>
                  <a:gd name="T100" fmla="*/ 6 w 595"/>
                  <a:gd name="T101" fmla="*/ 161 h 234"/>
                  <a:gd name="T102" fmla="*/ 15 w 595"/>
                  <a:gd name="T103" fmla="*/ 155 h 2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95" h="234">
                    <a:moveTo>
                      <a:pt x="38" y="214"/>
                    </a:moveTo>
                    <a:lnTo>
                      <a:pt x="53" y="205"/>
                    </a:lnTo>
                    <a:lnTo>
                      <a:pt x="67" y="196"/>
                    </a:lnTo>
                    <a:lnTo>
                      <a:pt x="81" y="186"/>
                    </a:lnTo>
                    <a:lnTo>
                      <a:pt x="96" y="176"/>
                    </a:lnTo>
                    <a:lnTo>
                      <a:pt x="110" y="166"/>
                    </a:lnTo>
                    <a:lnTo>
                      <a:pt x="123" y="157"/>
                    </a:lnTo>
                    <a:lnTo>
                      <a:pt x="137" y="147"/>
                    </a:lnTo>
                    <a:lnTo>
                      <a:pt x="151" y="137"/>
                    </a:lnTo>
                    <a:lnTo>
                      <a:pt x="165" y="127"/>
                    </a:lnTo>
                    <a:lnTo>
                      <a:pt x="180" y="118"/>
                    </a:lnTo>
                    <a:lnTo>
                      <a:pt x="194" y="109"/>
                    </a:lnTo>
                    <a:lnTo>
                      <a:pt x="209" y="101"/>
                    </a:lnTo>
                    <a:lnTo>
                      <a:pt x="222" y="91"/>
                    </a:lnTo>
                    <a:lnTo>
                      <a:pt x="237" y="83"/>
                    </a:lnTo>
                    <a:lnTo>
                      <a:pt x="252" y="75"/>
                    </a:lnTo>
                    <a:lnTo>
                      <a:pt x="269" y="68"/>
                    </a:lnTo>
                    <a:lnTo>
                      <a:pt x="280" y="64"/>
                    </a:lnTo>
                    <a:lnTo>
                      <a:pt x="292" y="58"/>
                    </a:lnTo>
                    <a:lnTo>
                      <a:pt x="303" y="53"/>
                    </a:lnTo>
                    <a:lnTo>
                      <a:pt x="315" y="49"/>
                    </a:lnTo>
                    <a:lnTo>
                      <a:pt x="326" y="44"/>
                    </a:lnTo>
                    <a:lnTo>
                      <a:pt x="338" y="41"/>
                    </a:lnTo>
                    <a:lnTo>
                      <a:pt x="349" y="36"/>
                    </a:lnTo>
                    <a:lnTo>
                      <a:pt x="362" y="33"/>
                    </a:lnTo>
                    <a:lnTo>
                      <a:pt x="373" y="30"/>
                    </a:lnTo>
                    <a:lnTo>
                      <a:pt x="385" y="27"/>
                    </a:lnTo>
                    <a:lnTo>
                      <a:pt x="396" y="25"/>
                    </a:lnTo>
                    <a:lnTo>
                      <a:pt x="409" y="22"/>
                    </a:lnTo>
                    <a:lnTo>
                      <a:pt x="421" y="20"/>
                    </a:lnTo>
                    <a:lnTo>
                      <a:pt x="433" y="19"/>
                    </a:lnTo>
                    <a:lnTo>
                      <a:pt x="445" y="18"/>
                    </a:lnTo>
                    <a:lnTo>
                      <a:pt x="457" y="18"/>
                    </a:lnTo>
                    <a:lnTo>
                      <a:pt x="474" y="18"/>
                    </a:lnTo>
                    <a:lnTo>
                      <a:pt x="490" y="18"/>
                    </a:lnTo>
                    <a:lnTo>
                      <a:pt x="507" y="20"/>
                    </a:lnTo>
                    <a:lnTo>
                      <a:pt x="523" y="23"/>
                    </a:lnTo>
                    <a:lnTo>
                      <a:pt x="539" y="29"/>
                    </a:lnTo>
                    <a:lnTo>
                      <a:pt x="553" y="37"/>
                    </a:lnTo>
                    <a:lnTo>
                      <a:pt x="566" y="49"/>
                    </a:lnTo>
                    <a:lnTo>
                      <a:pt x="576" y="63"/>
                    </a:lnTo>
                    <a:lnTo>
                      <a:pt x="575" y="75"/>
                    </a:lnTo>
                    <a:lnTo>
                      <a:pt x="568" y="87"/>
                    </a:lnTo>
                    <a:lnTo>
                      <a:pt x="560" y="96"/>
                    </a:lnTo>
                    <a:lnTo>
                      <a:pt x="551" y="103"/>
                    </a:lnTo>
                    <a:lnTo>
                      <a:pt x="540" y="110"/>
                    </a:lnTo>
                    <a:lnTo>
                      <a:pt x="528" y="114"/>
                    </a:lnTo>
                    <a:lnTo>
                      <a:pt x="516" y="119"/>
                    </a:lnTo>
                    <a:lnTo>
                      <a:pt x="504" y="124"/>
                    </a:lnTo>
                    <a:lnTo>
                      <a:pt x="491" y="127"/>
                    </a:lnTo>
                    <a:lnTo>
                      <a:pt x="470" y="133"/>
                    </a:lnTo>
                    <a:lnTo>
                      <a:pt x="449" y="137"/>
                    </a:lnTo>
                    <a:lnTo>
                      <a:pt x="429" y="141"/>
                    </a:lnTo>
                    <a:lnTo>
                      <a:pt x="408" y="144"/>
                    </a:lnTo>
                    <a:lnTo>
                      <a:pt x="387" y="149"/>
                    </a:lnTo>
                    <a:lnTo>
                      <a:pt x="366" y="153"/>
                    </a:lnTo>
                    <a:lnTo>
                      <a:pt x="346" y="160"/>
                    </a:lnTo>
                    <a:lnTo>
                      <a:pt x="326" y="168"/>
                    </a:lnTo>
                    <a:lnTo>
                      <a:pt x="317" y="173"/>
                    </a:lnTo>
                    <a:lnTo>
                      <a:pt x="304" y="180"/>
                    </a:lnTo>
                    <a:lnTo>
                      <a:pt x="290" y="188"/>
                    </a:lnTo>
                    <a:lnTo>
                      <a:pt x="278" y="197"/>
                    </a:lnTo>
                    <a:lnTo>
                      <a:pt x="270" y="206"/>
                    </a:lnTo>
                    <a:lnTo>
                      <a:pt x="267" y="216"/>
                    </a:lnTo>
                    <a:lnTo>
                      <a:pt x="274" y="224"/>
                    </a:lnTo>
                    <a:lnTo>
                      <a:pt x="292" y="229"/>
                    </a:lnTo>
                    <a:lnTo>
                      <a:pt x="298" y="231"/>
                    </a:lnTo>
                    <a:lnTo>
                      <a:pt x="305" y="232"/>
                    </a:lnTo>
                    <a:lnTo>
                      <a:pt x="310" y="233"/>
                    </a:lnTo>
                    <a:lnTo>
                      <a:pt x="316" y="233"/>
                    </a:lnTo>
                    <a:lnTo>
                      <a:pt x="320" y="234"/>
                    </a:lnTo>
                    <a:lnTo>
                      <a:pt x="325" y="234"/>
                    </a:lnTo>
                    <a:lnTo>
                      <a:pt x="330" y="234"/>
                    </a:lnTo>
                    <a:lnTo>
                      <a:pt x="334" y="234"/>
                    </a:lnTo>
                    <a:lnTo>
                      <a:pt x="339" y="233"/>
                    </a:lnTo>
                    <a:lnTo>
                      <a:pt x="341" y="231"/>
                    </a:lnTo>
                    <a:lnTo>
                      <a:pt x="343" y="228"/>
                    </a:lnTo>
                    <a:lnTo>
                      <a:pt x="345" y="224"/>
                    </a:lnTo>
                    <a:lnTo>
                      <a:pt x="343" y="220"/>
                    </a:lnTo>
                    <a:lnTo>
                      <a:pt x="340" y="218"/>
                    </a:lnTo>
                    <a:lnTo>
                      <a:pt x="335" y="216"/>
                    </a:lnTo>
                    <a:lnTo>
                      <a:pt x="334" y="216"/>
                    </a:lnTo>
                    <a:lnTo>
                      <a:pt x="330" y="216"/>
                    </a:lnTo>
                    <a:lnTo>
                      <a:pt x="325" y="216"/>
                    </a:lnTo>
                    <a:lnTo>
                      <a:pt x="319" y="216"/>
                    </a:lnTo>
                    <a:lnTo>
                      <a:pt x="313" y="216"/>
                    </a:lnTo>
                    <a:lnTo>
                      <a:pt x="308" y="216"/>
                    </a:lnTo>
                    <a:lnTo>
                      <a:pt x="303" y="214"/>
                    </a:lnTo>
                    <a:lnTo>
                      <a:pt x="300" y="211"/>
                    </a:lnTo>
                    <a:lnTo>
                      <a:pt x="298" y="206"/>
                    </a:lnTo>
                    <a:lnTo>
                      <a:pt x="307" y="194"/>
                    </a:lnTo>
                    <a:lnTo>
                      <a:pt x="317" y="185"/>
                    </a:lnTo>
                    <a:lnTo>
                      <a:pt x="328" y="176"/>
                    </a:lnTo>
                    <a:lnTo>
                      <a:pt x="343" y="170"/>
                    </a:lnTo>
                    <a:lnTo>
                      <a:pt x="360" y="164"/>
                    </a:lnTo>
                    <a:lnTo>
                      <a:pt x="377" y="160"/>
                    </a:lnTo>
                    <a:lnTo>
                      <a:pt x="395" y="157"/>
                    </a:lnTo>
                    <a:lnTo>
                      <a:pt x="415" y="153"/>
                    </a:lnTo>
                    <a:lnTo>
                      <a:pt x="436" y="151"/>
                    </a:lnTo>
                    <a:lnTo>
                      <a:pt x="456" y="148"/>
                    </a:lnTo>
                    <a:lnTo>
                      <a:pt x="476" y="144"/>
                    </a:lnTo>
                    <a:lnTo>
                      <a:pt x="497" y="140"/>
                    </a:lnTo>
                    <a:lnTo>
                      <a:pt x="516" y="134"/>
                    </a:lnTo>
                    <a:lnTo>
                      <a:pt x="536" y="127"/>
                    </a:lnTo>
                    <a:lnTo>
                      <a:pt x="554" y="119"/>
                    </a:lnTo>
                    <a:lnTo>
                      <a:pt x="572" y="109"/>
                    </a:lnTo>
                    <a:lnTo>
                      <a:pt x="583" y="99"/>
                    </a:lnTo>
                    <a:lnTo>
                      <a:pt x="590" y="90"/>
                    </a:lnTo>
                    <a:lnTo>
                      <a:pt x="593" y="81"/>
                    </a:lnTo>
                    <a:lnTo>
                      <a:pt x="595" y="73"/>
                    </a:lnTo>
                    <a:lnTo>
                      <a:pt x="593" y="65"/>
                    </a:lnTo>
                    <a:lnTo>
                      <a:pt x="592" y="59"/>
                    </a:lnTo>
                    <a:lnTo>
                      <a:pt x="591" y="56"/>
                    </a:lnTo>
                    <a:lnTo>
                      <a:pt x="590" y="55"/>
                    </a:lnTo>
                    <a:lnTo>
                      <a:pt x="578" y="38"/>
                    </a:lnTo>
                    <a:lnTo>
                      <a:pt x="565" y="26"/>
                    </a:lnTo>
                    <a:lnTo>
                      <a:pt x="548" y="17"/>
                    </a:lnTo>
                    <a:lnTo>
                      <a:pt x="531" y="10"/>
                    </a:lnTo>
                    <a:lnTo>
                      <a:pt x="512" y="4"/>
                    </a:lnTo>
                    <a:lnTo>
                      <a:pt x="493" y="2"/>
                    </a:lnTo>
                    <a:lnTo>
                      <a:pt x="474" y="0"/>
                    </a:lnTo>
                    <a:lnTo>
                      <a:pt x="455" y="0"/>
                    </a:lnTo>
                    <a:lnTo>
                      <a:pt x="433" y="2"/>
                    </a:lnTo>
                    <a:lnTo>
                      <a:pt x="413" y="5"/>
                    </a:lnTo>
                    <a:lnTo>
                      <a:pt x="392" y="8"/>
                    </a:lnTo>
                    <a:lnTo>
                      <a:pt x="370" y="13"/>
                    </a:lnTo>
                    <a:lnTo>
                      <a:pt x="349" y="19"/>
                    </a:lnTo>
                    <a:lnTo>
                      <a:pt x="328" y="26"/>
                    </a:lnTo>
                    <a:lnTo>
                      <a:pt x="309" y="34"/>
                    </a:lnTo>
                    <a:lnTo>
                      <a:pt x="288" y="42"/>
                    </a:lnTo>
                    <a:lnTo>
                      <a:pt x="271" y="50"/>
                    </a:lnTo>
                    <a:lnTo>
                      <a:pt x="254" y="58"/>
                    </a:lnTo>
                    <a:lnTo>
                      <a:pt x="236" y="66"/>
                    </a:lnTo>
                    <a:lnTo>
                      <a:pt x="220" y="75"/>
                    </a:lnTo>
                    <a:lnTo>
                      <a:pt x="204" y="84"/>
                    </a:lnTo>
                    <a:lnTo>
                      <a:pt x="188" y="95"/>
                    </a:lnTo>
                    <a:lnTo>
                      <a:pt x="173" y="105"/>
                    </a:lnTo>
                    <a:lnTo>
                      <a:pt x="157" y="115"/>
                    </a:lnTo>
                    <a:lnTo>
                      <a:pt x="142" y="126"/>
                    </a:lnTo>
                    <a:lnTo>
                      <a:pt x="127" y="136"/>
                    </a:lnTo>
                    <a:lnTo>
                      <a:pt x="111" y="148"/>
                    </a:lnTo>
                    <a:lnTo>
                      <a:pt x="96" y="159"/>
                    </a:lnTo>
                    <a:lnTo>
                      <a:pt x="81" y="171"/>
                    </a:lnTo>
                    <a:lnTo>
                      <a:pt x="65" y="182"/>
                    </a:lnTo>
                    <a:lnTo>
                      <a:pt x="50" y="195"/>
                    </a:lnTo>
                    <a:lnTo>
                      <a:pt x="33" y="206"/>
                    </a:lnTo>
                    <a:lnTo>
                      <a:pt x="25" y="212"/>
                    </a:lnTo>
                    <a:lnTo>
                      <a:pt x="17" y="217"/>
                    </a:lnTo>
                    <a:lnTo>
                      <a:pt x="9" y="221"/>
                    </a:lnTo>
                    <a:lnTo>
                      <a:pt x="0" y="226"/>
                    </a:lnTo>
                    <a:lnTo>
                      <a:pt x="2" y="228"/>
                    </a:lnTo>
                    <a:lnTo>
                      <a:pt x="6" y="228"/>
                    </a:lnTo>
                    <a:lnTo>
                      <a:pt x="12" y="228"/>
                    </a:lnTo>
                    <a:lnTo>
                      <a:pt x="16" y="226"/>
                    </a:lnTo>
                    <a:lnTo>
                      <a:pt x="22" y="224"/>
                    </a:lnTo>
                    <a:lnTo>
                      <a:pt x="28" y="220"/>
                    </a:lnTo>
                    <a:lnTo>
                      <a:pt x="33" y="218"/>
                    </a:lnTo>
                    <a:lnTo>
                      <a:pt x="38" y="2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8" name="Freeform 7"/>
              <p:cNvSpPr>
                <a:spLocks/>
              </p:cNvSpPr>
              <p:nvPr/>
            </p:nvSpPr>
            <p:spPr bwMode="auto">
              <a:xfrm rot="3406287">
                <a:off x="5287" y="3174"/>
                <a:ext cx="100" cy="38"/>
              </a:xfrm>
              <a:custGeom>
                <a:avLst/>
                <a:gdLst>
                  <a:gd name="T0" fmla="*/ 5 w 188"/>
                  <a:gd name="T1" fmla="*/ 38 h 55"/>
                  <a:gd name="T2" fmla="*/ 17 w 188"/>
                  <a:gd name="T3" fmla="*/ 34 h 55"/>
                  <a:gd name="T4" fmla="*/ 30 w 188"/>
                  <a:gd name="T5" fmla="*/ 30 h 55"/>
                  <a:gd name="T6" fmla="*/ 44 w 188"/>
                  <a:gd name="T7" fmla="*/ 26 h 55"/>
                  <a:gd name="T8" fmla="*/ 58 w 188"/>
                  <a:gd name="T9" fmla="*/ 21 h 55"/>
                  <a:gd name="T10" fmla="*/ 71 w 188"/>
                  <a:gd name="T11" fmla="*/ 17 h 55"/>
                  <a:gd name="T12" fmla="*/ 82 w 188"/>
                  <a:gd name="T13" fmla="*/ 13 h 55"/>
                  <a:gd name="T14" fmla="*/ 92 w 188"/>
                  <a:gd name="T15" fmla="*/ 9 h 55"/>
                  <a:gd name="T16" fmla="*/ 99 w 188"/>
                  <a:gd name="T17" fmla="*/ 6 h 55"/>
                  <a:gd name="T18" fmla="*/ 100 w 188"/>
                  <a:gd name="T19" fmla="*/ 3 h 55"/>
                  <a:gd name="T20" fmla="*/ 99 w 188"/>
                  <a:gd name="T21" fmla="*/ 2 h 55"/>
                  <a:gd name="T22" fmla="*/ 97 w 188"/>
                  <a:gd name="T23" fmla="*/ 1 h 55"/>
                  <a:gd name="T24" fmla="*/ 95 w 188"/>
                  <a:gd name="T25" fmla="*/ 0 h 55"/>
                  <a:gd name="T26" fmla="*/ 84 w 188"/>
                  <a:gd name="T27" fmla="*/ 1 h 55"/>
                  <a:gd name="T28" fmla="*/ 73 w 188"/>
                  <a:gd name="T29" fmla="*/ 3 h 55"/>
                  <a:gd name="T30" fmla="*/ 63 w 188"/>
                  <a:gd name="T31" fmla="*/ 6 h 55"/>
                  <a:gd name="T32" fmla="*/ 52 w 188"/>
                  <a:gd name="T33" fmla="*/ 9 h 55"/>
                  <a:gd name="T34" fmla="*/ 42 w 188"/>
                  <a:gd name="T35" fmla="*/ 13 h 55"/>
                  <a:gd name="T36" fmla="*/ 31 w 188"/>
                  <a:gd name="T37" fmla="*/ 17 h 55"/>
                  <a:gd name="T38" fmla="*/ 21 w 188"/>
                  <a:gd name="T39" fmla="*/ 22 h 55"/>
                  <a:gd name="T40" fmla="*/ 11 w 188"/>
                  <a:gd name="T41" fmla="*/ 27 h 55"/>
                  <a:gd name="T42" fmla="*/ 7 w 188"/>
                  <a:gd name="T43" fmla="*/ 29 h 55"/>
                  <a:gd name="T44" fmla="*/ 4 w 188"/>
                  <a:gd name="T45" fmla="*/ 33 h 55"/>
                  <a:gd name="T46" fmla="*/ 2 w 188"/>
                  <a:gd name="T47" fmla="*/ 35 h 55"/>
                  <a:gd name="T48" fmla="*/ 0 w 188"/>
                  <a:gd name="T49" fmla="*/ 37 h 55"/>
                  <a:gd name="T50" fmla="*/ 1 w 188"/>
                  <a:gd name="T51" fmla="*/ 37 h 55"/>
                  <a:gd name="T52" fmla="*/ 2 w 188"/>
                  <a:gd name="T53" fmla="*/ 38 h 55"/>
                  <a:gd name="T54" fmla="*/ 3 w 188"/>
                  <a:gd name="T55" fmla="*/ 38 h 55"/>
                  <a:gd name="T56" fmla="*/ 5 w 188"/>
                  <a:gd name="T57" fmla="*/ 38 h 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88" h="55">
                    <a:moveTo>
                      <a:pt x="9" y="55"/>
                    </a:moveTo>
                    <a:lnTo>
                      <a:pt x="32" y="49"/>
                    </a:lnTo>
                    <a:lnTo>
                      <a:pt x="57" y="43"/>
                    </a:lnTo>
                    <a:lnTo>
                      <a:pt x="83" y="38"/>
                    </a:lnTo>
                    <a:lnTo>
                      <a:pt x="109" y="31"/>
                    </a:lnTo>
                    <a:lnTo>
                      <a:pt x="133" y="25"/>
                    </a:lnTo>
                    <a:lnTo>
                      <a:pt x="155" y="19"/>
                    </a:lnTo>
                    <a:lnTo>
                      <a:pt x="173" y="13"/>
                    </a:lnTo>
                    <a:lnTo>
                      <a:pt x="187" y="8"/>
                    </a:lnTo>
                    <a:lnTo>
                      <a:pt x="188" y="5"/>
                    </a:lnTo>
                    <a:lnTo>
                      <a:pt x="186" y="3"/>
                    </a:lnTo>
                    <a:lnTo>
                      <a:pt x="183" y="1"/>
                    </a:lnTo>
                    <a:lnTo>
                      <a:pt x="178" y="0"/>
                    </a:lnTo>
                    <a:lnTo>
                      <a:pt x="158" y="1"/>
                    </a:lnTo>
                    <a:lnTo>
                      <a:pt x="138" y="4"/>
                    </a:lnTo>
                    <a:lnTo>
                      <a:pt x="118" y="8"/>
                    </a:lnTo>
                    <a:lnTo>
                      <a:pt x="98" y="13"/>
                    </a:lnTo>
                    <a:lnTo>
                      <a:pt x="79" y="19"/>
                    </a:lnTo>
                    <a:lnTo>
                      <a:pt x="59" y="25"/>
                    </a:lnTo>
                    <a:lnTo>
                      <a:pt x="40" y="32"/>
                    </a:lnTo>
                    <a:lnTo>
                      <a:pt x="20" y="39"/>
                    </a:lnTo>
                    <a:lnTo>
                      <a:pt x="14" y="42"/>
                    </a:lnTo>
                    <a:lnTo>
                      <a:pt x="7" y="48"/>
                    </a:lnTo>
                    <a:lnTo>
                      <a:pt x="3" y="51"/>
                    </a:lnTo>
                    <a:lnTo>
                      <a:pt x="0" y="54"/>
                    </a:lnTo>
                    <a:lnTo>
                      <a:pt x="2" y="54"/>
                    </a:lnTo>
                    <a:lnTo>
                      <a:pt x="4" y="55"/>
                    </a:lnTo>
                    <a:lnTo>
                      <a:pt x="6" y="55"/>
                    </a:lnTo>
                    <a:lnTo>
                      <a:pt x="9"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9" name="Freeform 8"/>
              <p:cNvSpPr>
                <a:spLocks/>
              </p:cNvSpPr>
              <p:nvPr/>
            </p:nvSpPr>
            <p:spPr bwMode="auto">
              <a:xfrm rot="3406287">
                <a:off x="5204" y="3146"/>
                <a:ext cx="56" cy="178"/>
              </a:xfrm>
              <a:custGeom>
                <a:avLst/>
                <a:gdLst>
                  <a:gd name="T0" fmla="*/ 25 w 106"/>
                  <a:gd name="T1" fmla="*/ 77 h 252"/>
                  <a:gd name="T2" fmla="*/ 29 w 106"/>
                  <a:gd name="T3" fmla="*/ 90 h 252"/>
                  <a:gd name="T4" fmla="*/ 31 w 106"/>
                  <a:gd name="T5" fmla="*/ 102 h 252"/>
                  <a:gd name="T6" fmla="*/ 33 w 106"/>
                  <a:gd name="T7" fmla="*/ 114 h 252"/>
                  <a:gd name="T8" fmla="*/ 34 w 106"/>
                  <a:gd name="T9" fmla="*/ 126 h 252"/>
                  <a:gd name="T10" fmla="*/ 37 w 106"/>
                  <a:gd name="T11" fmla="*/ 138 h 252"/>
                  <a:gd name="T12" fmla="*/ 40 w 106"/>
                  <a:gd name="T13" fmla="*/ 150 h 252"/>
                  <a:gd name="T14" fmla="*/ 42 w 106"/>
                  <a:gd name="T15" fmla="*/ 162 h 252"/>
                  <a:gd name="T16" fmla="*/ 46 w 106"/>
                  <a:gd name="T17" fmla="*/ 174 h 252"/>
                  <a:gd name="T18" fmla="*/ 47 w 106"/>
                  <a:gd name="T19" fmla="*/ 177 h 252"/>
                  <a:gd name="T20" fmla="*/ 49 w 106"/>
                  <a:gd name="T21" fmla="*/ 177 h 252"/>
                  <a:gd name="T22" fmla="*/ 50 w 106"/>
                  <a:gd name="T23" fmla="*/ 178 h 252"/>
                  <a:gd name="T24" fmla="*/ 53 w 106"/>
                  <a:gd name="T25" fmla="*/ 178 h 252"/>
                  <a:gd name="T26" fmla="*/ 54 w 106"/>
                  <a:gd name="T27" fmla="*/ 177 h 252"/>
                  <a:gd name="T28" fmla="*/ 55 w 106"/>
                  <a:gd name="T29" fmla="*/ 174 h 252"/>
                  <a:gd name="T30" fmla="*/ 56 w 106"/>
                  <a:gd name="T31" fmla="*/ 172 h 252"/>
                  <a:gd name="T32" fmla="*/ 55 w 106"/>
                  <a:gd name="T33" fmla="*/ 169 h 252"/>
                  <a:gd name="T34" fmla="*/ 52 w 106"/>
                  <a:gd name="T35" fmla="*/ 157 h 252"/>
                  <a:gd name="T36" fmla="*/ 50 w 106"/>
                  <a:gd name="T37" fmla="*/ 145 h 252"/>
                  <a:gd name="T38" fmla="*/ 47 w 106"/>
                  <a:gd name="T39" fmla="*/ 133 h 252"/>
                  <a:gd name="T40" fmla="*/ 45 w 106"/>
                  <a:gd name="T41" fmla="*/ 120 h 252"/>
                  <a:gd name="T42" fmla="*/ 43 w 106"/>
                  <a:gd name="T43" fmla="*/ 108 h 252"/>
                  <a:gd name="T44" fmla="*/ 41 w 106"/>
                  <a:gd name="T45" fmla="*/ 96 h 252"/>
                  <a:gd name="T46" fmla="*/ 38 w 106"/>
                  <a:gd name="T47" fmla="*/ 84 h 252"/>
                  <a:gd name="T48" fmla="*/ 34 w 106"/>
                  <a:gd name="T49" fmla="*/ 71 h 252"/>
                  <a:gd name="T50" fmla="*/ 32 w 106"/>
                  <a:gd name="T51" fmla="*/ 61 h 252"/>
                  <a:gd name="T52" fmla="*/ 28 w 106"/>
                  <a:gd name="T53" fmla="*/ 50 h 252"/>
                  <a:gd name="T54" fmla="*/ 24 w 106"/>
                  <a:gd name="T55" fmla="*/ 39 h 252"/>
                  <a:gd name="T56" fmla="*/ 18 w 106"/>
                  <a:gd name="T57" fmla="*/ 28 h 252"/>
                  <a:gd name="T58" fmla="*/ 14 w 106"/>
                  <a:gd name="T59" fmla="*/ 18 h 252"/>
                  <a:gd name="T60" fmla="*/ 10 w 106"/>
                  <a:gd name="T61" fmla="*/ 10 h 252"/>
                  <a:gd name="T62" fmla="*/ 5 w 106"/>
                  <a:gd name="T63" fmla="*/ 4 h 252"/>
                  <a:gd name="T64" fmla="*/ 2 w 106"/>
                  <a:gd name="T65" fmla="*/ 0 h 252"/>
                  <a:gd name="T66" fmla="*/ 0 w 106"/>
                  <a:gd name="T67" fmla="*/ 4 h 252"/>
                  <a:gd name="T68" fmla="*/ 1 w 106"/>
                  <a:gd name="T69" fmla="*/ 10 h 252"/>
                  <a:gd name="T70" fmla="*/ 4 w 106"/>
                  <a:gd name="T71" fmla="*/ 19 h 252"/>
                  <a:gd name="T72" fmla="*/ 8 w 106"/>
                  <a:gd name="T73" fmla="*/ 30 h 252"/>
                  <a:gd name="T74" fmla="*/ 13 w 106"/>
                  <a:gd name="T75" fmla="*/ 42 h 252"/>
                  <a:gd name="T76" fmla="*/ 17 w 106"/>
                  <a:gd name="T77" fmla="*/ 54 h 252"/>
                  <a:gd name="T78" fmla="*/ 22 w 106"/>
                  <a:gd name="T79" fmla="*/ 66 h 252"/>
                  <a:gd name="T80" fmla="*/ 25 w 106"/>
                  <a:gd name="T81" fmla="*/ 77 h 25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06" h="252">
                    <a:moveTo>
                      <a:pt x="48" y="109"/>
                    </a:moveTo>
                    <a:lnTo>
                      <a:pt x="54" y="127"/>
                    </a:lnTo>
                    <a:lnTo>
                      <a:pt x="58" y="144"/>
                    </a:lnTo>
                    <a:lnTo>
                      <a:pt x="62" y="161"/>
                    </a:lnTo>
                    <a:lnTo>
                      <a:pt x="65" y="178"/>
                    </a:lnTo>
                    <a:lnTo>
                      <a:pt x="70" y="196"/>
                    </a:lnTo>
                    <a:lnTo>
                      <a:pt x="75" y="213"/>
                    </a:lnTo>
                    <a:lnTo>
                      <a:pt x="80" y="230"/>
                    </a:lnTo>
                    <a:lnTo>
                      <a:pt x="87" y="246"/>
                    </a:lnTo>
                    <a:lnTo>
                      <a:pt x="89" y="250"/>
                    </a:lnTo>
                    <a:lnTo>
                      <a:pt x="92" y="251"/>
                    </a:lnTo>
                    <a:lnTo>
                      <a:pt x="95" y="252"/>
                    </a:lnTo>
                    <a:lnTo>
                      <a:pt x="100" y="252"/>
                    </a:lnTo>
                    <a:lnTo>
                      <a:pt x="103" y="250"/>
                    </a:lnTo>
                    <a:lnTo>
                      <a:pt x="104" y="246"/>
                    </a:lnTo>
                    <a:lnTo>
                      <a:pt x="106" y="243"/>
                    </a:lnTo>
                    <a:lnTo>
                      <a:pt x="104" y="239"/>
                    </a:lnTo>
                    <a:lnTo>
                      <a:pt x="99" y="222"/>
                    </a:lnTo>
                    <a:lnTo>
                      <a:pt x="94" y="205"/>
                    </a:lnTo>
                    <a:lnTo>
                      <a:pt x="89" y="188"/>
                    </a:lnTo>
                    <a:lnTo>
                      <a:pt x="86" y="170"/>
                    </a:lnTo>
                    <a:lnTo>
                      <a:pt x="81" y="153"/>
                    </a:lnTo>
                    <a:lnTo>
                      <a:pt x="77" y="136"/>
                    </a:lnTo>
                    <a:lnTo>
                      <a:pt x="71" y="119"/>
                    </a:lnTo>
                    <a:lnTo>
                      <a:pt x="65" y="101"/>
                    </a:lnTo>
                    <a:lnTo>
                      <a:pt x="60" y="86"/>
                    </a:lnTo>
                    <a:lnTo>
                      <a:pt x="53" y="71"/>
                    </a:lnTo>
                    <a:lnTo>
                      <a:pt x="45" y="55"/>
                    </a:lnTo>
                    <a:lnTo>
                      <a:pt x="35" y="40"/>
                    </a:lnTo>
                    <a:lnTo>
                      <a:pt x="27" y="25"/>
                    </a:lnTo>
                    <a:lnTo>
                      <a:pt x="18" y="14"/>
                    </a:lnTo>
                    <a:lnTo>
                      <a:pt x="10" y="5"/>
                    </a:lnTo>
                    <a:lnTo>
                      <a:pt x="3" y="0"/>
                    </a:lnTo>
                    <a:lnTo>
                      <a:pt x="0" y="5"/>
                    </a:lnTo>
                    <a:lnTo>
                      <a:pt x="2" y="14"/>
                    </a:lnTo>
                    <a:lnTo>
                      <a:pt x="7" y="27"/>
                    </a:lnTo>
                    <a:lnTo>
                      <a:pt x="15" y="43"/>
                    </a:lnTo>
                    <a:lnTo>
                      <a:pt x="24" y="59"/>
                    </a:lnTo>
                    <a:lnTo>
                      <a:pt x="33" y="77"/>
                    </a:lnTo>
                    <a:lnTo>
                      <a:pt x="42" y="94"/>
                    </a:lnTo>
                    <a:lnTo>
                      <a:pt x="48"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0" name="Freeform 9"/>
              <p:cNvSpPr>
                <a:spLocks/>
              </p:cNvSpPr>
              <p:nvPr/>
            </p:nvSpPr>
            <p:spPr bwMode="auto">
              <a:xfrm rot="3406287">
                <a:off x="5290" y="3216"/>
                <a:ext cx="60" cy="148"/>
              </a:xfrm>
              <a:custGeom>
                <a:avLst/>
                <a:gdLst>
                  <a:gd name="T0" fmla="*/ 6 w 110"/>
                  <a:gd name="T1" fmla="*/ 28 h 208"/>
                  <a:gd name="T2" fmla="*/ 11 w 110"/>
                  <a:gd name="T3" fmla="*/ 43 h 208"/>
                  <a:gd name="T4" fmla="*/ 17 w 110"/>
                  <a:gd name="T5" fmla="*/ 56 h 208"/>
                  <a:gd name="T6" fmla="*/ 23 w 110"/>
                  <a:gd name="T7" fmla="*/ 71 h 208"/>
                  <a:gd name="T8" fmla="*/ 29 w 110"/>
                  <a:gd name="T9" fmla="*/ 85 h 208"/>
                  <a:gd name="T10" fmla="*/ 35 w 110"/>
                  <a:gd name="T11" fmla="*/ 100 h 208"/>
                  <a:gd name="T12" fmla="*/ 40 w 110"/>
                  <a:gd name="T13" fmla="*/ 114 h 208"/>
                  <a:gd name="T14" fmla="*/ 46 w 110"/>
                  <a:gd name="T15" fmla="*/ 130 h 208"/>
                  <a:gd name="T16" fmla="*/ 50 w 110"/>
                  <a:gd name="T17" fmla="*/ 144 h 208"/>
                  <a:gd name="T18" fmla="*/ 51 w 110"/>
                  <a:gd name="T19" fmla="*/ 147 h 208"/>
                  <a:gd name="T20" fmla="*/ 52 w 110"/>
                  <a:gd name="T21" fmla="*/ 147 h 208"/>
                  <a:gd name="T22" fmla="*/ 55 w 110"/>
                  <a:gd name="T23" fmla="*/ 148 h 208"/>
                  <a:gd name="T24" fmla="*/ 57 w 110"/>
                  <a:gd name="T25" fmla="*/ 148 h 208"/>
                  <a:gd name="T26" fmla="*/ 59 w 110"/>
                  <a:gd name="T27" fmla="*/ 147 h 208"/>
                  <a:gd name="T28" fmla="*/ 59 w 110"/>
                  <a:gd name="T29" fmla="*/ 144 h 208"/>
                  <a:gd name="T30" fmla="*/ 60 w 110"/>
                  <a:gd name="T31" fmla="*/ 142 h 208"/>
                  <a:gd name="T32" fmla="*/ 59 w 110"/>
                  <a:gd name="T33" fmla="*/ 139 h 208"/>
                  <a:gd name="T34" fmla="*/ 55 w 110"/>
                  <a:gd name="T35" fmla="*/ 119 h 208"/>
                  <a:gd name="T36" fmla="*/ 47 w 110"/>
                  <a:gd name="T37" fmla="*/ 97 h 208"/>
                  <a:gd name="T38" fmla="*/ 38 w 110"/>
                  <a:gd name="T39" fmla="*/ 73 h 208"/>
                  <a:gd name="T40" fmla="*/ 29 w 110"/>
                  <a:gd name="T41" fmla="*/ 52 h 208"/>
                  <a:gd name="T42" fmla="*/ 20 w 110"/>
                  <a:gd name="T43" fmla="*/ 33 h 208"/>
                  <a:gd name="T44" fmla="*/ 11 w 110"/>
                  <a:gd name="T45" fmla="*/ 17 h 208"/>
                  <a:gd name="T46" fmla="*/ 5 w 110"/>
                  <a:gd name="T47" fmla="*/ 6 h 208"/>
                  <a:gd name="T48" fmla="*/ 2 w 110"/>
                  <a:gd name="T49" fmla="*/ 0 h 208"/>
                  <a:gd name="T50" fmla="*/ 0 w 110"/>
                  <a:gd name="T51" fmla="*/ 2 h 208"/>
                  <a:gd name="T52" fmla="*/ 1 w 110"/>
                  <a:gd name="T53" fmla="*/ 10 h 208"/>
                  <a:gd name="T54" fmla="*/ 4 w 110"/>
                  <a:gd name="T55" fmla="*/ 19 h 208"/>
                  <a:gd name="T56" fmla="*/ 6 w 110"/>
                  <a:gd name="T57" fmla="*/ 28 h 2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10" h="208">
                    <a:moveTo>
                      <a:pt x="11" y="39"/>
                    </a:moveTo>
                    <a:lnTo>
                      <a:pt x="21" y="60"/>
                    </a:lnTo>
                    <a:lnTo>
                      <a:pt x="32" y="79"/>
                    </a:lnTo>
                    <a:lnTo>
                      <a:pt x="43" y="100"/>
                    </a:lnTo>
                    <a:lnTo>
                      <a:pt x="54" y="119"/>
                    </a:lnTo>
                    <a:lnTo>
                      <a:pt x="64" y="140"/>
                    </a:lnTo>
                    <a:lnTo>
                      <a:pt x="74" y="160"/>
                    </a:lnTo>
                    <a:lnTo>
                      <a:pt x="84" y="182"/>
                    </a:lnTo>
                    <a:lnTo>
                      <a:pt x="92" y="202"/>
                    </a:lnTo>
                    <a:lnTo>
                      <a:pt x="94" y="206"/>
                    </a:lnTo>
                    <a:lnTo>
                      <a:pt x="96" y="207"/>
                    </a:lnTo>
                    <a:lnTo>
                      <a:pt x="100" y="208"/>
                    </a:lnTo>
                    <a:lnTo>
                      <a:pt x="104" y="208"/>
                    </a:lnTo>
                    <a:lnTo>
                      <a:pt x="108" y="206"/>
                    </a:lnTo>
                    <a:lnTo>
                      <a:pt x="109" y="202"/>
                    </a:lnTo>
                    <a:lnTo>
                      <a:pt x="110" y="199"/>
                    </a:lnTo>
                    <a:lnTo>
                      <a:pt x="109" y="195"/>
                    </a:lnTo>
                    <a:lnTo>
                      <a:pt x="100" y="167"/>
                    </a:lnTo>
                    <a:lnTo>
                      <a:pt x="86" y="136"/>
                    </a:lnTo>
                    <a:lnTo>
                      <a:pt x="70" y="103"/>
                    </a:lnTo>
                    <a:lnTo>
                      <a:pt x="53" y="73"/>
                    </a:lnTo>
                    <a:lnTo>
                      <a:pt x="36" y="46"/>
                    </a:lnTo>
                    <a:lnTo>
                      <a:pt x="21" y="24"/>
                    </a:lnTo>
                    <a:lnTo>
                      <a:pt x="10" y="8"/>
                    </a:lnTo>
                    <a:lnTo>
                      <a:pt x="3" y="0"/>
                    </a:lnTo>
                    <a:lnTo>
                      <a:pt x="0" y="3"/>
                    </a:lnTo>
                    <a:lnTo>
                      <a:pt x="1" y="14"/>
                    </a:lnTo>
                    <a:lnTo>
                      <a:pt x="7" y="27"/>
                    </a:lnTo>
                    <a:lnTo>
                      <a:pt x="11"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1" name="Freeform 10"/>
              <p:cNvSpPr>
                <a:spLocks/>
              </p:cNvSpPr>
              <p:nvPr/>
            </p:nvSpPr>
            <p:spPr bwMode="auto">
              <a:xfrm rot="3406287">
                <a:off x="5196" y="3321"/>
                <a:ext cx="71" cy="44"/>
              </a:xfrm>
              <a:custGeom>
                <a:avLst/>
                <a:gdLst>
                  <a:gd name="T0" fmla="*/ 66 w 135"/>
                  <a:gd name="T1" fmla="*/ 14 h 64"/>
                  <a:gd name="T2" fmla="*/ 68 w 135"/>
                  <a:gd name="T3" fmla="*/ 14 h 64"/>
                  <a:gd name="T4" fmla="*/ 69 w 135"/>
                  <a:gd name="T5" fmla="*/ 12 h 64"/>
                  <a:gd name="T6" fmla="*/ 70 w 135"/>
                  <a:gd name="T7" fmla="*/ 10 h 64"/>
                  <a:gd name="T8" fmla="*/ 71 w 135"/>
                  <a:gd name="T9" fmla="*/ 8 h 64"/>
                  <a:gd name="T10" fmla="*/ 70 w 135"/>
                  <a:gd name="T11" fmla="*/ 5 h 64"/>
                  <a:gd name="T12" fmla="*/ 69 w 135"/>
                  <a:gd name="T13" fmla="*/ 3 h 64"/>
                  <a:gd name="T14" fmla="*/ 68 w 135"/>
                  <a:gd name="T15" fmla="*/ 2 h 64"/>
                  <a:gd name="T16" fmla="*/ 65 w 135"/>
                  <a:gd name="T17" fmla="*/ 1 h 64"/>
                  <a:gd name="T18" fmla="*/ 57 w 135"/>
                  <a:gd name="T19" fmla="*/ 0 h 64"/>
                  <a:gd name="T20" fmla="*/ 48 w 135"/>
                  <a:gd name="T21" fmla="*/ 3 h 64"/>
                  <a:gd name="T22" fmla="*/ 38 w 135"/>
                  <a:gd name="T23" fmla="*/ 8 h 64"/>
                  <a:gd name="T24" fmla="*/ 29 w 135"/>
                  <a:gd name="T25" fmla="*/ 14 h 64"/>
                  <a:gd name="T26" fmla="*/ 21 w 135"/>
                  <a:gd name="T27" fmla="*/ 21 h 64"/>
                  <a:gd name="T28" fmla="*/ 13 w 135"/>
                  <a:gd name="T29" fmla="*/ 29 h 64"/>
                  <a:gd name="T30" fmla="*/ 5 w 135"/>
                  <a:gd name="T31" fmla="*/ 36 h 64"/>
                  <a:gd name="T32" fmla="*/ 0 w 135"/>
                  <a:gd name="T33" fmla="*/ 42 h 64"/>
                  <a:gd name="T34" fmla="*/ 3 w 135"/>
                  <a:gd name="T35" fmla="*/ 44 h 64"/>
                  <a:gd name="T36" fmla="*/ 8 w 135"/>
                  <a:gd name="T37" fmla="*/ 42 h 64"/>
                  <a:gd name="T38" fmla="*/ 16 w 135"/>
                  <a:gd name="T39" fmla="*/ 39 h 64"/>
                  <a:gd name="T40" fmla="*/ 25 w 135"/>
                  <a:gd name="T41" fmla="*/ 32 h 64"/>
                  <a:gd name="T42" fmla="*/ 36 w 135"/>
                  <a:gd name="T43" fmla="*/ 25 h 64"/>
                  <a:gd name="T44" fmla="*/ 46 w 135"/>
                  <a:gd name="T45" fmla="*/ 20 h 64"/>
                  <a:gd name="T46" fmla="*/ 56 w 135"/>
                  <a:gd name="T47" fmla="*/ 16 h 64"/>
                  <a:gd name="T48" fmla="*/ 66 w 135"/>
                  <a:gd name="T49" fmla="*/ 14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5" h="64">
                    <a:moveTo>
                      <a:pt x="125" y="21"/>
                    </a:moveTo>
                    <a:lnTo>
                      <a:pt x="129" y="20"/>
                    </a:lnTo>
                    <a:lnTo>
                      <a:pt x="132" y="18"/>
                    </a:lnTo>
                    <a:lnTo>
                      <a:pt x="134" y="14"/>
                    </a:lnTo>
                    <a:lnTo>
                      <a:pt x="135" y="11"/>
                    </a:lnTo>
                    <a:lnTo>
                      <a:pt x="134" y="7"/>
                    </a:lnTo>
                    <a:lnTo>
                      <a:pt x="132" y="4"/>
                    </a:lnTo>
                    <a:lnTo>
                      <a:pt x="129" y="3"/>
                    </a:lnTo>
                    <a:lnTo>
                      <a:pt x="124" y="2"/>
                    </a:lnTo>
                    <a:lnTo>
                      <a:pt x="108" y="0"/>
                    </a:lnTo>
                    <a:lnTo>
                      <a:pt x="91" y="4"/>
                    </a:lnTo>
                    <a:lnTo>
                      <a:pt x="72" y="11"/>
                    </a:lnTo>
                    <a:lnTo>
                      <a:pt x="55" y="20"/>
                    </a:lnTo>
                    <a:lnTo>
                      <a:pt x="39" y="30"/>
                    </a:lnTo>
                    <a:lnTo>
                      <a:pt x="24" y="42"/>
                    </a:lnTo>
                    <a:lnTo>
                      <a:pt x="10" y="52"/>
                    </a:lnTo>
                    <a:lnTo>
                      <a:pt x="0" y="61"/>
                    </a:lnTo>
                    <a:lnTo>
                      <a:pt x="6" y="64"/>
                    </a:lnTo>
                    <a:lnTo>
                      <a:pt x="16" y="61"/>
                    </a:lnTo>
                    <a:lnTo>
                      <a:pt x="31" y="56"/>
                    </a:lnTo>
                    <a:lnTo>
                      <a:pt x="48" y="46"/>
                    </a:lnTo>
                    <a:lnTo>
                      <a:pt x="68" y="37"/>
                    </a:lnTo>
                    <a:lnTo>
                      <a:pt x="87" y="29"/>
                    </a:lnTo>
                    <a:lnTo>
                      <a:pt x="107" y="23"/>
                    </a:lnTo>
                    <a:lnTo>
                      <a:pt x="125"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2" name="Freeform 11"/>
              <p:cNvSpPr>
                <a:spLocks/>
              </p:cNvSpPr>
              <p:nvPr/>
            </p:nvSpPr>
            <p:spPr bwMode="auto">
              <a:xfrm rot="3406287">
                <a:off x="5281" y="3196"/>
                <a:ext cx="60" cy="67"/>
              </a:xfrm>
              <a:custGeom>
                <a:avLst/>
                <a:gdLst>
                  <a:gd name="T0" fmla="*/ 6 w 112"/>
                  <a:gd name="T1" fmla="*/ 67 h 94"/>
                  <a:gd name="T2" fmla="*/ 13 w 112"/>
                  <a:gd name="T3" fmla="*/ 66 h 94"/>
                  <a:gd name="T4" fmla="*/ 20 w 112"/>
                  <a:gd name="T5" fmla="*/ 63 h 94"/>
                  <a:gd name="T6" fmla="*/ 28 w 112"/>
                  <a:gd name="T7" fmla="*/ 60 h 94"/>
                  <a:gd name="T8" fmla="*/ 35 w 112"/>
                  <a:gd name="T9" fmla="*/ 55 h 94"/>
                  <a:gd name="T10" fmla="*/ 42 w 112"/>
                  <a:gd name="T11" fmla="*/ 50 h 94"/>
                  <a:gd name="T12" fmla="*/ 49 w 112"/>
                  <a:gd name="T13" fmla="*/ 44 h 94"/>
                  <a:gd name="T14" fmla="*/ 56 w 112"/>
                  <a:gd name="T15" fmla="*/ 39 h 94"/>
                  <a:gd name="T16" fmla="*/ 60 w 112"/>
                  <a:gd name="T17" fmla="*/ 35 h 94"/>
                  <a:gd name="T18" fmla="*/ 60 w 112"/>
                  <a:gd name="T19" fmla="*/ 30 h 94"/>
                  <a:gd name="T20" fmla="*/ 59 w 112"/>
                  <a:gd name="T21" fmla="*/ 24 h 94"/>
                  <a:gd name="T22" fmla="*/ 57 w 112"/>
                  <a:gd name="T23" fmla="*/ 18 h 94"/>
                  <a:gd name="T24" fmla="*/ 54 w 112"/>
                  <a:gd name="T25" fmla="*/ 12 h 94"/>
                  <a:gd name="T26" fmla="*/ 50 w 112"/>
                  <a:gd name="T27" fmla="*/ 7 h 94"/>
                  <a:gd name="T28" fmla="*/ 47 w 112"/>
                  <a:gd name="T29" fmla="*/ 3 h 94"/>
                  <a:gd name="T30" fmla="*/ 44 w 112"/>
                  <a:gd name="T31" fmla="*/ 1 h 94"/>
                  <a:gd name="T32" fmla="*/ 41 w 112"/>
                  <a:gd name="T33" fmla="*/ 0 h 94"/>
                  <a:gd name="T34" fmla="*/ 34 w 112"/>
                  <a:gd name="T35" fmla="*/ 2 h 94"/>
                  <a:gd name="T36" fmla="*/ 29 w 112"/>
                  <a:gd name="T37" fmla="*/ 6 h 94"/>
                  <a:gd name="T38" fmla="*/ 26 w 112"/>
                  <a:gd name="T39" fmla="*/ 8 h 94"/>
                  <a:gd name="T40" fmla="*/ 25 w 112"/>
                  <a:gd name="T41" fmla="*/ 10 h 94"/>
                  <a:gd name="T42" fmla="*/ 26 w 112"/>
                  <a:gd name="T43" fmla="*/ 12 h 94"/>
                  <a:gd name="T44" fmla="*/ 28 w 112"/>
                  <a:gd name="T45" fmla="*/ 13 h 94"/>
                  <a:gd name="T46" fmla="*/ 29 w 112"/>
                  <a:gd name="T47" fmla="*/ 13 h 94"/>
                  <a:gd name="T48" fmla="*/ 30 w 112"/>
                  <a:gd name="T49" fmla="*/ 13 h 94"/>
                  <a:gd name="T50" fmla="*/ 32 w 112"/>
                  <a:gd name="T51" fmla="*/ 12 h 94"/>
                  <a:gd name="T52" fmla="*/ 35 w 112"/>
                  <a:gd name="T53" fmla="*/ 10 h 94"/>
                  <a:gd name="T54" fmla="*/ 38 w 112"/>
                  <a:gd name="T55" fmla="*/ 9 h 94"/>
                  <a:gd name="T56" fmla="*/ 39 w 112"/>
                  <a:gd name="T57" fmla="*/ 8 h 94"/>
                  <a:gd name="T58" fmla="*/ 41 w 112"/>
                  <a:gd name="T59" fmla="*/ 10 h 94"/>
                  <a:gd name="T60" fmla="*/ 44 w 112"/>
                  <a:gd name="T61" fmla="*/ 17 h 94"/>
                  <a:gd name="T62" fmla="*/ 48 w 112"/>
                  <a:gd name="T63" fmla="*/ 26 h 94"/>
                  <a:gd name="T64" fmla="*/ 48 w 112"/>
                  <a:gd name="T65" fmla="*/ 35 h 94"/>
                  <a:gd name="T66" fmla="*/ 43 w 112"/>
                  <a:gd name="T67" fmla="*/ 37 h 94"/>
                  <a:gd name="T68" fmla="*/ 38 w 112"/>
                  <a:gd name="T69" fmla="*/ 41 h 94"/>
                  <a:gd name="T70" fmla="*/ 32 w 112"/>
                  <a:gd name="T71" fmla="*/ 43 h 94"/>
                  <a:gd name="T72" fmla="*/ 25 w 112"/>
                  <a:gd name="T73" fmla="*/ 46 h 94"/>
                  <a:gd name="T74" fmla="*/ 18 w 112"/>
                  <a:gd name="T75" fmla="*/ 50 h 94"/>
                  <a:gd name="T76" fmla="*/ 13 w 112"/>
                  <a:gd name="T77" fmla="*/ 51 h 94"/>
                  <a:gd name="T78" fmla="*/ 9 w 112"/>
                  <a:gd name="T79" fmla="*/ 53 h 94"/>
                  <a:gd name="T80" fmla="*/ 8 w 112"/>
                  <a:gd name="T81" fmla="*/ 53 h 94"/>
                  <a:gd name="T82" fmla="*/ 7 w 112"/>
                  <a:gd name="T83" fmla="*/ 53 h 94"/>
                  <a:gd name="T84" fmla="*/ 6 w 112"/>
                  <a:gd name="T85" fmla="*/ 50 h 94"/>
                  <a:gd name="T86" fmla="*/ 5 w 112"/>
                  <a:gd name="T87" fmla="*/ 47 h 94"/>
                  <a:gd name="T88" fmla="*/ 4 w 112"/>
                  <a:gd name="T89" fmla="*/ 46 h 94"/>
                  <a:gd name="T90" fmla="*/ 0 w 112"/>
                  <a:gd name="T91" fmla="*/ 53 h 94"/>
                  <a:gd name="T92" fmla="*/ 1 w 112"/>
                  <a:gd name="T93" fmla="*/ 61 h 94"/>
                  <a:gd name="T94" fmla="*/ 4 w 112"/>
                  <a:gd name="T95" fmla="*/ 66 h 94"/>
                  <a:gd name="T96" fmla="*/ 6 w 112"/>
                  <a:gd name="T97" fmla="*/ 67 h 9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12" h="94">
                    <a:moveTo>
                      <a:pt x="11" y="94"/>
                    </a:moveTo>
                    <a:lnTo>
                      <a:pt x="24" y="93"/>
                    </a:lnTo>
                    <a:lnTo>
                      <a:pt x="37" y="89"/>
                    </a:lnTo>
                    <a:lnTo>
                      <a:pt x="52" y="84"/>
                    </a:lnTo>
                    <a:lnTo>
                      <a:pt x="66" y="77"/>
                    </a:lnTo>
                    <a:lnTo>
                      <a:pt x="79" y="70"/>
                    </a:lnTo>
                    <a:lnTo>
                      <a:pt x="92" y="62"/>
                    </a:lnTo>
                    <a:lnTo>
                      <a:pt x="104" y="55"/>
                    </a:lnTo>
                    <a:lnTo>
                      <a:pt x="112" y="49"/>
                    </a:lnTo>
                    <a:lnTo>
                      <a:pt x="112" y="42"/>
                    </a:lnTo>
                    <a:lnTo>
                      <a:pt x="111" y="34"/>
                    </a:lnTo>
                    <a:lnTo>
                      <a:pt x="106" y="25"/>
                    </a:lnTo>
                    <a:lnTo>
                      <a:pt x="101" y="17"/>
                    </a:lnTo>
                    <a:lnTo>
                      <a:pt x="94" y="10"/>
                    </a:lnTo>
                    <a:lnTo>
                      <a:pt x="87" y="4"/>
                    </a:lnTo>
                    <a:lnTo>
                      <a:pt x="82" y="1"/>
                    </a:lnTo>
                    <a:lnTo>
                      <a:pt x="76" y="0"/>
                    </a:lnTo>
                    <a:lnTo>
                      <a:pt x="64" y="3"/>
                    </a:lnTo>
                    <a:lnTo>
                      <a:pt x="55" y="8"/>
                    </a:lnTo>
                    <a:lnTo>
                      <a:pt x="49" y="11"/>
                    </a:lnTo>
                    <a:lnTo>
                      <a:pt x="47" y="14"/>
                    </a:lnTo>
                    <a:lnTo>
                      <a:pt x="49" y="17"/>
                    </a:lnTo>
                    <a:lnTo>
                      <a:pt x="53" y="18"/>
                    </a:lnTo>
                    <a:lnTo>
                      <a:pt x="55" y="18"/>
                    </a:lnTo>
                    <a:lnTo>
                      <a:pt x="56" y="18"/>
                    </a:lnTo>
                    <a:lnTo>
                      <a:pt x="60" y="17"/>
                    </a:lnTo>
                    <a:lnTo>
                      <a:pt x="66" y="14"/>
                    </a:lnTo>
                    <a:lnTo>
                      <a:pt x="70" y="12"/>
                    </a:lnTo>
                    <a:lnTo>
                      <a:pt x="72" y="11"/>
                    </a:lnTo>
                    <a:lnTo>
                      <a:pt x="76" y="14"/>
                    </a:lnTo>
                    <a:lnTo>
                      <a:pt x="83" y="24"/>
                    </a:lnTo>
                    <a:lnTo>
                      <a:pt x="89" y="36"/>
                    </a:lnTo>
                    <a:lnTo>
                      <a:pt x="89" y="49"/>
                    </a:lnTo>
                    <a:lnTo>
                      <a:pt x="81" y="52"/>
                    </a:lnTo>
                    <a:lnTo>
                      <a:pt x="70" y="57"/>
                    </a:lnTo>
                    <a:lnTo>
                      <a:pt x="59" y="61"/>
                    </a:lnTo>
                    <a:lnTo>
                      <a:pt x="46" y="65"/>
                    </a:lnTo>
                    <a:lnTo>
                      <a:pt x="33" y="70"/>
                    </a:lnTo>
                    <a:lnTo>
                      <a:pt x="24" y="72"/>
                    </a:lnTo>
                    <a:lnTo>
                      <a:pt x="17" y="74"/>
                    </a:lnTo>
                    <a:lnTo>
                      <a:pt x="14" y="75"/>
                    </a:lnTo>
                    <a:lnTo>
                      <a:pt x="13" y="74"/>
                    </a:lnTo>
                    <a:lnTo>
                      <a:pt x="11" y="70"/>
                    </a:lnTo>
                    <a:lnTo>
                      <a:pt x="9" y="66"/>
                    </a:lnTo>
                    <a:lnTo>
                      <a:pt x="7" y="65"/>
                    </a:lnTo>
                    <a:lnTo>
                      <a:pt x="0" y="75"/>
                    </a:lnTo>
                    <a:lnTo>
                      <a:pt x="2" y="85"/>
                    </a:lnTo>
                    <a:lnTo>
                      <a:pt x="8" y="92"/>
                    </a:lnTo>
                    <a:lnTo>
                      <a:pt x="1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3" name="Freeform 12"/>
              <p:cNvSpPr>
                <a:spLocks/>
              </p:cNvSpPr>
              <p:nvPr/>
            </p:nvSpPr>
            <p:spPr bwMode="auto">
              <a:xfrm rot="3406287">
                <a:off x="5272" y="3305"/>
                <a:ext cx="43" cy="137"/>
              </a:xfrm>
              <a:custGeom>
                <a:avLst/>
                <a:gdLst>
                  <a:gd name="T0" fmla="*/ 7 w 81"/>
                  <a:gd name="T1" fmla="*/ 1 h 195"/>
                  <a:gd name="T2" fmla="*/ 10 w 81"/>
                  <a:gd name="T3" fmla="*/ 15 h 195"/>
                  <a:gd name="T4" fmla="*/ 13 w 81"/>
                  <a:gd name="T5" fmla="*/ 32 h 195"/>
                  <a:gd name="T6" fmla="*/ 16 w 81"/>
                  <a:gd name="T7" fmla="*/ 51 h 195"/>
                  <a:gd name="T8" fmla="*/ 20 w 81"/>
                  <a:gd name="T9" fmla="*/ 67 h 195"/>
                  <a:gd name="T10" fmla="*/ 23 w 81"/>
                  <a:gd name="T11" fmla="*/ 84 h 195"/>
                  <a:gd name="T12" fmla="*/ 25 w 81"/>
                  <a:gd name="T13" fmla="*/ 96 h 195"/>
                  <a:gd name="T14" fmla="*/ 27 w 81"/>
                  <a:gd name="T15" fmla="*/ 105 h 195"/>
                  <a:gd name="T16" fmla="*/ 28 w 81"/>
                  <a:gd name="T17" fmla="*/ 107 h 195"/>
                  <a:gd name="T18" fmla="*/ 27 w 81"/>
                  <a:gd name="T19" fmla="*/ 107 h 195"/>
                  <a:gd name="T20" fmla="*/ 24 w 81"/>
                  <a:gd name="T21" fmla="*/ 108 h 195"/>
                  <a:gd name="T22" fmla="*/ 22 w 81"/>
                  <a:gd name="T23" fmla="*/ 110 h 195"/>
                  <a:gd name="T24" fmla="*/ 19 w 81"/>
                  <a:gd name="T25" fmla="*/ 110 h 195"/>
                  <a:gd name="T26" fmla="*/ 15 w 81"/>
                  <a:gd name="T27" fmla="*/ 112 h 195"/>
                  <a:gd name="T28" fmla="*/ 11 w 81"/>
                  <a:gd name="T29" fmla="*/ 113 h 195"/>
                  <a:gd name="T30" fmla="*/ 7 w 81"/>
                  <a:gd name="T31" fmla="*/ 116 h 195"/>
                  <a:gd name="T32" fmla="*/ 5 w 81"/>
                  <a:gd name="T33" fmla="*/ 118 h 195"/>
                  <a:gd name="T34" fmla="*/ 3 w 81"/>
                  <a:gd name="T35" fmla="*/ 120 h 195"/>
                  <a:gd name="T36" fmla="*/ 1 w 81"/>
                  <a:gd name="T37" fmla="*/ 123 h 195"/>
                  <a:gd name="T38" fmla="*/ 0 w 81"/>
                  <a:gd name="T39" fmla="*/ 126 h 195"/>
                  <a:gd name="T40" fmla="*/ 0 w 81"/>
                  <a:gd name="T41" fmla="*/ 130 h 195"/>
                  <a:gd name="T42" fmla="*/ 2 w 81"/>
                  <a:gd name="T43" fmla="*/ 133 h 195"/>
                  <a:gd name="T44" fmla="*/ 4 w 81"/>
                  <a:gd name="T45" fmla="*/ 136 h 195"/>
                  <a:gd name="T46" fmla="*/ 6 w 81"/>
                  <a:gd name="T47" fmla="*/ 137 h 195"/>
                  <a:gd name="T48" fmla="*/ 10 w 81"/>
                  <a:gd name="T49" fmla="*/ 137 h 195"/>
                  <a:gd name="T50" fmla="*/ 11 w 81"/>
                  <a:gd name="T51" fmla="*/ 137 h 195"/>
                  <a:gd name="T52" fmla="*/ 15 w 81"/>
                  <a:gd name="T53" fmla="*/ 136 h 195"/>
                  <a:gd name="T54" fmla="*/ 20 w 81"/>
                  <a:gd name="T55" fmla="*/ 134 h 195"/>
                  <a:gd name="T56" fmla="*/ 25 w 81"/>
                  <a:gd name="T57" fmla="*/ 133 h 195"/>
                  <a:gd name="T58" fmla="*/ 31 w 81"/>
                  <a:gd name="T59" fmla="*/ 130 h 195"/>
                  <a:gd name="T60" fmla="*/ 36 w 81"/>
                  <a:gd name="T61" fmla="*/ 127 h 195"/>
                  <a:gd name="T62" fmla="*/ 40 w 81"/>
                  <a:gd name="T63" fmla="*/ 123 h 195"/>
                  <a:gd name="T64" fmla="*/ 42 w 81"/>
                  <a:gd name="T65" fmla="*/ 118 h 195"/>
                  <a:gd name="T66" fmla="*/ 43 w 81"/>
                  <a:gd name="T67" fmla="*/ 105 h 195"/>
                  <a:gd name="T68" fmla="*/ 39 w 81"/>
                  <a:gd name="T69" fmla="*/ 89 h 195"/>
                  <a:gd name="T70" fmla="*/ 34 w 81"/>
                  <a:gd name="T71" fmla="*/ 74 h 195"/>
                  <a:gd name="T72" fmla="*/ 31 w 81"/>
                  <a:gd name="T73" fmla="*/ 64 h 195"/>
                  <a:gd name="T74" fmla="*/ 29 w 81"/>
                  <a:gd name="T75" fmla="*/ 55 h 195"/>
                  <a:gd name="T76" fmla="*/ 27 w 81"/>
                  <a:gd name="T77" fmla="*/ 47 h 195"/>
                  <a:gd name="T78" fmla="*/ 24 w 81"/>
                  <a:gd name="T79" fmla="*/ 39 h 195"/>
                  <a:gd name="T80" fmla="*/ 22 w 81"/>
                  <a:gd name="T81" fmla="*/ 31 h 195"/>
                  <a:gd name="T82" fmla="*/ 19 w 81"/>
                  <a:gd name="T83" fmla="*/ 24 h 195"/>
                  <a:gd name="T84" fmla="*/ 16 w 81"/>
                  <a:gd name="T85" fmla="*/ 15 h 195"/>
                  <a:gd name="T86" fmla="*/ 14 w 81"/>
                  <a:gd name="T87" fmla="*/ 8 h 195"/>
                  <a:gd name="T88" fmla="*/ 11 w 81"/>
                  <a:gd name="T89" fmla="*/ 0 h 195"/>
                  <a:gd name="T90" fmla="*/ 10 w 81"/>
                  <a:gd name="T91" fmla="*/ 0 h 195"/>
                  <a:gd name="T92" fmla="*/ 10 w 81"/>
                  <a:gd name="T93" fmla="*/ 0 h 195"/>
                  <a:gd name="T94" fmla="*/ 8 w 81"/>
                  <a:gd name="T95" fmla="*/ 0 h 195"/>
                  <a:gd name="T96" fmla="*/ 7 w 81"/>
                  <a:gd name="T97" fmla="*/ 1 h 195"/>
                  <a:gd name="T98" fmla="*/ 7 w 81"/>
                  <a:gd name="T99" fmla="*/ 1 h 19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81" h="195">
                    <a:moveTo>
                      <a:pt x="14" y="1"/>
                    </a:moveTo>
                    <a:lnTo>
                      <a:pt x="19" y="22"/>
                    </a:lnTo>
                    <a:lnTo>
                      <a:pt x="24" y="46"/>
                    </a:lnTo>
                    <a:lnTo>
                      <a:pt x="30" y="72"/>
                    </a:lnTo>
                    <a:lnTo>
                      <a:pt x="37" y="96"/>
                    </a:lnTo>
                    <a:lnTo>
                      <a:pt x="43" y="119"/>
                    </a:lnTo>
                    <a:lnTo>
                      <a:pt x="48" y="137"/>
                    </a:lnTo>
                    <a:lnTo>
                      <a:pt x="51" y="149"/>
                    </a:lnTo>
                    <a:lnTo>
                      <a:pt x="52" y="153"/>
                    </a:lnTo>
                    <a:lnTo>
                      <a:pt x="51" y="153"/>
                    </a:lnTo>
                    <a:lnTo>
                      <a:pt x="46" y="154"/>
                    </a:lnTo>
                    <a:lnTo>
                      <a:pt x="42" y="156"/>
                    </a:lnTo>
                    <a:lnTo>
                      <a:pt x="35" y="157"/>
                    </a:lnTo>
                    <a:lnTo>
                      <a:pt x="28" y="159"/>
                    </a:lnTo>
                    <a:lnTo>
                      <a:pt x="21" y="161"/>
                    </a:lnTo>
                    <a:lnTo>
                      <a:pt x="14" y="165"/>
                    </a:lnTo>
                    <a:lnTo>
                      <a:pt x="9" y="168"/>
                    </a:lnTo>
                    <a:lnTo>
                      <a:pt x="5" y="171"/>
                    </a:lnTo>
                    <a:lnTo>
                      <a:pt x="1" y="175"/>
                    </a:lnTo>
                    <a:lnTo>
                      <a:pt x="0" y="180"/>
                    </a:lnTo>
                    <a:lnTo>
                      <a:pt x="0" y="185"/>
                    </a:lnTo>
                    <a:lnTo>
                      <a:pt x="3" y="190"/>
                    </a:lnTo>
                    <a:lnTo>
                      <a:pt x="7" y="194"/>
                    </a:lnTo>
                    <a:lnTo>
                      <a:pt x="12" y="195"/>
                    </a:lnTo>
                    <a:lnTo>
                      <a:pt x="18" y="195"/>
                    </a:lnTo>
                    <a:lnTo>
                      <a:pt x="21" y="195"/>
                    </a:lnTo>
                    <a:lnTo>
                      <a:pt x="28" y="194"/>
                    </a:lnTo>
                    <a:lnTo>
                      <a:pt x="37" y="191"/>
                    </a:lnTo>
                    <a:lnTo>
                      <a:pt x="48" y="189"/>
                    </a:lnTo>
                    <a:lnTo>
                      <a:pt x="58" y="185"/>
                    </a:lnTo>
                    <a:lnTo>
                      <a:pt x="67" y="181"/>
                    </a:lnTo>
                    <a:lnTo>
                      <a:pt x="75" y="175"/>
                    </a:lnTo>
                    <a:lnTo>
                      <a:pt x="80" y="168"/>
                    </a:lnTo>
                    <a:lnTo>
                      <a:pt x="81" y="149"/>
                    </a:lnTo>
                    <a:lnTo>
                      <a:pt x="74" y="126"/>
                    </a:lnTo>
                    <a:lnTo>
                      <a:pt x="64" y="106"/>
                    </a:lnTo>
                    <a:lnTo>
                      <a:pt x="58" y="91"/>
                    </a:lnTo>
                    <a:lnTo>
                      <a:pt x="54" y="78"/>
                    </a:lnTo>
                    <a:lnTo>
                      <a:pt x="50" y="67"/>
                    </a:lnTo>
                    <a:lnTo>
                      <a:pt x="45" y="55"/>
                    </a:lnTo>
                    <a:lnTo>
                      <a:pt x="41" y="44"/>
                    </a:lnTo>
                    <a:lnTo>
                      <a:pt x="36" y="34"/>
                    </a:lnTo>
                    <a:lnTo>
                      <a:pt x="30" y="22"/>
                    </a:lnTo>
                    <a:lnTo>
                      <a:pt x="26" y="12"/>
                    </a:lnTo>
                    <a:lnTo>
                      <a:pt x="20" y="0"/>
                    </a:lnTo>
                    <a:lnTo>
                      <a:pt x="19" y="0"/>
                    </a:lnTo>
                    <a:lnTo>
                      <a:pt x="18" y="0"/>
                    </a:lnTo>
                    <a:lnTo>
                      <a:pt x="15" y="0"/>
                    </a:lnTo>
                    <a:lnTo>
                      <a:pt x="14"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4" name="Freeform 13"/>
              <p:cNvSpPr>
                <a:spLocks/>
              </p:cNvSpPr>
              <p:nvPr/>
            </p:nvSpPr>
            <p:spPr bwMode="auto">
              <a:xfrm rot="3406287">
                <a:off x="5297" y="3385"/>
                <a:ext cx="15" cy="52"/>
              </a:xfrm>
              <a:custGeom>
                <a:avLst/>
                <a:gdLst>
                  <a:gd name="T0" fmla="*/ 7 w 29"/>
                  <a:gd name="T1" fmla="*/ 48 h 74"/>
                  <a:gd name="T2" fmla="*/ 7 w 29"/>
                  <a:gd name="T3" fmla="*/ 51 h 74"/>
                  <a:gd name="T4" fmla="*/ 8 w 29"/>
                  <a:gd name="T5" fmla="*/ 51 h 74"/>
                  <a:gd name="T6" fmla="*/ 10 w 29"/>
                  <a:gd name="T7" fmla="*/ 52 h 74"/>
                  <a:gd name="T8" fmla="*/ 11 w 29"/>
                  <a:gd name="T9" fmla="*/ 52 h 74"/>
                  <a:gd name="T10" fmla="*/ 13 w 29"/>
                  <a:gd name="T11" fmla="*/ 51 h 74"/>
                  <a:gd name="T12" fmla="*/ 14 w 29"/>
                  <a:gd name="T13" fmla="*/ 50 h 74"/>
                  <a:gd name="T14" fmla="*/ 15 w 29"/>
                  <a:gd name="T15" fmla="*/ 47 h 74"/>
                  <a:gd name="T16" fmla="*/ 15 w 29"/>
                  <a:gd name="T17" fmla="*/ 46 h 74"/>
                  <a:gd name="T18" fmla="*/ 12 w 29"/>
                  <a:gd name="T19" fmla="*/ 32 h 74"/>
                  <a:gd name="T20" fmla="*/ 8 w 29"/>
                  <a:gd name="T21" fmla="*/ 16 h 74"/>
                  <a:gd name="T22" fmla="*/ 4 w 29"/>
                  <a:gd name="T23" fmla="*/ 4 h 74"/>
                  <a:gd name="T24" fmla="*/ 1 w 29"/>
                  <a:gd name="T25" fmla="*/ 0 h 74"/>
                  <a:gd name="T26" fmla="*/ 0 w 29"/>
                  <a:gd name="T27" fmla="*/ 9 h 74"/>
                  <a:gd name="T28" fmla="*/ 1 w 29"/>
                  <a:gd name="T29" fmla="*/ 22 h 74"/>
                  <a:gd name="T30" fmla="*/ 4 w 29"/>
                  <a:gd name="T31" fmla="*/ 36 h 74"/>
                  <a:gd name="T32" fmla="*/ 7 w 29"/>
                  <a:gd name="T33" fmla="*/ 48 h 7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74">
                    <a:moveTo>
                      <a:pt x="13" y="69"/>
                    </a:moveTo>
                    <a:lnTo>
                      <a:pt x="14" y="72"/>
                    </a:lnTo>
                    <a:lnTo>
                      <a:pt x="16" y="73"/>
                    </a:lnTo>
                    <a:lnTo>
                      <a:pt x="20" y="74"/>
                    </a:lnTo>
                    <a:lnTo>
                      <a:pt x="22" y="74"/>
                    </a:lnTo>
                    <a:lnTo>
                      <a:pt x="25" y="73"/>
                    </a:lnTo>
                    <a:lnTo>
                      <a:pt x="28" y="71"/>
                    </a:lnTo>
                    <a:lnTo>
                      <a:pt x="29" y="67"/>
                    </a:lnTo>
                    <a:lnTo>
                      <a:pt x="29" y="65"/>
                    </a:lnTo>
                    <a:lnTo>
                      <a:pt x="23" y="45"/>
                    </a:lnTo>
                    <a:lnTo>
                      <a:pt x="16" y="23"/>
                    </a:lnTo>
                    <a:lnTo>
                      <a:pt x="8" y="6"/>
                    </a:lnTo>
                    <a:lnTo>
                      <a:pt x="1" y="0"/>
                    </a:lnTo>
                    <a:lnTo>
                      <a:pt x="0" y="13"/>
                    </a:lnTo>
                    <a:lnTo>
                      <a:pt x="2" y="31"/>
                    </a:lnTo>
                    <a:lnTo>
                      <a:pt x="7" y="51"/>
                    </a:lnTo>
                    <a:lnTo>
                      <a:pt x="13"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9265" name="Group 14"/>
              <p:cNvGrpSpPr>
                <a:grpSpLocks/>
              </p:cNvGrpSpPr>
              <p:nvPr/>
            </p:nvGrpSpPr>
            <p:grpSpPr bwMode="auto">
              <a:xfrm rot="-327198">
                <a:off x="4552" y="2107"/>
                <a:ext cx="968" cy="1033"/>
                <a:chOff x="1425" y="723"/>
                <a:chExt cx="922" cy="983"/>
              </a:xfrm>
            </p:grpSpPr>
            <p:sp>
              <p:nvSpPr>
                <p:cNvPr id="9266" name="Freeform 15"/>
                <p:cNvSpPr>
                  <a:spLocks/>
                </p:cNvSpPr>
                <p:nvPr/>
              </p:nvSpPr>
              <p:spPr bwMode="auto">
                <a:xfrm>
                  <a:off x="1441" y="731"/>
                  <a:ext cx="901" cy="965"/>
                </a:xfrm>
                <a:custGeom>
                  <a:avLst/>
                  <a:gdLst>
                    <a:gd name="T0" fmla="*/ 186 w 901"/>
                    <a:gd name="T1" fmla="*/ 585 h 965"/>
                    <a:gd name="T2" fmla="*/ 109 w 901"/>
                    <a:gd name="T3" fmla="*/ 634 h 965"/>
                    <a:gd name="T4" fmla="*/ 14 w 901"/>
                    <a:gd name="T5" fmla="*/ 696 h 965"/>
                    <a:gd name="T6" fmla="*/ 4 w 901"/>
                    <a:gd name="T7" fmla="*/ 758 h 965"/>
                    <a:gd name="T8" fmla="*/ 0 w 901"/>
                    <a:gd name="T9" fmla="*/ 875 h 965"/>
                    <a:gd name="T10" fmla="*/ 142 w 901"/>
                    <a:gd name="T11" fmla="*/ 891 h 965"/>
                    <a:gd name="T12" fmla="*/ 302 w 901"/>
                    <a:gd name="T13" fmla="*/ 899 h 965"/>
                    <a:gd name="T14" fmla="*/ 539 w 901"/>
                    <a:gd name="T15" fmla="*/ 933 h 965"/>
                    <a:gd name="T16" fmla="*/ 714 w 901"/>
                    <a:gd name="T17" fmla="*/ 965 h 965"/>
                    <a:gd name="T18" fmla="*/ 794 w 901"/>
                    <a:gd name="T19" fmla="*/ 862 h 965"/>
                    <a:gd name="T20" fmla="*/ 901 w 901"/>
                    <a:gd name="T21" fmla="*/ 652 h 965"/>
                    <a:gd name="T22" fmla="*/ 898 w 901"/>
                    <a:gd name="T23" fmla="*/ 584 h 965"/>
                    <a:gd name="T24" fmla="*/ 875 w 901"/>
                    <a:gd name="T25" fmla="*/ 553 h 965"/>
                    <a:gd name="T26" fmla="*/ 795 w 901"/>
                    <a:gd name="T27" fmla="*/ 545 h 965"/>
                    <a:gd name="T28" fmla="*/ 860 w 901"/>
                    <a:gd name="T29" fmla="*/ 382 h 965"/>
                    <a:gd name="T30" fmla="*/ 873 w 901"/>
                    <a:gd name="T31" fmla="*/ 331 h 965"/>
                    <a:gd name="T32" fmla="*/ 875 w 901"/>
                    <a:gd name="T33" fmla="*/ 198 h 965"/>
                    <a:gd name="T34" fmla="*/ 871 w 901"/>
                    <a:gd name="T35" fmla="*/ 99 h 965"/>
                    <a:gd name="T36" fmla="*/ 846 w 901"/>
                    <a:gd name="T37" fmla="*/ 50 h 965"/>
                    <a:gd name="T38" fmla="*/ 820 w 901"/>
                    <a:gd name="T39" fmla="*/ 47 h 965"/>
                    <a:gd name="T40" fmla="*/ 756 w 901"/>
                    <a:gd name="T41" fmla="*/ 47 h 965"/>
                    <a:gd name="T42" fmla="*/ 651 w 901"/>
                    <a:gd name="T43" fmla="*/ 36 h 965"/>
                    <a:gd name="T44" fmla="*/ 585 w 901"/>
                    <a:gd name="T45" fmla="*/ 16 h 965"/>
                    <a:gd name="T46" fmla="*/ 513 w 901"/>
                    <a:gd name="T47" fmla="*/ 0 h 965"/>
                    <a:gd name="T48" fmla="*/ 484 w 901"/>
                    <a:gd name="T49" fmla="*/ 3 h 965"/>
                    <a:gd name="T50" fmla="*/ 416 w 901"/>
                    <a:gd name="T51" fmla="*/ 21 h 965"/>
                    <a:gd name="T52" fmla="*/ 322 w 901"/>
                    <a:gd name="T53" fmla="*/ 31 h 965"/>
                    <a:gd name="T54" fmla="*/ 198 w 901"/>
                    <a:gd name="T55" fmla="*/ 53 h 965"/>
                    <a:gd name="T56" fmla="*/ 150 w 901"/>
                    <a:gd name="T57" fmla="*/ 73 h 965"/>
                    <a:gd name="T58" fmla="*/ 102 w 901"/>
                    <a:gd name="T59" fmla="*/ 110 h 965"/>
                    <a:gd name="T60" fmla="*/ 84 w 901"/>
                    <a:gd name="T61" fmla="*/ 173 h 965"/>
                    <a:gd name="T62" fmla="*/ 68 w 901"/>
                    <a:gd name="T63" fmla="*/ 279 h 965"/>
                    <a:gd name="T64" fmla="*/ 52 w 901"/>
                    <a:gd name="T65" fmla="*/ 406 h 965"/>
                    <a:gd name="T66" fmla="*/ 49 w 901"/>
                    <a:gd name="T67" fmla="*/ 482 h 965"/>
                    <a:gd name="T68" fmla="*/ 60 w 901"/>
                    <a:gd name="T69" fmla="*/ 528 h 965"/>
                    <a:gd name="T70" fmla="*/ 83 w 901"/>
                    <a:gd name="T71" fmla="*/ 555 h 965"/>
                    <a:gd name="T72" fmla="*/ 114 w 901"/>
                    <a:gd name="T73" fmla="*/ 569 h 965"/>
                    <a:gd name="T74" fmla="*/ 186 w 901"/>
                    <a:gd name="T75" fmla="*/ 585 h 96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901" h="965">
                      <a:moveTo>
                        <a:pt x="186" y="585"/>
                      </a:moveTo>
                      <a:lnTo>
                        <a:pt x="109" y="634"/>
                      </a:lnTo>
                      <a:lnTo>
                        <a:pt x="14" y="696"/>
                      </a:lnTo>
                      <a:lnTo>
                        <a:pt x="4" y="758"/>
                      </a:lnTo>
                      <a:lnTo>
                        <a:pt x="0" y="875"/>
                      </a:lnTo>
                      <a:lnTo>
                        <a:pt x="142" y="891"/>
                      </a:lnTo>
                      <a:lnTo>
                        <a:pt x="302" y="899"/>
                      </a:lnTo>
                      <a:lnTo>
                        <a:pt x="539" y="933"/>
                      </a:lnTo>
                      <a:lnTo>
                        <a:pt x="714" y="965"/>
                      </a:lnTo>
                      <a:lnTo>
                        <a:pt x="794" y="862"/>
                      </a:lnTo>
                      <a:lnTo>
                        <a:pt x="901" y="652"/>
                      </a:lnTo>
                      <a:lnTo>
                        <a:pt x="898" y="584"/>
                      </a:lnTo>
                      <a:lnTo>
                        <a:pt x="875" y="553"/>
                      </a:lnTo>
                      <a:lnTo>
                        <a:pt x="795" y="545"/>
                      </a:lnTo>
                      <a:lnTo>
                        <a:pt x="860" y="382"/>
                      </a:lnTo>
                      <a:lnTo>
                        <a:pt x="873" y="331"/>
                      </a:lnTo>
                      <a:lnTo>
                        <a:pt x="875" y="198"/>
                      </a:lnTo>
                      <a:lnTo>
                        <a:pt x="871" y="99"/>
                      </a:lnTo>
                      <a:lnTo>
                        <a:pt x="846" y="50"/>
                      </a:lnTo>
                      <a:lnTo>
                        <a:pt x="820" y="47"/>
                      </a:lnTo>
                      <a:lnTo>
                        <a:pt x="756" y="47"/>
                      </a:lnTo>
                      <a:lnTo>
                        <a:pt x="651" y="36"/>
                      </a:lnTo>
                      <a:lnTo>
                        <a:pt x="585" y="16"/>
                      </a:lnTo>
                      <a:lnTo>
                        <a:pt x="513" y="0"/>
                      </a:lnTo>
                      <a:lnTo>
                        <a:pt x="484" y="3"/>
                      </a:lnTo>
                      <a:lnTo>
                        <a:pt x="416" y="21"/>
                      </a:lnTo>
                      <a:lnTo>
                        <a:pt x="322" y="31"/>
                      </a:lnTo>
                      <a:lnTo>
                        <a:pt x="198" y="53"/>
                      </a:lnTo>
                      <a:lnTo>
                        <a:pt x="150" y="73"/>
                      </a:lnTo>
                      <a:lnTo>
                        <a:pt x="102" y="110"/>
                      </a:lnTo>
                      <a:lnTo>
                        <a:pt x="84" y="173"/>
                      </a:lnTo>
                      <a:lnTo>
                        <a:pt x="68" y="279"/>
                      </a:lnTo>
                      <a:lnTo>
                        <a:pt x="52" y="406"/>
                      </a:lnTo>
                      <a:lnTo>
                        <a:pt x="49" y="482"/>
                      </a:lnTo>
                      <a:lnTo>
                        <a:pt x="60" y="528"/>
                      </a:lnTo>
                      <a:lnTo>
                        <a:pt x="83" y="555"/>
                      </a:lnTo>
                      <a:lnTo>
                        <a:pt x="114" y="569"/>
                      </a:lnTo>
                      <a:lnTo>
                        <a:pt x="186" y="585"/>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67" name="Freeform 16"/>
                <p:cNvSpPr>
                  <a:spLocks/>
                </p:cNvSpPr>
                <p:nvPr/>
              </p:nvSpPr>
              <p:spPr bwMode="auto">
                <a:xfrm>
                  <a:off x="1580" y="864"/>
                  <a:ext cx="500" cy="448"/>
                </a:xfrm>
                <a:custGeom>
                  <a:avLst/>
                  <a:gdLst>
                    <a:gd name="T0" fmla="*/ 24 w 500"/>
                    <a:gd name="T1" fmla="*/ 92 h 448"/>
                    <a:gd name="T2" fmla="*/ 41 w 500"/>
                    <a:gd name="T3" fmla="*/ 21 h 448"/>
                    <a:gd name="T4" fmla="*/ 56 w 500"/>
                    <a:gd name="T5" fmla="*/ 3 h 448"/>
                    <a:gd name="T6" fmla="*/ 87 w 500"/>
                    <a:gd name="T7" fmla="*/ 0 h 448"/>
                    <a:gd name="T8" fmla="*/ 215 w 500"/>
                    <a:gd name="T9" fmla="*/ 16 h 448"/>
                    <a:gd name="T10" fmla="*/ 371 w 500"/>
                    <a:gd name="T11" fmla="*/ 39 h 448"/>
                    <a:gd name="T12" fmla="*/ 462 w 500"/>
                    <a:gd name="T13" fmla="*/ 55 h 448"/>
                    <a:gd name="T14" fmla="*/ 482 w 500"/>
                    <a:gd name="T15" fmla="*/ 72 h 448"/>
                    <a:gd name="T16" fmla="*/ 493 w 500"/>
                    <a:gd name="T17" fmla="*/ 102 h 448"/>
                    <a:gd name="T18" fmla="*/ 498 w 500"/>
                    <a:gd name="T19" fmla="*/ 219 h 448"/>
                    <a:gd name="T20" fmla="*/ 500 w 500"/>
                    <a:gd name="T21" fmla="*/ 348 h 448"/>
                    <a:gd name="T22" fmla="*/ 493 w 500"/>
                    <a:gd name="T23" fmla="*/ 430 h 448"/>
                    <a:gd name="T24" fmla="*/ 482 w 500"/>
                    <a:gd name="T25" fmla="*/ 444 h 448"/>
                    <a:gd name="T26" fmla="*/ 453 w 500"/>
                    <a:gd name="T27" fmla="*/ 448 h 448"/>
                    <a:gd name="T28" fmla="*/ 319 w 500"/>
                    <a:gd name="T29" fmla="*/ 424 h 448"/>
                    <a:gd name="T30" fmla="*/ 117 w 500"/>
                    <a:gd name="T31" fmla="*/ 382 h 448"/>
                    <a:gd name="T32" fmla="*/ 16 w 500"/>
                    <a:gd name="T33" fmla="*/ 355 h 448"/>
                    <a:gd name="T34" fmla="*/ 3 w 500"/>
                    <a:gd name="T35" fmla="*/ 333 h 448"/>
                    <a:gd name="T36" fmla="*/ 0 w 500"/>
                    <a:gd name="T37" fmla="*/ 289 h 448"/>
                    <a:gd name="T38" fmla="*/ 6 w 500"/>
                    <a:gd name="T39" fmla="*/ 189 h 448"/>
                    <a:gd name="T40" fmla="*/ 24 w 500"/>
                    <a:gd name="T41" fmla="*/ 92 h 4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00" h="448">
                      <a:moveTo>
                        <a:pt x="24" y="92"/>
                      </a:moveTo>
                      <a:lnTo>
                        <a:pt x="41" y="21"/>
                      </a:lnTo>
                      <a:lnTo>
                        <a:pt x="56" y="3"/>
                      </a:lnTo>
                      <a:lnTo>
                        <a:pt x="87" y="0"/>
                      </a:lnTo>
                      <a:lnTo>
                        <a:pt x="215" y="16"/>
                      </a:lnTo>
                      <a:lnTo>
                        <a:pt x="371" y="39"/>
                      </a:lnTo>
                      <a:lnTo>
                        <a:pt x="462" y="55"/>
                      </a:lnTo>
                      <a:lnTo>
                        <a:pt x="482" y="72"/>
                      </a:lnTo>
                      <a:lnTo>
                        <a:pt x="493" y="102"/>
                      </a:lnTo>
                      <a:lnTo>
                        <a:pt x="498" y="219"/>
                      </a:lnTo>
                      <a:lnTo>
                        <a:pt x="500" y="348"/>
                      </a:lnTo>
                      <a:lnTo>
                        <a:pt x="493" y="430"/>
                      </a:lnTo>
                      <a:lnTo>
                        <a:pt x="482" y="444"/>
                      </a:lnTo>
                      <a:lnTo>
                        <a:pt x="453" y="448"/>
                      </a:lnTo>
                      <a:lnTo>
                        <a:pt x="319" y="424"/>
                      </a:lnTo>
                      <a:lnTo>
                        <a:pt x="117" y="382"/>
                      </a:lnTo>
                      <a:lnTo>
                        <a:pt x="16" y="355"/>
                      </a:lnTo>
                      <a:lnTo>
                        <a:pt x="3" y="333"/>
                      </a:lnTo>
                      <a:lnTo>
                        <a:pt x="0" y="289"/>
                      </a:lnTo>
                      <a:lnTo>
                        <a:pt x="6" y="189"/>
                      </a:lnTo>
                      <a:lnTo>
                        <a:pt x="24" y="92"/>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9268" name="Group 17"/>
                <p:cNvGrpSpPr>
                  <a:grpSpLocks/>
                </p:cNvGrpSpPr>
                <p:nvPr/>
              </p:nvGrpSpPr>
              <p:grpSpPr bwMode="auto">
                <a:xfrm>
                  <a:off x="1425" y="723"/>
                  <a:ext cx="922" cy="983"/>
                  <a:chOff x="1425" y="723"/>
                  <a:chExt cx="922" cy="983"/>
                </a:xfrm>
              </p:grpSpPr>
              <p:sp>
                <p:nvSpPr>
                  <p:cNvPr id="9269" name="Freeform 18"/>
                  <p:cNvSpPr>
                    <a:spLocks/>
                  </p:cNvSpPr>
                  <p:nvPr/>
                </p:nvSpPr>
                <p:spPr bwMode="auto">
                  <a:xfrm>
                    <a:off x="1425" y="1270"/>
                    <a:ext cx="922" cy="436"/>
                  </a:xfrm>
                  <a:custGeom>
                    <a:avLst/>
                    <a:gdLst>
                      <a:gd name="T0" fmla="*/ 15 w 922"/>
                      <a:gd name="T1" fmla="*/ 153 h 436"/>
                      <a:gd name="T2" fmla="*/ 139 w 922"/>
                      <a:gd name="T3" fmla="*/ 76 h 436"/>
                      <a:gd name="T4" fmla="*/ 139 w 922"/>
                      <a:gd name="T5" fmla="*/ 98 h 436"/>
                      <a:gd name="T6" fmla="*/ 54 w 922"/>
                      <a:gd name="T7" fmla="*/ 154 h 436"/>
                      <a:gd name="T8" fmla="*/ 186 w 922"/>
                      <a:gd name="T9" fmla="*/ 168 h 436"/>
                      <a:gd name="T10" fmla="*/ 460 w 922"/>
                      <a:gd name="T11" fmla="*/ 215 h 436"/>
                      <a:gd name="T12" fmla="*/ 607 w 922"/>
                      <a:gd name="T13" fmla="*/ 227 h 436"/>
                      <a:gd name="T14" fmla="*/ 701 w 922"/>
                      <a:gd name="T15" fmla="*/ 224 h 436"/>
                      <a:gd name="T16" fmla="*/ 727 w 922"/>
                      <a:gd name="T17" fmla="*/ 221 h 436"/>
                      <a:gd name="T18" fmla="*/ 869 w 922"/>
                      <a:gd name="T19" fmla="*/ 22 h 436"/>
                      <a:gd name="T20" fmla="*/ 821 w 922"/>
                      <a:gd name="T21" fmla="*/ 0 h 436"/>
                      <a:gd name="T22" fmla="*/ 896 w 922"/>
                      <a:gd name="T23" fmla="*/ 0 h 436"/>
                      <a:gd name="T24" fmla="*/ 922 w 922"/>
                      <a:gd name="T25" fmla="*/ 28 h 436"/>
                      <a:gd name="T26" fmla="*/ 921 w 922"/>
                      <a:gd name="T27" fmla="*/ 110 h 436"/>
                      <a:gd name="T28" fmla="*/ 889 w 922"/>
                      <a:gd name="T29" fmla="*/ 172 h 436"/>
                      <a:gd name="T30" fmla="*/ 786 w 922"/>
                      <a:gd name="T31" fmla="*/ 373 h 436"/>
                      <a:gd name="T32" fmla="*/ 742 w 922"/>
                      <a:gd name="T33" fmla="*/ 433 h 436"/>
                      <a:gd name="T34" fmla="*/ 712 w 922"/>
                      <a:gd name="T35" fmla="*/ 436 h 436"/>
                      <a:gd name="T36" fmla="*/ 490 w 922"/>
                      <a:gd name="T37" fmla="*/ 396 h 436"/>
                      <a:gd name="T38" fmla="*/ 256 w 922"/>
                      <a:gd name="T39" fmla="*/ 365 h 436"/>
                      <a:gd name="T40" fmla="*/ 34 w 922"/>
                      <a:gd name="T41" fmla="*/ 346 h 436"/>
                      <a:gd name="T42" fmla="*/ 0 w 922"/>
                      <a:gd name="T43" fmla="*/ 343 h 436"/>
                      <a:gd name="T44" fmla="*/ 7 w 922"/>
                      <a:gd name="T45" fmla="*/ 280 h 436"/>
                      <a:gd name="T46" fmla="*/ 12 w 922"/>
                      <a:gd name="T47" fmla="*/ 218 h 436"/>
                      <a:gd name="T48" fmla="*/ 16 w 922"/>
                      <a:gd name="T49" fmla="*/ 184 h 436"/>
                      <a:gd name="T50" fmla="*/ 31 w 922"/>
                      <a:gd name="T51" fmla="*/ 208 h 436"/>
                      <a:gd name="T52" fmla="*/ 27 w 922"/>
                      <a:gd name="T53" fmla="*/ 260 h 436"/>
                      <a:gd name="T54" fmla="*/ 26 w 922"/>
                      <a:gd name="T55" fmla="*/ 313 h 436"/>
                      <a:gd name="T56" fmla="*/ 87 w 922"/>
                      <a:gd name="T57" fmla="*/ 333 h 436"/>
                      <a:gd name="T58" fmla="*/ 234 w 922"/>
                      <a:gd name="T59" fmla="*/ 342 h 436"/>
                      <a:gd name="T60" fmla="*/ 359 w 922"/>
                      <a:gd name="T61" fmla="*/ 351 h 436"/>
                      <a:gd name="T62" fmla="*/ 462 w 922"/>
                      <a:gd name="T63" fmla="*/ 368 h 436"/>
                      <a:gd name="T64" fmla="*/ 615 w 922"/>
                      <a:gd name="T65" fmla="*/ 393 h 436"/>
                      <a:gd name="T66" fmla="*/ 713 w 922"/>
                      <a:gd name="T67" fmla="*/ 407 h 436"/>
                      <a:gd name="T68" fmla="*/ 721 w 922"/>
                      <a:gd name="T69" fmla="*/ 380 h 436"/>
                      <a:gd name="T70" fmla="*/ 721 w 922"/>
                      <a:gd name="T71" fmla="*/ 318 h 436"/>
                      <a:gd name="T72" fmla="*/ 723 w 922"/>
                      <a:gd name="T73" fmla="*/ 250 h 436"/>
                      <a:gd name="T74" fmla="*/ 734 w 922"/>
                      <a:gd name="T75" fmla="*/ 268 h 436"/>
                      <a:gd name="T76" fmla="*/ 736 w 922"/>
                      <a:gd name="T77" fmla="*/ 344 h 436"/>
                      <a:gd name="T78" fmla="*/ 744 w 922"/>
                      <a:gd name="T79" fmla="*/ 384 h 436"/>
                      <a:gd name="T80" fmla="*/ 764 w 922"/>
                      <a:gd name="T81" fmla="*/ 367 h 436"/>
                      <a:gd name="T82" fmla="*/ 801 w 922"/>
                      <a:gd name="T83" fmla="*/ 298 h 436"/>
                      <a:gd name="T84" fmla="*/ 856 w 922"/>
                      <a:gd name="T85" fmla="*/ 200 h 436"/>
                      <a:gd name="T86" fmla="*/ 897 w 922"/>
                      <a:gd name="T87" fmla="*/ 120 h 436"/>
                      <a:gd name="T88" fmla="*/ 906 w 922"/>
                      <a:gd name="T89" fmla="*/ 97 h 436"/>
                      <a:gd name="T90" fmla="*/ 901 w 922"/>
                      <a:gd name="T91" fmla="*/ 36 h 436"/>
                      <a:gd name="T92" fmla="*/ 888 w 922"/>
                      <a:gd name="T93" fmla="*/ 28 h 436"/>
                      <a:gd name="T94" fmla="*/ 848 w 922"/>
                      <a:gd name="T95" fmla="*/ 94 h 436"/>
                      <a:gd name="T96" fmla="*/ 782 w 922"/>
                      <a:gd name="T97" fmla="*/ 177 h 436"/>
                      <a:gd name="T98" fmla="*/ 732 w 922"/>
                      <a:gd name="T99" fmla="*/ 242 h 436"/>
                      <a:gd name="T100" fmla="*/ 693 w 922"/>
                      <a:gd name="T101" fmla="*/ 247 h 436"/>
                      <a:gd name="T102" fmla="*/ 559 w 922"/>
                      <a:gd name="T103" fmla="*/ 243 h 436"/>
                      <a:gd name="T104" fmla="*/ 397 w 922"/>
                      <a:gd name="T105" fmla="*/ 227 h 436"/>
                      <a:gd name="T106" fmla="*/ 243 w 922"/>
                      <a:gd name="T107" fmla="*/ 203 h 436"/>
                      <a:gd name="T108" fmla="*/ 66 w 922"/>
                      <a:gd name="T109" fmla="*/ 175 h 436"/>
                      <a:gd name="T110" fmla="*/ 15 w 922"/>
                      <a:gd name="T111" fmla="*/ 153 h 4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922" h="436">
                        <a:moveTo>
                          <a:pt x="15" y="153"/>
                        </a:moveTo>
                        <a:lnTo>
                          <a:pt x="139" y="76"/>
                        </a:lnTo>
                        <a:lnTo>
                          <a:pt x="139" y="98"/>
                        </a:lnTo>
                        <a:lnTo>
                          <a:pt x="54" y="154"/>
                        </a:lnTo>
                        <a:lnTo>
                          <a:pt x="186" y="168"/>
                        </a:lnTo>
                        <a:lnTo>
                          <a:pt x="460" y="215"/>
                        </a:lnTo>
                        <a:lnTo>
                          <a:pt x="607" y="227"/>
                        </a:lnTo>
                        <a:lnTo>
                          <a:pt x="701" y="224"/>
                        </a:lnTo>
                        <a:lnTo>
                          <a:pt x="727" y="221"/>
                        </a:lnTo>
                        <a:lnTo>
                          <a:pt x="869" y="22"/>
                        </a:lnTo>
                        <a:lnTo>
                          <a:pt x="821" y="0"/>
                        </a:lnTo>
                        <a:lnTo>
                          <a:pt x="896" y="0"/>
                        </a:lnTo>
                        <a:lnTo>
                          <a:pt x="922" y="28"/>
                        </a:lnTo>
                        <a:lnTo>
                          <a:pt x="921" y="110"/>
                        </a:lnTo>
                        <a:lnTo>
                          <a:pt x="889" y="172"/>
                        </a:lnTo>
                        <a:lnTo>
                          <a:pt x="786" y="373"/>
                        </a:lnTo>
                        <a:lnTo>
                          <a:pt x="742" y="433"/>
                        </a:lnTo>
                        <a:lnTo>
                          <a:pt x="712" y="436"/>
                        </a:lnTo>
                        <a:lnTo>
                          <a:pt x="490" y="396"/>
                        </a:lnTo>
                        <a:lnTo>
                          <a:pt x="256" y="365"/>
                        </a:lnTo>
                        <a:lnTo>
                          <a:pt x="34" y="346"/>
                        </a:lnTo>
                        <a:lnTo>
                          <a:pt x="0" y="343"/>
                        </a:lnTo>
                        <a:lnTo>
                          <a:pt x="7" y="280"/>
                        </a:lnTo>
                        <a:lnTo>
                          <a:pt x="12" y="218"/>
                        </a:lnTo>
                        <a:lnTo>
                          <a:pt x="16" y="184"/>
                        </a:lnTo>
                        <a:lnTo>
                          <a:pt x="31" y="208"/>
                        </a:lnTo>
                        <a:lnTo>
                          <a:pt x="27" y="260"/>
                        </a:lnTo>
                        <a:lnTo>
                          <a:pt x="26" y="313"/>
                        </a:lnTo>
                        <a:lnTo>
                          <a:pt x="87" y="333"/>
                        </a:lnTo>
                        <a:lnTo>
                          <a:pt x="234" y="342"/>
                        </a:lnTo>
                        <a:lnTo>
                          <a:pt x="359" y="351"/>
                        </a:lnTo>
                        <a:lnTo>
                          <a:pt x="462" y="368"/>
                        </a:lnTo>
                        <a:lnTo>
                          <a:pt x="615" y="393"/>
                        </a:lnTo>
                        <a:lnTo>
                          <a:pt x="713" y="407"/>
                        </a:lnTo>
                        <a:lnTo>
                          <a:pt x="721" y="380"/>
                        </a:lnTo>
                        <a:lnTo>
                          <a:pt x="721" y="318"/>
                        </a:lnTo>
                        <a:lnTo>
                          <a:pt x="723" y="250"/>
                        </a:lnTo>
                        <a:lnTo>
                          <a:pt x="734" y="268"/>
                        </a:lnTo>
                        <a:lnTo>
                          <a:pt x="736" y="344"/>
                        </a:lnTo>
                        <a:lnTo>
                          <a:pt x="744" y="384"/>
                        </a:lnTo>
                        <a:lnTo>
                          <a:pt x="764" y="367"/>
                        </a:lnTo>
                        <a:lnTo>
                          <a:pt x="801" y="298"/>
                        </a:lnTo>
                        <a:lnTo>
                          <a:pt x="856" y="200"/>
                        </a:lnTo>
                        <a:lnTo>
                          <a:pt x="897" y="120"/>
                        </a:lnTo>
                        <a:lnTo>
                          <a:pt x="906" y="97"/>
                        </a:lnTo>
                        <a:lnTo>
                          <a:pt x="901" y="36"/>
                        </a:lnTo>
                        <a:lnTo>
                          <a:pt x="888" y="28"/>
                        </a:lnTo>
                        <a:lnTo>
                          <a:pt x="848" y="94"/>
                        </a:lnTo>
                        <a:lnTo>
                          <a:pt x="782" y="177"/>
                        </a:lnTo>
                        <a:lnTo>
                          <a:pt x="732" y="242"/>
                        </a:lnTo>
                        <a:lnTo>
                          <a:pt x="693" y="247"/>
                        </a:lnTo>
                        <a:lnTo>
                          <a:pt x="559" y="243"/>
                        </a:lnTo>
                        <a:lnTo>
                          <a:pt x="397" y="227"/>
                        </a:lnTo>
                        <a:lnTo>
                          <a:pt x="243" y="203"/>
                        </a:lnTo>
                        <a:lnTo>
                          <a:pt x="66" y="175"/>
                        </a:lnTo>
                        <a:lnTo>
                          <a:pt x="15" y="1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70" name="Freeform 19"/>
                  <p:cNvSpPr>
                    <a:spLocks/>
                  </p:cNvSpPr>
                  <p:nvPr/>
                </p:nvSpPr>
                <p:spPr bwMode="auto">
                  <a:xfrm>
                    <a:off x="1615" y="1332"/>
                    <a:ext cx="460" cy="136"/>
                  </a:xfrm>
                  <a:custGeom>
                    <a:avLst/>
                    <a:gdLst>
                      <a:gd name="T0" fmla="*/ 15 w 460"/>
                      <a:gd name="T1" fmla="*/ 13 h 136"/>
                      <a:gd name="T2" fmla="*/ 50 w 460"/>
                      <a:gd name="T3" fmla="*/ 0 h 136"/>
                      <a:gd name="T4" fmla="*/ 65 w 460"/>
                      <a:gd name="T5" fmla="*/ 7 h 136"/>
                      <a:gd name="T6" fmla="*/ 51 w 460"/>
                      <a:gd name="T7" fmla="*/ 29 h 136"/>
                      <a:gd name="T8" fmla="*/ 25 w 460"/>
                      <a:gd name="T9" fmla="*/ 39 h 136"/>
                      <a:gd name="T10" fmla="*/ 67 w 460"/>
                      <a:gd name="T11" fmla="*/ 68 h 136"/>
                      <a:gd name="T12" fmla="*/ 134 w 460"/>
                      <a:gd name="T13" fmla="*/ 83 h 136"/>
                      <a:gd name="T14" fmla="*/ 195 w 460"/>
                      <a:gd name="T15" fmla="*/ 87 h 136"/>
                      <a:gd name="T16" fmla="*/ 238 w 460"/>
                      <a:gd name="T17" fmla="*/ 90 h 136"/>
                      <a:gd name="T18" fmla="*/ 320 w 460"/>
                      <a:gd name="T19" fmla="*/ 95 h 136"/>
                      <a:gd name="T20" fmla="*/ 372 w 460"/>
                      <a:gd name="T21" fmla="*/ 98 h 136"/>
                      <a:gd name="T22" fmla="*/ 408 w 460"/>
                      <a:gd name="T23" fmla="*/ 94 h 136"/>
                      <a:gd name="T24" fmla="*/ 442 w 460"/>
                      <a:gd name="T25" fmla="*/ 80 h 136"/>
                      <a:gd name="T26" fmla="*/ 441 w 460"/>
                      <a:gd name="T27" fmla="*/ 65 h 136"/>
                      <a:gd name="T28" fmla="*/ 460 w 460"/>
                      <a:gd name="T29" fmla="*/ 73 h 136"/>
                      <a:gd name="T30" fmla="*/ 447 w 460"/>
                      <a:gd name="T31" fmla="*/ 121 h 136"/>
                      <a:gd name="T32" fmla="*/ 396 w 460"/>
                      <a:gd name="T33" fmla="*/ 136 h 136"/>
                      <a:gd name="T34" fmla="*/ 287 w 460"/>
                      <a:gd name="T35" fmla="*/ 124 h 136"/>
                      <a:gd name="T36" fmla="*/ 177 w 460"/>
                      <a:gd name="T37" fmla="*/ 117 h 136"/>
                      <a:gd name="T38" fmla="*/ 114 w 460"/>
                      <a:gd name="T39" fmla="*/ 115 h 136"/>
                      <a:gd name="T40" fmla="*/ 42 w 460"/>
                      <a:gd name="T41" fmla="*/ 84 h 136"/>
                      <a:gd name="T42" fmla="*/ 7 w 460"/>
                      <a:gd name="T43" fmla="*/ 67 h 136"/>
                      <a:gd name="T44" fmla="*/ 0 w 460"/>
                      <a:gd name="T45" fmla="*/ 36 h 136"/>
                      <a:gd name="T46" fmla="*/ 15 w 460"/>
                      <a:gd name="T47" fmla="*/ 13 h 1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60" h="136">
                        <a:moveTo>
                          <a:pt x="15" y="13"/>
                        </a:moveTo>
                        <a:lnTo>
                          <a:pt x="50" y="0"/>
                        </a:lnTo>
                        <a:lnTo>
                          <a:pt x="65" y="7"/>
                        </a:lnTo>
                        <a:lnTo>
                          <a:pt x="51" y="29"/>
                        </a:lnTo>
                        <a:lnTo>
                          <a:pt x="25" y="39"/>
                        </a:lnTo>
                        <a:lnTo>
                          <a:pt x="67" y="68"/>
                        </a:lnTo>
                        <a:lnTo>
                          <a:pt x="134" y="83"/>
                        </a:lnTo>
                        <a:lnTo>
                          <a:pt x="195" y="87"/>
                        </a:lnTo>
                        <a:lnTo>
                          <a:pt x="238" y="90"/>
                        </a:lnTo>
                        <a:lnTo>
                          <a:pt x="320" y="95"/>
                        </a:lnTo>
                        <a:lnTo>
                          <a:pt x="372" y="98"/>
                        </a:lnTo>
                        <a:lnTo>
                          <a:pt x="408" y="94"/>
                        </a:lnTo>
                        <a:lnTo>
                          <a:pt x="442" y="80"/>
                        </a:lnTo>
                        <a:lnTo>
                          <a:pt x="441" y="65"/>
                        </a:lnTo>
                        <a:lnTo>
                          <a:pt x="460" y="73"/>
                        </a:lnTo>
                        <a:lnTo>
                          <a:pt x="447" y="121"/>
                        </a:lnTo>
                        <a:lnTo>
                          <a:pt x="396" y="136"/>
                        </a:lnTo>
                        <a:lnTo>
                          <a:pt x="287" y="124"/>
                        </a:lnTo>
                        <a:lnTo>
                          <a:pt x="177" y="117"/>
                        </a:lnTo>
                        <a:lnTo>
                          <a:pt x="114" y="115"/>
                        </a:lnTo>
                        <a:lnTo>
                          <a:pt x="42" y="84"/>
                        </a:lnTo>
                        <a:lnTo>
                          <a:pt x="7" y="67"/>
                        </a:lnTo>
                        <a:lnTo>
                          <a:pt x="0" y="36"/>
                        </a:lnTo>
                        <a:lnTo>
                          <a:pt x="15"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71" name="Freeform 20"/>
                  <p:cNvSpPr>
                    <a:spLocks/>
                  </p:cNvSpPr>
                  <p:nvPr/>
                </p:nvSpPr>
                <p:spPr bwMode="auto">
                  <a:xfrm>
                    <a:off x="1518" y="1491"/>
                    <a:ext cx="52" cy="46"/>
                  </a:xfrm>
                  <a:custGeom>
                    <a:avLst/>
                    <a:gdLst>
                      <a:gd name="T0" fmla="*/ 9 w 52"/>
                      <a:gd name="T1" fmla="*/ 0 h 46"/>
                      <a:gd name="T2" fmla="*/ 52 w 52"/>
                      <a:gd name="T3" fmla="*/ 5 h 46"/>
                      <a:gd name="T4" fmla="*/ 47 w 52"/>
                      <a:gd name="T5" fmla="*/ 46 h 46"/>
                      <a:gd name="T6" fmla="*/ 0 w 52"/>
                      <a:gd name="T7" fmla="*/ 39 h 46"/>
                      <a:gd name="T8" fmla="*/ 9 w 52"/>
                      <a:gd name="T9" fmla="*/ 0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46">
                        <a:moveTo>
                          <a:pt x="9" y="0"/>
                        </a:moveTo>
                        <a:lnTo>
                          <a:pt x="52" y="5"/>
                        </a:lnTo>
                        <a:lnTo>
                          <a:pt x="47" y="46"/>
                        </a:lnTo>
                        <a:lnTo>
                          <a:pt x="0" y="39"/>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72" name="Freeform 21"/>
                  <p:cNvSpPr>
                    <a:spLocks/>
                  </p:cNvSpPr>
                  <p:nvPr/>
                </p:nvSpPr>
                <p:spPr bwMode="auto">
                  <a:xfrm>
                    <a:off x="1608" y="1500"/>
                    <a:ext cx="51" cy="46"/>
                  </a:xfrm>
                  <a:custGeom>
                    <a:avLst/>
                    <a:gdLst>
                      <a:gd name="T0" fmla="*/ 8 w 51"/>
                      <a:gd name="T1" fmla="*/ 0 h 46"/>
                      <a:gd name="T2" fmla="*/ 51 w 51"/>
                      <a:gd name="T3" fmla="*/ 5 h 46"/>
                      <a:gd name="T4" fmla="*/ 47 w 51"/>
                      <a:gd name="T5" fmla="*/ 46 h 46"/>
                      <a:gd name="T6" fmla="*/ 0 w 51"/>
                      <a:gd name="T7" fmla="*/ 39 h 46"/>
                      <a:gd name="T8" fmla="*/ 8 w 51"/>
                      <a:gd name="T9" fmla="*/ 0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46">
                        <a:moveTo>
                          <a:pt x="8" y="0"/>
                        </a:moveTo>
                        <a:lnTo>
                          <a:pt x="51" y="5"/>
                        </a:lnTo>
                        <a:lnTo>
                          <a:pt x="47" y="46"/>
                        </a:lnTo>
                        <a:lnTo>
                          <a:pt x="0" y="39"/>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73" name="Freeform 22"/>
                  <p:cNvSpPr>
                    <a:spLocks/>
                  </p:cNvSpPr>
                  <p:nvPr/>
                </p:nvSpPr>
                <p:spPr bwMode="auto">
                  <a:xfrm>
                    <a:off x="1896" y="1544"/>
                    <a:ext cx="194" cy="51"/>
                  </a:xfrm>
                  <a:custGeom>
                    <a:avLst/>
                    <a:gdLst>
                      <a:gd name="T0" fmla="*/ 4 w 194"/>
                      <a:gd name="T1" fmla="*/ 0 h 51"/>
                      <a:gd name="T2" fmla="*/ 193 w 194"/>
                      <a:gd name="T3" fmla="*/ 18 h 51"/>
                      <a:gd name="T4" fmla="*/ 194 w 194"/>
                      <a:gd name="T5" fmla="*/ 51 h 51"/>
                      <a:gd name="T6" fmla="*/ 0 w 194"/>
                      <a:gd name="T7" fmla="*/ 33 h 51"/>
                      <a:gd name="T8" fmla="*/ 4 w 194"/>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51">
                        <a:moveTo>
                          <a:pt x="4" y="0"/>
                        </a:moveTo>
                        <a:lnTo>
                          <a:pt x="193" y="18"/>
                        </a:lnTo>
                        <a:lnTo>
                          <a:pt x="194" y="51"/>
                        </a:lnTo>
                        <a:lnTo>
                          <a:pt x="0" y="33"/>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74" name="Freeform 23"/>
                  <p:cNvSpPr>
                    <a:spLocks/>
                  </p:cNvSpPr>
                  <p:nvPr/>
                </p:nvSpPr>
                <p:spPr bwMode="auto">
                  <a:xfrm>
                    <a:off x="1479" y="723"/>
                    <a:ext cx="848" cy="658"/>
                  </a:xfrm>
                  <a:custGeom>
                    <a:avLst/>
                    <a:gdLst>
                      <a:gd name="T0" fmla="*/ 47 w 848"/>
                      <a:gd name="T1" fmla="*/ 551 h 658"/>
                      <a:gd name="T2" fmla="*/ 28 w 848"/>
                      <a:gd name="T3" fmla="*/ 523 h 658"/>
                      <a:gd name="T4" fmla="*/ 20 w 848"/>
                      <a:gd name="T5" fmla="*/ 481 h 658"/>
                      <a:gd name="T6" fmla="*/ 31 w 848"/>
                      <a:gd name="T7" fmla="*/ 389 h 658"/>
                      <a:gd name="T8" fmla="*/ 54 w 848"/>
                      <a:gd name="T9" fmla="*/ 240 h 658"/>
                      <a:gd name="T10" fmla="*/ 76 w 848"/>
                      <a:gd name="T11" fmla="*/ 129 h 658"/>
                      <a:gd name="T12" fmla="*/ 94 w 848"/>
                      <a:gd name="T13" fmla="*/ 104 h 658"/>
                      <a:gd name="T14" fmla="*/ 123 w 848"/>
                      <a:gd name="T15" fmla="*/ 76 h 658"/>
                      <a:gd name="T16" fmla="*/ 189 w 848"/>
                      <a:gd name="T17" fmla="*/ 61 h 658"/>
                      <a:gd name="T18" fmla="*/ 300 w 848"/>
                      <a:gd name="T19" fmla="*/ 48 h 658"/>
                      <a:gd name="T20" fmla="*/ 392 w 848"/>
                      <a:gd name="T21" fmla="*/ 38 h 658"/>
                      <a:gd name="T22" fmla="*/ 434 w 848"/>
                      <a:gd name="T23" fmla="*/ 21 h 658"/>
                      <a:gd name="T24" fmla="*/ 506 w 848"/>
                      <a:gd name="T25" fmla="*/ 25 h 658"/>
                      <a:gd name="T26" fmla="*/ 628 w 848"/>
                      <a:gd name="T27" fmla="*/ 57 h 658"/>
                      <a:gd name="T28" fmla="*/ 731 w 848"/>
                      <a:gd name="T29" fmla="*/ 67 h 658"/>
                      <a:gd name="T30" fmla="*/ 776 w 848"/>
                      <a:gd name="T31" fmla="*/ 65 h 658"/>
                      <a:gd name="T32" fmla="*/ 811 w 848"/>
                      <a:gd name="T33" fmla="*/ 80 h 658"/>
                      <a:gd name="T34" fmla="*/ 825 w 848"/>
                      <a:gd name="T35" fmla="*/ 144 h 658"/>
                      <a:gd name="T36" fmla="*/ 823 w 848"/>
                      <a:gd name="T37" fmla="*/ 262 h 658"/>
                      <a:gd name="T38" fmla="*/ 823 w 848"/>
                      <a:gd name="T39" fmla="*/ 354 h 658"/>
                      <a:gd name="T40" fmla="*/ 810 w 848"/>
                      <a:gd name="T41" fmla="*/ 394 h 658"/>
                      <a:gd name="T42" fmla="*/ 766 w 848"/>
                      <a:gd name="T43" fmla="*/ 491 h 658"/>
                      <a:gd name="T44" fmla="*/ 714 w 848"/>
                      <a:gd name="T45" fmla="*/ 589 h 658"/>
                      <a:gd name="T46" fmla="*/ 683 w 848"/>
                      <a:gd name="T47" fmla="*/ 625 h 658"/>
                      <a:gd name="T48" fmla="*/ 665 w 848"/>
                      <a:gd name="T49" fmla="*/ 640 h 658"/>
                      <a:gd name="T50" fmla="*/ 686 w 848"/>
                      <a:gd name="T51" fmla="*/ 658 h 658"/>
                      <a:gd name="T52" fmla="*/ 719 w 848"/>
                      <a:gd name="T53" fmla="*/ 619 h 658"/>
                      <a:gd name="T54" fmla="*/ 769 w 848"/>
                      <a:gd name="T55" fmla="*/ 531 h 658"/>
                      <a:gd name="T56" fmla="*/ 815 w 848"/>
                      <a:gd name="T57" fmla="*/ 438 h 658"/>
                      <a:gd name="T58" fmla="*/ 831 w 848"/>
                      <a:gd name="T59" fmla="*/ 392 h 658"/>
                      <a:gd name="T60" fmla="*/ 841 w 848"/>
                      <a:gd name="T61" fmla="*/ 347 h 658"/>
                      <a:gd name="T62" fmla="*/ 844 w 848"/>
                      <a:gd name="T63" fmla="*/ 270 h 658"/>
                      <a:gd name="T64" fmla="*/ 848 w 848"/>
                      <a:gd name="T65" fmla="*/ 153 h 658"/>
                      <a:gd name="T66" fmla="*/ 836 w 848"/>
                      <a:gd name="T67" fmla="*/ 89 h 658"/>
                      <a:gd name="T68" fmla="*/ 819 w 848"/>
                      <a:gd name="T69" fmla="*/ 57 h 658"/>
                      <a:gd name="T70" fmla="*/ 787 w 848"/>
                      <a:gd name="T71" fmla="*/ 44 h 658"/>
                      <a:gd name="T72" fmla="*/ 744 w 848"/>
                      <a:gd name="T73" fmla="*/ 50 h 658"/>
                      <a:gd name="T74" fmla="*/ 679 w 848"/>
                      <a:gd name="T75" fmla="*/ 45 h 658"/>
                      <a:gd name="T76" fmla="*/ 599 w 848"/>
                      <a:gd name="T77" fmla="*/ 31 h 658"/>
                      <a:gd name="T78" fmla="*/ 516 w 848"/>
                      <a:gd name="T79" fmla="*/ 6 h 658"/>
                      <a:gd name="T80" fmla="*/ 460 w 848"/>
                      <a:gd name="T81" fmla="*/ 0 h 658"/>
                      <a:gd name="T82" fmla="*/ 430 w 848"/>
                      <a:gd name="T83" fmla="*/ 6 h 658"/>
                      <a:gd name="T84" fmla="*/ 360 w 848"/>
                      <a:gd name="T85" fmla="*/ 28 h 658"/>
                      <a:gd name="T86" fmla="*/ 235 w 848"/>
                      <a:gd name="T87" fmla="*/ 40 h 658"/>
                      <a:gd name="T88" fmla="*/ 112 w 848"/>
                      <a:gd name="T89" fmla="*/ 60 h 658"/>
                      <a:gd name="T90" fmla="*/ 72 w 848"/>
                      <a:gd name="T91" fmla="*/ 96 h 658"/>
                      <a:gd name="T92" fmla="*/ 44 w 848"/>
                      <a:gd name="T93" fmla="*/ 147 h 658"/>
                      <a:gd name="T94" fmla="*/ 24 w 848"/>
                      <a:gd name="T95" fmla="*/ 255 h 658"/>
                      <a:gd name="T96" fmla="*/ 13 w 848"/>
                      <a:gd name="T97" fmla="*/ 358 h 658"/>
                      <a:gd name="T98" fmla="*/ 0 w 848"/>
                      <a:gd name="T99" fmla="*/ 467 h 658"/>
                      <a:gd name="T100" fmla="*/ 10 w 848"/>
                      <a:gd name="T101" fmla="*/ 529 h 658"/>
                      <a:gd name="T102" fmla="*/ 24 w 848"/>
                      <a:gd name="T103" fmla="*/ 566 h 658"/>
                      <a:gd name="T104" fmla="*/ 55 w 848"/>
                      <a:gd name="T105" fmla="*/ 582 h 658"/>
                      <a:gd name="T106" fmla="*/ 73 w 848"/>
                      <a:gd name="T107" fmla="*/ 579 h 658"/>
                      <a:gd name="T108" fmla="*/ 47 w 848"/>
                      <a:gd name="T109" fmla="*/ 551 h 65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848" h="658">
                        <a:moveTo>
                          <a:pt x="47" y="551"/>
                        </a:moveTo>
                        <a:lnTo>
                          <a:pt x="28" y="523"/>
                        </a:lnTo>
                        <a:lnTo>
                          <a:pt x="20" y="481"/>
                        </a:lnTo>
                        <a:lnTo>
                          <a:pt x="31" y="389"/>
                        </a:lnTo>
                        <a:lnTo>
                          <a:pt x="54" y="240"/>
                        </a:lnTo>
                        <a:lnTo>
                          <a:pt x="76" y="129"/>
                        </a:lnTo>
                        <a:lnTo>
                          <a:pt x="94" y="104"/>
                        </a:lnTo>
                        <a:lnTo>
                          <a:pt x="123" y="76"/>
                        </a:lnTo>
                        <a:lnTo>
                          <a:pt x="189" y="61"/>
                        </a:lnTo>
                        <a:lnTo>
                          <a:pt x="300" y="48"/>
                        </a:lnTo>
                        <a:lnTo>
                          <a:pt x="392" y="38"/>
                        </a:lnTo>
                        <a:lnTo>
                          <a:pt x="434" y="21"/>
                        </a:lnTo>
                        <a:lnTo>
                          <a:pt x="506" y="25"/>
                        </a:lnTo>
                        <a:lnTo>
                          <a:pt x="628" y="57"/>
                        </a:lnTo>
                        <a:lnTo>
                          <a:pt x="731" y="67"/>
                        </a:lnTo>
                        <a:lnTo>
                          <a:pt x="776" y="65"/>
                        </a:lnTo>
                        <a:lnTo>
                          <a:pt x="811" y="80"/>
                        </a:lnTo>
                        <a:lnTo>
                          <a:pt x="825" y="144"/>
                        </a:lnTo>
                        <a:lnTo>
                          <a:pt x="823" y="262"/>
                        </a:lnTo>
                        <a:lnTo>
                          <a:pt x="823" y="354"/>
                        </a:lnTo>
                        <a:lnTo>
                          <a:pt x="810" y="394"/>
                        </a:lnTo>
                        <a:lnTo>
                          <a:pt x="766" y="491"/>
                        </a:lnTo>
                        <a:lnTo>
                          <a:pt x="714" y="589"/>
                        </a:lnTo>
                        <a:lnTo>
                          <a:pt x="683" y="625"/>
                        </a:lnTo>
                        <a:lnTo>
                          <a:pt x="665" y="640"/>
                        </a:lnTo>
                        <a:lnTo>
                          <a:pt x="686" y="658"/>
                        </a:lnTo>
                        <a:lnTo>
                          <a:pt x="719" y="619"/>
                        </a:lnTo>
                        <a:lnTo>
                          <a:pt x="769" y="531"/>
                        </a:lnTo>
                        <a:lnTo>
                          <a:pt x="815" y="438"/>
                        </a:lnTo>
                        <a:lnTo>
                          <a:pt x="831" y="392"/>
                        </a:lnTo>
                        <a:lnTo>
                          <a:pt x="841" y="347"/>
                        </a:lnTo>
                        <a:lnTo>
                          <a:pt x="844" y="270"/>
                        </a:lnTo>
                        <a:lnTo>
                          <a:pt x="848" y="153"/>
                        </a:lnTo>
                        <a:lnTo>
                          <a:pt x="836" y="89"/>
                        </a:lnTo>
                        <a:lnTo>
                          <a:pt x="819" y="57"/>
                        </a:lnTo>
                        <a:lnTo>
                          <a:pt x="787" y="44"/>
                        </a:lnTo>
                        <a:lnTo>
                          <a:pt x="744" y="50"/>
                        </a:lnTo>
                        <a:lnTo>
                          <a:pt x="679" y="45"/>
                        </a:lnTo>
                        <a:lnTo>
                          <a:pt x="599" y="31"/>
                        </a:lnTo>
                        <a:lnTo>
                          <a:pt x="516" y="6"/>
                        </a:lnTo>
                        <a:lnTo>
                          <a:pt x="460" y="0"/>
                        </a:lnTo>
                        <a:lnTo>
                          <a:pt x="430" y="6"/>
                        </a:lnTo>
                        <a:lnTo>
                          <a:pt x="360" y="28"/>
                        </a:lnTo>
                        <a:lnTo>
                          <a:pt x="235" y="40"/>
                        </a:lnTo>
                        <a:lnTo>
                          <a:pt x="112" y="60"/>
                        </a:lnTo>
                        <a:lnTo>
                          <a:pt x="72" y="96"/>
                        </a:lnTo>
                        <a:lnTo>
                          <a:pt x="44" y="147"/>
                        </a:lnTo>
                        <a:lnTo>
                          <a:pt x="24" y="255"/>
                        </a:lnTo>
                        <a:lnTo>
                          <a:pt x="13" y="358"/>
                        </a:lnTo>
                        <a:lnTo>
                          <a:pt x="0" y="467"/>
                        </a:lnTo>
                        <a:lnTo>
                          <a:pt x="10" y="529"/>
                        </a:lnTo>
                        <a:lnTo>
                          <a:pt x="24" y="566"/>
                        </a:lnTo>
                        <a:lnTo>
                          <a:pt x="55" y="582"/>
                        </a:lnTo>
                        <a:lnTo>
                          <a:pt x="73" y="579"/>
                        </a:lnTo>
                        <a:lnTo>
                          <a:pt x="47" y="5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75" name="Freeform 24"/>
                  <p:cNvSpPr>
                    <a:spLocks/>
                  </p:cNvSpPr>
                  <p:nvPr/>
                </p:nvSpPr>
                <p:spPr bwMode="auto">
                  <a:xfrm>
                    <a:off x="1523" y="781"/>
                    <a:ext cx="778" cy="607"/>
                  </a:xfrm>
                  <a:custGeom>
                    <a:avLst/>
                    <a:gdLst>
                      <a:gd name="T0" fmla="*/ 0 w 778"/>
                      <a:gd name="T1" fmla="*/ 499 h 607"/>
                      <a:gd name="T2" fmla="*/ 115 w 778"/>
                      <a:gd name="T3" fmla="*/ 525 h 607"/>
                      <a:gd name="T4" fmla="*/ 276 w 778"/>
                      <a:gd name="T5" fmla="*/ 554 h 607"/>
                      <a:gd name="T6" fmla="*/ 407 w 778"/>
                      <a:gd name="T7" fmla="*/ 576 h 607"/>
                      <a:gd name="T8" fmla="*/ 526 w 778"/>
                      <a:gd name="T9" fmla="*/ 580 h 607"/>
                      <a:gd name="T10" fmla="*/ 604 w 778"/>
                      <a:gd name="T11" fmla="*/ 580 h 607"/>
                      <a:gd name="T12" fmla="*/ 627 w 778"/>
                      <a:gd name="T13" fmla="*/ 573 h 607"/>
                      <a:gd name="T14" fmla="*/ 637 w 778"/>
                      <a:gd name="T15" fmla="*/ 516 h 607"/>
                      <a:gd name="T16" fmla="*/ 633 w 778"/>
                      <a:gd name="T17" fmla="*/ 362 h 607"/>
                      <a:gd name="T18" fmla="*/ 628 w 778"/>
                      <a:gd name="T19" fmla="*/ 174 h 607"/>
                      <a:gd name="T20" fmla="*/ 622 w 778"/>
                      <a:gd name="T21" fmla="*/ 106 h 607"/>
                      <a:gd name="T22" fmla="*/ 610 w 778"/>
                      <a:gd name="T23" fmla="*/ 79 h 607"/>
                      <a:gd name="T24" fmla="*/ 405 w 778"/>
                      <a:gd name="T25" fmla="*/ 69 h 607"/>
                      <a:gd name="T26" fmla="*/ 209 w 778"/>
                      <a:gd name="T27" fmla="*/ 42 h 607"/>
                      <a:gd name="T28" fmla="*/ 101 w 778"/>
                      <a:gd name="T29" fmla="*/ 26 h 607"/>
                      <a:gd name="T30" fmla="*/ 63 w 778"/>
                      <a:gd name="T31" fmla="*/ 26 h 607"/>
                      <a:gd name="T32" fmla="*/ 87 w 778"/>
                      <a:gd name="T33" fmla="*/ 3 h 607"/>
                      <a:gd name="T34" fmla="*/ 133 w 778"/>
                      <a:gd name="T35" fmla="*/ 15 h 607"/>
                      <a:gd name="T36" fmla="*/ 268 w 778"/>
                      <a:gd name="T37" fmla="*/ 32 h 607"/>
                      <a:gd name="T38" fmla="*/ 396 w 778"/>
                      <a:gd name="T39" fmla="*/ 45 h 607"/>
                      <a:gd name="T40" fmla="*/ 511 w 778"/>
                      <a:gd name="T41" fmla="*/ 53 h 607"/>
                      <a:gd name="T42" fmla="*/ 619 w 778"/>
                      <a:gd name="T43" fmla="*/ 60 h 607"/>
                      <a:gd name="T44" fmla="*/ 709 w 778"/>
                      <a:gd name="T45" fmla="*/ 35 h 607"/>
                      <a:gd name="T46" fmla="*/ 763 w 778"/>
                      <a:gd name="T47" fmla="*/ 0 h 607"/>
                      <a:gd name="T48" fmla="*/ 778 w 778"/>
                      <a:gd name="T49" fmla="*/ 24 h 607"/>
                      <a:gd name="T50" fmla="*/ 730 w 778"/>
                      <a:gd name="T51" fmla="*/ 45 h 607"/>
                      <a:gd name="T52" fmla="*/ 660 w 778"/>
                      <a:gd name="T53" fmla="*/ 75 h 607"/>
                      <a:gd name="T54" fmla="*/ 638 w 778"/>
                      <a:gd name="T55" fmla="*/ 86 h 607"/>
                      <a:gd name="T56" fmla="*/ 645 w 778"/>
                      <a:gd name="T57" fmla="*/ 186 h 607"/>
                      <a:gd name="T58" fmla="*/ 649 w 778"/>
                      <a:gd name="T59" fmla="*/ 283 h 607"/>
                      <a:gd name="T60" fmla="*/ 651 w 778"/>
                      <a:gd name="T61" fmla="*/ 371 h 607"/>
                      <a:gd name="T62" fmla="*/ 652 w 778"/>
                      <a:gd name="T63" fmla="*/ 456 h 607"/>
                      <a:gd name="T64" fmla="*/ 655 w 778"/>
                      <a:gd name="T65" fmla="*/ 520 h 607"/>
                      <a:gd name="T66" fmla="*/ 654 w 778"/>
                      <a:gd name="T67" fmla="*/ 574 h 607"/>
                      <a:gd name="T68" fmla="*/ 640 w 778"/>
                      <a:gd name="T69" fmla="*/ 599 h 607"/>
                      <a:gd name="T70" fmla="*/ 547 w 778"/>
                      <a:gd name="T71" fmla="*/ 607 h 607"/>
                      <a:gd name="T72" fmla="*/ 389 w 778"/>
                      <a:gd name="T73" fmla="*/ 593 h 607"/>
                      <a:gd name="T74" fmla="*/ 227 w 778"/>
                      <a:gd name="T75" fmla="*/ 561 h 607"/>
                      <a:gd name="T76" fmla="*/ 108 w 778"/>
                      <a:gd name="T77" fmla="*/ 542 h 607"/>
                      <a:gd name="T78" fmla="*/ 9 w 778"/>
                      <a:gd name="T79" fmla="*/ 524 h 607"/>
                      <a:gd name="T80" fmla="*/ 0 w 778"/>
                      <a:gd name="T81" fmla="*/ 499 h 6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78" h="607">
                        <a:moveTo>
                          <a:pt x="0" y="499"/>
                        </a:moveTo>
                        <a:lnTo>
                          <a:pt x="115" y="525"/>
                        </a:lnTo>
                        <a:lnTo>
                          <a:pt x="276" y="554"/>
                        </a:lnTo>
                        <a:lnTo>
                          <a:pt x="407" y="576"/>
                        </a:lnTo>
                        <a:lnTo>
                          <a:pt x="526" y="580"/>
                        </a:lnTo>
                        <a:lnTo>
                          <a:pt x="604" y="580"/>
                        </a:lnTo>
                        <a:lnTo>
                          <a:pt x="627" y="573"/>
                        </a:lnTo>
                        <a:lnTo>
                          <a:pt x="637" y="516"/>
                        </a:lnTo>
                        <a:lnTo>
                          <a:pt x="633" y="362"/>
                        </a:lnTo>
                        <a:lnTo>
                          <a:pt x="628" y="174"/>
                        </a:lnTo>
                        <a:lnTo>
                          <a:pt x="622" y="106"/>
                        </a:lnTo>
                        <a:lnTo>
                          <a:pt x="610" y="79"/>
                        </a:lnTo>
                        <a:lnTo>
                          <a:pt x="405" y="69"/>
                        </a:lnTo>
                        <a:lnTo>
                          <a:pt x="209" y="42"/>
                        </a:lnTo>
                        <a:lnTo>
                          <a:pt x="101" y="26"/>
                        </a:lnTo>
                        <a:lnTo>
                          <a:pt x="63" y="26"/>
                        </a:lnTo>
                        <a:lnTo>
                          <a:pt x="87" y="3"/>
                        </a:lnTo>
                        <a:lnTo>
                          <a:pt x="133" y="15"/>
                        </a:lnTo>
                        <a:lnTo>
                          <a:pt x="268" y="32"/>
                        </a:lnTo>
                        <a:lnTo>
                          <a:pt x="396" y="45"/>
                        </a:lnTo>
                        <a:lnTo>
                          <a:pt x="511" y="53"/>
                        </a:lnTo>
                        <a:lnTo>
                          <a:pt x="619" y="60"/>
                        </a:lnTo>
                        <a:lnTo>
                          <a:pt x="709" y="35"/>
                        </a:lnTo>
                        <a:lnTo>
                          <a:pt x="763" y="0"/>
                        </a:lnTo>
                        <a:lnTo>
                          <a:pt x="778" y="24"/>
                        </a:lnTo>
                        <a:lnTo>
                          <a:pt x="730" y="45"/>
                        </a:lnTo>
                        <a:lnTo>
                          <a:pt x="660" y="75"/>
                        </a:lnTo>
                        <a:lnTo>
                          <a:pt x="638" y="86"/>
                        </a:lnTo>
                        <a:lnTo>
                          <a:pt x="645" y="186"/>
                        </a:lnTo>
                        <a:lnTo>
                          <a:pt x="649" y="283"/>
                        </a:lnTo>
                        <a:lnTo>
                          <a:pt x="651" y="371"/>
                        </a:lnTo>
                        <a:lnTo>
                          <a:pt x="652" y="456"/>
                        </a:lnTo>
                        <a:lnTo>
                          <a:pt x="655" y="520"/>
                        </a:lnTo>
                        <a:lnTo>
                          <a:pt x="654" y="574"/>
                        </a:lnTo>
                        <a:lnTo>
                          <a:pt x="640" y="599"/>
                        </a:lnTo>
                        <a:lnTo>
                          <a:pt x="547" y="607"/>
                        </a:lnTo>
                        <a:lnTo>
                          <a:pt x="389" y="593"/>
                        </a:lnTo>
                        <a:lnTo>
                          <a:pt x="227" y="561"/>
                        </a:lnTo>
                        <a:lnTo>
                          <a:pt x="108" y="542"/>
                        </a:lnTo>
                        <a:lnTo>
                          <a:pt x="9" y="524"/>
                        </a:lnTo>
                        <a:lnTo>
                          <a:pt x="0" y="4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76" name="Freeform 25"/>
                  <p:cNvSpPr>
                    <a:spLocks/>
                  </p:cNvSpPr>
                  <p:nvPr/>
                </p:nvSpPr>
                <p:spPr bwMode="auto">
                  <a:xfrm>
                    <a:off x="1658" y="858"/>
                    <a:ext cx="430" cy="466"/>
                  </a:xfrm>
                  <a:custGeom>
                    <a:avLst/>
                    <a:gdLst>
                      <a:gd name="T0" fmla="*/ 0 w 430"/>
                      <a:gd name="T1" fmla="*/ 0 h 466"/>
                      <a:gd name="T2" fmla="*/ 159 w 430"/>
                      <a:gd name="T3" fmla="*/ 19 h 466"/>
                      <a:gd name="T4" fmla="*/ 271 w 430"/>
                      <a:gd name="T5" fmla="*/ 32 h 466"/>
                      <a:gd name="T6" fmla="*/ 394 w 430"/>
                      <a:gd name="T7" fmla="*/ 54 h 466"/>
                      <a:gd name="T8" fmla="*/ 412 w 430"/>
                      <a:gd name="T9" fmla="*/ 70 h 466"/>
                      <a:gd name="T10" fmla="*/ 422 w 430"/>
                      <a:gd name="T11" fmla="*/ 95 h 466"/>
                      <a:gd name="T12" fmla="*/ 430 w 430"/>
                      <a:gd name="T13" fmla="*/ 213 h 466"/>
                      <a:gd name="T14" fmla="*/ 430 w 430"/>
                      <a:gd name="T15" fmla="*/ 346 h 466"/>
                      <a:gd name="T16" fmla="*/ 426 w 430"/>
                      <a:gd name="T17" fmla="*/ 438 h 466"/>
                      <a:gd name="T18" fmla="*/ 412 w 430"/>
                      <a:gd name="T19" fmla="*/ 464 h 466"/>
                      <a:gd name="T20" fmla="*/ 385 w 430"/>
                      <a:gd name="T21" fmla="*/ 466 h 466"/>
                      <a:gd name="T22" fmla="*/ 246 w 430"/>
                      <a:gd name="T23" fmla="*/ 428 h 466"/>
                      <a:gd name="T24" fmla="*/ 395 w 430"/>
                      <a:gd name="T25" fmla="*/ 440 h 466"/>
                      <a:gd name="T26" fmla="*/ 405 w 430"/>
                      <a:gd name="T27" fmla="*/ 435 h 466"/>
                      <a:gd name="T28" fmla="*/ 412 w 430"/>
                      <a:gd name="T29" fmla="*/ 373 h 466"/>
                      <a:gd name="T30" fmla="*/ 414 w 430"/>
                      <a:gd name="T31" fmla="*/ 285 h 466"/>
                      <a:gd name="T32" fmla="*/ 409 w 430"/>
                      <a:gd name="T33" fmla="*/ 165 h 466"/>
                      <a:gd name="T34" fmla="*/ 401 w 430"/>
                      <a:gd name="T35" fmla="*/ 88 h 466"/>
                      <a:gd name="T36" fmla="*/ 385 w 430"/>
                      <a:gd name="T37" fmla="*/ 73 h 466"/>
                      <a:gd name="T38" fmla="*/ 297 w 430"/>
                      <a:gd name="T39" fmla="*/ 56 h 466"/>
                      <a:gd name="T40" fmla="*/ 176 w 430"/>
                      <a:gd name="T41" fmla="*/ 41 h 466"/>
                      <a:gd name="T42" fmla="*/ 78 w 430"/>
                      <a:gd name="T43" fmla="*/ 22 h 466"/>
                      <a:gd name="T44" fmla="*/ 0 w 430"/>
                      <a:gd name="T45" fmla="*/ 0 h 4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30" h="466">
                        <a:moveTo>
                          <a:pt x="0" y="0"/>
                        </a:moveTo>
                        <a:lnTo>
                          <a:pt x="159" y="19"/>
                        </a:lnTo>
                        <a:lnTo>
                          <a:pt x="271" y="32"/>
                        </a:lnTo>
                        <a:lnTo>
                          <a:pt x="394" y="54"/>
                        </a:lnTo>
                        <a:lnTo>
                          <a:pt x="412" y="70"/>
                        </a:lnTo>
                        <a:lnTo>
                          <a:pt x="422" y="95"/>
                        </a:lnTo>
                        <a:lnTo>
                          <a:pt x="430" y="213"/>
                        </a:lnTo>
                        <a:lnTo>
                          <a:pt x="430" y="346"/>
                        </a:lnTo>
                        <a:lnTo>
                          <a:pt x="426" y="438"/>
                        </a:lnTo>
                        <a:lnTo>
                          <a:pt x="412" y="464"/>
                        </a:lnTo>
                        <a:lnTo>
                          <a:pt x="385" y="466"/>
                        </a:lnTo>
                        <a:lnTo>
                          <a:pt x="246" y="428"/>
                        </a:lnTo>
                        <a:lnTo>
                          <a:pt x="395" y="440"/>
                        </a:lnTo>
                        <a:lnTo>
                          <a:pt x="405" y="435"/>
                        </a:lnTo>
                        <a:lnTo>
                          <a:pt x="412" y="373"/>
                        </a:lnTo>
                        <a:lnTo>
                          <a:pt x="414" y="285"/>
                        </a:lnTo>
                        <a:lnTo>
                          <a:pt x="409" y="165"/>
                        </a:lnTo>
                        <a:lnTo>
                          <a:pt x="401" y="88"/>
                        </a:lnTo>
                        <a:lnTo>
                          <a:pt x="385" y="73"/>
                        </a:lnTo>
                        <a:lnTo>
                          <a:pt x="297" y="56"/>
                        </a:lnTo>
                        <a:lnTo>
                          <a:pt x="176" y="41"/>
                        </a:lnTo>
                        <a:lnTo>
                          <a:pt x="78" y="2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77" name="Freeform 26"/>
                  <p:cNvSpPr>
                    <a:spLocks/>
                  </p:cNvSpPr>
                  <p:nvPr/>
                </p:nvSpPr>
                <p:spPr bwMode="auto">
                  <a:xfrm>
                    <a:off x="1574" y="853"/>
                    <a:ext cx="453" cy="464"/>
                  </a:xfrm>
                  <a:custGeom>
                    <a:avLst/>
                    <a:gdLst>
                      <a:gd name="T0" fmla="*/ 257 w 453"/>
                      <a:gd name="T1" fmla="*/ 27 h 464"/>
                      <a:gd name="T2" fmla="*/ 102 w 453"/>
                      <a:gd name="T3" fmla="*/ 2 h 464"/>
                      <a:gd name="T4" fmla="*/ 57 w 453"/>
                      <a:gd name="T5" fmla="*/ 0 h 464"/>
                      <a:gd name="T6" fmla="*/ 45 w 453"/>
                      <a:gd name="T7" fmla="*/ 17 h 464"/>
                      <a:gd name="T8" fmla="*/ 32 w 453"/>
                      <a:gd name="T9" fmla="*/ 50 h 464"/>
                      <a:gd name="T10" fmla="*/ 12 w 453"/>
                      <a:gd name="T11" fmla="*/ 141 h 464"/>
                      <a:gd name="T12" fmla="*/ 2 w 453"/>
                      <a:gd name="T13" fmla="*/ 232 h 464"/>
                      <a:gd name="T14" fmla="*/ 0 w 453"/>
                      <a:gd name="T15" fmla="*/ 325 h 464"/>
                      <a:gd name="T16" fmla="*/ 14 w 453"/>
                      <a:gd name="T17" fmla="*/ 362 h 464"/>
                      <a:gd name="T18" fmla="*/ 21 w 453"/>
                      <a:gd name="T19" fmla="*/ 374 h 464"/>
                      <a:gd name="T20" fmla="*/ 119 w 453"/>
                      <a:gd name="T21" fmla="*/ 400 h 464"/>
                      <a:gd name="T22" fmla="*/ 245 w 453"/>
                      <a:gd name="T23" fmla="*/ 425 h 464"/>
                      <a:gd name="T24" fmla="*/ 340 w 453"/>
                      <a:gd name="T25" fmla="*/ 441 h 464"/>
                      <a:gd name="T26" fmla="*/ 453 w 453"/>
                      <a:gd name="T27" fmla="*/ 464 h 464"/>
                      <a:gd name="T28" fmla="*/ 450 w 453"/>
                      <a:gd name="T29" fmla="*/ 449 h 464"/>
                      <a:gd name="T30" fmla="*/ 363 w 453"/>
                      <a:gd name="T31" fmla="*/ 429 h 464"/>
                      <a:gd name="T32" fmla="*/ 248 w 453"/>
                      <a:gd name="T33" fmla="*/ 403 h 464"/>
                      <a:gd name="T34" fmla="*/ 92 w 453"/>
                      <a:gd name="T35" fmla="*/ 375 h 464"/>
                      <a:gd name="T36" fmla="*/ 36 w 453"/>
                      <a:gd name="T37" fmla="*/ 349 h 464"/>
                      <a:gd name="T38" fmla="*/ 20 w 453"/>
                      <a:gd name="T39" fmla="*/ 333 h 464"/>
                      <a:gd name="T40" fmla="*/ 18 w 453"/>
                      <a:gd name="T41" fmla="*/ 305 h 464"/>
                      <a:gd name="T42" fmla="*/ 21 w 453"/>
                      <a:gd name="T43" fmla="*/ 228 h 464"/>
                      <a:gd name="T44" fmla="*/ 35 w 453"/>
                      <a:gd name="T45" fmla="*/ 135 h 464"/>
                      <a:gd name="T46" fmla="*/ 56 w 453"/>
                      <a:gd name="T47" fmla="*/ 43 h 464"/>
                      <a:gd name="T48" fmla="*/ 69 w 453"/>
                      <a:gd name="T49" fmla="*/ 22 h 464"/>
                      <a:gd name="T50" fmla="*/ 176 w 453"/>
                      <a:gd name="T51" fmla="*/ 24 h 464"/>
                      <a:gd name="T52" fmla="*/ 257 w 453"/>
                      <a:gd name="T53" fmla="*/ 27 h 46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53" h="464">
                        <a:moveTo>
                          <a:pt x="257" y="27"/>
                        </a:moveTo>
                        <a:lnTo>
                          <a:pt x="102" y="2"/>
                        </a:lnTo>
                        <a:lnTo>
                          <a:pt x="57" y="0"/>
                        </a:lnTo>
                        <a:lnTo>
                          <a:pt x="45" y="17"/>
                        </a:lnTo>
                        <a:lnTo>
                          <a:pt x="32" y="50"/>
                        </a:lnTo>
                        <a:lnTo>
                          <a:pt x="12" y="141"/>
                        </a:lnTo>
                        <a:lnTo>
                          <a:pt x="2" y="232"/>
                        </a:lnTo>
                        <a:lnTo>
                          <a:pt x="0" y="325"/>
                        </a:lnTo>
                        <a:lnTo>
                          <a:pt x="14" y="362"/>
                        </a:lnTo>
                        <a:lnTo>
                          <a:pt x="21" y="374"/>
                        </a:lnTo>
                        <a:lnTo>
                          <a:pt x="119" y="400"/>
                        </a:lnTo>
                        <a:lnTo>
                          <a:pt x="245" y="425"/>
                        </a:lnTo>
                        <a:lnTo>
                          <a:pt x="340" y="441"/>
                        </a:lnTo>
                        <a:lnTo>
                          <a:pt x="453" y="464"/>
                        </a:lnTo>
                        <a:lnTo>
                          <a:pt x="450" y="449"/>
                        </a:lnTo>
                        <a:lnTo>
                          <a:pt x="363" y="429"/>
                        </a:lnTo>
                        <a:lnTo>
                          <a:pt x="248" y="403"/>
                        </a:lnTo>
                        <a:lnTo>
                          <a:pt x="92" y="375"/>
                        </a:lnTo>
                        <a:lnTo>
                          <a:pt x="36" y="349"/>
                        </a:lnTo>
                        <a:lnTo>
                          <a:pt x="20" y="333"/>
                        </a:lnTo>
                        <a:lnTo>
                          <a:pt x="18" y="305"/>
                        </a:lnTo>
                        <a:lnTo>
                          <a:pt x="21" y="228"/>
                        </a:lnTo>
                        <a:lnTo>
                          <a:pt x="35" y="135"/>
                        </a:lnTo>
                        <a:lnTo>
                          <a:pt x="56" y="43"/>
                        </a:lnTo>
                        <a:lnTo>
                          <a:pt x="69" y="22"/>
                        </a:lnTo>
                        <a:lnTo>
                          <a:pt x="176" y="24"/>
                        </a:lnTo>
                        <a:lnTo>
                          <a:pt x="25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grpSp>
          <p:nvGrpSpPr>
            <p:cNvPr id="9248" name="Group 27"/>
            <p:cNvGrpSpPr>
              <a:grpSpLocks/>
            </p:cNvGrpSpPr>
            <p:nvPr/>
          </p:nvGrpSpPr>
          <p:grpSpPr bwMode="auto">
            <a:xfrm>
              <a:off x="4176" y="2688"/>
              <a:ext cx="796" cy="654"/>
              <a:chOff x="2543" y="3163"/>
              <a:chExt cx="973" cy="799"/>
            </a:xfrm>
          </p:grpSpPr>
          <p:sp>
            <p:nvSpPr>
              <p:cNvPr id="9249" name="Freeform 28"/>
              <p:cNvSpPr>
                <a:spLocks/>
              </p:cNvSpPr>
              <p:nvPr/>
            </p:nvSpPr>
            <p:spPr bwMode="auto">
              <a:xfrm>
                <a:off x="2598" y="3163"/>
                <a:ext cx="353" cy="287"/>
              </a:xfrm>
              <a:custGeom>
                <a:avLst/>
                <a:gdLst>
                  <a:gd name="T0" fmla="*/ 221 w 353"/>
                  <a:gd name="T1" fmla="*/ 76 h 287"/>
                  <a:gd name="T2" fmla="*/ 194 w 353"/>
                  <a:gd name="T3" fmla="*/ 41 h 287"/>
                  <a:gd name="T4" fmla="*/ 164 w 353"/>
                  <a:gd name="T5" fmla="*/ 18 h 287"/>
                  <a:gd name="T6" fmla="*/ 130 w 353"/>
                  <a:gd name="T7" fmla="*/ 5 h 287"/>
                  <a:gd name="T8" fmla="*/ 103 w 353"/>
                  <a:gd name="T9" fmla="*/ 0 h 287"/>
                  <a:gd name="T10" fmla="*/ 67 w 353"/>
                  <a:gd name="T11" fmla="*/ 8 h 287"/>
                  <a:gd name="T12" fmla="*/ 39 w 353"/>
                  <a:gd name="T13" fmla="*/ 23 h 287"/>
                  <a:gd name="T14" fmla="*/ 17 w 353"/>
                  <a:gd name="T15" fmla="*/ 44 h 287"/>
                  <a:gd name="T16" fmla="*/ 5 w 353"/>
                  <a:gd name="T17" fmla="*/ 78 h 287"/>
                  <a:gd name="T18" fmla="*/ 0 w 353"/>
                  <a:gd name="T19" fmla="*/ 113 h 287"/>
                  <a:gd name="T20" fmla="*/ 8 w 353"/>
                  <a:gd name="T21" fmla="*/ 150 h 287"/>
                  <a:gd name="T22" fmla="*/ 18 w 353"/>
                  <a:gd name="T23" fmla="*/ 195 h 287"/>
                  <a:gd name="T24" fmla="*/ 44 w 353"/>
                  <a:gd name="T25" fmla="*/ 235 h 287"/>
                  <a:gd name="T26" fmla="*/ 68 w 353"/>
                  <a:gd name="T27" fmla="*/ 260 h 287"/>
                  <a:gd name="T28" fmla="*/ 103 w 353"/>
                  <a:gd name="T29" fmla="*/ 278 h 287"/>
                  <a:gd name="T30" fmla="*/ 135 w 353"/>
                  <a:gd name="T31" fmla="*/ 287 h 287"/>
                  <a:gd name="T32" fmla="*/ 171 w 353"/>
                  <a:gd name="T33" fmla="*/ 287 h 287"/>
                  <a:gd name="T34" fmla="*/ 200 w 353"/>
                  <a:gd name="T35" fmla="*/ 273 h 287"/>
                  <a:gd name="T36" fmla="*/ 221 w 353"/>
                  <a:gd name="T37" fmla="*/ 255 h 287"/>
                  <a:gd name="T38" fmla="*/ 236 w 353"/>
                  <a:gd name="T39" fmla="*/ 226 h 287"/>
                  <a:gd name="T40" fmla="*/ 241 w 353"/>
                  <a:gd name="T41" fmla="*/ 205 h 287"/>
                  <a:gd name="T42" fmla="*/ 244 w 353"/>
                  <a:gd name="T43" fmla="*/ 173 h 287"/>
                  <a:gd name="T44" fmla="*/ 236 w 353"/>
                  <a:gd name="T45" fmla="*/ 140 h 287"/>
                  <a:gd name="T46" fmla="*/ 232 w 353"/>
                  <a:gd name="T47" fmla="*/ 108 h 287"/>
                  <a:gd name="T48" fmla="*/ 280 w 353"/>
                  <a:gd name="T49" fmla="*/ 81 h 287"/>
                  <a:gd name="T50" fmla="*/ 330 w 353"/>
                  <a:gd name="T51" fmla="*/ 63 h 287"/>
                  <a:gd name="T52" fmla="*/ 348 w 353"/>
                  <a:gd name="T53" fmla="*/ 49 h 287"/>
                  <a:gd name="T54" fmla="*/ 353 w 353"/>
                  <a:gd name="T55" fmla="*/ 27 h 287"/>
                  <a:gd name="T56" fmla="*/ 341 w 353"/>
                  <a:gd name="T57" fmla="*/ 17 h 287"/>
                  <a:gd name="T58" fmla="*/ 321 w 353"/>
                  <a:gd name="T59" fmla="*/ 9 h 287"/>
                  <a:gd name="T60" fmla="*/ 295 w 353"/>
                  <a:gd name="T61" fmla="*/ 21 h 287"/>
                  <a:gd name="T62" fmla="*/ 268 w 353"/>
                  <a:gd name="T63" fmla="*/ 53 h 287"/>
                  <a:gd name="T64" fmla="*/ 221 w 353"/>
                  <a:gd name="T65" fmla="*/ 76 h 28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53" h="287">
                    <a:moveTo>
                      <a:pt x="221" y="76"/>
                    </a:moveTo>
                    <a:lnTo>
                      <a:pt x="194" y="41"/>
                    </a:lnTo>
                    <a:lnTo>
                      <a:pt x="164" y="18"/>
                    </a:lnTo>
                    <a:lnTo>
                      <a:pt x="130" y="5"/>
                    </a:lnTo>
                    <a:lnTo>
                      <a:pt x="103" y="0"/>
                    </a:lnTo>
                    <a:lnTo>
                      <a:pt x="67" y="8"/>
                    </a:lnTo>
                    <a:lnTo>
                      <a:pt x="39" y="23"/>
                    </a:lnTo>
                    <a:lnTo>
                      <a:pt x="17" y="44"/>
                    </a:lnTo>
                    <a:lnTo>
                      <a:pt x="5" y="78"/>
                    </a:lnTo>
                    <a:lnTo>
                      <a:pt x="0" y="113"/>
                    </a:lnTo>
                    <a:lnTo>
                      <a:pt x="8" y="150"/>
                    </a:lnTo>
                    <a:lnTo>
                      <a:pt x="18" y="195"/>
                    </a:lnTo>
                    <a:lnTo>
                      <a:pt x="44" y="235"/>
                    </a:lnTo>
                    <a:lnTo>
                      <a:pt x="68" y="260"/>
                    </a:lnTo>
                    <a:lnTo>
                      <a:pt x="103" y="278"/>
                    </a:lnTo>
                    <a:lnTo>
                      <a:pt x="135" y="287"/>
                    </a:lnTo>
                    <a:lnTo>
                      <a:pt x="171" y="287"/>
                    </a:lnTo>
                    <a:lnTo>
                      <a:pt x="200" y="273"/>
                    </a:lnTo>
                    <a:lnTo>
                      <a:pt x="221" y="255"/>
                    </a:lnTo>
                    <a:lnTo>
                      <a:pt x="236" y="226"/>
                    </a:lnTo>
                    <a:lnTo>
                      <a:pt x="241" y="205"/>
                    </a:lnTo>
                    <a:lnTo>
                      <a:pt x="244" y="173"/>
                    </a:lnTo>
                    <a:lnTo>
                      <a:pt x="236" y="140"/>
                    </a:lnTo>
                    <a:lnTo>
                      <a:pt x="232" y="108"/>
                    </a:lnTo>
                    <a:lnTo>
                      <a:pt x="280" y="81"/>
                    </a:lnTo>
                    <a:lnTo>
                      <a:pt x="330" y="63"/>
                    </a:lnTo>
                    <a:lnTo>
                      <a:pt x="348" y="49"/>
                    </a:lnTo>
                    <a:lnTo>
                      <a:pt x="353" y="27"/>
                    </a:lnTo>
                    <a:lnTo>
                      <a:pt x="341" y="17"/>
                    </a:lnTo>
                    <a:lnTo>
                      <a:pt x="321" y="9"/>
                    </a:lnTo>
                    <a:lnTo>
                      <a:pt x="295" y="21"/>
                    </a:lnTo>
                    <a:lnTo>
                      <a:pt x="268" y="53"/>
                    </a:lnTo>
                    <a:lnTo>
                      <a:pt x="221"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0" name="Freeform 29"/>
              <p:cNvSpPr>
                <a:spLocks/>
              </p:cNvSpPr>
              <p:nvPr/>
            </p:nvSpPr>
            <p:spPr bwMode="auto">
              <a:xfrm>
                <a:off x="2727" y="3451"/>
                <a:ext cx="297" cy="493"/>
              </a:xfrm>
              <a:custGeom>
                <a:avLst/>
                <a:gdLst>
                  <a:gd name="T0" fmla="*/ 40 w 297"/>
                  <a:gd name="T1" fmla="*/ 170 h 493"/>
                  <a:gd name="T2" fmla="*/ 14 w 297"/>
                  <a:gd name="T3" fmla="*/ 143 h 493"/>
                  <a:gd name="T4" fmla="*/ 3 w 297"/>
                  <a:gd name="T5" fmla="*/ 112 h 493"/>
                  <a:gd name="T6" fmla="*/ 0 w 297"/>
                  <a:gd name="T7" fmla="*/ 86 h 493"/>
                  <a:gd name="T8" fmla="*/ 9 w 297"/>
                  <a:gd name="T9" fmla="*/ 62 h 493"/>
                  <a:gd name="T10" fmla="*/ 21 w 297"/>
                  <a:gd name="T11" fmla="*/ 39 h 493"/>
                  <a:gd name="T12" fmla="*/ 49 w 297"/>
                  <a:gd name="T13" fmla="*/ 21 h 493"/>
                  <a:gd name="T14" fmla="*/ 78 w 297"/>
                  <a:gd name="T15" fmla="*/ 3 h 493"/>
                  <a:gd name="T16" fmla="*/ 122 w 297"/>
                  <a:gd name="T17" fmla="*/ 0 h 493"/>
                  <a:gd name="T18" fmla="*/ 149 w 297"/>
                  <a:gd name="T19" fmla="*/ 8 h 493"/>
                  <a:gd name="T20" fmla="*/ 169 w 297"/>
                  <a:gd name="T21" fmla="*/ 21 h 493"/>
                  <a:gd name="T22" fmla="*/ 201 w 297"/>
                  <a:gd name="T23" fmla="*/ 48 h 493"/>
                  <a:gd name="T24" fmla="*/ 224 w 297"/>
                  <a:gd name="T25" fmla="*/ 90 h 493"/>
                  <a:gd name="T26" fmla="*/ 245 w 297"/>
                  <a:gd name="T27" fmla="*/ 130 h 493"/>
                  <a:gd name="T28" fmla="*/ 263 w 297"/>
                  <a:gd name="T29" fmla="*/ 198 h 493"/>
                  <a:gd name="T30" fmla="*/ 274 w 297"/>
                  <a:gd name="T31" fmla="*/ 249 h 493"/>
                  <a:gd name="T32" fmla="*/ 282 w 297"/>
                  <a:gd name="T33" fmla="*/ 311 h 493"/>
                  <a:gd name="T34" fmla="*/ 288 w 297"/>
                  <a:gd name="T35" fmla="*/ 360 h 493"/>
                  <a:gd name="T36" fmla="*/ 297 w 297"/>
                  <a:gd name="T37" fmla="*/ 398 h 493"/>
                  <a:gd name="T38" fmla="*/ 297 w 297"/>
                  <a:gd name="T39" fmla="*/ 433 h 493"/>
                  <a:gd name="T40" fmla="*/ 288 w 297"/>
                  <a:gd name="T41" fmla="*/ 461 h 493"/>
                  <a:gd name="T42" fmla="*/ 274 w 297"/>
                  <a:gd name="T43" fmla="*/ 479 h 493"/>
                  <a:gd name="T44" fmla="*/ 251 w 297"/>
                  <a:gd name="T45" fmla="*/ 488 h 493"/>
                  <a:gd name="T46" fmla="*/ 222 w 297"/>
                  <a:gd name="T47" fmla="*/ 493 h 493"/>
                  <a:gd name="T48" fmla="*/ 90 w 297"/>
                  <a:gd name="T49" fmla="*/ 487 h 493"/>
                  <a:gd name="T50" fmla="*/ 62 w 297"/>
                  <a:gd name="T51" fmla="*/ 470 h 493"/>
                  <a:gd name="T52" fmla="*/ 44 w 297"/>
                  <a:gd name="T53" fmla="*/ 430 h 493"/>
                  <a:gd name="T54" fmla="*/ 37 w 297"/>
                  <a:gd name="T55" fmla="*/ 392 h 493"/>
                  <a:gd name="T56" fmla="*/ 40 w 297"/>
                  <a:gd name="T57" fmla="*/ 339 h 493"/>
                  <a:gd name="T58" fmla="*/ 53 w 297"/>
                  <a:gd name="T59" fmla="*/ 303 h 493"/>
                  <a:gd name="T60" fmla="*/ 73 w 297"/>
                  <a:gd name="T61" fmla="*/ 280 h 493"/>
                  <a:gd name="T62" fmla="*/ 78 w 297"/>
                  <a:gd name="T63" fmla="*/ 262 h 493"/>
                  <a:gd name="T64" fmla="*/ 73 w 297"/>
                  <a:gd name="T65" fmla="*/ 244 h 493"/>
                  <a:gd name="T66" fmla="*/ 64 w 297"/>
                  <a:gd name="T67" fmla="*/ 217 h 493"/>
                  <a:gd name="T68" fmla="*/ 49 w 297"/>
                  <a:gd name="T69" fmla="*/ 193 h 493"/>
                  <a:gd name="T70" fmla="*/ 40 w 297"/>
                  <a:gd name="T71" fmla="*/ 170 h 4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97" h="493">
                    <a:moveTo>
                      <a:pt x="40" y="170"/>
                    </a:moveTo>
                    <a:lnTo>
                      <a:pt x="14" y="143"/>
                    </a:lnTo>
                    <a:lnTo>
                      <a:pt x="3" y="112"/>
                    </a:lnTo>
                    <a:lnTo>
                      <a:pt x="0" y="86"/>
                    </a:lnTo>
                    <a:lnTo>
                      <a:pt x="9" y="62"/>
                    </a:lnTo>
                    <a:lnTo>
                      <a:pt x="21" y="39"/>
                    </a:lnTo>
                    <a:lnTo>
                      <a:pt x="49" y="21"/>
                    </a:lnTo>
                    <a:lnTo>
                      <a:pt x="78" y="3"/>
                    </a:lnTo>
                    <a:lnTo>
                      <a:pt x="122" y="0"/>
                    </a:lnTo>
                    <a:lnTo>
                      <a:pt x="149" y="8"/>
                    </a:lnTo>
                    <a:lnTo>
                      <a:pt x="169" y="21"/>
                    </a:lnTo>
                    <a:lnTo>
                      <a:pt x="201" y="48"/>
                    </a:lnTo>
                    <a:lnTo>
                      <a:pt x="224" y="90"/>
                    </a:lnTo>
                    <a:lnTo>
                      <a:pt x="245" y="130"/>
                    </a:lnTo>
                    <a:lnTo>
                      <a:pt x="263" y="198"/>
                    </a:lnTo>
                    <a:lnTo>
                      <a:pt x="274" y="249"/>
                    </a:lnTo>
                    <a:lnTo>
                      <a:pt x="282" y="311"/>
                    </a:lnTo>
                    <a:lnTo>
                      <a:pt x="288" y="360"/>
                    </a:lnTo>
                    <a:lnTo>
                      <a:pt x="297" y="398"/>
                    </a:lnTo>
                    <a:lnTo>
                      <a:pt x="297" y="433"/>
                    </a:lnTo>
                    <a:lnTo>
                      <a:pt x="288" y="461"/>
                    </a:lnTo>
                    <a:lnTo>
                      <a:pt x="274" y="479"/>
                    </a:lnTo>
                    <a:lnTo>
                      <a:pt x="251" y="488"/>
                    </a:lnTo>
                    <a:lnTo>
                      <a:pt x="222" y="493"/>
                    </a:lnTo>
                    <a:lnTo>
                      <a:pt x="90" y="487"/>
                    </a:lnTo>
                    <a:lnTo>
                      <a:pt x="62" y="470"/>
                    </a:lnTo>
                    <a:lnTo>
                      <a:pt x="44" y="430"/>
                    </a:lnTo>
                    <a:lnTo>
                      <a:pt x="37" y="392"/>
                    </a:lnTo>
                    <a:lnTo>
                      <a:pt x="40" y="339"/>
                    </a:lnTo>
                    <a:lnTo>
                      <a:pt x="53" y="303"/>
                    </a:lnTo>
                    <a:lnTo>
                      <a:pt x="73" y="280"/>
                    </a:lnTo>
                    <a:lnTo>
                      <a:pt x="78" y="262"/>
                    </a:lnTo>
                    <a:lnTo>
                      <a:pt x="73" y="244"/>
                    </a:lnTo>
                    <a:lnTo>
                      <a:pt x="64" y="217"/>
                    </a:lnTo>
                    <a:lnTo>
                      <a:pt x="49" y="193"/>
                    </a:lnTo>
                    <a:lnTo>
                      <a:pt x="40"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1" name="Freeform 30"/>
              <p:cNvSpPr>
                <a:spLocks/>
              </p:cNvSpPr>
              <p:nvPr/>
            </p:nvSpPr>
            <p:spPr bwMode="auto">
              <a:xfrm>
                <a:off x="2543" y="3494"/>
                <a:ext cx="250" cy="455"/>
              </a:xfrm>
              <a:custGeom>
                <a:avLst/>
                <a:gdLst>
                  <a:gd name="T0" fmla="*/ 153 w 250"/>
                  <a:gd name="T1" fmla="*/ 74 h 455"/>
                  <a:gd name="T2" fmla="*/ 186 w 250"/>
                  <a:gd name="T3" fmla="*/ 24 h 455"/>
                  <a:gd name="T4" fmla="*/ 209 w 250"/>
                  <a:gd name="T5" fmla="*/ 5 h 455"/>
                  <a:gd name="T6" fmla="*/ 235 w 250"/>
                  <a:gd name="T7" fmla="*/ 0 h 455"/>
                  <a:gd name="T8" fmla="*/ 250 w 250"/>
                  <a:gd name="T9" fmla="*/ 45 h 455"/>
                  <a:gd name="T10" fmla="*/ 227 w 250"/>
                  <a:gd name="T11" fmla="*/ 83 h 455"/>
                  <a:gd name="T12" fmla="*/ 209 w 250"/>
                  <a:gd name="T13" fmla="*/ 97 h 455"/>
                  <a:gd name="T14" fmla="*/ 175 w 250"/>
                  <a:gd name="T15" fmla="*/ 132 h 455"/>
                  <a:gd name="T16" fmla="*/ 144 w 250"/>
                  <a:gd name="T17" fmla="*/ 187 h 455"/>
                  <a:gd name="T18" fmla="*/ 129 w 250"/>
                  <a:gd name="T19" fmla="*/ 254 h 455"/>
                  <a:gd name="T20" fmla="*/ 124 w 250"/>
                  <a:gd name="T21" fmla="*/ 314 h 455"/>
                  <a:gd name="T22" fmla="*/ 121 w 250"/>
                  <a:gd name="T23" fmla="*/ 369 h 455"/>
                  <a:gd name="T24" fmla="*/ 124 w 250"/>
                  <a:gd name="T25" fmla="*/ 408 h 455"/>
                  <a:gd name="T26" fmla="*/ 135 w 250"/>
                  <a:gd name="T27" fmla="*/ 408 h 455"/>
                  <a:gd name="T28" fmla="*/ 161 w 250"/>
                  <a:gd name="T29" fmla="*/ 387 h 455"/>
                  <a:gd name="T30" fmla="*/ 193 w 250"/>
                  <a:gd name="T31" fmla="*/ 399 h 455"/>
                  <a:gd name="T32" fmla="*/ 172 w 250"/>
                  <a:gd name="T33" fmla="*/ 419 h 455"/>
                  <a:gd name="T34" fmla="*/ 130 w 250"/>
                  <a:gd name="T35" fmla="*/ 437 h 455"/>
                  <a:gd name="T36" fmla="*/ 117 w 250"/>
                  <a:gd name="T37" fmla="*/ 453 h 455"/>
                  <a:gd name="T38" fmla="*/ 80 w 250"/>
                  <a:gd name="T39" fmla="*/ 455 h 455"/>
                  <a:gd name="T40" fmla="*/ 46 w 250"/>
                  <a:gd name="T41" fmla="*/ 440 h 455"/>
                  <a:gd name="T42" fmla="*/ 0 w 250"/>
                  <a:gd name="T43" fmla="*/ 419 h 455"/>
                  <a:gd name="T44" fmla="*/ 5 w 250"/>
                  <a:gd name="T45" fmla="*/ 392 h 455"/>
                  <a:gd name="T46" fmla="*/ 20 w 250"/>
                  <a:gd name="T47" fmla="*/ 387 h 455"/>
                  <a:gd name="T48" fmla="*/ 57 w 250"/>
                  <a:gd name="T49" fmla="*/ 413 h 455"/>
                  <a:gd name="T50" fmla="*/ 37 w 250"/>
                  <a:gd name="T51" fmla="*/ 372 h 455"/>
                  <a:gd name="T52" fmla="*/ 48 w 250"/>
                  <a:gd name="T53" fmla="*/ 364 h 455"/>
                  <a:gd name="T54" fmla="*/ 66 w 250"/>
                  <a:gd name="T55" fmla="*/ 369 h 455"/>
                  <a:gd name="T56" fmla="*/ 87 w 250"/>
                  <a:gd name="T57" fmla="*/ 399 h 455"/>
                  <a:gd name="T58" fmla="*/ 87 w 250"/>
                  <a:gd name="T59" fmla="*/ 333 h 455"/>
                  <a:gd name="T60" fmla="*/ 87 w 250"/>
                  <a:gd name="T61" fmla="*/ 263 h 455"/>
                  <a:gd name="T62" fmla="*/ 97 w 250"/>
                  <a:gd name="T63" fmla="*/ 200 h 455"/>
                  <a:gd name="T64" fmla="*/ 115 w 250"/>
                  <a:gd name="T65" fmla="*/ 147 h 455"/>
                  <a:gd name="T66" fmla="*/ 133 w 250"/>
                  <a:gd name="T67" fmla="*/ 100 h 455"/>
                  <a:gd name="T68" fmla="*/ 153 w 250"/>
                  <a:gd name="T69" fmla="*/ 74 h 45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50" h="455">
                    <a:moveTo>
                      <a:pt x="153" y="74"/>
                    </a:moveTo>
                    <a:lnTo>
                      <a:pt x="186" y="24"/>
                    </a:lnTo>
                    <a:lnTo>
                      <a:pt x="209" y="5"/>
                    </a:lnTo>
                    <a:lnTo>
                      <a:pt x="235" y="0"/>
                    </a:lnTo>
                    <a:lnTo>
                      <a:pt x="250" y="45"/>
                    </a:lnTo>
                    <a:lnTo>
                      <a:pt x="227" y="83"/>
                    </a:lnTo>
                    <a:lnTo>
                      <a:pt x="209" y="97"/>
                    </a:lnTo>
                    <a:lnTo>
                      <a:pt x="175" y="132"/>
                    </a:lnTo>
                    <a:lnTo>
                      <a:pt x="144" y="187"/>
                    </a:lnTo>
                    <a:lnTo>
                      <a:pt x="129" y="254"/>
                    </a:lnTo>
                    <a:lnTo>
                      <a:pt x="124" y="314"/>
                    </a:lnTo>
                    <a:lnTo>
                      <a:pt x="121" y="369"/>
                    </a:lnTo>
                    <a:lnTo>
                      <a:pt x="124" y="408"/>
                    </a:lnTo>
                    <a:lnTo>
                      <a:pt x="135" y="408"/>
                    </a:lnTo>
                    <a:lnTo>
                      <a:pt x="161" y="387"/>
                    </a:lnTo>
                    <a:lnTo>
                      <a:pt x="193" y="399"/>
                    </a:lnTo>
                    <a:lnTo>
                      <a:pt x="172" y="419"/>
                    </a:lnTo>
                    <a:lnTo>
                      <a:pt x="130" y="437"/>
                    </a:lnTo>
                    <a:lnTo>
                      <a:pt x="117" y="453"/>
                    </a:lnTo>
                    <a:lnTo>
                      <a:pt x="80" y="455"/>
                    </a:lnTo>
                    <a:lnTo>
                      <a:pt x="46" y="440"/>
                    </a:lnTo>
                    <a:lnTo>
                      <a:pt x="0" y="419"/>
                    </a:lnTo>
                    <a:lnTo>
                      <a:pt x="5" y="392"/>
                    </a:lnTo>
                    <a:lnTo>
                      <a:pt x="20" y="387"/>
                    </a:lnTo>
                    <a:lnTo>
                      <a:pt x="57" y="413"/>
                    </a:lnTo>
                    <a:lnTo>
                      <a:pt x="37" y="372"/>
                    </a:lnTo>
                    <a:lnTo>
                      <a:pt x="48" y="364"/>
                    </a:lnTo>
                    <a:lnTo>
                      <a:pt x="66" y="369"/>
                    </a:lnTo>
                    <a:lnTo>
                      <a:pt x="87" y="399"/>
                    </a:lnTo>
                    <a:lnTo>
                      <a:pt x="87" y="333"/>
                    </a:lnTo>
                    <a:lnTo>
                      <a:pt x="87" y="263"/>
                    </a:lnTo>
                    <a:lnTo>
                      <a:pt x="97" y="200"/>
                    </a:lnTo>
                    <a:lnTo>
                      <a:pt x="115" y="147"/>
                    </a:lnTo>
                    <a:lnTo>
                      <a:pt x="133" y="100"/>
                    </a:lnTo>
                    <a:lnTo>
                      <a:pt x="153"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2" name="Freeform 31"/>
              <p:cNvSpPr>
                <a:spLocks/>
              </p:cNvSpPr>
              <p:nvPr/>
            </p:nvSpPr>
            <p:spPr bwMode="auto">
              <a:xfrm>
                <a:off x="2825" y="3469"/>
                <a:ext cx="457" cy="493"/>
              </a:xfrm>
              <a:custGeom>
                <a:avLst/>
                <a:gdLst>
                  <a:gd name="T0" fmla="*/ 53 w 457"/>
                  <a:gd name="T1" fmla="*/ 3 h 493"/>
                  <a:gd name="T2" fmla="*/ 80 w 457"/>
                  <a:gd name="T3" fmla="*/ 5 h 493"/>
                  <a:gd name="T4" fmla="*/ 118 w 457"/>
                  <a:gd name="T5" fmla="*/ 23 h 493"/>
                  <a:gd name="T6" fmla="*/ 161 w 457"/>
                  <a:gd name="T7" fmla="*/ 62 h 493"/>
                  <a:gd name="T8" fmla="*/ 208 w 457"/>
                  <a:gd name="T9" fmla="*/ 116 h 493"/>
                  <a:gd name="T10" fmla="*/ 261 w 457"/>
                  <a:gd name="T11" fmla="*/ 190 h 493"/>
                  <a:gd name="T12" fmla="*/ 302 w 457"/>
                  <a:gd name="T13" fmla="*/ 271 h 493"/>
                  <a:gd name="T14" fmla="*/ 324 w 457"/>
                  <a:gd name="T15" fmla="*/ 365 h 493"/>
                  <a:gd name="T16" fmla="*/ 347 w 457"/>
                  <a:gd name="T17" fmla="*/ 421 h 493"/>
                  <a:gd name="T18" fmla="*/ 360 w 457"/>
                  <a:gd name="T19" fmla="*/ 452 h 493"/>
                  <a:gd name="T20" fmla="*/ 388 w 457"/>
                  <a:gd name="T21" fmla="*/ 460 h 493"/>
                  <a:gd name="T22" fmla="*/ 428 w 457"/>
                  <a:gd name="T23" fmla="*/ 460 h 493"/>
                  <a:gd name="T24" fmla="*/ 448 w 457"/>
                  <a:gd name="T25" fmla="*/ 461 h 493"/>
                  <a:gd name="T26" fmla="*/ 457 w 457"/>
                  <a:gd name="T27" fmla="*/ 484 h 493"/>
                  <a:gd name="T28" fmla="*/ 430 w 457"/>
                  <a:gd name="T29" fmla="*/ 491 h 493"/>
                  <a:gd name="T30" fmla="*/ 392 w 457"/>
                  <a:gd name="T31" fmla="*/ 488 h 493"/>
                  <a:gd name="T32" fmla="*/ 356 w 457"/>
                  <a:gd name="T33" fmla="*/ 484 h 493"/>
                  <a:gd name="T34" fmla="*/ 333 w 457"/>
                  <a:gd name="T35" fmla="*/ 464 h 493"/>
                  <a:gd name="T36" fmla="*/ 315 w 457"/>
                  <a:gd name="T37" fmla="*/ 470 h 493"/>
                  <a:gd name="T38" fmla="*/ 308 w 457"/>
                  <a:gd name="T39" fmla="*/ 488 h 493"/>
                  <a:gd name="T40" fmla="*/ 284 w 457"/>
                  <a:gd name="T41" fmla="*/ 493 h 493"/>
                  <a:gd name="T42" fmla="*/ 271 w 457"/>
                  <a:gd name="T43" fmla="*/ 482 h 493"/>
                  <a:gd name="T44" fmla="*/ 279 w 457"/>
                  <a:gd name="T45" fmla="*/ 460 h 493"/>
                  <a:gd name="T46" fmla="*/ 303 w 457"/>
                  <a:gd name="T47" fmla="*/ 433 h 493"/>
                  <a:gd name="T48" fmla="*/ 306 w 457"/>
                  <a:gd name="T49" fmla="*/ 398 h 493"/>
                  <a:gd name="T50" fmla="*/ 294 w 457"/>
                  <a:gd name="T51" fmla="*/ 362 h 493"/>
                  <a:gd name="T52" fmla="*/ 270 w 457"/>
                  <a:gd name="T53" fmla="*/ 294 h 493"/>
                  <a:gd name="T54" fmla="*/ 238 w 457"/>
                  <a:gd name="T55" fmla="*/ 244 h 493"/>
                  <a:gd name="T56" fmla="*/ 207 w 457"/>
                  <a:gd name="T57" fmla="*/ 193 h 493"/>
                  <a:gd name="T58" fmla="*/ 175 w 457"/>
                  <a:gd name="T59" fmla="*/ 154 h 493"/>
                  <a:gd name="T60" fmla="*/ 130 w 457"/>
                  <a:gd name="T61" fmla="*/ 112 h 493"/>
                  <a:gd name="T62" fmla="*/ 80 w 457"/>
                  <a:gd name="T63" fmla="*/ 84 h 493"/>
                  <a:gd name="T64" fmla="*/ 12 w 457"/>
                  <a:gd name="T65" fmla="*/ 57 h 493"/>
                  <a:gd name="T66" fmla="*/ 0 w 457"/>
                  <a:gd name="T67" fmla="*/ 23 h 493"/>
                  <a:gd name="T68" fmla="*/ 21 w 457"/>
                  <a:gd name="T69" fmla="*/ 0 h 493"/>
                  <a:gd name="T70" fmla="*/ 53 w 457"/>
                  <a:gd name="T71" fmla="*/ 3 h 4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57" h="493">
                    <a:moveTo>
                      <a:pt x="53" y="3"/>
                    </a:moveTo>
                    <a:lnTo>
                      <a:pt x="80" y="5"/>
                    </a:lnTo>
                    <a:lnTo>
                      <a:pt x="118" y="23"/>
                    </a:lnTo>
                    <a:lnTo>
                      <a:pt x="161" y="62"/>
                    </a:lnTo>
                    <a:lnTo>
                      <a:pt x="208" y="116"/>
                    </a:lnTo>
                    <a:lnTo>
                      <a:pt x="261" y="190"/>
                    </a:lnTo>
                    <a:lnTo>
                      <a:pt x="302" y="271"/>
                    </a:lnTo>
                    <a:lnTo>
                      <a:pt x="324" y="365"/>
                    </a:lnTo>
                    <a:lnTo>
                      <a:pt x="347" y="421"/>
                    </a:lnTo>
                    <a:lnTo>
                      <a:pt x="360" y="452"/>
                    </a:lnTo>
                    <a:lnTo>
                      <a:pt x="388" y="460"/>
                    </a:lnTo>
                    <a:lnTo>
                      <a:pt x="428" y="460"/>
                    </a:lnTo>
                    <a:lnTo>
                      <a:pt x="448" y="461"/>
                    </a:lnTo>
                    <a:lnTo>
                      <a:pt x="457" y="484"/>
                    </a:lnTo>
                    <a:lnTo>
                      <a:pt x="430" y="491"/>
                    </a:lnTo>
                    <a:lnTo>
                      <a:pt x="392" y="488"/>
                    </a:lnTo>
                    <a:lnTo>
                      <a:pt x="356" y="484"/>
                    </a:lnTo>
                    <a:lnTo>
                      <a:pt x="333" y="464"/>
                    </a:lnTo>
                    <a:lnTo>
                      <a:pt x="315" y="470"/>
                    </a:lnTo>
                    <a:lnTo>
                      <a:pt x="308" y="488"/>
                    </a:lnTo>
                    <a:lnTo>
                      <a:pt x="284" y="493"/>
                    </a:lnTo>
                    <a:lnTo>
                      <a:pt x="271" y="482"/>
                    </a:lnTo>
                    <a:lnTo>
                      <a:pt x="279" y="460"/>
                    </a:lnTo>
                    <a:lnTo>
                      <a:pt x="303" y="433"/>
                    </a:lnTo>
                    <a:lnTo>
                      <a:pt x="306" y="398"/>
                    </a:lnTo>
                    <a:lnTo>
                      <a:pt x="294" y="362"/>
                    </a:lnTo>
                    <a:lnTo>
                      <a:pt x="270" y="294"/>
                    </a:lnTo>
                    <a:lnTo>
                      <a:pt x="238" y="244"/>
                    </a:lnTo>
                    <a:lnTo>
                      <a:pt x="207" y="193"/>
                    </a:lnTo>
                    <a:lnTo>
                      <a:pt x="175" y="154"/>
                    </a:lnTo>
                    <a:lnTo>
                      <a:pt x="130" y="112"/>
                    </a:lnTo>
                    <a:lnTo>
                      <a:pt x="80" y="84"/>
                    </a:lnTo>
                    <a:lnTo>
                      <a:pt x="12" y="57"/>
                    </a:lnTo>
                    <a:lnTo>
                      <a:pt x="0" y="23"/>
                    </a:lnTo>
                    <a:lnTo>
                      <a:pt x="21" y="0"/>
                    </a:lnTo>
                    <a:lnTo>
                      <a:pt x="53"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3" name="Freeform 32"/>
              <p:cNvSpPr>
                <a:spLocks/>
              </p:cNvSpPr>
              <p:nvPr/>
            </p:nvSpPr>
            <p:spPr bwMode="auto">
              <a:xfrm>
                <a:off x="2917" y="3579"/>
                <a:ext cx="599" cy="359"/>
              </a:xfrm>
              <a:custGeom>
                <a:avLst/>
                <a:gdLst>
                  <a:gd name="T0" fmla="*/ 29 w 599"/>
                  <a:gd name="T1" fmla="*/ 247 h 359"/>
                  <a:gd name="T2" fmla="*/ 5 w 599"/>
                  <a:gd name="T3" fmla="*/ 264 h 359"/>
                  <a:gd name="T4" fmla="*/ 0 w 599"/>
                  <a:gd name="T5" fmla="*/ 292 h 359"/>
                  <a:gd name="T6" fmla="*/ 5 w 599"/>
                  <a:gd name="T7" fmla="*/ 341 h 359"/>
                  <a:gd name="T8" fmla="*/ 27 w 599"/>
                  <a:gd name="T9" fmla="*/ 359 h 359"/>
                  <a:gd name="T10" fmla="*/ 86 w 599"/>
                  <a:gd name="T11" fmla="*/ 345 h 359"/>
                  <a:gd name="T12" fmla="*/ 150 w 599"/>
                  <a:gd name="T13" fmla="*/ 306 h 359"/>
                  <a:gd name="T14" fmla="*/ 234 w 599"/>
                  <a:gd name="T15" fmla="*/ 259 h 359"/>
                  <a:gd name="T16" fmla="*/ 293 w 599"/>
                  <a:gd name="T17" fmla="*/ 232 h 359"/>
                  <a:gd name="T18" fmla="*/ 329 w 599"/>
                  <a:gd name="T19" fmla="*/ 227 h 359"/>
                  <a:gd name="T20" fmla="*/ 383 w 599"/>
                  <a:gd name="T21" fmla="*/ 224 h 359"/>
                  <a:gd name="T22" fmla="*/ 414 w 599"/>
                  <a:gd name="T23" fmla="*/ 220 h 359"/>
                  <a:gd name="T24" fmla="*/ 452 w 599"/>
                  <a:gd name="T25" fmla="*/ 197 h 359"/>
                  <a:gd name="T26" fmla="*/ 489 w 599"/>
                  <a:gd name="T27" fmla="*/ 186 h 359"/>
                  <a:gd name="T28" fmla="*/ 507 w 599"/>
                  <a:gd name="T29" fmla="*/ 186 h 359"/>
                  <a:gd name="T30" fmla="*/ 536 w 599"/>
                  <a:gd name="T31" fmla="*/ 186 h 359"/>
                  <a:gd name="T32" fmla="*/ 545 w 599"/>
                  <a:gd name="T33" fmla="*/ 173 h 359"/>
                  <a:gd name="T34" fmla="*/ 549 w 599"/>
                  <a:gd name="T35" fmla="*/ 136 h 359"/>
                  <a:gd name="T36" fmla="*/ 566 w 599"/>
                  <a:gd name="T37" fmla="*/ 97 h 359"/>
                  <a:gd name="T38" fmla="*/ 590 w 599"/>
                  <a:gd name="T39" fmla="*/ 59 h 359"/>
                  <a:gd name="T40" fmla="*/ 599 w 599"/>
                  <a:gd name="T41" fmla="*/ 41 h 359"/>
                  <a:gd name="T42" fmla="*/ 593 w 599"/>
                  <a:gd name="T43" fmla="*/ 18 h 359"/>
                  <a:gd name="T44" fmla="*/ 557 w 599"/>
                  <a:gd name="T45" fmla="*/ 0 h 359"/>
                  <a:gd name="T46" fmla="*/ 531 w 599"/>
                  <a:gd name="T47" fmla="*/ 5 h 359"/>
                  <a:gd name="T48" fmla="*/ 504 w 599"/>
                  <a:gd name="T49" fmla="*/ 86 h 359"/>
                  <a:gd name="T50" fmla="*/ 494 w 599"/>
                  <a:gd name="T51" fmla="*/ 150 h 359"/>
                  <a:gd name="T52" fmla="*/ 476 w 599"/>
                  <a:gd name="T53" fmla="*/ 159 h 359"/>
                  <a:gd name="T54" fmla="*/ 401 w 599"/>
                  <a:gd name="T55" fmla="*/ 165 h 359"/>
                  <a:gd name="T56" fmla="*/ 321 w 599"/>
                  <a:gd name="T57" fmla="*/ 173 h 359"/>
                  <a:gd name="T58" fmla="*/ 270 w 599"/>
                  <a:gd name="T59" fmla="*/ 170 h 359"/>
                  <a:gd name="T60" fmla="*/ 243 w 599"/>
                  <a:gd name="T61" fmla="*/ 182 h 359"/>
                  <a:gd name="T62" fmla="*/ 189 w 599"/>
                  <a:gd name="T63" fmla="*/ 200 h 359"/>
                  <a:gd name="T64" fmla="*/ 99 w 599"/>
                  <a:gd name="T65" fmla="*/ 227 h 359"/>
                  <a:gd name="T66" fmla="*/ 29 w 599"/>
                  <a:gd name="T67" fmla="*/ 247 h 35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99" h="359">
                    <a:moveTo>
                      <a:pt x="29" y="247"/>
                    </a:moveTo>
                    <a:lnTo>
                      <a:pt x="5" y="264"/>
                    </a:lnTo>
                    <a:lnTo>
                      <a:pt x="0" y="292"/>
                    </a:lnTo>
                    <a:lnTo>
                      <a:pt x="5" y="341"/>
                    </a:lnTo>
                    <a:lnTo>
                      <a:pt x="27" y="359"/>
                    </a:lnTo>
                    <a:lnTo>
                      <a:pt x="86" y="345"/>
                    </a:lnTo>
                    <a:lnTo>
                      <a:pt x="150" y="306"/>
                    </a:lnTo>
                    <a:lnTo>
                      <a:pt x="234" y="259"/>
                    </a:lnTo>
                    <a:lnTo>
                      <a:pt x="293" y="232"/>
                    </a:lnTo>
                    <a:lnTo>
                      <a:pt x="329" y="227"/>
                    </a:lnTo>
                    <a:lnTo>
                      <a:pt x="383" y="224"/>
                    </a:lnTo>
                    <a:lnTo>
                      <a:pt x="414" y="220"/>
                    </a:lnTo>
                    <a:lnTo>
                      <a:pt x="452" y="197"/>
                    </a:lnTo>
                    <a:lnTo>
                      <a:pt x="489" y="186"/>
                    </a:lnTo>
                    <a:lnTo>
                      <a:pt x="507" y="186"/>
                    </a:lnTo>
                    <a:lnTo>
                      <a:pt x="536" y="186"/>
                    </a:lnTo>
                    <a:lnTo>
                      <a:pt x="545" y="173"/>
                    </a:lnTo>
                    <a:lnTo>
                      <a:pt x="549" y="136"/>
                    </a:lnTo>
                    <a:lnTo>
                      <a:pt x="566" y="97"/>
                    </a:lnTo>
                    <a:lnTo>
                      <a:pt x="590" y="59"/>
                    </a:lnTo>
                    <a:lnTo>
                      <a:pt x="599" y="41"/>
                    </a:lnTo>
                    <a:lnTo>
                      <a:pt x="593" y="18"/>
                    </a:lnTo>
                    <a:lnTo>
                      <a:pt x="557" y="0"/>
                    </a:lnTo>
                    <a:lnTo>
                      <a:pt x="531" y="5"/>
                    </a:lnTo>
                    <a:lnTo>
                      <a:pt x="504" y="86"/>
                    </a:lnTo>
                    <a:lnTo>
                      <a:pt x="494" y="150"/>
                    </a:lnTo>
                    <a:lnTo>
                      <a:pt x="476" y="159"/>
                    </a:lnTo>
                    <a:lnTo>
                      <a:pt x="401" y="165"/>
                    </a:lnTo>
                    <a:lnTo>
                      <a:pt x="321" y="173"/>
                    </a:lnTo>
                    <a:lnTo>
                      <a:pt x="270" y="170"/>
                    </a:lnTo>
                    <a:lnTo>
                      <a:pt x="243" y="182"/>
                    </a:lnTo>
                    <a:lnTo>
                      <a:pt x="189" y="200"/>
                    </a:lnTo>
                    <a:lnTo>
                      <a:pt x="99" y="227"/>
                    </a:lnTo>
                    <a:lnTo>
                      <a:pt x="29" y="2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4" name="Freeform 33"/>
              <p:cNvSpPr>
                <a:spLocks/>
              </p:cNvSpPr>
              <p:nvPr/>
            </p:nvSpPr>
            <p:spPr bwMode="auto">
              <a:xfrm>
                <a:off x="2801" y="3521"/>
                <a:ext cx="488" cy="411"/>
              </a:xfrm>
              <a:custGeom>
                <a:avLst/>
                <a:gdLst>
                  <a:gd name="T0" fmla="*/ 18 w 488"/>
                  <a:gd name="T1" fmla="*/ 310 h 411"/>
                  <a:gd name="T2" fmla="*/ 0 w 488"/>
                  <a:gd name="T3" fmla="*/ 329 h 411"/>
                  <a:gd name="T4" fmla="*/ 0 w 488"/>
                  <a:gd name="T5" fmla="*/ 356 h 411"/>
                  <a:gd name="T6" fmla="*/ 12 w 488"/>
                  <a:gd name="T7" fmla="*/ 397 h 411"/>
                  <a:gd name="T8" fmla="*/ 35 w 488"/>
                  <a:gd name="T9" fmla="*/ 411 h 411"/>
                  <a:gd name="T10" fmla="*/ 85 w 488"/>
                  <a:gd name="T11" fmla="*/ 388 h 411"/>
                  <a:gd name="T12" fmla="*/ 136 w 488"/>
                  <a:gd name="T13" fmla="*/ 341 h 411"/>
                  <a:gd name="T14" fmla="*/ 202 w 488"/>
                  <a:gd name="T15" fmla="*/ 285 h 411"/>
                  <a:gd name="T16" fmla="*/ 249 w 488"/>
                  <a:gd name="T17" fmla="*/ 251 h 411"/>
                  <a:gd name="T18" fmla="*/ 281 w 488"/>
                  <a:gd name="T19" fmla="*/ 240 h 411"/>
                  <a:gd name="T20" fmla="*/ 328 w 488"/>
                  <a:gd name="T21" fmla="*/ 228 h 411"/>
                  <a:gd name="T22" fmla="*/ 355 w 488"/>
                  <a:gd name="T23" fmla="*/ 220 h 411"/>
                  <a:gd name="T24" fmla="*/ 384 w 488"/>
                  <a:gd name="T25" fmla="*/ 194 h 411"/>
                  <a:gd name="T26" fmla="*/ 416 w 488"/>
                  <a:gd name="T27" fmla="*/ 178 h 411"/>
                  <a:gd name="T28" fmla="*/ 431 w 488"/>
                  <a:gd name="T29" fmla="*/ 173 h 411"/>
                  <a:gd name="T30" fmla="*/ 457 w 488"/>
                  <a:gd name="T31" fmla="*/ 169 h 411"/>
                  <a:gd name="T32" fmla="*/ 462 w 488"/>
                  <a:gd name="T33" fmla="*/ 156 h 411"/>
                  <a:gd name="T34" fmla="*/ 461 w 488"/>
                  <a:gd name="T35" fmla="*/ 123 h 411"/>
                  <a:gd name="T36" fmla="*/ 469 w 488"/>
                  <a:gd name="T37" fmla="*/ 85 h 411"/>
                  <a:gd name="T38" fmla="*/ 483 w 488"/>
                  <a:gd name="T39" fmla="*/ 46 h 411"/>
                  <a:gd name="T40" fmla="*/ 488 w 488"/>
                  <a:gd name="T41" fmla="*/ 30 h 411"/>
                  <a:gd name="T42" fmla="*/ 479 w 488"/>
                  <a:gd name="T43" fmla="*/ 11 h 411"/>
                  <a:gd name="T44" fmla="*/ 443 w 488"/>
                  <a:gd name="T45" fmla="*/ 0 h 411"/>
                  <a:gd name="T46" fmla="*/ 422 w 488"/>
                  <a:gd name="T47" fmla="*/ 8 h 411"/>
                  <a:gd name="T48" fmla="*/ 411 w 488"/>
                  <a:gd name="T49" fmla="*/ 86 h 411"/>
                  <a:gd name="T50" fmla="*/ 413 w 488"/>
                  <a:gd name="T51" fmla="*/ 143 h 411"/>
                  <a:gd name="T52" fmla="*/ 400 w 488"/>
                  <a:gd name="T53" fmla="*/ 154 h 411"/>
                  <a:gd name="T54" fmla="*/ 333 w 488"/>
                  <a:gd name="T55" fmla="*/ 173 h 411"/>
                  <a:gd name="T56" fmla="*/ 264 w 488"/>
                  <a:gd name="T57" fmla="*/ 194 h 411"/>
                  <a:gd name="T58" fmla="*/ 218 w 488"/>
                  <a:gd name="T59" fmla="*/ 201 h 411"/>
                  <a:gd name="T60" fmla="*/ 197 w 488"/>
                  <a:gd name="T61" fmla="*/ 216 h 411"/>
                  <a:gd name="T62" fmla="*/ 152 w 488"/>
                  <a:gd name="T63" fmla="*/ 242 h 411"/>
                  <a:gd name="T64" fmla="*/ 76 w 488"/>
                  <a:gd name="T65" fmla="*/ 280 h 411"/>
                  <a:gd name="T66" fmla="*/ 18 w 488"/>
                  <a:gd name="T67" fmla="*/ 310 h 4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88" h="411">
                    <a:moveTo>
                      <a:pt x="18" y="310"/>
                    </a:moveTo>
                    <a:lnTo>
                      <a:pt x="0" y="329"/>
                    </a:lnTo>
                    <a:lnTo>
                      <a:pt x="0" y="356"/>
                    </a:lnTo>
                    <a:lnTo>
                      <a:pt x="12" y="397"/>
                    </a:lnTo>
                    <a:lnTo>
                      <a:pt x="35" y="411"/>
                    </a:lnTo>
                    <a:lnTo>
                      <a:pt x="85" y="388"/>
                    </a:lnTo>
                    <a:lnTo>
                      <a:pt x="136" y="341"/>
                    </a:lnTo>
                    <a:lnTo>
                      <a:pt x="202" y="285"/>
                    </a:lnTo>
                    <a:lnTo>
                      <a:pt x="249" y="251"/>
                    </a:lnTo>
                    <a:lnTo>
                      <a:pt x="281" y="240"/>
                    </a:lnTo>
                    <a:lnTo>
                      <a:pt x="328" y="228"/>
                    </a:lnTo>
                    <a:lnTo>
                      <a:pt x="355" y="220"/>
                    </a:lnTo>
                    <a:lnTo>
                      <a:pt x="384" y="194"/>
                    </a:lnTo>
                    <a:lnTo>
                      <a:pt x="416" y="178"/>
                    </a:lnTo>
                    <a:lnTo>
                      <a:pt x="431" y="173"/>
                    </a:lnTo>
                    <a:lnTo>
                      <a:pt x="457" y="169"/>
                    </a:lnTo>
                    <a:lnTo>
                      <a:pt x="462" y="156"/>
                    </a:lnTo>
                    <a:lnTo>
                      <a:pt x="461" y="123"/>
                    </a:lnTo>
                    <a:lnTo>
                      <a:pt x="469" y="85"/>
                    </a:lnTo>
                    <a:lnTo>
                      <a:pt x="483" y="46"/>
                    </a:lnTo>
                    <a:lnTo>
                      <a:pt x="488" y="30"/>
                    </a:lnTo>
                    <a:lnTo>
                      <a:pt x="479" y="11"/>
                    </a:lnTo>
                    <a:lnTo>
                      <a:pt x="443" y="0"/>
                    </a:lnTo>
                    <a:lnTo>
                      <a:pt x="422" y="8"/>
                    </a:lnTo>
                    <a:lnTo>
                      <a:pt x="411" y="86"/>
                    </a:lnTo>
                    <a:lnTo>
                      <a:pt x="413" y="143"/>
                    </a:lnTo>
                    <a:lnTo>
                      <a:pt x="400" y="154"/>
                    </a:lnTo>
                    <a:lnTo>
                      <a:pt x="333" y="173"/>
                    </a:lnTo>
                    <a:lnTo>
                      <a:pt x="264" y="194"/>
                    </a:lnTo>
                    <a:lnTo>
                      <a:pt x="218" y="201"/>
                    </a:lnTo>
                    <a:lnTo>
                      <a:pt x="197" y="216"/>
                    </a:lnTo>
                    <a:lnTo>
                      <a:pt x="152" y="242"/>
                    </a:lnTo>
                    <a:lnTo>
                      <a:pt x="76" y="280"/>
                    </a:lnTo>
                    <a:lnTo>
                      <a:pt x="18" y="3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9219" name="Rectangle 34"/>
          <p:cNvSpPr>
            <a:spLocks noGrp="1" noChangeArrowheads="1"/>
          </p:cNvSpPr>
          <p:nvPr>
            <p:ph type="title"/>
          </p:nvPr>
        </p:nvSpPr>
        <p:spPr>
          <a:xfrm>
            <a:off x="914400" y="609600"/>
            <a:ext cx="10870232" cy="1143000"/>
          </a:xfrm>
        </p:spPr>
        <p:txBody>
          <a:bodyPr>
            <a:normAutofit fontScale="90000"/>
          </a:bodyPr>
          <a:lstStyle/>
          <a:p>
            <a:pPr eaLnBrk="1" hangingPunct="1"/>
            <a:r>
              <a:rPr lang="en-US" altLang="en-US" dirty="0">
                <a:latin typeface="Times New Roman" panose="02020603050405020304" pitchFamily="18" charset="0"/>
                <a:cs typeface="Times New Roman" panose="02020603050405020304" pitchFamily="18" charset="0"/>
              </a:rPr>
              <a:t>Example Paradigm Shifts: </a:t>
            </a:r>
            <a:r>
              <a:rPr lang="en-US" altLang="en-US" dirty="0">
                <a:solidFill>
                  <a:srgbClr val="FF0000"/>
                </a:solidFill>
                <a:latin typeface="Times New Roman" panose="02020603050405020304" pitchFamily="18" charset="0"/>
                <a:cs typeface="Times New Roman" panose="02020603050405020304" pitchFamily="18" charset="0"/>
              </a:rPr>
              <a:t>Graphical displays</a:t>
            </a:r>
            <a:br>
              <a:rPr lang="en-US" altLang="en-US" dirty="0">
                <a:latin typeface="Times New Roman" panose="02020603050405020304" pitchFamily="18" charset="0"/>
                <a:cs typeface="Times New Roman" panose="02020603050405020304" pitchFamily="18" charset="0"/>
              </a:rPr>
            </a:br>
            <a:endParaRPr lang="en-US" altLang="en-US" dirty="0">
              <a:latin typeface="Times New Roman" panose="02020603050405020304" pitchFamily="18" charset="0"/>
              <a:cs typeface="Times New Roman" panose="02020603050405020304" pitchFamily="18" charset="0"/>
            </a:endParaRPr>
          </a:p>
        </p:txBody>
      </p:sp>
      <p:sp>
        <p:nvSpPr>
          <p:cNvPr id="9220" name="Rectangle 35"/>
          <p:cNvSpPr>
            <a:spLocks noGrp="1" noChangeArrowheads="1"/>
          </p:cNvSpPr>
          <p:nvPr>
            <p:ph type="body" sz="half" idx="1"/>
          </p:nvPr>
        </p:nvSpPr>
        <p:spPr>
          <a:xfrm>
            <a:off x="2209801" y="2856130"/>
            <a:ext cx="3813175" cy="1004917"/>
          </a:xfrm>
        </p:spPr>
        <p:txBody>
          <a:bodyPr/>
          <a:lstStyle/>
          <a:p>
            <a:pPr eaLnBrk="1" hangingPunct="1"/>
            <a:r>
              <a:rPr lang="en-US" altLang="en-US" sz="3000" dirty="0">
                <a:solidFill>
                  <a:srgbClr val="FF0000"/>
                </a:solidFill>
                <a:latin typeface="Times New Roman" panose="02020603050405020304" pitchFamily="18" charset="0"/>
                <a:cs typeface="Times New Roman" panose="02020603050405020304" pitchFamily="18" charset="0"/>
              </a:rPr>
              <a:t>Graphical displays</a:t>
            </a:r>
            <a:endParaRPr lang="en-US" altLang="en-US" sz="3000"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p:txBody>
      </p:sp>
      <p:pic>
        <p:nvPicPr>
          <p:cNvPr id="58404" name="Picture 36" descr="C:\WINNT\Profiles\brothert\Desktop\scree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0" y="3741739"/>
            <a:ext cx="908050"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8405" name="Group 37"/>
          <p:cNvGrpSpPr>
            <a:grpSpLocks/>
          </p:cNvGrpSpPr>
          <p:nvPr/>
        </p:nvGrpSpPr>
        <p:grpSpPr bwMode="auto">
          <a:xfrm>
            <a:off x="5791201" y="3389314"/>
            <a:ext cx="2163763" cy="2020887"/>
            <a:chOff x="2688" y="2064"/>
            <a:chExt cx="1363" cy="1230"/>
          </a:xfrm>
        </p:grpSpPr>
        <p:grpSp>
          <p:nvGrpSpPr>
            <p:cNvPr id="9227" name="Group 38"/>
            <p:cNvGrpSpPr>
              <a:grpSpLocks/>
            </p:cNvGrpSpPr>
            <p:nvPr/>
          </p:nvGrpSpPr>
          <p:grpSpPr bwMode="auto">
            <a:xfrm>
              <a:off x="3083" y="2064"/>
              <a:ext cx="968" cy="1033"/>
              <a:chOff x="3083" y="2082"/>
              <a:chExt cx="968" cy="1033"/>
            </a:xfrm>
          </p:grpSpPr>
          <p:sp>
            <p:nvSpPr>
              <p:cNvPr id="9235" name="Freeform 39"/>
              <p:cNvSpPr>
                <a:spLocks/>
              </p:cNvSpPr>
              <p:nvPr/>
            </p:nvSpPr>
            <p:spPr bwMode="auto">
              <a:xfrm rot="-327198">
                <a:off x="3099" y="2089"/>
                <a:ext cx="946" cy="1014"/>
              </a:xfrm>
              <a:custGeom>
                <a:avLst/>
                <a:gdLst>
                  <a:gd name="T0" fmla="*/ 195 w 901"/>
                  <a:gd name="T1" fmla="*/ 615 h 965"/>
                  <a:gd name="T2" fmla="*/ 114 w 901"/>
                  <a:gd name="T3" fmla="*/ 666 h 965"/>
                  <a:gd name="T4" fmla="*/ 15 w 901"/>
                  <a:gd name="T5" fmla="*/ 731 h 965"/>
                  <a:gd name="T6" fmla="*/ 4 w 901"/>
                  <a:gd name="T7" fmla="*/ 796 h 965"/>
                  <a:gd name="T8" fmla="*/ 0 w 901"/>
                  <a:gd name="T9" fmla="*/ 919 h 965"/>
                  <a:gd name="T10" fmla="*/ 149 w 901"/>
                  <a:gd name="T11" fmla="*/ 936 h 965"/>
                  <a:gd name="T12" fmla="*/ 317 w 901"/>
                  <a:gd name="T13" fmla="*/ 945 h 965"/>
                  <a:gd name="T14" fmla="*/ 566 w 901"/>
                  <a:gd name="T15" fmla="*/ 980 h 965"/>
                  <a:gd name="T16" fmla="*/ 750 w 901"/>
                  <a:gd name="T17" fmla="*/ 1014 h 965"/>
                  <a:gd name="T18" fmla="*/ 834 w 901"/>
                  <a:gd name="T19" fmla="*/ 906 h 965"/>
                  <a:gd name="T20" fmla="*/ 946 w 901"/>
                  <a:gd name="T21" fmla="*/ 685 h 965"/>
                  <a:gd name="T22" fmla="*/ 943 w 901"/>
                  <a:gd name="T23" fmla="*/ 614 h 965"/>
                  <a:gd name="T24" fmla="*/ 919 w 901"/>
                  <a:gd name="T25" fmla="*/ 581 h 965"/>
                  <a:gd name="T26" fmla="*/ 835 w 901"/>
                  <a:gd name="T27" fmla="*/ 573 h 965"/>
                  <a:gd name="T28" fmla="*/ 903 w 901"/>
                  <a:gd name="T29" fmla="*/ 401 h 965"/>
                  <a:gd name="T30" fmla="*/ 917 w 901"/>
                  <a:gd name="T31" fmla="*/ 348 h 965"/>
                  <a:gd name="T32" fmla="*/ 919 w 901"/>
                  <a:gd name="T33" fmla="*/ 208 h 965"/>
                  <a:gd name="T34" fmla="*/ 915 w 901"/>
                  <a:gd name="T35" fmla="*/ 104 h 965"/>
                  <a:gd name="T36" fmla="*/ 888 w 901"/>
                  <a:gd name="T37" fmla="*/ 53 h 965"/>
                  <a:gd name="T38" fmla="*/ 861 w 901"/>
                  <a:gd name="T39" fmla="*/ 49 h 965"/>
                  <a:gd name="T40" fmla="*/ 794 w 901"/>
                  <a:gd name="T41" fmla="*/ 49 h 965"/>
                  <a:gd name="T42" fmla="*/ 684 w 901"/>
                  <a:gd name="T43" fmla="*/ 38 h 965"/>
                  <a:gd name="T44" fmla="*/ 614 w 901"/>
                  <a:gd name="T45" fmla="*/ 17 h 965"/>
                  <a:gd name="T46" fmla="*/ 539 w 901"/>
                  <a:gd name="T47" fmla="*/ 0 h 965"/>
                  <a:gd name="T48" fmla="*/ 508 w 901"/>
                  <a:gd name="T49" fmla="*/ 3 h 965"/>
                  <a:gd name="T50" fmla="*/ 437 w 901"/>
                  <a:gd name="T51" fmla="*/ 22 h 965"/>
                  <a:gd name="T52" fmla="*/ 338 w 901"/>
                  <a:gd name="T53" fmla="*/ 33 h 965"/>
                  <a:gd name="T54" fmla="*/ 208 w 901"/>
                  <a:gd name="T55" fmla="*/ 56 h 965"/>
                  <a:gd name="T56" fmla="*/ 157 w 901"/>
                  <a:gd name="T57" fmla="*/ 77 h 965"/>
                  <a:gd name="T58" fmla="*/ 107 w 901"/>
                  <a:gd name="T59" fmla="*/ 116 h 965"/>
                  <a:gd name="T60" fmla="*/ 88 w 901"/>
                  <a:gd name="T61" fmla="*/ 182 h 965"/>
                  <a:gd name="T62" fmla="*/ 71 w 901"/>
                  <a:gd name="T63" fmla="*/ 293 h 965"/>
                  <a:gd name="T64" fmla="*/ 55 w 901"/>
                  <a:gd name="T65" fmla="*/ 427 h 965"/>
                  <a:gd name="T66" fmla="*/ 51 w 901"/>
                  <a:gd name="T67" fmla="*/ 506 h 965"/>
                  <a:gd name="T68" fmla="*/ 63 w 901"/>
                  <a:gd name="T69" fmla="*/ 555 h 965"/>
                  <a:gd name="T70" fmla="*/ 87 w 901"/>
                  <a:gd name="T71" fmla="*/ 583 h 965"/>
                  <a:gd name="T72" fmla="*/ 120 w 901"/>
                  <a:gd name="T73" fmla="*/ 598 h 965"/>
                  <a:gd name="T74" fmla="*/ 195 w 901"/>
                  <a:gd name="T75" fmla="*/ 615 h 96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901" h="965">
                    <a:moveTo>
                      <a:pt x="186" y="585"/>
                    </a:moveTo>
                    <a:lnTo>
                      <a:pt x="109" y="634"/>
                    </a:lnTo>
                    <a:lnTo>
                      <a:pt x="14" y="696"/>
                    </a:lnTo>
                    <a:lnTo>
                      <a:pt x="4" y="758"/>
                    </a:lnTo>
                    <a:lnTo>
                      <a:pt x="0" y="875"/>
                    </a:lnTo>
                    <a:lnTo>
                      <a:pt x="142" y="891"/>
                    </a:lnTo>
                    <a:lnTo>
                      <a:pt x="302" y="899"/>
                    </a:lnTo>
                    <a:lnTo>
                      <a:pt x="539" y="933"/>
                    </a:lnTo>
                    <a:lnTo>
                      <a:pt x="714" y="965"/>
                    </a:lnTo>
                    <a:lnTo>
                      <a:pt x="794" y="862"/>
                    </a:lnTo>
                    <a:lnTo>
                      <a:pt x="901" y="652"/>
                    </a:lnTo>
                    <a:lnTo>
                      <a:pt x="898" y="584"/>
                    </a:lnTo>
                    <a:lnTo>
                      <a:pt x="875" y="553"/>
                    </a:lnTo>
                    <a:lnTo>
                      <a:pt x="795" y="545"/>
                    </a:lnTo>
                    <a:lnTo>
                      <a:pt x="860" y="382"/>
                    </a:lnTo>
                    <a:lnTo>
                      <a:pt x="873" y="331"/>
                    </a:lnTo>
                    <a:lnTo>
                      <a:pt x="875" y="198"/>
                    </a:lnTo>
                    <a:lnTo>
                      <a:pt x="871" y="99"/>
                    </a:lnTo>
                    <a:lnTo>
                      <a:pt x="846" y="50"/>
                    </a:lnTo>
                    <a:lnTo>
                      <a:pt x="820" y="47"/>
                    </a:lnTo>
                    <a:lnTo>
                      <a:pt x="756" y="47"/>
                    </a:lnTo>
                    <a:lnTo>
                      <a:pt x="651" y="36"/>
                    </a:lnTo>
                    <a:lnTo>
                      <a:pt x="585" y="16"/>
                    </a:lnTo>
                    <a:lnTo>
                      <a:pt x="513" y="0"/>
                    </a:lnTo>
                    <a:lnTo>
                      <a:pt x="484" y="3"/>
                    </a:lnTo>
                    <a:lnTo>
                      <a:pt x="416" y="21"/>
                    </a:lnTo>
                    <a:lnTo>
                      <a:pt x="322" y="31"/>
                    </a:lnTo>
                    <a:lnTo>
                      <a:pt x="198" y="53"/>
                    </a:lnTo>
                    <a:lnTo>
                      <a:pt x="150" y="73"/>
                    </a:lnTo>
                    <a:lnTo>
                      <a:pt x="102" y="110"/>
                    </a:lnTo>
                    <a:lnTo>
                      <a:pt x="84" y="173"/>
                    </a:lnTo>
                    <a:lnTo>
                      <a:pt x="68" y="279"/>
                    </a:lnTo>
                    <a:lnTo>
                      <a:pt x="52" y="406"/>
                    </a:lnTo>
                    <a:lnTo>
                      <a:pt x="49" y="482"/>
                    </a:lnTo>
                    <a:lnTo>
                      <a:pt x="60" y="528"/>
                    </a:lnTo>
                    <a:lnTo>
                      <a:pt x="83" y="555"/>
                    </a:lnTo>
                    <a:lnTo>
                      <a:pt x="114" y="569"/>
                    </a:lnTo>
                    <a:lnTo>
                      <a:pt x="186" y="585"/>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6" name="Freeform 40"/>
              <p:cNvSpPr>
                <a:spLocks/>
              </p:cNvSpPr>
              <p:nvPr/>
            </p:nvSpPr>
            <p:spPr bwMode="auto">
              <a:xfrm rot="-327198">
                <a:off x="3233" y="2236"/>
                <a:ext cx="525" cy="471"/>
              </a:xfrm>
              <a:custGeom>
                <a:avLst/>
                <a:gdLst>
                  <a:gd name="T0" fmla="*/ 25 w 500"/>
                  <a:gd name="T1" fmla="*/ 97 h 448"/>
                  <a:gd name="T2" fmla="*/ 43 w 500"/>
                  <a:gd name="T3" fmla="*/ 22 h 448"/>
                  <a:gd name="T4" fmla="*/ 59 w 500"/>
                  <a:gd name="T5" fmla="*/ 3 h 448"/>
                  <a:gd name="T6" fmla="*/ 91 w 500"/>
                  <a:gd name="T7" fmla="*/ 0 h 448"/>
                  <a:gd name="T8" fmla="*/ 226 w 500"/>
                  <a:gd name="T9" fmla="*/ 17 h 448"/>
                  <a:gd name="T10" fmla="*/ 390 w 500"/>
                  <a:gd name="T11" fmla="*/ 41 h 448"/>
                  <a:gd name="T12" fmla="*/ 485 w 500"/>
                  <a:gd name="T13" fmla="*/ 58 h 448"/>
                  <a:gd name="T14" fmla="*/ 506 w 500"/>
                  <a:gd name="T15" fmla="*/ 76 h 448"/>
                  <a:gd name="T16" fmla="*/ 518 w 500"/>
                  <a:gd name="T17" fmla="*/ 107 h 448"/>
                  <a:gd name="T18" fmla="*/ 523 w 500"/>
                  <a:gd name="T19" fmla="*/ 230 h 448"/>
                  <a:gd name="T20" fmla="*/ 525 w 500"/>
                  <a:gd name="T21" fmla="*/ 366 h 448"/>
                  <a:gd name="T22" fmla="*/ 518 w 500"/>
                  <a:gd name="T23" fmla="*/ 452 h 448"/>
                  <a:gd name="T24" fmla="*/ 506 w 500"/>
                  <a:gd name="T25" fmla="*/ 467 h 448"/>
                  <a:gd name="T26" fmla="*/ 476 w 500"/>
                  <a:gd name="T27" fmla="*/ 471 h 448"/>
                  <a:gd name="T28" fmla="*/ 335 w 500"/>
                  <a:gd name="T29" fmla="*/ 446 h 448"/>
                  <a:gd name="T30" fmla="*/ 123 w 500"/>
                  <a:gd name="T31" fmla="*/ 402 h 448"/>
                  <a:gd name="T32" fmla="*/ 17 w 500"/>
                  <a:gd name="T33" fmla="*/ 373 h 448"/>
                  <a:gd name="T34" fmla="*/ 3 w 500"/>
                  <a:gd name="T35" fmla="*/ 350 h 448"/>
                  <a:gd name="T36" fmla="*/ 0 w 500"/>
                  <a:gd name="T37" fmla="*/ 304 h 448"/>
                  <a:gd name="T38" fmla="*/ 6 w 500"/>
                  <a:gd name="T39" fmla="*/ 199 h 448"/>
                  <a:gd name="T40" fmla="*/ 25 w 500"/>
                  <a:gd name="T41" fmla="*/ 97 h 4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00" h="448">
                    <a:moveTo>
                      <a:pt x="24" y="92"/>
                    </a:moveTo>
                    <a:lnTo>
                      <a:pt x="41" y="21"/>
                    </a:lnTo>
                    <a:lnTo>
                      <a:pt x="56" y="3"/>
                    </a:lnTo>
                    <a:lnTo>
                      <a:pt x="87" y="0"/>
                    </a:lnTo>
                    <a:lnTo>
                      <a:pt x="215" y="16"/>
                    </a:lnTo>
                    <a:lnTo>
                      <a:pt x="371" y="39"/>
                    </a:lnTo>
                    <a:lnTo>
                      <a:pt x="462" y="55"/>
                    </a:lnTo>
                    <a:lnTo>
                      <a:pt x="482" y="72"/>
                    </a:lnTo>
                    <a:lnTo>
                      <a:pt x="493" y="102"/>
                    </a:lnTo>
                    <a:lnTo>
                      <a:pt x="498" y="219"/>
                    </a:lnTo>
                    <a:lnTo>
                      <a:pt x="500" y="348"/>
                    </a:lnTo>
                    <a:lnTo>
                      <a:pt x="493" y="430"/>
                    </a:lnTo>
                    <a:lnTo>
                      <a:pt x="482" y="444"/>
                    </a:lnTo>
                    <a:lnTo>
                      <a:pt x="453" y="448"/>
                    </a:lnTo>
                    <a:lnTo>
                      <a:pt x="319" y="424"/>
                    </a:lnTo>
                    <a:lnTo>
                      <a:pt x="117" y="382"/>
                    </a:lnTo>
                    <a:lnTo>
                      <a:pt x="16" y="355"/>
                    </a:lnTo>
                    <a:lnTo>
                      <a:pt x="3" y="333"/>
                    </a:lnTo>
                    <a:lnTo>
                      <a:pt x="0" y="289"/>
                    </a:lnTo>
                    <a:lnTo>
                      <a:pt x="6" y="189"/>
                    </a:lnTo>
                    <a:lnTo>
                      <a:pt x="24" y="92"/>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9237" name="Group 41"/>
              <p:cNvGrpSpPr>
                <a:grpSpLocks/>
              </p:cNvGrpSpPr>
              <p:nvPr/>
            </p:nvGrpSpPr>
            <p:grpSpPr bwMode="auto">
              <a:xfrm rot="-327198">
                <a:off x="3083" y="2082"/>
                <a:ext cx="968" cy="1033"/>
                <a:chOff x="1425" y="723"/>
                <a:chExt cx="922" cy="983"/>
              </a:xfrm>
            </p:grpSpPr>
            <p:sp>
              <p:nvSpPr>
                <p:cNvPr id="9238" name="Freeform 42"/>
                <p:cNvSpPr>
                  <a:spLocks/>
                </p:cNvSpPr>
                <p:nvPr/>
              </p:nvSpPr>
              <p:spPr bwMode="auto">
                <a:xfrm>
                  <a:off x="1425" y="1270"/>
                  <a:ext cx="922" cy="436"/>
                </a:xfrm>
                <a:custGeom>
                  <a:avLst/>
                  <a:gdLst>
                    <a:gd name="T0" fmla="*/ 15 w 922"/>
                    <a:gd name="T1" fmla="*/ 153 h 436"/>
                    <a:gd name="T2" fmla="*/ 139 w 922"/>
                    <a:gd name="T3" fmla="*/ 76 h 436"/>
                    <a:gd name="T4" fmla="*/ 139 w 922"/>
                    <a:gd name="T5" fmla="*/ 98 h 436"/>
                    <a:gd name="T6" fmla="*/ 54 w 922"/>
                    <a:gd name="T7" fmla="*/ 154 h 436"/>
                    <a:gd name="T8" fmla="*/ 186 w 922"/>
                    <a:gd name="T9" fmla="*/ 168 h 436"/>
                    <a:gd name="T10" fmla="*/ 460 w 922"/>
                    <a:gd name="T11" fmla="*/ 215 h 436"/>
                    <a:gd name="T12" fmla="*/ 607 w 922"/>
                    <a:gd name="T13" fmla="*/ 227 h 436"/>
                    <a:gd name="T14" fmla="*/ 701 w 922"/>
                    <a:gd name="T15" fmla="*/ 224 h 436"/>
                    <a:gd name="T16" fmla="*/ 727 w 922"/>
                    <a:gd name="T17" fmla="*/ 221 h 436"/>
                    <a:gd name="T18" fmla="*/ 869 w 922"/>
                    <a:gd name="T19" fmla="*/ 22 h 436"/>
                    <a:gd name="T20" fmla="*/ 821 w 922"/>
                    <a:gd name="T21" fmla="*/ 0 h 436"/>
                    <a:gd name="T22" fmla="*/ 896 w 922"/>
                    <a:gd name="T23" fmla="*/ 0 h 436"/>
                    <a:gd name="T24" fmla="*/ 922 w 922"/>
                    <a:gd name="T25" fmla="*/ 28 h 436"/>
                    <a:gd name="T26" fmla="*/ 921 w 922"/>
                    <a:gd name="T27" fmla="*/ 110 h 436"/>
                    <a:gd name="T28" fmla="*/ 889 w 922"/>
                    <a:gd name="T29" fmla="*/ 172 h 436"/>
                    <a:gd name="T30" fmla="*/ 786 w 922"/>
                    <a:gd name="T31" fmla="*/ 373 h 436"/>
                    <a:gd name="T32" fmla="*/ 742 w 922"/>
                    <a:gd name="T33" fmla="*/ 433 h 436"/>
                    <a:gd name="T34" fmla="*/ 712 w 922"/>
                    <a:gd name="T35" fmla="*/ 436 h 436"/>
                    <a:gd name="T36" fmla="*/ 490 w 922"/>
                    <a:gd name="T37" fmla="*/ 396 h 436"/>
                    <a:gd name="T38" fmla="*/ 256 w 922"/>
                    <a:gd name="T39" fmla="*/ 365 h 436"/>
                    <a:gd name="T40" fmla="*/ 34 w 922"/>
                    <a:gd name="T41" fmla="*/ 346 h 436"/>
                    <a:gd name="T42" fmla="*/ 0 w 922"/>
                    <a:gd name="T43" fmla="*/ 343 h 436"/>
                    <a:gd name="T44" fmla="*/ 7 w 922"/>
                    <a:gd name="T45" fmla="*/ 280 h 436"/>
                    <a:gd name="T46" fmla="*/ 12 w 922"/>
                    <a:gd name="T47" fmla="*/ 218 h 436"/>
                    <a:gd name="T48" fmla="*/ 16 w 922"/>
                    <a:gd name="T49" fmla="*/ 184 h 436"/>
                    <a:gd name="T50" fmla="*/ 31 w 922"/>
                    <a:gd name="T51" fmla="*/ 208 h 436"/>
                    <a:gd name="T52" fmla="*/ 27 w 922"/>
                    <a:gd name="T53" fmla="*/ 260 h 436"/>
                    <a:gd name="T54" fmla="*/ 26 w 922"/>
                    <a:gd name="T55" fmla="*/ 313 h 436"/>
                    <a:gd name="T56" fmla="*/ 87 w 922"/>
                    <a:gd name="T57" fmla="*/ 333 h 436"/>
                    <a:gd name="T58" fmla="*/ 234 w 922"/>
                    <a:gd name="T59" fmla="*/ 342 h 436"/>
                    <a:gd name="T60" fmla="*/ 359 w 922"/>
                    <a:gd name="T61" fmla="*/ 351 h 436"/>
                    <a:gd name="T62" fmla="*/ 462 w 922"/>
                    <a:gd name="T63" fmla="*/ 368 h 436"/>
                    <a:gd name="T64" fmla="*/ 615 w 922"/>
                    <a:gd name="T65" fmla="*/ 393 h 436"/>
                    <a:gd name="T66" fmla="*/ 713 w 922"/>
                    <a:gd name="T67" fmla="*/ 407 h 436"/>
                    <a:gd name="T68" fmla="*/ 721 w 922"/>
                    <a:gd name="T69" fmla="*/ 380 h 436"/>
                    <a:gd name="T70" fmla="*/ 721 w 922"/>
                    <a:gd name="T71" fmla="*/ 318 h 436"/>
                    <a:gd name="T72" fmla="*/ 723 w 922"/>
                    <a:gd name="T73" fmla="*/ 250 h 436"/>
                    <a:gd name="T74" fmla="*/ 734 w 922"/>
                    <a:gd name="T75" fmla="*/ 268 h 436"/>
                    <a:gd name="T76" fmla="*/ 736 w 922"/>
                    <a:gd name="T77" fmla="*/ 344 h 436"/>
                    <a:gd name="T78" fmla="*/ 744 w 922"/>
                    <a:gd name="T79" fmla="*/ 384 h 436"/>
                    <a:gd name="T80" fmla="*/ 764 w 922"/>
                    <a:gd name="T81" fmla="*/ 367 h 436"/>
                    <a:gd name="T82" fmla="*/ 801 w 922"/>
                    <a:gd name="T83" fmla="*/ 298 h 436"/>
                    <a:gd name="T84" fmla="*/ 856 w 922"/>
                    <a:gd name="T85" fmla="*/ 200 h 436"/>
                    <a:gd name="T86" fmla="*/ 897 w 922"/>
                    <a:gd name="T87" fmla="*/ 120 h 436"/>
                    <a:gd name="T88" fmla="*/ 906 w 922"/>
                    <a:gd name="T89" fmla="*/ 97 h 436"/>
                    <a:gd name="T90" fmla="*/ 901 w 922"/>
                    <a:gd name="T91" fmla="*/ 36 h 436"/>
                    <a:gd name="T92" fmla="*/ 888 w 922"/>
                    <a:gd name="T93" fmla="*/ 28 h 436"/>
                    <a:gd name="T94" fmla="*/ 848 w 922"/>
                    <a:gd name="T95" fmla="*/ 94 h 436"/>
                    <a:gd name="T96" fmla="*/ 782 w 922"/>
                    <a:gd name="T97" fmla="*/ 177 h 436"/>
                    <a:gd name="T98" fmla="*/ 732 w 922"/>
                    <a:gd name="T99" fmla="*/ 242 h 436"/>
                    <a:gd name="T100" fmla="*/ 693 w 922"/>
                    <a:gd name="T101" fmla="*/ 247 h 436"/>
                    <a:gd name="T102" fmla="*/ 559 w 922"/>
                    <a:gd name="T103" fmla="*/ 243 h 436"/>
                    <a:gd name="T104" fmla="*/ 397 w 922"/>
                    <a:gd name="T105" fmla="*/ 227 h 436"/>
                    <a:gd name="T106" fmla="*/ 243 w 922"/>
                    <a:gd name="T107" fmla="*/ 203 h 436"/>
                    <a:gd name="T108" fmla="*/ 66 w 922"/>
                    <a:gd name="T109" fmla="*/ 175 h 436"/>
                    <a:gd name="T110" fmla="*/ 15 w 922"/>
                    <a:gd name="T111" fmla="*/ 153 h 4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922" h="436">
                      <a:moveTo>
                        <a:pt x="15" y="153"/>
                      </a:moveTo>
                      <a:lnTo>
                        <a:pt x="139" y="76"/>
                      </a:lnTo>
                      <a:lnTo>
                        <a:pt x="139" y="98"/>
                      </a:lnTo>
                      <a:lnTo>
                        <a:pt x="54" y="154"/>
                      </a:lnTo>
                      <a:lnTo>
                        <a:pt x="186" y="168"/>
                      </a:lnTo>
                      <a:lnTo>
                        <a:pt x="460" y="215"/>
                      </a:lnTo>
                      <a:lnTo>
                        <a:pt x="607" y="227"/>
                      </a:lnTo>
                      <a:lnTo>
                        <a:pt x="701" y="224"/>
                      </a:lnTo>
                      <a:lnTo>
                        <a:pt x="727" y="221"/>
                      </a:lnTo>
                      <a:lnTo>
                        <a:pt x="869" y="22"/>
                      </a:lnTo>
                      <a:lnTo>
                        <a:pt x="821" y="0"/>
                      </a:lnTo>
                      <a:lnTo>
                        <a:pt x="896" y="0"/>
                      </a:lnTo>
                      <a:lnTo>
                        <a:pt x="922" y="28"/>
                      </a:lnTo>
                      <a:lnTo>
                        <a:pt x="921" y="110"/>
                      </a:lnTo>
                      <a:lnTo>
                        <a:pt x="889" y="172"/>
                      </a:lnTo>
                      <a:lnTo>
                        <a:pt x="786" y="373"/>
                      </a:lnTo>
                      <a:lnTo>
                        <a:pt x="742" y="433"/>
                      </a:lnTo>
                      <a:lnTo>
                        <a:pt x="712" y="436"/>
                      </a:lnTo>
                      <a:lnTo>
                        <a:pt x="490" y="396"/>
                      </a:lnTo>
                      <a:lnTo>
                        <a:pt x="256" y="365"/>
                      </a:lnTo>
                      <a:lnTo>
                        <a:pt x="34" y="346"/>
                      </a:lnTo>
                      <a:lnTo>
                        <a:pt x="0" y="343"/>
                      </a:lnTo>
                      <a:lnTo>
                        <a:pt x="7" y="280"/>
                      </a:lnTo>
                      <a:lnTo>
                        <a:pt x="12" y="218"/>
                      </a:lnTo>
                      <a:lnTo>
                        <a:pt x="16" y="184"/>
                      </a:lnTo>
                      <a:lnTo>
                        <a:pt x="31" y="208"/>
                      </a:lnTo>
                      <a:lnTo>
                        <a:pt x="27" y="260"/>
                      </a:lnTo>
                      <a:lnTo>
                        <a:pt x="26" y="313"/>
                      </a:lnTo>
                      <a:lnTo>
                        <a:pt x="87" y="333"/>
                      </a:lnTo>
                      <a:lnTo>
                        <a:pt x="234" y="342"/>
                      </a:lnTo>
                      <a:lnTo>
                        <a:pt x="359" y="351"/>
                      </a:lnTo>
                      <a:lnTo>
                        <a:pt x="462" y="368"/>
                      </a:lnTo>
                      <a:lnTo>
                        <a:pt x="615" y="393"/>
                      </a:lnTo>
                      <a:lnTo>
                        <a:pt x="713" y="407"/>
                      </a:lnTo>
                      <a:lnTo>
                        <a:pt x="721" y="380"/>
                      </a:lnTo>
                      <a:lnTo>
                        <a:pt x="721" y="318"/>
                      </a:lnTo>
                      <a:lnTo>
                        <a:pt x="723" y="250"/>
                      </a:lnTo>
                      <a:lnTo>
                        <a:pt x="734" y="268"/>
                      </a:lnTo>
                      <a:lnTo>
                        <a:pt x="736" y="344"/>
                      </a:lnTo>
                      <a:lnTo>
                        <a:pt x="744" y="384"/>
                      </a:lnTo>
                      <a:lnTo>
                        <a:pt x="764" y="367"/>
                      </a:lnTo>
                      <a:lnTo>
                        <a:pt x="801" y="298"/>
                      </a:lnTo>
                      <a:lnTo>
                        <a:pt x="856" y="200"/>
                      </a:lnTo>
                      <a:lnTo>
                        <a:pt x="897" y="120"/>
                      </a:lnTo>
                      <a:lnTo>
                        <a:pt x="906" y="97"/>
                      </a:lnTo>
                      <a:lnTo>
                        <a:pt x="901" y="36"/>
                      </a:lnTo>
                      <a:lnTo>
                        <a:pt x="888" y="28"/>
                      </a:lnTo>
                      <a:lnTo>
                        <a:pt x="848" y="94"/>
                      </a:lnTo>
                      <a:lnTo>
                        <a:pt x="782" y="177"/>
                      </a:lnTo>
                      <a:lnTo>
                        <a:pt x="732" y="242"/>
                      </a:lnTo>
                      <a:lnTo>
                        <a:pt x="693" y="247"/>
                      </a:lnTo>
                      <a:lnTo>
                        <a:pt x="559" y="243"/>
                      </a:lnTo>
                      <a:lnTo>
                        <a:pt x="397" y="227"/>
                      </a:lnTo>
                      <a:lnTo>
                        <a:pt x="243" y="203"/>
                      </a:lnTo>
                      <a:lnTo>
                        <a:pt x="66" y="175"/>
                      </a:lnTo>
                      <a:lnTo>
                        <a:pt x="15" y="1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9" name="Freeform 43"/>
                <p:cNvSpPr>
                  <a:spLocks/>
                </p:cNvSpPr>
                <p:nvPr/>
              </p:nvSpPr>
              <p:spPr bwMode="auto">
                <a:xfrm>
                  <a:off x="1615" y="1332"/>
                  <a:ext cx="460" cy="136"/>
                </a:xfrm>
                <a:custGeom>
                  <a:avLst/>
                  <a:gdLst>
                    <a:gd name="T0" fmla="*/ 15 w 460"/>
                    <a:gd name="T1" fmla="*/ 13 h 136"/>
                    <a:gd name="T2" fmla="*/ 50 w 460"/>
                    <a:gd name="T3" fmla="*/ 0 h 136"/>
                    <a:gd name="T4" fmla="*/ 65 w 460"/>
                    <a:gd name="T5" fmla="*/ 7 h 136"/>
                    <a:gd name="T6" fmla="*/ 51 w 460"/>
                    <a:gd name="T7" fmla="*/ 29 h 136"/>
                    <a:gd name="T8" fmla="*/ 25 w 460"/>
                    <a:gd name="T9" fmla="*/ 39 h 136"/>
                    <a:gd name="T10" fmla="*/ 67 w 460"/>
                    <a:gd name="T11" fmla="*/ 68 h 136"/>
                    <a:gd name="T12" fmla="*/ 134 w 460"/>
                    <a:gd name="T13" fmla="*/ 83 h 136"/>
                    <a:gd name="T14" fmla="*/ 195 w 460"/>
                    <a:gd name="T15" fmla="*/ 87 h 136"/>
                    <a:gd name="T16" fmla="*/ 238 w 460"/>
                    <a:gd name="T17" fmla="*/ 90 h 136"/>
                    <a:gd name="T18" fmla="*/ 320 w 460"/>
                    <a:gd name="T19" fmla="*/ 95 h 136"/>
                    <a:gd name="T20" fmla="*/ 372 w 460"/>
                    <a:gd name="T21" fmla="*/ 98 h 136"/>
                    <a:gd name="T22" fmla="*/ 408 w 460"/>
                    <a:gd name="T23" fmla="*/ 94 h 136"/>
                    <a:gd name="T24" fmla="*/ 442 w 460"/>
                    <a:gd name="T25" fmla="*/ 80 h 136"/>
                    <a:gd name="T26" fmla="*/ 441 w 460"/>
                    <a:gd name="T27" fmla="*/ 65 h 136"/>
                    <a:gd name="T28" fmla="*/ 460 w 460"/>
                    <a:gd name="T29" fmla="*/ 73 h 136"/>
                    <a:gd name="T30" fmla="*/ 447 w 460"/>
                    <a:gd name="T31" fmla="*/ 121 h 136"/>
                    <a:gd name="T32" fmla="*/ 396 w 460"/>
                    <a:gd name="T33" fmla="*/ 136 h 136"/>
                    <a:gd name="T34" fmla="*/ 287 w 460"/>
                    <a:gd name="T35" fmla="*/ 124 h 136"/>
                    <a:gd name="T36" fmla="*/ 177 w 460"/>
                    <a:gd name="T37" fmla="*/ 117 h 136"/>
                    <a:gd name="T38" fmla="*/ 114 w 460"/>
                    <a:gd name="T39" fmla="*/ 115 h 136"/>
                    <a:gd name="T40" fmla="*/ 42 w 460"/>
                    <a:gd name="T41" fmla="*/ 84 h 136"/>
                    <a:gd name="T42" fmla="*/ 7 w 460"/>
                    <a:gd name="T43" fmla="*/ 67 h 136"/>
                    <a:gd name="T44" fmla="*/ 0 w 460"/>
                    <a:gd name="T45" fmla="*/ 36 h 136"/>
                    <a:gd name="T46" fmla="*/ 15 w 460"/>
                    <a:gd name="T47" fmla="*/ 13 h 1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60" h="136">
                      <a:moveTo>
                        <a:pt x="15" y="13"/>
                      </a:moveTo>
                      <a:lnTo>
                        <a:pt x="50" y="0"/>
                      </a:lnTo>
                      <a:lnTo>
                        <a:pt x="65" y="7"/>
                      </a:lnTo>
                      <a:lnTo>
                        <a:pt x="51" y="29"/>
                      </a:lnTo>
                      <a:lnTo>
                        <a:pt x="25" y="39"/>
                      </a:lnTo>
                      <a:lnTo>
                        <a:pt x="67" y="68"/>
                      </a:lnTo>
                      <a:lnTo>
                        <a:pt x="134" y="83"/>
                      </a:lnTo>
                      <a:lnTo>
                        <a:pt x="195" y="87"/>
                      </a:lnTo>
                      <a:lnTo>
                        <a:pt x="238" y="90"/>
                      </a:lnTo>
                      <a:lnTo>
                        <a:pt x="320" y="95"/>
                      </a:lnTo>
                      <a:lnTo>
                        <a:pt x="372" y="98"/>
                      </a:lnTo>
                      <a:lnTo>
                        <a:pt x="408" y="94"/>
                      </a:lnTo>
                      <a:lnTo>
                        <a:pt x="442" y="80"/>
                      </a:lnTo>
                      <a:lnTo>
                        <a:pt x="441" y="65"/>
                      </a:lnTo>
                      <a:lnTo>
                        <a:pt x="460" y="73"/>
                      </a:lnTo>
                      <a:lnTo>
                        <a:pt x="447" y="121"/>
                      </a:lnTo>
                      <a:lnTo>
                        <a:pt x="396" y="136"/>
                      </a:lnTo>
                      <a:lnTo>
                        <a:pt x="287" y="124"/>
                      </a:lnTo>
                      <a:lnTo>
                        <a:pt x="177" y="117"/>
                      </a:lnTo>
                      <a:lnTo>
                        <a:pt x="114" y="115"/>
                      </a:lnTo>
                      <a:lnTo>
                        <a:pt x="42" y="84"/>
                      </a:lnTo>
                      <a:lnTo>
                        <a:pt x="7" y="67"/>
                      </a:lnTo>
                      <a:lnTo>
                        <a:pt x="0" y="36"/>
                      </a:lnTo>
                      <a:lnTo>
                        <a:pt x="15"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0" name="Freeform 44"/>
                <p:cNvSpPr>
                  <a:spLocks/>
                </p:cNvSpPr>
                <p:nvPr/>
              </p:nvSpPr>
              <p:spPr bwMode="auto">
                <a:xfrm>
                  <a:off x="1518" y="1491"/>
                  <a:ext cx="52" cy="46"/>
                </a:xfrm>
                <a:custGeom>
                  <a:avLst/>
                  <a:gdLst>
                    <a:gd name="T0" fmla="*/ 9 w 52"/>
                    <a:gd name="T1" fmla="*/ 0 h 46"/>
                    <a:gd name="T2" fmla="*/ 52 w 52"/>
                    <a:gd name="T3" fmla="*/ 5 h 46"/>
                    <a:gd name="T4" fmla="*/ 47 w 52"/>
                    <a:gd name="T5" fmla="*/ 46 h 46"/>
                    <a:gd name="T6" fmla="*/ 0 w 52"/>
                    <a:gd name="T7" fmla="*/ 39 h 46"/>
                    <a:gd name="T8" fmla="*/ 9 w 52"/>
                    <a:gd name="T9" fmla="*/ 0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46">
                      <a:moveTo>
                        <a:pt x="9" y="0"/>
                      </a:moveTo>
                      <a:lnTo>
                        <a:pt x="52" y="5"/>
                      </a:lnTo>
                      <a:lnTo>
                        <a:pt x="47" y="46"/>
                      </a:lnTo>
                      <a:lnTo>
                        <a:pt x="0" y="39"/>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1" name="Freeform 45"/>
                <p:cNvSpPr>
                  <a:spLocks/>
                </p:cNvSpPr>
                <p:nvPr/>
              </p:nvSpPr>
              <p:spPr bwMode="auto">
                <a:xfrm>
                  <a:off x="1608" y="1500"/>
                  <a:ext cx="51" cy="46"/>
                </a:xfrm>
                <a:custGeom>
                  <a:avLst/>
                  <a:gdLst>
                    <a:gd name="T0" fmla="*/ 8 w 51"/>
                    <a:gd name="T1" fmla="*/ 0 h 46"/>
                    <a:gd name="T2" fmla="*/ 51 w 51"/>
                    <a:gd name="T3" fmla="*/ 5 h 46"/>
                    <a:gd name="T4" fmla="*/ 47 w 51"/>
                    <a:gd name="T5" fmla="*/ 46 h 46"/>
                    <a:gd name="T6" fmla="*/ 0 w 51"/>
                    <a:gd name="T7" fmla="*/ 39 h 46"/>
                    <a:gd name="T8" fmla="*/ 8 w 51"/>
                    <a:gd name="T9" fmla="*/ 0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46">
                      <a:moveTo>
                        <a:pt x="8" y="0"/>
                      </a:moveTo>
                      <a:lnTo>
                        <a:pt x="51" y="5"/>
                      </a:lnTo>
                      <a:lnTo>
                        <a:pt x="47" y="46"/>
                      </a:lnTo>
                      <a:lnTo>
                        <a:pt x="0" y="39"/>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2" name="Freeform 46"/>
                <p:cNvSpPr>
                  <a:spLocks/>
                </p:cNvSpPr>
                <p:nvPr/>
              </p:nvSpPr>
              <p:spPr bwMode="auto">
                <a:xfrm>
                  <a:off x="1896" y="1544"/>
                  <a:ext cx="194" cy="51"/>
                </a:xfrm>
                <a:custGeom>
                  <a:avLst/>
                  <a:gdLst>
                    <a:gd name="T0" fmla="*/ 4 w 194"/>
                    <a:gd name="T1" fmla="*/ 0 h 51"/>
                    <a:gd name="T2" fmla="*/ 193 w 194"/>
                    <a:gd name="T3" fmla="*/ 18 h 51"/>
                    <a:gd name="T4" fmla="*/ 194 w 194"/>
                    <a:gd name="T5" fmla="*/ 51 h 51"/>
                    <a:gd name="T6" fmla="*/ 0 w 194"/>
                    <a:gd name="T7" fmla="*/ 33 h 51"/>
                    <a:gd name="T8" fmla="*/ 4 w 194"/>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51">
                      <a:moveTo>
                        <a:pt x="4" y="0"/>
                      </a:moveTo>
                      <a:lnTo>
                        <a:pt x="193" y="18"/>
                      </a:lnTo>
                      <a:lnTo>
                        <a:pt x="194" y="51"/>
                      </a:lnTo>
                      <a:lnTo>
                        <a:pt x="0" y="33"/>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3" name="Freeform 47"/>
                <p:cNvSpPr>
                  <a:spLocks/>
                </p:cNvSpPr>
                <p:nvPr/>
              </p:nvSpPr>
              <p:spPr bwMode="auto">
                <a:xfrm>
                  <a:off x="1479" y="723"/>
                  <a:ext cx="848" cy="658"/>
                </a:xfrm>
                <a:custGeom>
                  <a:avLst/>
                  <a:gdLst>
                    <a:gd name="T0" fmla="*/ 47 w 848"/>
                    <a:gd name="T1" fmla="*/ 551 h 658"/>
                    <a:gd name="T2" fmla="*/ 28 w 848"/>
                    <a:gd name="T3" fmla="*/ 523 h 658"/>
                    <a:gd name="T4" fmla="*/ 20 w 848"/>
                    <a:gd name="T5" fmla="*/ 481 h 658"/>
                    <a:gd name="T6" fmla="*/ 31 w 848"/>
                    <a:gd name="T7" fmla="*/ 389 h 658"/>
                    <a:gd name="T8" fmla="*/ 54 w 848"/>
                    <a:gd name="T9" fmla="*/ 240 h 658"/>
                    <a:gd name="T10" fmla="*/ 76 w 848"/>
                    <a:gd name="T11" fmla="*/ 129 h 658"/>
                    <a:gd name="T12" fmla="*/ 94 w 848"/>
                    <a:gd name="T13" fmla="*/ 104 h 658"/>
                    <a:gd name="T14" fmla="*/ 123 w 848"/>
                    <a:gd name="T15" fmla="*/ 76 h 658"/>
                    <a:gd name="T16" fmla="*/ 189 w 848"/>
                    <a:gd name="T17" fmla="*/ 61 h 658"/>
                    <a:gd name="T18" fmla="*/ 300 w 848"/>
                    <a:gd name="T19" fmla="*/ 48 h 658"/>
                    <a:gd name="T20" fmla="*/ 392 w 848"/>
                    <a:gd name="T21" fmla="*/ 38 h 658"/>
                    <a:gd name="T22" fmla="*/ 434 w 848"/>
                    <a:gd name="T23" fmla="*/ 21 h 658"/>
                    <a:gd name="T24" fmla="*/ 506 w 848"/>
                    <a:gd name="T25" fmla="*/ 25 h 658"/>
                    <a:gd name="T26" fmla="*/ 628 w 848"/>
                    <a:gd name="T27" fmla="*/ 57 h 658"/>
                    <a:gd name="T28" fmla="*/ 731 w 848"/>
                    <a:gd name="T29" fmla="*/ 67 h 658"/>
                    <a:gd name="T30" fmla="*/ 776 w 848"/>
                    <a:gd name="T31" fmla="*/ 65 h 658"/>
                    <a:gd name="T32" fmla="*/ 811 w 848"/>
                    <a:gd name="T33" fmla="*/ 80 h 658"/>
                    <a:gd name="T34" fmla="*/ 825 w 848"/>
                    <a:gd name="T35" fmla="*/ 144 h 658"/>
                    <a:gd name="T36" fmla="*/ 823 w 848"/>
                    <a:gd name="T37" fmla="*/ 262 h 658"/>
                    <a:gd name="T38" fmla="*/ 823 w 848"/>
                    <a:gd name="T39" fmla="*/ 354 h 658"/>
                    <a:gd name="T40" fmla="*/ 810 w 848"/>
                    <a:gd name="T41" fmla="*/ 394 h 658"/>
                    <a:gd name="T42" fmla="*/ 766 w 848"/>
                    <a:gd name="T43" fmla="*/ 491 h 658"/>
                    <a:gd name="T44" fmla="*/ 714 w 848"/>
                    <a:gd name="T45" fmla="*/ 589 h 658"/>
                    <a:gd name="T46" fmla="*/ 683 w 848"/>
                    <a:gd name="T47" fmla="*/ 625 h 658"/>
                    <a:gd name="T48" fmla="*/ 665 w 848"/>
                    <a:gd name="T49" fmla="*/ 640 h 658"/>
                    <a:gd name="T50" fmla="*/ 686 w 848"/>
                    <a:gd name="T51" fmla="*/ 658 h 658"/>
                    <a:gd name="T52" fmla="*/ 719 w 848"/>
                    <a:gd name="T53" fmla="*/ 619 h 658"/>
                    <a:gd name="T54" fmla="*/ 769 w 848"/>
                    <a:gd name="T55" fmla="*/ 531 h 658"/>
                    <a:gd name="T56" fmla="*/ 815 w 848"/>
                    <a:gd name="T57" fmla="*/ 438 h 658"/>
                    <a:gd name="T58" fmla="*/ 831 w 848"/>
                    <a:gd name="T59" fmla="*/ 392 h 658"/>
                    <a:gd name="T60" fmla="*/ 841 w 848"/>
                    <a:gd name="T61" fmla="*/ 347 h 658"/>
                    <a:gd name="T62" fmla="*/ 844 w 848"/>
                    <a:gd name="T63" fmla="*/ 270 h 658"/>
                    <a:gd name="T64" fmla="*/ 848 w 848"/>
                    <a:gd name="T65" fmla="*/ 153 h 658"/>
                    <a:gd name="T66" fmla="*/ 836 w 848"/>
                    <a:gd name="T67" fmla="*/ 89 h 658"/>
                    <a:gd name="T68" fmla="*/ 819 w 848"/>
                    <a:gd name="T69" fmla="*/ 57 h 658"/>
                    <a:gd name="T70" fmla="*/ 787 w 848"/>
                    <a:gd name="T71" fmla="*/ 44 h 658"/>
                    <a:gd name="T72" fmla="*/ 744 w 848"/>
                    <a:gd name="T73" fmla="*/ 50 h 658"/>
                    <a:gd name="T74" fmla="*/ 679 w 848"/>
                    <a:gd name="T75" fmla="*/ 45 h 658"/>
                    <a:gd name="T76" fmla="*/ 599 w 848"/>
                    <a:gd name="T77" fmla="*/ 31 h 658"/>
                    <a:gd name="T78" fmla="*/ 516 w 848"/>
                    <a:gd name="T79" fmla="*/ 6 h 658"/>
                    <a:gd name="T80" fmla="*/ 460 w 848"/>
                    <a:gd name="T81" fmla="*/ 0 h 658"/>
                    <a:gd name="T82" fmla="*/ 430 w 848"/>
                    <a:gd name="T83" fmla="*/ 6 h 658"/>
                    <a:gd name="T84" fmla="*/ 360 w 848"/>
                    <a:gd name="T85" fmla="*/ 28 h 658"/>
                    <a:gd name="T86" fmla="*/ 235 w 848"/>
                    <a:gd name="T87" fmla="*/ 40 h 658"/>
                    <a:gd name="T88" fmla="*/ 112 w 848"/>
                    <a:gd name="T89" fmla="*/ 60 h 658"/>
                    <a:gd name="T90" fmla="*/ 72 w 848"/>
                    <a:gd name="T91" fmla="*/ 96 h 658"/>
                    <a:gd name="T92" fmla="*/ 44 w 848"/>
                    <a:gd name="T93" fmla="*/ 147 h 658"/>
                    <a:gd name="T94" fmla="*/ 24 w 848"/>
                    <a:gd name="T95" fmla="*/ 255 h 658"/>
                    <a:gd name="T96" fmla="*/ 13 w 848"/>
                    <a:gd name="T97" fmla="*/ 358 h 658"/>
                    <a:gd name="T98" fmla="*/ 0 w 848"/>
                    <a:gd name="T99" fmla="*/ 467 h 658"/>
                    <a:gd name="T100" fmla="*/ 10 w 848"/>
                    <a:gd name="T101" fmla="*/ 529 h 658"/>
                    <a:gd name="T102" fmla="*/ 24 w 848"/>
                    <a:gd name="T103" fmla="*/ 566 h 658"/>
                    <a:gd name="T104" fmla="*/ 55 w 848"/>
                    <a:gd name="T105" fmla="*/ 582 h 658"/>
                    <a:gd name="T106" fmla="*/ 73 w 848"/>
                    <a:gd name="T107" fmla="*/ 579 h 658"/>
                    <a:gd name="T108" fmla="*/ 47 w 848"/>
                    <a:gd name="T109" fmla="*/ 551 h 65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848" h="658">
                      <a:moveTo>
                        <a:pt x="47" y="551"/>
                      </a:moveTo>
                      <a:lnTo>
                        <a:pt x="28" y="523"/>
                      </a:lnTo>
                      <a:lnTo>
                        <a:pt x="20" y="481"/>
                      </a:lnTo>
                      <a:lnTo>
                        <a:pt x="31" y="389"/>
                      </a:lnTo>
                      <a:lnTo>
                        <a:pt x="54" y="240"/>
                      </a:lnTo>
                      <a:lnTo>
                        <a:pt x="76" y="129"/>
                      </a:lnTo>
                      <a:lnTo>
                        <a:pt x="94" y="104"/>
                      </a:lnTo>
                      <a:lnTo>
                        <a:pt x="123" y="76"/>
                      </a:lnTo>
                      <a:lnTo>
                        <a:pt x="189" y="61"/>
                      </a:lnTo>
                      <a:lnTo>
                        <a:pt x="300" y="48"/>
                      </a:lnTo>
                      <a:lnTo>
                        <a:pt x="392" y="38"/>
                      </a:lnTo>
                      <a:lnTo>
                        <a:pt x="434" y="21"/>
                      </a:lnTo>
                      <a:lnTo>
                        <a:pt x="506" y="25"/>
                      </a:lnTo>
                      <a:lnTo>
                        <a:pt x="628" y="57"/>
                      </a:lnTo>
                      <a:lnTo>
                        <a:pt x="731" y="67"/>
                      </a:lnTo>
                      <a:lnTo>
                        <a:pt x="776" y="65"/>
                      </a:lnTo>
                      <a:lnTo>
                        <a:pt x="811" y="80"/>
                      </a:lnTo>
                      <a:lnTo>
                        <a:pt x="825" y="144"/>
                      </a:lnTo>
                      <a:lnTo>
                        <a:pt x="823" y="262"/>
                      </a:lnTo>
                      <a:lnTo>
                        <a:pt x="823" y="354"/>
                      </a:lnTo>
                      <a:lnTo>
                        <a:pt x="810" y="394"/>
                      </a:lnTo>
                      <a:lnTo>
                        <a:pt x="766" y="491"/>
                      </a:lnTo>
                      <a:lnTo>
                        <a:pt x="714" y="589"/>
                      </a:lnTo>
                      <a:lnTo>
                        <a:pt x="683" y="625"/>
                      </a:lnTo>
                      <a:lnTo>
                        <a:pt x="665" y="640"/>
                      </a:lnTo>
                      <a:lnTo>
                        <a:pt x="686" y="658"/>
                      </a:lnTo>
                      <a:lnTo>
                        <a:pt x="719" y="619"/>
                      </a:lnTo>
                      <a:lnTo>
                        <a:pt x="769" y="531"/>
                      </a:lnTo>
                      <a:lnTo>
                        <a:pt x="815" y="438"/>
                      </a:lnTo>
                      <a:lnTo>
                        <a:pt x="831" y="392"/>
                      </a:lnTo>
                      <a:lnTo>
                        <a:pt x="841" y="347"/>
                      </a:lnTo>
                      <a:lnTo>
                        <a:pt x="844" y="270"/>
                      </a:lnTo>
                      <a:lnTo>
                        <a:pt x="848" y="153"/>
                      </a:lnTo>
                      <a:lnTo>
                        <a:pt x="836" y="89"/>
                      </a:lnTo>
                      <a:lnTo>
                        <a:pt x="819" y="57"/>
                      </a:lnTo>
                      <a:lnTo>
                        <a:pt x="787" y="44"/>
                      </a:lnTo>
                      <a:lnTo>
                        <a:pt x="744" y="50"/>
                      </a:lnTo>
                      <a:lnTo>
                        <a:pt x="679" y="45"/>
                      </a:lnTo>
                      <a:lnTo>
                        <a:pt x="599" y="31"/>
                      </a:lnTo>
                      <a:lnTo>
                        <a:pt x="516" y="6"/>
                      </a:lnTo>
                      <a:lnTo>
                        <a:pt x="460" y="0"/>
                      </a:lnTo>
                      <a:lnTo>
                        <a:pt x="430" y="6"/>
                      </a:lnTo>
                      <a:lnTo>
                        <a:pt x="360" y="28"/>
                      </a:lnTo>
                      <a:lnTo>
                        <a:pt x="235" y="40"/>
                      </a:lnTo>
                      <a:lnTo>
                        <a:pt x="112" y="60"/>
                      </a:lnTo>
                      <a:lnTo>
                        <a:pt x="72" y="96"/>
                      </a:lnTo>
                      <a:lnTo>
                        <a:pt x="44" y="147"/>
                      </a:lnTo>
                      <a:lnTo>
                        <a:pt x="24" y="255"/>
                      </a:lnTo>
                      <a:lnTo>
                        <a:pt x="13" y="358"/>
                      </a:lnTo>
                      <a:lnTo>
                        <a:pt x="0" y="467"/>
                      </a:lnTo>
                      <a:lnTo>
                        <a:pt x="10" y="529"/>
                      </a:lnTo>
                      <a:lnTo>
                        <a:pt x="24" y="566"/>
                      </a:lnTo>
                      <a:lnTo>
                        <a:pt x="55" y="582"/>
                      </a:lnTo>
                      <a:lnTo>
                        <a:pt x="73" y="579"/>
                      </a:lnTo>
                      <a:lnTo>
                        <a:pt x="47" y="5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4" name="Freeform 48"/>
                <p:cNvSpPr>
                  <a:spLocks/>
                </p:cNvSpPr>
                <p:nvPr/>
              </p:nvSpPr>
              <p:spPr bwMode="auto">
                <a:xfrm>
                  <a:off x="1523" y="781"/>
                  <a:ext cx="778" cy="607"/>
                </a:xfrm>
                <a:custGeom>
                  <a:avLst/>
                  <a:gdLst>
                    <a:gd name="T0" fmla="*/ 0 w 778"/>
                    <a:gd name="T1" fmla="*/ 499 h 607"/>
                    <a:gd name="T2" fmla="*/ 115 w 778"/>
                    <a:gd name="T3" fmla="*/ 525 h 607"/>
                    <a:gd name="T4" fmla="*/ 276 w 778"/>
                    <a:gd name="T5" fmla="*/ 554 h 607"/>
                    <a:gd name="T6" fmla="*/ 407 w 778"/>
                    <a:gd name="T7" fmla="*/ 576 h 607"/>
                    <a:gd name="T8" fmla="*/ 526 w 778"/>
                    <a:gd name="T9" fmla="*/ 580 h 607"/>
                    <a:gd name="T10" fmla="*/ 604 w 778"/>
                    <a:gd name="T11" fmla="*/ 580 h 607"/>
                    <a:gd name="T12" fmla="*/ 627 w 778"/>
                    <a:gd name="T13" fmla="*/ 573 h 607"/>
                    <a:gd name="T14" fmla="*/ 637 w 778"/>
                    <a:gd name="T15" fmla="*/ 516 h 607"/>
                    <a:gd name="T16" fmla="*/ 633 w 778"/>
                    <a:gd name="T17" fmla="*/ 362 h 607"/>
                    <a:gd name="T18" fmla="*/ 628 w 778"/>
                    <a:gd name="T19" fmla="*/ 174 h 607"/>
                    <a:gd name="T20" fmla="*/ 622 w 778"/>
                    <a:gd name="T21" fmla="*/ 106 h 607"/>
                    <a:gd name="T22" fmla="*/ 610 w 778"/>
                    <a:gd name="T23" fmla="*/ 79 h 607"/>
                    <a:gd name="T24" fmla="*/ 405 w 778"/>
                    <a:gd name="T25" fmla="*/ 69 h 607"/>
                    <a:gd name="T26" fmla="*/ 209 w 778"/>
                    <a:gd name="T27" fmla="*/ 42 h 607"/>
                    <a:gd name="T28" fmla="*/ 101 w 778"/>
                    <a:gd name="T29" fmla="*/ 26 h 607"/>
                    <a:gd name="T30" fmla="*/ 63 w 778"/>
                    <a:gd name="T31" fmla="*/ 26 h 607"/>
                    <a:gd name="T32" fmla="*/ 87 w 778"/>
                    <a:gd name="T33" fmla="*/ 3 h 607"/>
                    <a:gd name="T34" fmla="*/ 133 w 778"/>
                    <a:gd name="T35" fmla="*/ 15 h 607"/>
                    <a:gd name="T36" fmla="*/ 268 w 778"/>
                    <a:gd name="T37" fmla="*/ 32 h 607"/>
                    <a:gd name="T38" fmla="*/ 396 w 778"/>
                    <a:gd name="T39" fmla="*/ 45 h 607"/>
                    <a:gd name="T40" fmla="*/ 511 w 778"/>
                    <a:gd name="T41" fmla="*/ 53 h 607"/>
                    <a:gd name="T42" fmla="*/ 619 w 778"/>
                    <a:gd name="T43" fmla="*/ 60 h 607"/>
                    <a:gd name="T44" fmla="*/ 709 w 778"/>
                    <a:gd name="T45" fmla="*/ 35 h 607"/>
                    <a:gd name="T46" fmla="*/ 763 w 778"/>
                    <a:gd name="T47" fmla="*/ 0 h 607"/>
                    <a:gd name="T48" fmla="*/ 778 w 778"/>
                    <a:gd name="T49" fmla="*/ 24 h 607"/>
                    <a:gd name="T50" fmla="*/ 730 w 778"/>
                    <a:gd name="T51" fmla="*/ 45 h 607"/>
                    <a:gd name="T52" fmla="*/ 660 w 778"/>
                    <a:gd name="T53" fmla="*/ 75 h 607"/>
                    <a:gd name="T54" fmla="*/ 638 w 778"/>
                    <a:gd name="T55" fmla="*/ 86 h 607"/>
                    <a:gd name="T56" fmla="*/ 645 w 778"/>
                    <a:gd name="T57" fmla="*/ 186 h 607"/>
                    <a:gd name="T58" fmla="*/ 649 w 778"/>
                    <a:gd name="T59" fmla="*/ 283 h 607"/>
                    <a:gd name="T60" fmla="*/ 651 w 778"/>
                    <a:gd name="T61" fmla="*/ 371 h 607"/>
                    <a:gd name="T62" fmla="*/ 652 w 778"/>
                    <a:gd name="T63" fmla="*/ 456 h 607"/>
                    <a:gd name="T64" fmla="*/ 655 w 778"/>
                    <a:gd name="T65" fmla="*/ 520 h 607"/>
                    <a:gd name="T66" fmla="*/ 654 w 778"/>
                    <a:gd name="T67" fmla="*/ 574 h 607"/>
                    <a:gd name="T68" fmla="*/ 640 w 778"/>
                    <a:gd name="T69" fmla="*/ 599 h 607"/>
                    <a:gd name="T70" fmla="*/ 547 w 778"/>
                    <a:gd name="T71" fmla="*/ 607 h 607"/>
                    <a:gd name="T72" fmla="*/ 389 w 778"/>
                    <a:gd name="T73" fmla="*/ 593 h 607"/>
                    <a:gd name="T74" fmla="*/ 227 w 778"/>
                    <a:gd name="T75" fmla="*/ 561 h 607"/>
                    <a:gd name="T76" fmla="*/ 108 w 778"/>
                    <a:gd name="T77" fmla="*/ 542 h 607"/>
                    <a:gd name="T78" fmla="*/ 9 w 778"/>
                    <a:gd name="T79" fmla="*/ 524 h 607"/>
                    <a:gd name="T80" fmla="*/ 0 w 778"/>
                    <a:gd name="T81" fmla="*/ 499 h 6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78" h="607">
                      <a:moveTo>
                        <a:pt x="0" y="499"/>
                      </a:moveTo>
                      <a:lnTo>
                        <a:pt x="115" y="525"/>
                      </a:lnTo>
                      <a:lnTo>
                        <a:pt x="276" y="554"/>
                      </a:lnTo>
                      <a:lnTo>
                        <a:pt x="407" y="576"/>
                      </a:lnTo>
                      <a:lnTo>
                        <a:pt x="526" y="580"/>
                      </a:lnTo>
                      <a:lnTo>
                        <a:pt x="604" y="580"/>
                      </a:lnTo>
                      <a:lnTo>
                        <a:pt x="627" y="573"/>
                      </a:lnTo>
                      <a:lnTo>
                        <a:pt x="637" y="516"/>
                      </a:lnTo>
                      <a:lnTo>
                        <a:pt x="633" y="362"/>
                      </a:lnTo>
                      <a:lnTo>
                        <a:pt x="628" y="174"/>
                      </a:lnTo>
                      <a:lnTo>
                        <a:pt x="622" y="106"/>
                      </a:lnTo>
                      <a:lnTo>
                        <a:pt x="610" y="79"/>
                      </a:lnTo>
                      <a:lnTo>
                        <a:pt x="405" y="69"/>
                      </a:lnTo>
                      <a:lnTo>
                        <a:pt x="209" y="42"/>
                      </a:lnTo>
                      <a:lnTo>
                        <a:pt x="101" y="26"/>
                      </a:lnTo>
                      <a:lnTo>
                        <a:pt x="63" y="26"/>
                      </a:lnTo>
                      <a:lnTo>
                        <a:pt x="87" y="3"/>
                      </a:lnTo>
                      <a:lnTo>
                        <a:pt x="133" y="15"/>
                      </a:lnTo>
                      <a:lnTo>
                        <a:pt x="268" y="32"/>
                      </a:lnTo>
                      <a:lnTo>
                        <a:pt x="396" y="45"/>
                      </a:lnTo>
                      <a:lnTo>
                        <a:pt x="511" y="53"/>
                      </a:lnTo>
                      <a:lnTo>
                        <a:pt x="619" y="60"/>
                      </a:lnTo>
                      <a:lnTo>
                        <a:pt x="709" y="35"/>
                      </a:lnTo>
                      <a:lnTo>
                        <a:pt x="763" y="0"/>
                      </a:lnTo>
                      <a:lnTo>
                        <a:pt x="778" y="24"/>
                      </a:lnTo>
                      <a:lnTo>
                        <a:pt x="730" y="45"/>
                      </a:lnTo>
                      <a:lnTo>
                        <a:pt x="660" y="75"/>
                      </a:lnTo>
                      <a:lnTo>
                        <a:pt x="638" y="86"/>
                      </a:lnTo>
                      <a:lnTo>
                        <a:pt x="645" y="186"/>
                      </a:lnTo>
                      <a:lnTo>
                        <a:pt x="649" y="283"/>
                      </a:lnTo>
                      <a:lnTo>
                        <a:pt x="651" y="371"/>
                      </a:lnTo>
                      <a:lnTo>
                        <a:pt x="652" y="456"/>
                      </a:lnTo>
                      <a:lnTo>
                        <a:pt x="655" y="520"/>
                      </a:lnTo>
                      <a:lnTo>
                        <a:pt x="654" y="574"/>
                      </a:lnTo>
                      <a:lnTo>
                        <a:pt x="640" y="599"/>
                      </a:lnTo>
                      <a:lnTo>
                        <a:pt x="547" y="607"/>
                      </a:lnTo>
                      <a:lnTo>
                        <a:pt x="389" y="593"/>
                      </a:lnTo>
                      <a:lnTo>
                        <a:pt x="227" y="561"/>
                      </a:lnTo>
                      <a:lnTo>
                        <a:pt x="108" y="542"/>
                      </a:lnTo>
                      <a:lnTo>
                        <a:pt x="9" y="524"/>
                      </a:lnTo>
                      <a:lnTo>
                        <a:pt x="0" y="4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5" name="Freeform 49"/>
                <p:cNvSpPr>
                  <a:spLocks/>
                </p:cNvSpPr>
                <p:nvPr/>
              </p:nvSpPr>
              <p:spPr bwMode="auto">
                <a:xfrm>
                  <a:off x="1658" y="858"/>
                  <a:ext cx="430" cy="466"/>
                </a:xfrm>
                <a:custGeom>
                  <a:avLst/>
                  <a:gdLst>
                    <a:gd name="T0" fmla="*/ 0 w 430"/>
                    <a:gd name="T1" fmla="*/ 0 h 466"/>
                    <a:gd name="T2" fmla="*/ 159 w 430"/>
                    <a:gd name="T3" fmla="*/ 19 h 466"/>
                    <a:gd name="T4" fmla="*/ 271 w 430"/>
                    <a:gd name="T5" fmla="*/ 32 h 466"/>
                    <a:gd name="T6" fmla="*/ 394 w 430"/>
                    <a:gd name="T7" fmla="*/ 54 h 466"/>
                    <a:gd name="T8" fmla="*/ 412 w 430"/>
                    <a:gd name="T9" fmla="*/ 70 h 466"/>
                    <a:gd name="T10" fmla="*/ 422 w 430"/>
                    <a:gd name="T11" fmla="*/ 95 h 466"/>
                    <a:gd name="T12" fmla="*/ 430 w 430"/>
                    <a:gd name="T13" fmla="*/ 213 h 466"/>
                    <a:gd name="T14" fmla="*/ 430 w 430"/>
                    <a:gd name="T15" fmla="*/ 346 h 466"/>
                    <a:gd name="T16" fmla="*/ 426 w 430"/>
                    <a:gd name="T17" fmla="*/ 438 h 466"/>
                    <a:gd name="T18" fmla="*/ 412 w 430"/>
                    <a:gd name="T19" fmla="*/ 464 h 466"/>
                    <a:gd name="T20" fmla="*/ 385 w 430"/>
                    <a:gd name="T21" fmla="*/ 466 h 466"/>
                    <a:gd name="T22" fmla="*/ 246 w 430"/>
                    <a:gd name="T23" fmla="*/ 428 h 466"/>
                    <a:gd name="T24" fmla="*/ 395 w 430"/>
                    <a:gd name="T25" fmla="*/ 440 h 466"/>
                    <a:gd name="T26" fmla="*/ 405 w 430"/>
                    <a:gd name="T27" fmla="*/ 435 h 466"/>
                    <a:gd name="T28" fmla="*/ 412 w 430"/>
                    <a:gd name="T29" fmla="*/ 373 h 466"/>
                    <a:gd name="T30" fmla="*/ 414 w 430"/>
                    <a:gd name="T31" fmla="*/ 285 h 466"/>
                    <a:gd name="T32" fmla="*/ 409 w 430"/>
                    <a:gd name="T33" fmla="*/ 165 h 466"/>
                    <a:gd name="T34" fmla="*/ 401 w 430"/>
                    <a:gd name="T35" fmla="*/ 88 h 466"/>
                    <a:gd name="T36" fmla="*/ 385 w 430"/>
                    <a:gd name="T37" fmla="*/ 73 h 466"/>
                    <a:gd name="T38" fmla="*/ 297 w 430"/>
                    <a:gd name="T39" fmla="*/ 56 h 466"/>
                    <a:gd name="T40" fmla="*/ 176 w 430"/>
                    <a:gd name="T41" fmla="*/ 41 h 466"/>
                    <a:gd name="T42" fmla="*/ 78 w 430"/>
                    <a:gd name="T43" fmla="*/ 22 h 466"/>
                    <a:gd name="T44" fmla="*/ 0 w 430"/>
                    <a:gd name="T45" fmla="*/ 0 h 4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30" h="466">
                      <a:moveTo>
                        <a:pt x="0" y="0"/>
                      </a:moveTo>
                      <a:lnTo>
                        <a:pt x="159" y="19"/>
                      </a:lnTo>
                      <a:lnTo>
                        <a:pt x="271" y="32"/>
                      </a:lnTo>
                      <a:lnTo>
                        <a:pt x="394" y="54"/>
                      </a:lnTo>
                      <a:lnTo>
                        <a:pt x="412" y="70"/>
                      </a:lnTo>
                      <a:lnTo>
                        <a:pt x="422" y="95"/>
                      </a:lnTo>
                      <a:lnTo>
                        <a:pt x="430" y="213"/>
                      </a:lnTo>
                      <a:lnTo>
                        <a:pt x="430" y="346"/>
                      </a:lnTo>
                      <a:lnTo>
                        <a:pt x="426" y="438"/>
                      </a:lnTo>
                      <a:lnTo>
                        <a:pt x="412" y="464"/>
                      </a:lnTo>
                      <a:lnTo>
                        <a:pt x="385" y="466"/>
                      </a:lnTo>
                      <a:lnTo>
                        <a:pt x="246" y="428"/>
                      </a:lnTo>
                      <a:lnTo>
                        <a:pt x="395" y="440"/>
                      </a:lnTo>
                      <a:lnTo>
                        <a:pt x="405" y="435"/>
                      </a:lnTo>
                      <a:lnTo>
                        <a:pt x="412" y="373"/>
                      </a:lnTo>
                      <a:lnTo>
                        <a:pt x="414" y="285"/>
                      </a:lnTo>
                      <a:lnTo>
                        <a:pt x="409" y="165"/>
                      </a:lnTo>
                      <a:lnTo>
                        <a:pt x="401" y="88"/>
                      </a:lnTo>
                      <a:lnTo>
                        <a:pt x="385" y="73"/>
                      </a:lnTo>
                      <a:lnTo>
                        <a:pt x="297" y="56"/>
                      </a:lnTo>
                      <a:lnTo>
                        <a:pt x="176" y="41"/>
                      </a:lnTo>
                      <a:lnTo>
                        <a:pt x="78" y="2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6" name="Freeform 50"/>
                <p:cNvSpPr>
                  <a:spLocks/>
                </p:cNvSpPr>
                <p:nvPr/>
              </p:nvSpPr>
              <p:spPr bwMode="auto">
                <a:xfrm>
                  <a:off x="1574" y="853"/>
                  <a:ext cx="453" cy="464"/>
                </a:xfrm>
                <a:custGeom>
                  <a:avLst/>
                  <a:gdLst>
                    <a:gd name="T0" fmla="*/ 257 w 453"/>
                    <a:gd name="T1" fmla="*/ 27 h 464"/>
                    <a:gd name="T2" fmla="*/ 102 w 453"/>
                    <a:gd name="T3" fmla="*/ 2 h 464"/>
                    <a:gd name="T4" fmla="*/ 57 w 453"/>
                    <a:gd name="T5" fmla="*/ 0 h 464"/>
                    <a:gd name="T6" fmla="*/ 45 w 453"/>
                    <a:gd name="T7" fmla="*/ 17 h 464"/>
                    <a:gd name="T8" fmla="*/ 32 w 453"/>
                    <a:gd name="T9" fmla="*/ 50 h 464"/>
                    <a:gd name="T10" fmla="*/ 12 w 453"/>
                    <a:gd name="T11" fmla="*/ 141 h 464"/>
                    <a:gd name="T12" fmla="*/ 2 w 453"/>
                    <a:gd name="T13" fmla="*/ 232 h 464"/>
                    <a:gd name="T14" fmla="*/ 0 w 453"/>
                    <a:gd name="T15" fmla="*/ 325 h 464"/>
                    <a:gd name="T16" fmla="*/ 14 w 453"/>
                    <a:gd name="T17" fmla="*/ 362 h 464"/>
                    <a:gd name="T18" fmla="*/ 21 w 453"/>
                    <a:gd name="T19" fmla="*/ 374 h 464"/>
                    <a:gd name="T20" fmla="*/ 119 w 453"/>
                    <a:gd name="T21" fmla="*/ 400 h 464"/>
                    <a:gd name="T22" fmla="*/ 245 w 453"/>
                    <a:gd name="T23" fmla="*/ 425 h 464"/>
                    <a:gd name="T24" fmla="*/ 340 w 453"/>
                    <a:gd name="T25" fmla="*/ 441 h 464"/>
                    <a:gd name="T26" fmla="*/ 453 w 453"/>
                    <a:gd name="T27" fmla="*/ 464 h 464"/>
                    <a:gd name="T28" fmla="*/ 450 w 453"/>
                    <a:gd name="T29" fmla="*/ 449 h 464"/>
                    <a:gd name="T30" fmla="*/ 363 w 453"/>
                    <a:gd name="T31" fmla="*/ 429 h 464"/>
                    <a:gd name="T32" fmla="*/ 248 w 453"/>
                    <a:gd name="T33" fmla="*/ 403 h 464"/>
                    <a:gd name="T34" fmla="*/ 92 w 453"/>
                    <a:gd name="T35" fmla="*/ 375 h 464"/>
                    <a:gd name="T36" fmla="*/ 36 w 453"/>
                    <a:gd name="T37" fmla="*/ 349 h 464"/>
                    <a:gd name="T38" fmla="*/ 20 w 453"/>
                    <a:gd name="T39" fmla="*/ 333 h 464"/>
                    <a:gd name="T40" fmla="*/ 18 w 453"/>
                    <a:gd name="T41" fmla="*/ 305 h 464"/>
                    <a:gd name="T42" fmla="*/ 21 w 453"/>
                    <a:gd name="T43" fmla="*/ 228 h 464"/>
                    <a:gd name="T44" fmla="*/ 35 w 453"/>
                    <a:gd name="T45" fmla="*/ 135 h 464"/>
                    <a:gd name="T46" fmla="*/ 56 w 453"/>
                    <a:gd name="T47" fmla="*/ 43 h 464"/>
                    <a:gd name="T48" fmla="*/ 69 w 453"/>
                    <a:gd name="T49" fmla="*/ 22 h 464"/>
                    <a:gd name="T50" fmla="*/ 176 w 453"/>
                    <a:gd name="T51" fmla="*/ 24 h 464"/>
                    <a:gd name="T52" fmla="*/ 257 w 453"/>
                    <a:gd name="T53" fmla="*/ 27 h 46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53" h="464">
                      <a:moveTo>
                        <a:pt x="257" y="27"/>
                      </a:moveTo>
                      <a:lnTo>
                        <a:pt x="102" y="2"/>
                      </a:lnTo>
                      <a:lnTo>
                        <a:pt x="57" y="0"/>
                      </a:lnTo>
                      <a:lnTo>
                        <a:pt x="45" y="17"/>
                      </a:lnTo>
                      <a:lnTo>
                        <a:pt x="32" y="50"/>
                      </a:lnTo>
                      <a:lnTo>
                        <a:pt x="12" y="141"/>
                      </a:lnTo>
                      <a:lnTo>
                        <a:pt x="2" y="232"/>
                      </a:lnTo>
                      <a:lnTo>
                        <a:pt x="0" y="325"/>
                      </a:lnTo>
                      <a:lnTo>
                        <a:pt x="14" y="362"/>
                      </a:lnTo>
                      <a:lnTo>
                        <a:pt x="21" y="374"/>
                      </a:lnTo>
                      <a:lnTo>
                        <a:pt x="119" y="400"/>
                      </a:lnTo>
                      <a:lnTo>
                        <a:pt x="245" y="425"/>
                      </a:lnTo>
                      <a:lnTo>
                        <a:pt x="340" y="441"/>
                      </a:lnTo>
                      <a:lnTo>
                        <a:pt x="453" y="464"/>
                      </a:lnTo>
                      <a:lnTo>
                        <a:pt x="450" y="449"/>
                      </a:lnTo>
                      <a:lnTo>
                        <a:pt x="363" y="429"/>
                      </a:lnTo>
                      <a:lnTo>
                        <a:pt x="248" y="403"/>
                      </a:lnTo>
                      <a:lnTo>
                        <a:pt x="92" y="375"/>
                      </a:lnTo>
                      <a:lnTo>
                        <a:pt x="36" y="349"/>
                      </a:lnTo>
                      <a:lnTo>
                        <a:pt x="20" y="333"/>
                      </a:lnTo>
                      <a:lnTo>
                        <a:pt x="18" y="305"/>
                      </a:lnTo>
                      <a:lnTo>
                        <a:pt x="21" y="228"/>
                      </a:lnTo>
                      <a:lnTo>
                        <a:pt x="35" y="135"/>
                      </a:lnTo>
                      <a:lnTo>
                        <a:pt x="56" y="43"/>
                      </a:lnTo>
                      <a:lnTo>
                        <a:pt x="69" y="22"/>
                      </a:lnTo>
                      <a:lnTo>
                        <a:pt x="176" y="24"/>
                      </a:lnTo>
                      <a:lnTo>
                        <a:pt x="25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9228" name="Group 51"/>
            <p:cNvGrpSpPr>
              <a:grpSpLocks/>
            </p:cNvGrpSpPr>
            <p:nvPr/>
          </p:nvGrpSpPr>
          <p:grpSpPr bwMode="auto">
            <a:xfrm>
              <a:off x="2688" y="2640"/>
              <a:ext cx="797" cy="654"/>
              <a:chOff x="2543" y="3163"/>
              <a:chExt cx="973" cy="799"/>
            </a:xfrm>
          </p:grpSpPr>
          <p:sp>
            <p:nvSpPr>
              <p:cNvPr id="9229" name="Freeform 52"/>
              <p:cNvSpPr>
                <a:spLocks/>
              </p:cNvSpPr>
              <p:nvPr/>
            </p:nvSpPr>
            <p:spPr bwMode="auto">
              <a:xfrm>
                <a:off x="2598" y="3163"/>
                <a:ext cx="353" cy="287"/>
              </a:xfrm>
              <a:custGeom>
                <a:avLst/>
                <a:gdLst>
                  <a:gd name="T0" fmla="*/ 221 w 353"/>
                  <a:gd name="T1" fmla="*/ 76 h 287"/>
                  <a:gd name="T2" fmla="*/ 194 w 353"/>
                  <a:gd name="T3" fmla="*/ 41 h 287"/>
                  <a:gd name="T4" fmla="*/ 164 w 353"/>
                  <a:gd name="T5" fmla="*/ 18 h 287"/>
                  <a:gd name="T6" fmla="*/ 130 w 353"/>
                  <a:gd name="T7" fmla="*/ 5 h 287"/>
                  <a:gd name="T8" fmla="*/ 103 w 353"/>
                  <a:gd name="T9" fmla="*/ 0 h 287"/>
                  <a:gd name="T10" fmla="*/ 67 w 353"/>
                  <a:gd name="T11" fmla="*/ 8 h 287"/>
                  <a:gd name="T12" fmla="*/ 39 w 353"/>
                  <a:gd name="T13" fmla="*/ 23 h 287"/>
                  <a:gd name="T14" fmla="*/ 17 w 353"/>
                  <a:gd name="T15" fmla="*/ 44 h 287"/>
                  <a:gd name="T16" fmla="*/ 5 w 353"/>
                  <a:gd name="T17" fmla="*/ 78 h 287"/>
                  <a:gd name="T18" fmla="*/ 0 w 353"/>
                  <a:gd name="T19" fmla="*/ 113 h 287"/>
                  <a:gd name="T20" fmla="*/ 8 w 353"/>
                  <a:gd name="T21" fmla="*/ 150 h 287"/>
                  <a:gd name="T22" fmla="*/ 18 w 353"/>
                  <a:gd name="T23" fmla="*/ 195 h 287"/>
                  <a:gd name="T24" fmla="*/ 44 w 353"/>
                  <a:gd name="T25" fmla="*/ 235 h 287"/>
                  <a:gd name="T26" fmla="*/ 68 w 353"/>
                  <a:gd name="T27" fmla="*/ 260 h 287"/>
                  <a:gd name="T28" fmla="*/ 103 w 353"/>
                  <a:gd name="T29" fmla="*/ 278 h 287"/>
                  <a:gd name="T30" fmla="*/ 135 w 353"/>
                  <a:gd name="T31" fmla="*/ 287 h 287"/>
                  <a:gd name="T32" fmla="*/ 171 w 353"/>
                  <a:gd name="T33" fmla="*/ 287 h 287"/>
                  <a:gd name="T34" fmla="*/ 200 w 353"/>
                  <a:gd name="T35" fmla="*/ 273 h 287"/>
                  <a:gd name="T36" fmla="*/ 221 w 353"/>
                  <a:gd name="T37" fmla="*/ 255 h 287"/>
                  <a:gd name="T38" fmla="*/ 236 w 353"/>
                  <a:gd name="T39" fmla="*/ 226 h 287"/>
                  <a:gd name="T40" fmla="*/ 241 w 353"/>
                  <a:gd name="T41" fmla="*/ 205 h 287"/>
                  <a:gd name="T42" fmla="*/ 244 w 353"/>
                  <a:gd name="T43" fmla="*/ 173 h 287"/>
                  <a:gd name="T44" fmla="*/ 236 w 353"/>
                  <a:gd name="T45" fmla="*/ 140 h 287"/>
                  <a:gd name="T46" fmla="*/ 232 w 353"/>
                  <a:gd name="T47" fmla="*/ 108 h 287"/>
                  <a:gd name="T48" fmla="*/ 280 w 353"/>
                  <a:gd name="T49" fmla="*/ 81 h 287"/>
                  <a:gd name="T50" fmla="*/ 330 w 353"/>
                  <a:gd name="T51" fmla="*/ 63 h 287"/>
                  <a:gd name="T52" fmla="*/ 348 w 353"/>
                  <a:gd name="T53" fmla="*/ 49 h 287"/>
                  <a:gd name="T54" fmla="*/ 353 w 353"/>
                  <a:gd name="T55" fmla="*/ 27 h 287"/>
                  <a:gd name="T56" fmla="*/ 341 w 353"/>
                  <a:gd name="T57" fmla="*/ 17 h 287"/>
                  <a:gd name="T58" fmla="*/ 321 w 353"/>
                  <a:gd name="T59" fmla="*/ 9 h 287"/>
                  <a:gd name="T60" fmla="*/ 295 w 353"/>
                  <a:gd name="T61" fmla="*/ 21 h 287"/>
                  <a:gd name="T62" fmla="*/ 268 w 353"/>
                  <a:gd name="T63" fmla="*/ 53 h 287"/>
                  <a:gd name="T64" fmla="*/ 221 w 353"/>
                  <a:gd name="T65" fmla="*/ 76 h 28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53" h="287">
                    <a:moveTo>
                      <a:pt x="221" y="76"/>
                    </a:moveTo>
                    <a:lnTo>
                      <a:pt x="194" y="41"/>
                    </a:lnTo>
                    <a:lnTo>
                      <a:pt x="164" y="18"/>
                    </a:lnTo>
                    <a:lnTo>
                      <a:pt x="130" y="5"/>
                    </a:lnTo>
                    <a:lnTo>
                      <a:pt x="103" y="0"/>
                    </a:lnTo>
                    <a:lnTo>
                      <a:pt x="67" y="8"/>
                    </a:lnTo>
                    <a:lnTo>
                      <a:pt x="39" y="23"/>
                    </a:lnTo>
                    <a:lnTo>
                      <a:pt x="17" y="44"/>
                    </a:lnTo>
                    <a:lnTo>
                      <a:pt x="5" y="78"/>
                    </a:lnTo>
                    <a:lnTo>
                      <a:pt x="0" y="113"/>
                    </a:lnTo>
                    <a:lnTo>
                      <a:pt x="8" y="150"/>
                    </a:lnTo>
                    <a:lnTo>
                      <a:pt x="18" y="195"/>
                    </a:lnTo>
                    <a:lnTo>
                      <a:pt x="44" y="235"/>
                    </a:lnTo>
                    <a:lnTo>
                      <a:pt x="68" y="260"/>
                    </a:lnTo>
                    <a:lnTo>
                      <a:pt x="103" y="278"/>
                    </a:lnTo>
                    <a:lnTo>
                      <a:pt x="135" y="287"/>
                    </a:lnTo>
                    <a:lnTo>
                      <a:pt x="171" y="287"/>
                    </a:lnTo>
                    <a:lnTo>
                      <a:pt x="200" y="273"/>
                    </a:lnTo>
                    <a:lnTo>
                      <a:pt x="221" y="255"/>
                    </a:lnTo>
                    <a:lnTo>
                      <a:pt x="236" y="226"/>
                    </a:lnTo>
                    <a:lnTo>
                      <a:pt x="241" y="205"/>
                    </a:lnTo>
                    <a:lnTo>
                      <a:pt x="244" y="173"/>
                    </a:lnTo>
                    <a:lnTo>
                      <a:pt x="236" y="140"/>
                    </a:lnTo>
                    <a:lnTo>
                      <a:pt x="232" y="108"/>
                    </a:lnTo>
                    <a:lnTo>
                      <a:pt x="280" y="81"/>
                    </a:lnTo>
                    <a:lnTo>
                      <a:pt x="330" y="63"/>
                    </a:lnTo>
                    <a:lnTo>
                      <a:pt x="348" y="49"/>
                    </a:lnTo>
                    <a:lnTo>
                      <a:pt x="353" y="27"/>
                    </a:lnTo>
                    <a:lnTo>
                      <a:pt x="341" y="17"/>
                    </a:lnTo>
                    <a:lnTo>
                      <a:pt x="321" y="9"/>
                    </a:lnTo>
                    <a:lnTo>
                      <a:pt x="295" y="21"/>
                    </a:lnTo>
                    <a:lnTo>
                      <a:pt x="268" y="53"/>
                    </a:lnTo>
                    <a:lnTo>
                      <a:pt x="221"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0" name="Freeform 53"/>
              <p:cNvSpPr>
                <a:spLocks/>
              </p:cNvSpPr>
              <p:nvPr/>
            </p:nvSpPr>
            <p:spPr bwMode="auto">
              <a:xfrm>
                <a:off x="2727" y="3451"/>
                <a:ext cx="297" cy="493"/>
              </a:xfrm>
              <a:custGeom>
                <a:avLst/>
                <a:gdLst>
                  <a:gd name="T0" fmla="*/ 40 w 297"/>
                  <a:gd name="T1" fmla="*/ 170 h 493"/>
                  <a:gd name="T2" fmla="*/ 14 w 297"/>
                  <a:gd name="T3" fmla="*/ 143 h 493"/>
                  <a:gd name="T4" fmla="*/ 3 w 297"/>
                  <a:gd name="T5" fmla="*/ 112 h 493"/>
                  <a:gd name="T6" fmla="*/ 0 w 297"/>
                  <a:gd name="T7" fmla="*/ 86 h 493"/>
                  <a:gd name="T8" fmla="*/ 9 w 297"/>
                  <a:gd name="T9" fmla="*/ 62 h 493"/>
                  <a:gd name="T10" fmla="*/ 21 w 297"/>
                  <a:gd name="T11" fmla="*/ 39 h 493"/>
                  <a:gd name="T12" fmla="*/ 49 w 297"/>
                  <a:gd name="T13" fmla="*/ 21 h 493"/>
                  <a:gd name="T14" fmla="*/ 78 w 297"/>
                  <a:gd name="T15" fmla="*/ 3 h 493"/>
                  <a:gd name="T16" fmla="*/ 122 w 297"/>
                  <a:gd name="T17" fmla="*/ 0 h 493"/>
                  <a:gd name="T18" fmla="*/ 149 w 297"/>
                  <a:gd name="T19" fmla="*/ 8 h 493"/>
                  <a:gd name="T20" fmla="*/ 169 w 297"/>
                  <a:gd name="T21" fmla="*/ 21 h 493"/>
                  <a:gd name="T22" fmla="*/ 201 w 297"/>
                  <a:gd name="T23" fmla="*/ 48 h 493"/>
                  <a:gd name="T24" fmla="*/ 224 w 297"/>
                  <a:gd name="T25" fmla="*/ 90 h 493"/>
                  <a:gd name="T26" fmla="*/ 245 w 297"/>
                  <a:gd name="T27" fmla="*/ 130 h 493"/>
                  <a:gd name="T28" fmla="*/ 263 w 297"/>
                  <a:gd name="T29" fmla="*/ 198 h 493"/>
                  <a:gd name="T30" fmla="*/ 274 w 297"/>
                  <a:gd name="T31" fmla="*/ 249 h 493"/>
                  <a:gd name="T32" fmla="*/ 282 w 297"/>
                  <a:gd name="T33" fmla="*/ 311 h 493"/>
                  <a:gd name="T34" fmla="*/ 288 w 297"/>
                  <a:gd name="T35" fmla="*/ 360 h 493"/>
                  <a:gd name="T36" fmla="*/ 297 w 297"/>
                  <a:gd name="T37" fmla="*/ 398 h 493"/>
                  <a:gd name="T38" fmla="*/ 297 w 297"/>
                  <a:gd name="T39" fmla="*/ 433 h 493"/>
                  <a:gd name="T40" fmla="*/ 288 w 297"/>
                  <a:gd name="T41" fmla="*/ 461 h 493"/>
                  <a:gd name="T42" fmla="*/ 274 w 297"/>
                  <a:gd name="T43" fmla="*/ 479 h 493"/>
                  <a:gd name="T44" fmla="*/ 251 w 297"/>
                  <a:gd name="T45" fmla="*/ 488 h 493"/>
                  <a:gd name="T46" fmla="*/ 222 w 297"/>
                  <a:gd name="T47" fmla="*/ 493 h 493"/>
                  <a:gd name="T48" fmla="*/ 90 w 297"/>
                  <a:gd name="T49" fmla="*/ 487 h 493"/>
                  <a:gd name="T50" fmla="*/ 62 w 297"/>
                  <a:gd name="T51" fmla="*/ 470 h 493"/>
                  <a:gd name="T52" fmla="*/ 44 w 297"/>
                  <a:gd name="T53" fmla="*/ 430 h 493"/>
                  <a:gd name="T54" fmla="*/ 37 w 297"/>
                  <a:gd name="T55" fmla="*/ 392 h 493"/>
                  <a:gd name="T56" fmla="*/ 40 w 297"/>
                  <a:gd name="T57" fmla="*/ 339 h 493"/>
                  <a:gd name="T58" fmla="*/ 53 w 297"/>
                  <a:gd name="T59" fmla="*/ 303 h 493"/>
                  <a:gd name="T60" fmla="*/ 73 w 297"/>
                  <a:gd name="T61" fmla="*/ 280 h 493"/>
                  <a:gd name="T62" fmla="*/ 78 w 297"/>
                  <a:gd name="T63" fmla="*/ 262 h 493"/>
                  <a:gd name="T64" fmla="*/ 73 w 297"/>
                  <a:gd name="T65" fmla="*/ 244 h 493"/>
                  <a:gd name="T66" fmla="*/ 64 w 297"/>
                  <a:gd name="T67" fmla="*/ 217 h 493"/>
                  <a:gd name="T68" fmla="*/ 49 w 297"/>
                  <a:gd name="T69" fmla="*/ 193 h 493"/>
                  <a:gd name="T70" fmla="*/ 40 w 297"/>
                  <a:gd name="T71" fmla="*/ 170 h 4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97" h="493">
                    <a:moveTo>
                      <a:pt x="40" y="170"/>
                    </a:moveTo>
                    <a:lnTo>
                      <a:pt x="14" y="143"/>
                    </a:lnTo>
                    <a:lnTo>
                      <a:pt x="3" y="112"/>
                    </a:lnTo>
                    <a:lnTo>
                      <a:pt x="0" y="86"/>
                    </a:lnTo>
                    <a:lnTo>
                      <a:pt x="9" y="62"/>
                    </a:lnTo>
                    <a:lnTo>
                      <a:pt x="21" y="39"/>
                    </a:lnTo>
                    <a:lnTo>
                      <a:pt x="49" y="21"/>
                    </a:lnTo>
                    <a:lnTo>
                      <a:pt x="78" y="3"/>
                    </a:lnTo>
                    <a:lnTo>
                      <a:pt x="122" y="0"/>
                    </a:lnTo>
                    <a:lnTo>
                      <a:pt x="149" y="8"/>
                    </a:lnTo>
                    <a:lnTo>
                      <a:pt x="169" y="21"/>
                    </a:lnTo>
                    <a:lnTo>
                      <a:pt x="201" y="48"/>
                    </a:lnTo>
                    <a:lnTo>
                      <a:pt x="224" y="90"/>
                    </a:lnTo>
                    <a:lnTo>
                      <a:pt x="245" y="130"/>
                    </a:lnTo>
                    <a:lnTo>
                      <a:pt x="263" y="198"/>
                    </a:lnTo>
                    <a:lnTo>
                      <a:pt x="274" y="249"/>
                    </a:lnTo>
                    <a:lnTo>
                      <a:pt x="282" y="311"/>
                    </a:lnTo>
                    <a:lnTo>
                      <a:pt x="288" y="360"/>
                    </a:lnTo>
                    <a:lnTo>
                      <a:pt x="297" y="398"/>
                    </a:lnTo>
                    <a:lnTo>
                      <a:pt x="297" y="433"/>
                    </a:lnTo>
                    <a:lnTo>
                      <a:pt x="288" y="461"/>
                    </a:lnTo>
                    <a:lnTo>
                      <a:pt x="274" y="479"/>
                    </a:lnTo>
                    <a:lnTo>
                      <a:pt x="251" y="488"/>
                    </a:lnTo>
                    <a:lnTo>
                      <a:pt x="222" y="493"/>
                    </a:lnTo>
                    <a:lnTo>
                      <a:pt x="90" y="487"/>
                    </a:lnTo>
                    <a:lnTo>
                      <a:pt x="62" y="470"/>
                    </a:lnTo>
                    <a:lnTo>
                      <a:pt x="44" y="430"/>
                    </a:lnTo>
                    <a:lnTo>
                      <a:pt x="37" y="392"/>
                    </a:lnTo>
                    <a:lnTo>
                      <a:pt x="40" y="339"/>
                    </a:lnTo>
                    <a:lnTo>
                      <a:pt x="53" y="303"/>
                    </a:lnTo>
                    <a:lnTo>
                      <a:pt x="73" y="280"/>
                    </a:lnTo>
                    <a:lnTo>
                      <a:pt x="78" y="262"/>
                    </a:lnTo>
                    <a:lnTo>
                      <a:pt x="73" y="244"/>
                    </a:lnTo>
                    <a:lnTo>
                      <a:pt x="64" y="217"/>
                    </a:lnTo>
                    <a:lnTo>
                      <a:pt x="49" y="193"/>
                    </a:lnTo>
                    <a:lnTo>
                      <a:pt x="40"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1" name="Freeform 54"/>
              <p:cNvSpPr>
                <a:spLocks/>
              </p:cNvSpPr>
              <p:nvPr/>
            </p:nvSpPr>
            <p:spPr bwMode="auto">
              <a:xfrm>
                <a:off x="2543" y="3494"/>
                <a:ext cx="250" cy="455"/>
              </a:xfrm>
              <a:custGeom>
                <a:avLst/>
                <a:gdLst>
                  <a:gd name="T0" fmla="*/ 153 w 250"/>
                  <a:gd name="T1" fmla="*/ 74 h 455"/>
                  <a:gd name="T2" fmla="*/ 186 w 250"/>
                  <a:gd name="T3" fmla="*/ 24 h 455"/>
                  <a:gd name="T4" fmla="*/ 209 w 250"/>
                  <a:gd name="T5" fmla="*/ 5 h 455"/>
                  <a:gd name="T6" fmla="*/ 235 w 250"/>
                  <a:gd name="T7" fmla="*/ 0 h 455"/>
                  <a:gd name="T8" fmla="*/ 250 w 250"/>
                  <a:gd name="T9" fmla="*/ 45 h 455"/>
                  <a:gd name="T10" fmla="*/ 227 w 250"/>
                  <a:gd name="T11" fmla="*/ 83 h 455"/>
                  <a:gd name="T12" fmla="*/ 209 w 250"/>
                  <a:gd name="T13" fmla="*/ 97 h 455"/>
                  <a:gd name="T14" fmla="*/ 175 w 250"/>
                  <a:gd name="T15" fmla="*/ 132 h 455"/>
                  <a:gd name="T16" fmla="*/ 144 w 250"/>
                  <a:gd name="T17" fmla="*/ 187 h 455"/>
                  <a:gd name="T18" fmla="*/ 129 w 250"/>
                  <a:gd name="T19" fmla="*/ 254 h 455"/>
                  <a:gd name="T20" fmla="*/ 124 w 250"/>
                  <a:gd name="T21" fmla="*/ 314 h 455"/>
                  <a:gd name="T22" fmla="*/ 121 w 250"/>
                  <a:gd name="T23" fmla="*/ 369 h 455"/>
                  <a:gd name="T24" fmla="*/ 124 w 250"/>
                  <a:gd name="T25" fmla="*/ 408 h 455"/>
                  <a:gd name="T26" fmla="*/ 135 w 250"/>
                  <a:gd name="T27" fmla="*/ 408 h 455"/>
                  <a:gd name="T28" fmla="*/ 161 w 250"/>
                  <a:gd name="T29" fmla="*/ 387 h 455"/>
                  <a:gd name="T30" fmla="*/ 193 w 250"/>
                  <a:gd name="T31" fmla="*/ 399 h 455"/>
                  <a:gd name="T32" fmla="*/ 172 w 250"/>
                  <a:gd name="T33" fmla="*/ 419 h 455"/>
                  <a:gd name="T34" fmla="*/ 130 w 250"/>
                  <a:gd name="T35" fmla="*/ 437 h 455"/>
                  <a:gd name="T36" fmla="*/ 117 w 250"/>
                  <a:gd name="T37" fmla="*/ 453 h 455"/>
                  <a:gd name="T38" fmla="*/ 80 w 250"/>
                  <a:gd name="T39" fmla="*/ 455 h 455"/>
                  <a:gd name="T40" fmla="*/ 46 w 250"/>
                  <a:gd name="T41" fmla="*/ 440 h 455"/>
                  <a:gd name="T42" fmla="*/ 0 w 250"/>
                  <a:gd name="T43" fmla="*/ 419 h 455"/>
                  <a:gd name="T44" fmla="*/ 5 w 250"/>
                  <a:gd name="T45" fmla="*/ 392 h 455"/>
                  <a:gd name="T46" fmla="*/ 20 w 250"/>
                  <a:gd name="T47" fmla="*/ 387 h 455"/>
                  <a:gd name="T48" fmla="*/ 57 w 250"/>
                  <a:gd name="T49" fmla="*/ 413 h 455"/>
                  <a:gd name="T50" fmla="*/ 37 w 250"/>
                  <a:gd name="T51" fmla="*/ 372 h 455"/>
                  <a:gd name="T52" fmla="*/ 48 w 250"/>
                  <a:gd name="T53" fmla="*/ 364 h 455"/>
                  <a:gd name="T54" fmla="*/ 66 w 250"/>
                  <a:gd name="T55" fmla="*/ 369 h 455"/>
                  <a:gd name="T56" fmla="*/ 87 w 250"/>
                  <a:gd name="T57" fmla="*/ 399 h 455"/>
                  <a:gd name="T58" fmla="*/ 87 w 250"/>
                  <a:gd name="T59" fmla="*/ 333 h 455"/>
                  <a:gd name="T60" fmla="*/ 87 w 250"/>
                  <a:gd name="T61" fmla="*/ 263 h 455"/>
                  <a:gd name="T62" fmla="*/ 97 w 250"/>
                  <a:gd name="T63" fmla="*/ 200 h 455"/>
                  <a:gd name="T64" fmla="*/ 115 w 250"/>
                  <a:gd name="T65" fmla="*/ 147 h 455"/>
                  <a:gd name="T66" fmla="*/ 133 w 250"/>
                  <a:gd name="T67" fmla="*/ 100 h 455"/>
                  <a:gd name="T68" fmla="*/ 153 w 250"/>
                  <a:gd name="T69" fmla="*/ 74 h 45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50" h="455">
                    <a:moveTo>
                      <a:pt x="153" y="74"/>
                    </a:moveTo>
                    <a:lnTo>
                      <a:pt x="186" y="24"/>
                    </a:lnTo>
                    <a:lnTo>
                      <a:pt x="209" y="5"/>
                    </a:lnTo>
                    <a:lnTo>
                      <a:pt x="235" y="0"/>
                    </a:lnTo>
                    <a:lnTo>
                      <a:pt x="250" y="45"/>
                    </a:lnTo>
                    <a:lnTo>
                      <a:pt x="227" y="83"/>
                    </a:lnTo>
                    <a:lnTo>
                      <a:pt x="209" y="97"/>
                    </a:lnTo>
                    <a:lnTo>
                      <a:pt x="175" y="132"/>
                    </a:lnTo>
                    <a:lnTo>
                      <a:pt x="144" y="187"/>
                    </a:lnTo>
                    <a:lnTo>
                      <a:pt x="129" y="254"/>
                    </a:lnTo>
                    <a:lnTo>
                      <a:pt x="124" y="314"/>
                    </a:lnTo>
                    <a:lnTo>
                      <a:pt x="121" y="369"/>
                    </a:lnTo>
                    <a:lnTo>
                      <a:pt x="124" y="408"/>
                    </a:lnTo>
                    <a:lnTo>
                      <a:pt x="135" y="408"/>
                    </a:lnTo>
                    <a:lnTo>
                      <a:pt x="161" y="387"/>
                    </a:lnTo>
                    <a:lnTo>
                      <a:pt x="193" y="399"/>
                    </a:lnTo>
                    <a:lnTo>
                      <a:pt x="172" y="419"/>
                    </a:lnTo>
                    <a:lnTo>
                      <a:pt x="130" y="437"/>
                    </a:lnTo>
                    <a:lnTo>
                      <a:pt x="117" y="453"/>
                    </a:lnTo>
                    <a:lnTo>
                      <a:pt x="80" y="455"/>
                    </a:lnTo>
                    <a:lnTo>
                      <a:pt x="46" y="440"/>
                    </a:lnTo>
                    <a:lnTo>
                      <a:pt x="0" y="419"/>
                    </a:lnTo>
                    <a:lnTo>
                      <a:pt x="5" y="392"/>
                    </a:lnTo>
                    <a:lnTo>
                      <a:pt x="20" y="387"/>
                    </a:lnTo>
                    <a:lnTo>
                      <a:pt x="57" y="413"/>
                    </a:lnTo>
                    <a:lnTo>
                      <a:pt x="37" y="372"/>
                    </a:lnTo>
                    <a:lnTo>
                      <a:pt x="48" y="364"/>
                    </a:lnTo>
                    <a:lnTo>
                      <a:pt x="66" y="369"/>
                    </a:lnTo>
                    <a:lnTo>
                      <a:pt x="87" y="399"/>
                    </a:lnTo>
                    <a:lnTo>
                      <a:pt x="87" y="333"/>
                    </a:lnTo>
                    <a:lnTo>
                      <a:pt x="87" y="263"/>
                    </a:lnTo>
                    <a:lnTo>
                      <a:pt x="97" y="200"/>
                    </a:lnTo>
                    <a:lnTo>
                      <a:pt x="115" y="147"/>
                    </a:lnTo>
                    <a:lnTo>
                      <a:pt x="133" y="100"/>
                    </a:lnTo>
                    <a:lnTo>
                      <a:pt x="153"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2" name="Freeform 55"/>
              <p:cNvSpPr>
                <a:spLocks/>
              </p:cNvSpPr>
              <p:nvPr/>
            </p:nvSpPr>
            <p:spPr bwMode="auto">
              <a:xfrm>
                <a:off x="2825" y="3469"/>
                <a:ext cx="457" cy="493"/>
              </a:xfrm>
              <a:custGeom>
                <a:avLst/>
                <a:gdLst>
                  <a:gd name="T0" fmla="*/ 53 w 457"/>
                  <a:gd name="T1" fmla="*/ 3 h 493"/>
                  <a:gd name="T2" fmla="*/ 80 w 457"/>
                  <a:gd name="T3" fmla="*/ 5 h 493"/>
                  <a:gd name="T4" fmla="*/ 118 w 457"/>
                  <a:gd name="T5" fmla="*/ 23 h 493"/>
                  <a:gd name="T6" fmla="*/ 161 w 457"/>
                  <a:gd name="T7" fmla="*/ 62 h 493"/>
                  <a:gd name="T8" fmla="*/ 208 w 457"/>
                  <a:gd name="T9" fmla="*/ 116 h 493"/>
                  <a:gd name="T10" fmla="*/ 261 w 457"/>
                  <a:gd name="T11" fmla="*/ 190 h 493"/>
                  <a:gd name="T12" fmla="*/ 302 w 457"/>
                  <a:gd name="T13" fmla="*/ 271 h 493"/>
                  <a:gd name="T14" fmla="*/ 324 w 457"/>
                  <a:gd name="T15" fmla="*/ 365 h 493"/>
                  <a:gd name="T16" fmla="*/ 347 w 457"/>
                  <a:gd name="T17" fmla="*/ 421 h 493"/>
                  <a:gd name="T18" fmla="*/ 360 w 457"/>
                  <a:gd name="T19" fmla="*/ 452 h 493"/>
                  <a:gd name="T20" fmla="*/ 388 w 457"/>
                  <a:gd name="T21" fmla="*/ 460 h 493"/>
                  <a:gd name="T22" fmla="*/ 428 w 457"/>
                  <a:gd name="T23" fmla="*/ 460 h 493"/>
                  <a:gd name="T24" fmla="*/ 448 w 457"/>
                  <a:gd name="T25" fmla="*/ 461 h 493"/>
                  <a:gd name="T26" fmla="*/ 457 w 457"/>
                  <a:gd name="T27" fmla="*/ 484 h 493"/>
                  <a:gd name="T28" fmla="*/ 430 w 457"/>
                  <a:gd name="T29" fmla="*/ 491 h 493"/>
                  <a:gd name="T30" fmla="*/ 392 w 457"/>
                  <a:gd name="T31" fmla="*/ 488 h 493"/>
                  <a:gd name="T32" fmla="*/ 356 w 457"/>
                  <a:gd name="T33" fmla="*/ 484 h 493"/>
                  <a:gd name="T34" fmla="*/ 333 w 457"/>
                  <a:gd name="T35" fmla="*/ 464 h 493"/>
                  <a:gd name="T36" fmla="*/ 315 w 457"/>
                  <a:gd name="T37" fmla="*/ 470 h 493"/>
                  <a:gd name="T38" fmla="*/ 308 w 457"/>
                  <a:gd name="T39" fmla="*/ 488 h 493"/>
                  <a:gd name="T40" fmla="*/ 284 w 457"/>
                  <a:gd name="T41" fmla="*/ 493 h 493"/>
                  <a:gd name="T42" fmla="*/ 271 w 457"/>
                  <a:gd name="T43" fmla="*/ 482 h 493"/>
                  <a:gd name="T44" fmla="*/ 279 w 457"/>
                  <a:gd name="T45" fmla="*/ 460 h 493"/>
                  <a:gd name="T46" fmla="*/ 303 w 457"/>
                  <a:gd name="T47" fmla="*/ 433 h 493"/>
                  <a:gd name="T48" fmla="*/ 306 w 457"/>
                  <a:gd name="T49" fmla="*/ 398 h 493"/>
                  <a:gd name="T50" fmla="*/ 294 w 457"/>
                  <a:gd name="T51" fmla="*/ 362 h 493"/>
                  <a:gd name="T52" fmla="*/ 270 w 457"/>
                  <a:gd name="T53" fmla="*/ 294 h 493"/>
                  <a:gd name="T54" fmla="*/ 238 w 457"/>
                  <a:gd name="T55" fmla="*/ 244 h 493"/>
                  <a:gd name="T56" fmla="*/ 207 w 457"/>
                  <a:gd name="T57" fmla="*/ 193 h 493"/>
                  <a:gd name="T58" fmla="*/ 175 w 457"/>
                  <a:gd name="T59" fmla="*/ 154 h 493"/>
                  <a:gd name="T60" fmla="*/ 130 w 457"/>
                  <a:gd name="T61" fmla="*/ 112 h 493"/>
                  <a:gd name="T62" fmla="*/ 80 w 457"/>
                  <a:gd name="T63" fmla="*/ 84 h 493"/>
                  <a:gd name="T64" fmla="*/ 12 w 457"/>
                  <a:gd name="T65" fmla="*/ 57 h 493"/>
                  <a:gd name="T66" fmla="*/ 0 w 457"/>
                  <a:gd name="T67" fmla="*/ 23 h 493"/>
                  <a:gd name="T68" fmla="*/ 21 w 457"/>
                  <a:gd name="T69" fmla="*/ 0 h 493"/>
                  <a:gd name="T70" fmla="*/ 53 w 457"/>
                  <a:gd name="T71" fmla="*/ 3 h 4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57" h="493">
                    <a:moveTo>
                      <a:pt x="53" y="3"/>
                    </a:moveTo>
                    <a:lnTo>
                      <a:pt x="80" y="5"/>
                    </a:lnTo>
                    <a:lnTo>
                      <a:pt x="118" y="23"/>
                    </a:lnTo>
                    <a:lnTo>
                      <a:pt x="161" y="62"/>
                    </a:lnTo>
                    <a:lnTo>
                      <a:pt x="208" y="116"/>
                    </a:lnTo>
                    <a:lnTo>
                      <a:pt x="261" y="190"/>
                    </a:lnTo>
                    <a:lnTo>
                      <a:pt x="302" y="271"/>
                    </a:lnTo>
                    <a:lnTo>
                      <a:pt x="324" y="365"/>
                    </a:lnTo>
                    <a:lnTo>
                      <a:pt x="347" y="421"/>
                    </a:lnTo>
                    <a:lnTo>
                      <a:pt x="360" y="452"/>
                    </a:lnTo>
                    <a:lnTo>
                      <a:pt x="388" y="460"/>
                    </a:lnTo>
                    <a:lnTo>
                      <a:pt x="428" y="460"/>
                    </a:lnTo>
                    <a:lnTo>
                      <a:pt x="448" y="461"/>
                    </a:lnTo>
                    <a:lnTo>
                      <a:pt x="457" y="484"/>
                    </a:lnTo>
                    <a:lnTo>
                      <a:pt x="430" y="491"/>
                    </a:lnTo>
                    <a:lnTo>
                      <a:pt x="392" y="488"/>
                    </a:lnTo>
                    <a:lnTo>
                      <a:pt x="356" y="484"/>
                    </a:lnTo>
                    <a:lnTo>
                      <a:pt x="333" y="464"/>
                    </a:lnTo>
                    <a:lnTo>
                      <a:pt x="315" y="470"/>
                    </a:lnTo>
                    <a:lnTo>
                      <a:pt x="308" y="488"/>
                    </a:lnTo>
                    <a:lnTo>
                      <a:pt x="284" y="493"/>
                    </a:lnTo>
                    <a:lnTo>
                      <a:pt x="271" y="482"/>
                    </a:lnTo>
                    <a:lnTo>
                      <a:pt x="279" y="460"/>
                    </a:lnTo>
                    <a:lnTo>
                      <a:pt x="303" y="433"/>
                    </a:lnTo>
                    <a:lnTo>
                      <a:pt x="306" y="398"/>
                    </a:lnTo>
                    <a:lnTo>
                      <a:pt x="294" y="362"/>
                    </a:lnTo>
                    <a:lnTo>
                      <a:pt x="270" y="294"/>
                    </a:lnTo>
                    <a:lnTo>
                      <a:pt x="238" y="244"/>
                    </a:lnTo>
                    <a:lnTo>
                      <a:pt x="207" y="193"/>
                    </a:lnTo>
                    <a:lnTo>
                      <a:pt x="175" y="154"/>
                    </a:lnTo>
                    <a:lnTo>
                      <a:pt x="130" y="112"/>
                    </a:lnTo>
                    <a:lnTo>
                      <a:pt x="80" y="84"/>
                    </a:lnTo>
                    <a:lnTo>
                      <a:pt x="12" y="57"/>
                    </a:lnTo>
                    <a:lnTo>
                      <a:pt x="0" y="23"/>
                    </a:lnTo>
                    <a:lnTo>
                      <a:pt x="21" y="0"/>
                    </a:lnTo>
                    <a:lnTo>
                      <a:pt x="53"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3" name="Freeform 56"/>
              <p:cNvSpPr>
                <a:spLocks/>
              </p:cNvSpPr>
              <p:nvPr/>
            </p:nvSpPr>
            <p:spPr bwMode="auto">
              <a:xfrm>
                <a:off x="2917" y="3579"/>
                <a:ext cx="599" cy="359"/>
              </a:xfrm>
              <a:custGeom>
                <a:avLst/>
                <a:gdLst>
                  <a:gd name="T0" fmla="*/ 29 w 599"/>
                  <a:gd name="T1" fmla="*/ 247 h 359"/>
                  <a:gd name="T2" fmla="*/ 5 w 599"/>
                  <a:gd name="T3" fmla="*/ 264 h 359"/>
                  <a:gd name="T4" fmla="*/ 0 w 599"/>
                  <a:gd name="T5" fmla="*/ 292 h 359"/>
                  <a:gd name="T6" fmla="*/ 5 w 599"/>
                  <a:gd name="T7" fmla="*/ 341 h 359"/>
                  <a:gd name="T8" fmla="*/ 27 w 599"/>
                  <a:gd name="T9" fmla="*/ 359 h 359"/>
                  <a:gd name="T10" fmla="*/ 86 w 599"/>
                  <a:gd name="T11" fmla="*/ 345 h 359"/>
                  <a:gd name="T12" fmla="*/ 150 w 599"/>
                  <a:gd name="T13" fmla="*/ 306 h 359"/>
                  <a:gd name="T14" fmla="*/ 234 w 599"/>
                  <a:gd name="T15" fmla="*/ 259 h 359"/>
                  <a:gd name="T16" fmla="*/ 293 w 599"/>
                  <a:gd name="T17" fmla="*/ 232 h 359"/>
                  <a:gd name="T18" fmla="*/ 329 w 599"/>
                  <a:gd name="T19" fmla="*/ 227 h 359"/>
                  <a:gd name="T20" fmla="*/ 383 w 599"/>
                  <a:gd name="T21" fmla="*/ 224 h 359"/>
                  <a:gd name="T22" fmla="*/ 414 w 599"/>
                  <a:gd name="T23" fmla="*/ 220 h 359"/>
                  <a:gd name="T24" fmla="*/ 452 w 599"/>
                  <a:gd name="T25" fmla="*/ 197 h 359"/>
                  <a:gd name="T26" fmla="*/ 489 w 599"/>
                  <a:gd name="T27" fmla="*/ 186 h 359"/>
                  <a:gd name="T28" fmla="*/ 507 w 599"/>
                  <a:gd name="T29" fmla="*/ 186 h 359"/>
                  <a:gd name="T30" fmla="*/ 536 w 599"/>
                  <a:gd name="T31" fmla="*/ 186 h 359"/>
                  <a:gd name="T32" fmla="*/ 545 w 599"/>
                  <a:gd name="T33" fmla="*/ 173 h 359"/>
                  <a:gd name="T34" fmla="*/ 549 w 599"/>
                  <a:gd name="T35" fmla="*/ 136 h 359"/>
                  <a:gd name="T36" fmla="*/ 566 w 599"/>
                  <a:gd name="T37" fmla="*/ 97 h 359"/>
                  <a:gd name="T38" fmla="*/ 590 w 599"/>
                  <a:gd name="T39" fmla="*/ 59 h 359"/>
                  <a:gd name="T40" fmla="*/ 599 w 599"/>
                  <a:gd name="T41" fmla="*/ 41 h 359"/>
                  <a:gd name="T42" fmla="*/ 593 w 599"/>
                  <a:gd name="T43" fmla="*/ 18 h 359"/>
                  <a:gd name="T44" fmla="*/ 557 w 599"/>
                  <a:gd name="T45" fmla="*/ 0 h 359"/>
                  <a:gd name="T46" fmla="*/ 531 w 599"/>
                  <a:gd name="T47" fmla="*/ 5 h 359"/>
                  <a:gd name="T48" fmla="*/ 504 w 599"/>
                  <a:gd name="T49" fmla="*/ 86 h 359"/>
                  <a:gd name="T50" fmla="*/ 494 w 599"/>
                  <a:gd name="T51" fmla="*/ 150 h 359"/>
                  <a:gd name="T52" fmla="*/ 476 w 599"/>
                  <a:gd name="T53" fmla="*/ 159 h 359"/>
                  <a:gd name="T54" fmla="*/ 401 w 599"/>
                  <a:gd name="T55" fmla="*/ 165 h 359"/>
                  <a:gd name="T56" fmla="*/ 321 w 599"/>
                  <a:gd name="T57" fmla="*/ 173 h 359"/>
                  <a:gd name="T58" fmla="*/ 270 w 599"/>
                  <a:gd name="T59" fmla="*/ 170 h 359"/>
                  <a:gd name="T60" fmla="*/ 243 w 599"/>
                  <a:gd name="T61" fmla="*/ 182 h 359"/>
                  <a:gd name="T62" fmla="*/ 189 w 599"/>
                  <a:gd name="T63" fmla="*/ 200 h 359"/>
                  <a:gd name="T64" fmla="*/ 99 w 599"/>
                  <a:gd name="T65" fmla="*/ 227 h 359"/>
                  <a:gd name="T66" fmla="*/ 29 w 599"/>
                  <a:gd name="T67" fmla="*/ 247 h 35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99" h="359">
                    <a:moveTo>
                      <a:pt x="29" y="247"/>
                    </a:moveTo>
                    <a:lnTo>
                      <a:pt x="5" y="264"/>
                    </a:lnTo>
                    <a:lnTo>
                      <a:pt x="0" y="292"/>
                    </a:lnTo>
                    <a:lnTo>
                      <a:pt x="5" y="341"/>
                    </a:lnTo>
                    <a:lnTo>
                      <a:pt x="27" y="359"/>
                    </a:lnTo>
                    <a:lnTo>
                      <a:pt x="86" y="345"/>
                    </a:lnTo>
                    <a:lnTo>
                      <a:pt x="150" y="306"/>
                    </a:lnTo>
                    <a:lnTo>
                      <a:pt x="234" y="259"/>
                    </a:lnTo>
                    <a:lnTo>
                      <a:pt x="293" y="232"/>
                    </a:lnTo>
                    <a:lnTo>
                      <a:pt x="329" y="227"/>
                    </a:lnTo>
                    <a:lnTo>
                      <a:pt x="383" y="224"/>
                    </a:lnTo>
                    <a:lnTo>
                      <a:pt x="414" y="220"/>
                    </a:lnTo>
                    <a:lnTo>
                      <a:pt x="452" y="197"/>
                    </a:lnTo>
                    <a:lnTo>
                      <a:pt x="489" y="186"/>
                    </a:lnTo>
                    <a:lnTo>
                      <a:pt x="507" y="186"/>
                    </a:lnTo>
                    <a:lnTo>
                      <a:pt x="536" y="186"/>
                    </a:lnTo>
                    <a:lnTo>
                      <a:pt x="545" y="173"/>
                    </a:lnTo>
                    <a:lnTo>
                      <a:pt x="549" y="136"/>
                    </a:lnTo>
                    <a:lnTo>
                      <a:pt x="566" y="97"/>
                    </a:lnTo>
                    <a:lnTo>
                      <a:pt x="590" y="59"/>
                    </a:lnTo>
                    <a:lnTo>
                      <a:pt x="599" y="41"/>
                    </a:lnTo>
                    <a:lnTo>
                      <a:pt x="593" y="18"/>
                    </a:lnTo>
                    <a:lnTo>
                      <a:pt x="557" y="0"/>
                    </a:lnTo>
                    <a:lnTo>
                      <a:pt x="531" y="5"/>
                    </a:lnTo>
                    <a:lnTo>
                      <a:pt x="504" y="86"/>
                    </a:lnTo>
                    <a:lnTo>
                      <a:pt x="494" y="150"/>
                    </a:lnTo>
                    <a:lnTo>
                      <a:pt x="476" y="159"/>
                    </a:lnTo>
                    <a:lnTo>
                      <a:pt x="401" y="165"/>
                    </a:lnTo>
                    <a:lnTo>
                      <a:pt x="321" y="173"/>
                    </a:lnTo>
                    <a:lnTo>
                      <a:pt x="270" y="170"/>
                    </a:lnTo>
                    <a:lnTo>
                      <a:pt x="243" y="182"/>
                    </a:lnTo>
                    <a:lnTo>
                      <a:pt x="189" y="200"/>
                    </a:lnTo>
                    <a:lnTo>
                      <a:pt x="99" y="227"/>
                    </a:lnTo>
                    <a:lnTo>
                      <a:pt x="29" y="2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4" name="Freeform 57"/>
              <p:cNvSpPr>
                <a:spLocks/>
              </p:cNvSpPr>
              <p:nvPr/>
            </p:nvSpPr>
            <p:spPr bwMode="auto">
              <a:xfrm>
                <a:off x="2801" y="3521"/>
                <a:ext cx="488" cy="411"/>
              </a:xfrm>
              <a:custGeom>
                <a:avLst/>
                <a:gdLst>
                  <a:gd name="T0" fmla="*/ 18 w 488"/>
                  <a:gd name="T1" fmla="*/ 310 h 411"/>
                  <a:gd name="T2" fmla="*/ 0 w 488"/>
                  <a:gd name="T3" fmla="*/ 329 h 411"/>
                  <a:gd name="T4" fmla="*/ 0 w 488"/>
                  <a:gd name="T5" fmla="*/ 356 h 411"/>
                  <a:gd name="T6" fmla="*/ 12 w 488"/>
                  <a:gd name="T7" fmla="*/ 397 h 411"/>
                  <a:gd name="T8" fmla="*/ 35 w 488"/>
                  <a:gd name="T9" fmla="*/ 411 h 411"/>
                  <a:gd name="T10" fmla="*/ 85 w 488"/>
                  <a:gd name="T11" fmla="*/ 388 h 411"/>
                  <a:gd name="T12" fmla="*/ 136 w 488"/>
                  <a:gd name="T13" fmla="*/ 341 h 411"/>
                  <a:gd name="T14" fmla="*/ 202 w 488"/>
                  <a:gd name="T15" fmla="*/ 285 h 411"/>
                  <a:gd name="T16" fmla="*/ 249 w 488"/>
                  <a:gd name="T17" fmla="*/ 251 h 411"/>
                  <a:gd name="T18" fmla="*/ 281 w 488"/>
                  <a:gd name="T19" fmla="*/ 240 h 411"/>
                  <a:gd name="T20" fmla="*/ 328 w 488"/>
                  <a:gd name="T21" fmla="*/ 228 h 411"/>
                  <a:gd name="T22" fmla="*/ 355 w 488"/>
                  <a:gd name="T23" fmla="*/ 220 h 411"/>
                  <a:gd name="T24" fmla="*/ 384 w 488"/>
                  <a:gd name="T25" fmla="*/ 194 h 411"/>
                  <a:gd name="T26" fmla="*/ 416 w 488"/>
                  <a:gd name="T27" fmla="*/ 178 h 411"/>
                  <a:gd name="T28" fmla="*/ 431 w 488"/>
                  <a:gd name="T29" fmla="*/ 173 h 411"/>
                  <a:gd name="T30" fmla="*/ 457 w 488"/>
                  <a:gd name="T31" fmla="*/ 169 h 411"/>
                  <a:gd name="T32" fmla="*/ 462 w 488"/>
                  <a:gd name="T33" fmla="*/ 156 h 411"/>
                  <a:gd name="T34" fmla="*/ 461 w 488"/>
                  <a:gd name="T35" fmla="*/ 123 h 411"/>
                  <a:gd name="T36" fmla="*/ 469 w 488"/>
                  <a:gd name="T37" fmla="*/ 85 h 411"/>
                  <a:gd name="T38" fmla="*/ 483 w 488"/>
                  <a:gd name="T39" fmla="*/ 46 h 411"/>
                  <a:gd name="T40" fmla="*/ 488 w 488"/>
                  <a:gd name="T41" fmla="*/ 30 h 411"/>
                  <a:gd name="T42" fmla="*/ 479 w 488"/>
                  <a:gd name="T43" fmla="*/ 11 h 411"/>
                  <a:gd name="T44" fmla="*/ 443 w 488"/>
                  <a:gd name="T45" fmla="*/ 0 h 411"/>
                  <a:gd name="T46" fmla="*/ 422 w 488"/>
                  <a:gd name="T47" fmla="*/ 8 h 411"/>
                  <a:gd name="T48" fmla="*/ 411 w 488"/>
                  <a:gd name="T49" fmla="*/ 86 h 411"/>
                  <a:gd name="T50" fmla="*/ 413 w 488"/>
                  <a:gd name="T51" fmla="*/ 143 h 411"/>
                  <a:gd name="T52" fmla="*/ 400 w 488"/>
                  <a:gd name="T53" fmla="*/ 154 h 411"/>
                  <a:gd name="T54" fmla="*/ 333 w 488"/>
                  <a:gd name="T55" fmla="*/ 173 h 411"/>
                  <a:gd name="T56" fmla="*/ 264 w 488"/>
                  <a:gd name="T57" fmla="*/ 194 h 411"/>
                  <a:gd name="T58" fmla="*/ 218 w 488"/>
                  <a:gd name="T59" fmla="*/ 201 h 411"/>
                  <a:gd name="T60" fmla="*/ 197 w 488"/>
                  <a:gd name="T61" fmla="*/ 216 h 411"/>
                  <a:gd name="T62" fmla="*/ 152 w 488"/>
                  <a:gd name="T63" fmla="*/ 242 h 411"/>
                  <a:gd name="T64" fmla="*/ 76 w 488"/>
                  <a:gd name="T65" fmla="*/ 280 h 411"/>
                  <a:gd name="T66" fmla="*/ 18 w 488"/>
                  <a:gd name="T67" fmla="*/ 310 h 4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88" h="411">
                    <a:moveTo>
                      <a:pt x="18" y="310"/>
                    </a:moveTo>
                    <a:lnTo>
                      <a:pt x="0" y="329"/>
                    </a:lnTo>
                    <a:lnTo>
                      <a:pt x="0" y="356"/>
                    </a:lnTo>
                    <a:lnTo>
                      <a:pt x="12" y="397"/>
                    </a:lnTo>
                    <a:lnTo>
                      <a:pt x="35" y="411"/>
                    </a:lnTo>
                    <a:lnTo>
                      <a:pt x="85" y="388"/>
                    </a:lnTo>
                    <a:lnTo>
                      <a:pt x="136" y="341"/>
                    </a:lnTo>
                    <a:lnTo>
                      <a:pt x="202" y="285"/>
                    </a:lnTo>
                    <a:lnTo>
                      <a:pt x="249" y="251"/>
                    </a:lnTo>
                    <a:lnTo>
                      <a:pt x="281" y="240"/>
                    </a:lnTo>
                    <a:lnTo>
                      <a:pt x="328" y="228"/>
                    </a:lnTo>
                    <a:lnTo>
                      <a:pt x="355" y="220"/>
                    </a:lnTo>
                    <a:lnTo>
                      <a:pt x="384" y="194"/>
                    </a:lnTo>
                    <a:lnTo>
                      <a:pt x="416" y="178"/>
                    </a:lnTo>
                    <a:lnTo>
                      <a:pt x="431" y="173"/>
                    </a:lnTo>
                    <a:lnTo>
                      <a:pt x="457" y="169"/>
                    </a:lnTo>
                    <a:lnTo>
                      <a:pt x="462" y="156"/>
                    </a:lnTo>
                    <a:lnTo>
                      <a:pt x="461" y="123"/>
                    </a:lnTo>
                    <a:lnTo>
                      <a:pt x="469" y="85"/>
                    </a:lnTo>
                    <a:lnTo>
                      <a:pt x="483" y="46"/>
                    </a:lnTo>
                    <a:lnTo>
                      <a:pt x="488" y="30"/>
                    </a:lnTo>
                    <a:lnTo>
                      <a:pt x="479" y="11"/>
                    </a:lnTo>
                    <a:lnTo>
                      <a:pt x="443" y="0"/>
                    </a:lnTo>
                    <a:lnTo>
                      <a:pt x="422" y="8"/>
                    </a:lnTo>
                    <a:lnTo>
                      <a:pt x="411" y="86"/>
                    </a:lnTo>
                    <a:lnTo>
                      <a:pt x="413" y="143"/>
                    </a:lnTo>
                    <a:lnTo>
                      <a:pt x="400" y="154"/>
                    </a:lnTo>
                    <a:lnTo>
                      <a:pt x="333" y="173"/>
                    </a:lnTo>
                    <a:lnTo>
                      <a:pt x="264" y="194"/>
                    </a:lnTo>
                    <a:lnTo>
                      <a:pt x="218" y="201"/>
                    </a:lnTo>
                    <a:lnTo>
                      <a:pt x="197" y="216"/>
                    </a:lnTo>
                    <a:lnTo>
                      <a:pt x="152" y="242"/>
                    </a:lnTo>
                    <a:lnTo>
                      <a:pt x="76" y="280"/>
                    </a:lnTo>
                    <a:lnTo>
                      <a:pt x="18" y="3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58426" name="Rectangle 58"/>
          <p:cNvSpPr>
            <a:spLocks noChangeArrowheads="1"/>
          </p:cNvSpPr>
          <p:nvPr/>
        </p:nvSpPr>
        <p:spPr bwMode="auto">
          <a:xfrm>
            <a:off x="6615114" y="3663950"/>
            <a:ext cx="928687" cy="75088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400">
                <a:solidFill>
                  <a:srgbClr val="FFFF00"/>
                </a:solidFill>
                <a:latin typeface="Times New Roman" panose="02020603050405020304" pitchFamily="18" charset="0"/>
              </a:rPr>
              <a:t>% foo.bar</a:t>
            </a:r>
          </a:p>
          <a:p>
            <a:r>
              <a:rPr lang="en-US" altLang="en-US" sz="1400">
                <a:solidFill>
                  <a:srgbClr val="FFFF00"/>
                </a:solidFill>
                <a:latin typeface="Times New Roman" panose="02020603050405020304" pitchFamily="18" charset="0"/>
              </a:rPr>
              <a:t>ABORT</a:t>
            </a:r>
          </a:p>
          <a:p>
            <a:r>
              <a:rPr lang="en-US" altLang="en-US" sz="1400">
                <a:solidFill>
                  <a:srgbClr val="FFFF00"/>
                </a:solidFill>
                <a:latin typeface="Times New Roman" panose="02020603050405020304" pitchFamily="18" charset="0"/>
              </a:rPr>
              <a:t>dumby!!!</a:t>
            </a:r>
            <a:endParaRPr lang="en-US" altLang="en-US">
              <a:solidFill>
                <a:schemeClr val="accent1"/>
              </a:solidFill>
              <a:latin typeface="Times New Roman" panose="02020603050405020304" pitchFamily="18" charset="0"/>
            </a:endParaRPr>
          </a:p>
        </p:txBody>
      </p:sp>
      <p:sp>
        <p:nvSpPr>
          <p:cNvPr id="58427" name="AutoShape 59"/>
          <p:cNvSpPr>
            <a:spLocks noChangeArrowheads="1"/>
          </p:cNvSpPr>
          <p:nvPr/>
        </p:nvSpPr>
        <p:spPr bwMode="auto">
          <a:xfrm>
            <a:off x="5334000" y="2178050"/>
            <a:ext cx="2286000" cy="1054100"/>
          </a:xfrm>
          <a:prstGeom prst="cloudCallout">
            <a:avLst>
              <a:gd name="adj1" fmla="val -13194"/>
              <a:gd name="adj2" fmla="val 141588"/>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800">
                <a:solidFill>
                  <a:srgbClr val="FFFF00"/>
                </a:solidFill>
                <a:latin typeface="Times New Roman" panose="02020603050405020304" pitchFamily="18" charset="0"/>
              </a:rPr>
              <a:t>C…P… filename</a:t>
            </a:r>
          </a:p>
          <a:p>
            <a:pPr algn="ctr"/>
            <a:r>
              <a:rPr lang="en-US" altLang="en-US" sz="1800">
                <a:solidFill>
                  <a:srgbClr val="FFFF00"/>
                </a:solidFill>
                <a:latin typeface="Times New Roman" panose="02020603050405020304" pitchFamily="18" charset="0"/>
              </a:rPr>
              <a:t>dot star… or was </a:t>
            </a:r>
          </a:p>
          <a:p>
            <a:pPr algn="ctr"/>
            <a:r>
              <a:rPr lang="en-US" altLang="en-US" sz="1800">
                <a:solidFill>
                  <a:srgbClr val="FFFF00"/>
                </a:solidFill>
                <a:latin typeface="Times New Roman" panose="02020603050405020304" pitchFamily="18" charset="0"/>
              </a:rPr>
              <a:t>it R…M?</a:t>
            </a:r>
            <a:endParaRPr lang="en-US" altLang="en-US">
              <a:solidFill>
                <a:srgbClr val="FFFF00"/>
              </a:solidFill>
              <a:latin typeface="Times New Roman" panose="02020603050405020304" pitchFamily="18" charset="0"/>
            </a:endParaRPr>
          </a:p>
        </p:txBody>
      </p:sp>
      <p:sp>
        <p:nvSpPr>
          <p:cNvPr id="58428" name="AutoShape 60"/>
          <p:cNvSpPr>
            <a:spLocks noChangeArrowheads="1"/>
          </p:cNvSpPr>
          <p:nvPr/>
        </p:nvSpPr>
        <p:spPr bwMode="auto">
          <a:xfrm>
            <a:off x="8001000" y="2016125"/>
            <a:ext cx="2209800" cy="1136650"/>
          </a:xfrm>
          <a:prstGeom prst="cloudCallout">
            <a:avLst>
              <a:gd name="adj1" fmla="val -27083"/>
              <a:gd name="adj2" fmla="val 134972"/>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1800">
                <a:solidFill>
                  <a:srgbClr val="FFFF00"/>
                </a:solidFill>
                <a:latin typeface="Times New Roman" panose="02020603050405020304" pitchFamily="18" charset="0"/>
              </a:rPr>
              <a:t>Move this file here,</a:t>
            </a:r>
          </a:p>
          <a:p>
            <a:pPr algn="ctr"/>
            <a:r>
              <a:rPr lang="en-US" altLang="en-US" sz="1800">
                <a:solidFill>
                  <a:srgbClr val="FFFF00"/>
                </a:solidFill>
                <a:latin typeface="Times New Roman" panose="02020603050405020304" pitchFamily="18" charset="0"/>
              </a:rPr>
              <a:t>and copy this to there.</a:t>
            </a:r>
            <a:endParaRPr lang="en-US" altLang="en-US" sz="1800">
              <a:latin typeface="Times New Roman" panose="02020603050405020304" pitchFamily="18" charset="0"/>
            </a:endParaRPr>
          </a:p>
        </p:txBody>
      </p:sp>
      <p:sp>
        <p:nvSpPr>
          <p:cNvPr id="58429" name="Text Box 61"/>
          <p:cNvSpPr txBox="1">
            <a:spLocks noChangeArrowheads="1"/>
          </p:cNvSpPr>
          <p:nvPr/>
        </p:nvSpPr>
        <p:spPr bwMode="auto">
          <a:xfrm>
            <a:off x="6119814" y="5689601"/>
            <a:ext cx="3405187"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20000"/>
              </a:spcBef>
              <a:buClr>
                <a:schemeClr val="accent2"/>
              </a:buClr>
              <a:buFont typeface="Monotype Sorts" pitchFamily="2" charset="2"/>
              <a:buNone/>
            </a:pPr>
            <a:r>
              <a:rPr kumimoji="1" lang="en-US" altLang="en-US" sz="2800" i="1">
                <a:latin typeface="Comic Sans MS" panose="030F0702030302020204" pitchFamily="66" charset="0"/>
              </a:rPr>
              <a:t>Direct manipulation</a:t>
            </a:r>
          </a:p>
        </p:txBody>
      </p:sp>
    </p:spTree>
    <p:extLst>
      <p:ext uri="{BB962C8B-B14F-4D97-AF65-F5344CB8AC3E}">
        <p14:creationId xmlns:p14="http://schemas.microsoft.com/office/powerpoint/2010/main" val="28559827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84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58426"/>
                                        </p:tgtEl>
                                        <p:attrNameLst>
                                          <p:attrName>style.visibility</p:attrName>
                                        </p:attrNameLst>
                                      </p:cBhvr>
                                      <p:to>
                                        <p:strVal val="visible"/>
                                      </p:to>
                                    </p:set>
                                    <p:animEffect transition="in" filter="dissolve">
                                      <p:cBhvr>
                                        <p:cTn id="11" dur="500"/>
                                        <p:tgtEl>
                                          <p:spTgt spid="5842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1" fill="hold" grpId="0" nodeType="clickEffect">
                                  <p:stCondLst>
                                    <p:cond delay="0"/>
                                  </p:stCondLst>
                                  <p:childTnLst>
                                    <p:set>
                                      <p:cBhvr>
                                        <p:cTn id="15" dur="1" fill="hold">
                                          <p:stCondLst>
                                            <p:cond delay="0"/>
                                          </p:stCondLst>
                                        </p:cTn>
                                        <p:tgtEl>
                                          <p:spTgt spid="58427"/>
                                        </p:tgtEl>
                                        <p:attrNameLst>
                                          <p:attrName>style.visibility</p:attrName>
                                        </p:attrNameLst>
                                      </p:cBhvr>
                                      <p:to>
                                        <p:strVal val="visible"/>
                                      </p:to>
                                    </p:set>
                                    <p:anim calcmode="lin" valueType="num">
                                      <p:cBhvr additive="base">
                                        <p:cTn id="16" dur="500" fill="hold"/>
                                        <p:tgtEl>
                                          <p:spTgt spid="58427"/>
                                        </p:tgtEl>
                                        <p:attrNameLst>
                                          <p:attrName>ppt_x</p:attrName>
                                        </p:attrNameLst>
                                      </p:cBhvr>
                                      <p:tavLst>
                                        <p:tav tm="0">
                                          <p:val>
                                            <p:strVal val="#ppt_x"/>
                                          </p:val>
                                        </p:tav>
                                        <p:tav tm="100000">
                                          <p:val>
                                            <p:strVal val="#ppt_x"/>
                                          </p:val>
                                        </p:tav>
                                      </p:tavLst>
                                    </p:anim>
                                    <p:anim calcmode="lin" valueType="num">
                                      <p:cBhvr additive="base">
                                        <p:cTn id="17" dur="500" fill="hold"/>
                                        <p:tgtEl>
                                          <p:spTgt spid="58427"/>
                                        </p:tgtEl>
                                        <p:attrNameLst>
                                          <p:attrName>ppt_y</p:attrName>
                                        </p:attrNameLst>
                                      </p:cBhvr>
                                      <p:tavLst>
                                        <p:tav tm="0">
                                          <p:val>
                                            <p:strVal val="0-#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58370"/>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58404"/>
                                        </p:tgtEl>
                                        <p:attrNameLst>
                                          <p:attrName>style.visibility</p:attrName>
                                        </p:attrNameLst>
                                      </p:cBhvr>
                                      <p:to>
                                        <p:strVal val="visible"/>
                                      </p:to>
                                    </p:set>
                                    <p:animEffect transition="in" filter="dissolve">
                                      <p:cBhvr>
                                        <p:cTn id="26" dur="500"/>
                                        <p:tgtEl>
                                          <p:spTgt spid="5840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58428"/>
                                        </p:tgtEl>
                                        <p:attrNameLst>
                                          <p:attrName>style.visibility</p:attrName>
                                        </p:attrNameLst>
                                      </p:cBhvr>
                                      <p:to>
                                        <p:strVal val="visible"/>
                                      </p:to>
                                    </p:set>
                                    <p:anim calcmode="lin" valueType="num">
                                      <p:cBhvr additive="base">
                                        <p:cTn id="31" dur="500" fill="hold"/>
                                        <p:tgtEl>
                                          <p:spTgt spid="58428"/>
                                        </p:tgtEl>
                                        <p:attrNameLst>
                                          <p:attrName>ppt_x</p:attrName>
                                        </p:attrNameLst>
                                      </p:cBhvr>
                                      <p:tavLst>
                                        <p:tav tm="0">
                                          <p:val>
                                            <p:strVal val="#ppt_x"/>
                                          </p:val>
                                        </p:tav>
                                        <p:tav tm="100000">
                                          <p:val>
                                            <p:strVal val="#ppt_x"/>
                                          </p:val>
                                        </p:tav>
                                      </p:tavLst>
                                    </p:anim>
                                    <p:anim calcmode="lin" valueType="num">
                                      <p:cBhvr additive="base">
                                        <p:cTn id="32" dur="500" fill="hold"/>
                                        <p:tgtEl>
                                          <p:spTgt spid="58428"/>
                                        </p:tgtEl>
                                        <p:attrNameLst>
                                          <p:attrName>ppt_y</p:attrName>
                                        </p:attrNameLst>
                                      </p:cBhvr>
                                      <p:tavLst>
                                        <p:tav tm="0">
                                          <p:val>
                                            <p:strVal val="0-#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8429"/>
                                        </p:tgtEl>
                                        <p:attrNameLst>
                                          <p:attrName>style.visibility</p:attrName>
                                        </p:attrNameLst>
                                      </p:cBhvr>
                                      <p:to>
                                        <p:strVal val="visible"/>
                                      </p:to>
                                    </p:set>
                                    <p:animEffect transition="in" filter="dissolve">
                                      <p:cBhvr>
                                        <p:cTn id="37" dur="500"/>
                                        <p:tgtEl>
                                          <p:spTgt spid="58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26" grpId="0" animBg="1" autoUpdateAnimBg="0"/>
      <p:bldP spid="58427" grpId="0" animBg="1" autoUpdateAnimBg="0"/>
      <p:bldP spid="58428" grpId="0" animBg="1" autoUpdateAnimBg="0"/>
      <p:bldP spid="5842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14400" y="609600"/>
            <a:ext cx="10078144" cy="1143000"/>
          </a:xfrm>
        </p:spPr>
        <p:txBody>
          <a:bodyPr>
            <a:normAutofit fontScale="90000"/>
          </a:bodyPr>
          <a:lstStyle/>
          <a:p>
            <a:pPr eaLnBrk="1" hangingPunct="1"/>
            <a:r>
              <a:rPr lang="en-US" altLang="en-US" dirty="0">
                <a:latin typeface="Times New Roman" panose="02020603050405020304" pitchFamily="18" charset="0"/>
                <a:cs typeface="Times New Roman" panose="02020603050405020304" pitchFamily="18" charset="0"/>
              </a:rPr>
              <a:t>Example Paradigm Shifts: </a:t>
            </a:r>
            <a:r>
              <a:rPr lang="en-US" altLang="en-US" dirty="0">
                <a:solidFill>
                  <a:srgbClr val="FF0000"/>
                </a:solidFill>
                <a:latin typeface="Times New Roman" panose="02020603050405020304" pitchFamily="18" charset="0"/>
                <a:cs typeface="Times New Roman" panose="02020603050405020304" pitchFamily="18" charset="0"/>
              </a:rPr>
              <a:t>Microprocessor</a:t>
            </a:r>
            <a:endParaRPr lang="en-US" altLang="en-US" dirty="0">
              <a:latin typeface="Times New Roman" panose="02020603050405020304" pitchFamily="18" charset="0"/>
              <a:cs typeface="Times New Roman" panose="02020603050405020304" pitchFamily="18" charset="0"/>
            </a:endParaRPr>
          </a:p>
        </p:txBody>
      </p:sp>
      <p:sp>
        <p:nvSpPr>
          <p:cNvPr id="10243" name="Rectangle 3"/>
          <p:cNvSpPr>
            <a:spLocks noGrp="1" noChangeArrowheads="1"/>
          </p:cNvSpPr>
          <p:nvPr>
            <p:ph type="body" sz="half" idx="1"/>
          </p:nvPr>
        </p:nvSpPr>
        <p:spPr>
          <a:xfrm>
            <a:off x="3304410" y="3235432"/>
            <a:ext cx="3813175" cy="901230"/>
          </a:xfrm>
        </p:spPr>
        <p:txBody>
          <a:bodyPr/>
          <a:lstStyle/>
          <a:p>
            <a:pPr eaLnBrk="1" hangingPunct="1"/>
            <a:r>
              <a:rPr lang="en-US" altLang="en-US" sz="2400" dirty="0">
                <a:solidFill>
                  <a:srgbClr val="FF0000"/>
                </a:solidFill>
                <a:latin typeface="Times New Roman" panose="02020603050405020304" pitchFamily="18" charset="0"/>
                <a:cs typeface="Times New Roman" panose="02020603050405020304" pitchFamily="18" charset="0"/>
              </a:rPr>
              <a:t>Microprocessor</a:t>
            </a:r>
            <a:endParaRPr lang="en-US" altLang="en-US" sz="2400"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p:txBody>
      </p:sp>
      <p:grpSp>
        <p:nvGrpSpPr>
          <p:cNvPr id="59396" name="Group 4"/>
          <p:cNvGrpSpPr>
            <a:grpSpLocks/>
          </p:cNvGrpSpPr>
          <p:nvPr/>
        </p:nvGrpSpPr>
        <p:grpSpPr bwMode="auto">
          <a:xfrm>
            <a:off x="7086601" y="2995613"/>
            <a:ext cx="1249363" cy="1377950"/>
            <a:chOff x="1425" y="723"/>
            <a:chExt cx="922" cy="983"/>
          </a:xfrm>
        </p:grpSpPr>
        <p:sp>
          <p:nvSpPr>
            <p:cNvPr id="10267" name="Freeform 5"/>
            <p:cNvSpPr>
              <a:spLocks/>
            </p:cNvSpPr>
            <p:nvPr/>
          </p:nvSpPr>
          <p:spPr bwMode="auto">
            <a:xfrm>
              <a:off x="1441" y="731"/>
              <a:ext cx="901" cy="965"/>
            </a:xfrm>
            <a:custGeom>
              <a:avLst/>
              <a:gdLst>
                <a:gd name="T0" fmla="*/ 186 w 901"/>
                <a:gd name="T1" fmla="*/ 585 h 965"/>
                <a:gd name="T2" fmla="*/ 109 w 901"/>
                <a:gd name="T3" fmla="*/ 634 h 965"/>
                <a:gd name="T4" fmla="*/ 14 w 901"/>
                <a:gd name="T5" fmla="*/ 696 h 965"/>
                <a:gd name="T6" fmla="*/ 4 w 901"/>
                <a:gd name="T7" fmla="*/ 758 h 965"/>
                <a:gd name="T8" fmla="*/ 0 w 901"/>
                <a:gd name="T9" fmla="*/ 875 h 965"/>
                <a:gd name="T10" fmla="*/ 142 w 901"/>
                <a:gd name="T11" fmla="*/ 891 h 965"/>
                <a:gd name="T12" fmla="*/ 302 w 901"/>
                <a:gd name="T13" fmla="*/ 899 h 965"/>
                <a:gd name="T14" fmla="*/ 539 w 901"/>
                <a:gd name="T15" fmla="*/ 933 h 965"/>
                <a:gd name="T16" fmla="*/ 714 w 901"/>
                <a:gd name="T17" fmla="*/ 965 h 965"/>
                <a:gd name="T18" fmla="*/ 794 w 901"/>
                <a:gd name="T19" fmla="*/ 862 h 965"/>
                <a:gd name="T20" fmla="*/ 901 w 901"/>
                <a:gd name="T21" fmla="*/ 652 h 965"/>
                <a:gd name="T22" fmla="*/ 898 w 901"/>
                <a:gd name="T23" fmla="*/ 584 h 965"/>
                <a:gd name="T24" fmla="*/ 875 w 901"/>
                <a:gd name="T25" fmla="*/ 553 h 965"/>
                <a:gd name="T26" fmla="*/ 795 w 901"/>
                <a:gd name="T27" fmla="*/ 545 h 965"/>
                <a:gd name="T28" fmla="*/ 860 w 901"/>
                <a:gd name="T29" fmla="*/ 382 h 965"/>
                <a:gd name="T30" fmla="*/ 873 w 901"/>
                <a:gd name="T31" fmla="*/ 331 h 965"/>
                <a:gd name="T32" fmla="*/ 875 w 901"/>
                <a:gd name="T33" fmla="*/ 198 h 965"/>
                <a:gd name="T34" fmla="*/ 871 w 901"/>
                <a:gd name="T35" fmla="*/ 99 h 965"/>
                <a:gd name="T36" fmla="*/ 846 w 901"/>
                <a:gd name="T37" fmla="*/ 50 h 965"/>
                <a:gd name="T38" fmla="*/ 820 w 901"/>
                <a:gd name="T39" fmla="*/ 47 h 965"/>
                <a:gd name="T40" fmla="*/ 756 w 901"/>
                <a:gd name="T41" fmla="*/ 47 h 965"/>
                <a:gd name="T42" fmla="*/ 651 w 901"/>
                <a:gd name="T43" fmla="*/ 36 h 965"/>
                <a:gd name="T44" fmla="*/ 585 w 901"/>
                <a:gd name="T45" fmla="*/ 16 h 965"/>
                <a:gd name="T46" fmla="*/ 513 w 901"/>
                <a:gd name="T47" fmla="*/ 0 h 965"/>
                <a:gd name="T48" fmla="*/ 484 w 901"/>
                <a:gd name="T49" fmla="*/ 3 h 965"/>
                <a:gd name="T50" fmla="*/ 416 w 901"/>
                <a:gd name="T51" fmla="*/ 21 h 965"/>
                <a:gd name="T52" fmla="*/ 322 w 901"/>
                <a:gd name="T53" fmla="*/ 31 h 965"/>
                <a:gd name="T54" fmla="*/ 198 w 901"/>
                <a:gd name="T55" fmla="*/ 53 h 965"/>
                <a:gd name="T56" fmla="*/ 150 w 901"/>
                <a:gd name="T57" fmla="*/ 73 h 965"/>
                <a:gd name="T58" fmla="*/ 102 w 901"/>
                <a:gd name="T59" fmla="*/ 110 h 965"/>
                <a:gd name="T60" fmla="*/ 84 w 901"/>
                <a:gd name="T61" fmla="*/ 173 h 965"/>
                <a:gd name="T62" fmla="*/ 68 w 901"/>
                <a:gd name="T63" fmla="*/ 279 h 965"/>
                <a:gd name="T64" fmla="*/ 52 w 901"/>
                <a:gd name="T65" fmla="*/ 406 h 965"/>
                <a:gd name="T66" fmla="*/ 49 w 901"/>
                <a:gd name="T67" fmla="*/ 482 h 965"/>
                <a:gd name="T68" fmla="*/ 60 w 901"/>
                <a:gd name="T69" fmla="*/ 528 h 965"/>
                <a:gd name="T70" fmla="*/ 83 w 901"/>
                <a:gd name="T71" fmla="*/ 555 h 965"/>
                <a:gd name="T72" fmla="*/ 114 w 901"/>
                <a:gd name="T73" fmla="*/ 569 h 965"/>
                <a:gd name="T74" fmla="*/ 186 w 901"/>
                <a:gd name="T75" fmla="*/ 585 h 96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901" h="965">
                  <a:moveTo>
                    <a:pt x="186" y="585"/>
                  </a:moveTo>
                  <a:lnTo>
                    <a:pt x="109" y="634"/>
                  </a:lnTo>
                  <a:lnTo>
                    <a:pt x="14" y="696"/>
                  </a:lnTo>
                  <a:lnTo>
                    <a:pt x="4" y="758"/>
                  </a:lnTo>
                  <a:lnTo>
                    <a:pt x="0" y="875"/>
                  </a:lnTo>
                  <a:lnTo>
                    <a:pt x="142" y="891"/>
                  </a:lnTo>
                  <a:lnTo>
                    <a:pt x="302" y="899"/>
                  </a:lnTo>
                  <a:lnTo>
                    <a:pt x="539" y="933"/>
                  </a:lnTo>
                  <a:lnTo>
                    <a:pt x="714" y="965"/>
                  </a:lnTo>
                  <a:lnTo>
                    <a:pt x="794" y="862"/>
                  </a:lnTo>
                  <a:lnTo>
                    <a:pt x="901" y="652"/>
                  </a:lnTo>
                  <a:lnTo>
                    <a:pt x="898" y="584"/>
                  </a:lnTo>
                  <a:lnTo>
                    <a:pt x="875" y="553"/>
                  </a:lnTo>
                  <a:lnTo>
                    <a:pt x="795" y="545"/>
                  </a:lnTo>
                  <a:lnTo>
                    <a:pt x="860" y="382"/>
                  </a:lnTo>
                  <a:lnTo>
                    <a:pt x="873" y="331"/>
                  </a:lnTo>
                  <a:lnTo>
                    <a:pt x="875" y="198"/>
                  </a:lnTo>
                  <a:lnTo>
                    <a:pt x="871" y="99"/>
                  </a:lnTo>
                  <a:lnTo>
                    <a:pt x="846" y="50"/>
                  </a:lnTo>
                  <a:lnTo>
                    <a:pt x="820" y="47"/>
                  </a:lnTo>
                  <a:lnTo>
                    <a:pt x="756" y="47"/>
                  </a:lnTo>
                  <a:lnTo>
                    <a:pt x="651" y="36"/>
                  </a:lnTo>
                  <a:lnTo>
                    <a:pt x="585" y="16"/>
                  </a:lnTo>
                  <a:lnTo>
                    <a:pt x="513" y="0"/>
                  </a:lnTo>
                  <a:lnTo>
                    <a:pt x="484" y="3"/>
                  </a:lnTo>
                  <a:lnTo>
                    <a:pt x="416" y="21"/>
                  </a:lnTo>
                  <a:lnTo>
                    <a:pt x="322" y="31"/>
                  </a:lnTo>
                  <a:lnTo>
                    <a:pt x="198" y="53"/>
                  </a:lnTo>
                  <a:lnTo>
                    <a:pt x="150" y="73"/>
                  </a:lnTo>
                  <a:lnTo>
                    <a:pt x="102" y="110"/>
                  </a:lnTo>
                  <a:lnTo>
                    <a:pt x="84" y="173"/>
                  </a:lnTo>
                  <a:lnTo>
                    <a:pt x="68" y="279"/>
                  </a:lnTo>
                  <a:lnTo>
                    <a:pt x="52" y="406"/>
                  </a:lnTo>
                  <a:lnTo>
                    <a:pt x="49" y="482"/>
                  </a:lnTo>
                  <a:lnTo>
                    <a:pt x="60" y="528"/>
                  </a:lnTo>
                  <a:lnTo>
                    <a:pt x="83" y="555"/>
                  </a:lnTo>
                  <a:lnTo>
                    <a:pt x="114" y="569"/>
                  </a:lnTo>
                  <a:lnTo>
                    <a:pt x="186" y="585"/>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8" name="Freeform 6"/>
            <p:cNvSpPr>
              <a:spLocks/>
            </p:cNvSpPr>
            <p:nvPr/>
          </p:nvSpPr>
          <p:spPr bwMode="auto">
            <a:xfrm>
              <a:off x="1580" y="864"/>
              <a:ext cx="500" cy="448"/>
            </a:xfrm>
            <a:custGeom>
              <a:avLst/>
              <a:gdLst>
                <a:gd name="T0" fmla="*/ 24 w 500"/>
                <a:gd name="T1" fmla="*/ 92 h 448"/>
                <a:gd name="T2" fmla="*/ 41 w 500"/>
                <a:gd name="T3" fmla="*/ 21 h 448"/>
                <a:gd name="T4" fmla="*/ 56 w 500"/>
                <a:gd name="T5" fmla="*/ 3 h 448"/>
                <a:gd name="T6" fmla="*/ 87 w 500"/>
                <a:gd name="T7" fmla="*/ 0 h 448"/>
                <a:gd name="T8" fmla="*/ 215 w 500"/>
                <a:gd name="T9" fmla="*/ 16 h 448"/>
                <a:gd name="T10" fmla="*/ 371 w 500"/>
                <a:gd name="T11" fmla="*/ 39 h 448"/>
                <a:gd name="T12" fmla="*/ 462 w 500"/>
                <a:gd name="T13" fmla="*/ 55 h 448"/>
                <a:gd name="T14" fmla="*/ 482 w 500"/>
                <a:gd name="T15" fmla="*/ 72 h 448"/>
                <a:gd name="T16" fmla="*/ 493 w 500"/>
                <a:gd name="T17" fmla="*/ 102 h 448"/>
                <a:gd name="T18" fmla="*/ 498 w 500"/>
                <a:gd name="T19" fmla="*/ 219 h 448"/>
                <a:gd name="T20" fmla="*/ 500 w 500"/>
                <a:gd name="T21" fmla="*/ 348 h 448"/>
                <a:gd name="T22" fmla="*/ 493 w 500"/>
                <a:gd name="T23" fmla="*/ 430 h 448"/>
                <a:gd name="T24" fmla="*/ 482 w 500"/>
                <a:gd name="T25" fmla="*/ 444 h 448"/>
                <a:gd name="T26" fmla="*/ 453 w 500"/>
                <a:gd name="T27" fmla="*/ 448 h 448"/>
                <a:gd name="T28" fmla="*/ 319 w 500"/>
                <a:gd name="T29" fmla="*/ 424 h 448"/>
                <a:gd name="T30" fmla="*/ 117 w 500"/>
                <a:gd name="T31" fmla="*/ 382 h 448"/>
                <a:gd name="T32" fmla="*/ 16 w 500"/>
                <a:gd name="T33" fmla="*/ 355 h 448"/>
                <a:gd name="T34" fmla="*/ 3 w 500"/>
                <a:gd name="T35" fmla="*/ 333 h 448"/>
                <a:gd name="T36" fmla="*/ 0 w 500"/>
                <a:gd name="T37" fmla="*/ 289 h 448"/>
                <a:gd name="T38" fmla="*/ 6 w 500"/>
                <a:gd name="T39" fmla="*/ 189 h 448"/>
                <a:gd name="T40" fmla="*/ 24 w 500"/>
                <a:gd name="T41" fmla="*/ 92 h 4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00" h="448">
                  <a:moveTo>
                    <a:pt x="24" y="92"/>
                  </a:moveTo>
                  <a:lnTo>
                    <a:pt x="41" y="21"/>
                  </a:lnTo>
                  <a:lnTo>
                    <a:pt x="56" y="3"/>
                  </a:lnTo>
                  <a:lnTo>
                    <a:pt x="87" y="0"/>
                  </a:lnTo>
                  <a:lnTo>
                    <a:pt x="215" y="16"/>
                  </a:lnTo>
                  <a:lnTo>
                    <a:pt x="371" y="39"/>
                  </a:lnTo>
                  <a:lnTo>
                    <a:pt x="462" y="55"/>
                  </a:lnTo>
                  <a:lnTo>
                    <a:pt x="482" y="72"/>
                  </a:lnTo>
                  <a:lnTo>
                    <a:pt x="493" y="102"/>
                  </a:lnTo>
                  <a:lnTo>
                    <a:pt x="498" y="219"/>
                  </a:lnTo>
                  <a:lnTo>
                    <a:pt x="500" y="348"/>
                  </a:lnTo>
                  <a:lnTo>
                    <a:pt x="493" y="430"/>
                  </a:lnTo>
                  <a:lnTo>
                    <a:pt x="482" y="444"/>
                  </a:lnTo>
                  <a:lnTo>
                    <a:pt x="453" y="448"/>
                  </a:lnTo>
                  <a:lnTo>
                    <a:pt x="319" y="424"/>
                  </a:lnTo>
                  <a:lnTo>
                    <a:pt x="117" y="382"/>
                  </a:lnTo>
                  <a:lnTo>
                    <a:pt x="16" y="355"/>
                  </a:lnTo>
                  <a:lnTo>
                    <a:pt x="3" y="333"/>
                  </a:lnTo>
                  <a:lnTo>
                    <a:pt x="0" y="289"/>
                  </a:lnTo>
                  <a:lnTo>
                    <a:pt x="6" y="189"/>
                  </a:lnTo>
                  <a:lnTo>
                    <a:pt x="24" y="92"/>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0269" name="Group 7"/>
            <p:cNvGrpSpPr>
              <a:grpSpLocks/>
            </p:cNvGrpSpPr>
            <p:nvPr/>
          </p:nvGrpSpPr>
          <p:grpSpPr bwMode="auto">
            <a:xfrm>
              <a:off x="1425" y="723"/>
              <a:ext cx="922" cy="983"/>
              <a:chOff x="1425" y="723"/>
              <a:chExt cx="922" cy="983"/>
            </a:xfrm>
          </p:grpSpPr>
          <p:sp>
            <p:nvSpPr>
              <p:cNvPr id="10270" name="Freeform 8"/>
              <p:cNvSpPr>
                <a:spLocks/>
              </p:cNvSpPr>
              <p:nvPr/>
            </p:nvSpPr>
            <p:spPr bwMode="auto">
              <a:xfrm>
                <a:off x="1425" y="1270"/>
                <a:ext cx="922" cy="436"/>
              </a:xfrm>
              <a:custGeom>
                <a:avLst/>
                <a:gdLst>
                  <a:gd name="T0" fmla="*/ 15 w 922"/>
                  <a:gd name="T1" fmla="*/ 153 h 436"/>
                  <a:gd name="T2" fmla="*/ 139 w 922"/>
                  <a:gd name="T3" fmla="*/ 76 h 436"/>
                  <a:gd name="T4" fmla="*/ 139 w 922"/>
                  <a:gd name="T5" fmla="*/ 98 h 436"/>
                  <a:gd name="T6" fmla="*/ 54 w 922"/>
                  <a:gd name="T7" fmla="*/ 154 h 436"/>
                  <a:gd name="T8" fmla="*/ 186 w 922"/>
                  <a:gd name="T9" fmla="*/ 168 h 436"/>
                  <a:gd name="T10" fmla="*/ 460 w 922"/>
                  <a:gd name="T11" fmla="*/ 215 h 436"/>
                  <a:gd name="T12" fmla="*/ 607 w 922"/>
                  <a:gd name="T13" fmla="*/ 227 h 436"/>
                  <a:gd name="T14" fmla="*/ 701 w 922"/>
                  <a:gd name="T15" fmla="*/ 224 h 436"/>
                  <a:gd name="T16" fmla="*/ 727 w 922"/>
                  <a:gd name="T17" fmla="*/ 221 h 436"/>
                  <a:gd name="T18" fmla="*/ 869 w 922"/>
                  <a:gd name="T19" fmla="*/ 22 h 436"/>
                  <a:gd name="T20" fmla="*/ 821 w 922"/>
                  <a:gd name="T21" fmla="*/ 0 h 436"/>
                  <a:gd name="T22" fmla="*/ 896 w 922"/>
                  <a:gd name="T23" fmla="*/ 0 h 436"/>
                  <a:gd name="T24" fmla="*/ 922 w 922"/>
                  <a:gd name="T25" fmla="*/ 28 h 436"/>
                  <a:gd name="T26" fmla="*/ 921 w 922"/>
                  <a:gd name="T27" fmla="*/ 110 h 436"/>
                  <a:gd name="T28" fmla="*/ 889 w 922"/>
                  <a:gd name="T29" fmla="*/ 172 h 436"/>
                  <a:gd name="T30" fmla="*/ 786 w 922"/>
                  <a:gd name="T31" fmla="*/ 373 h 436"/>
                  <a:gd name="T32" fmla="*/ 742 w 922"/>
                  <a:gd name="T33" fmla="*/ 433 h 436"/>
                  <a:gd name="T34" fmla="*/ 712 w 922"/>
                  <a:gd name="T35" fmla="*/ 436 h 436"/>
                  <a:gd name="T36" fmla="*/ 490 w 922"/>
                  <a:gd name="T37" fmla="*/ 396 h 436"/>
                  <a:gd name="T38" fmla="*/ 256 w 922"/>
                  <a:gd name="T39" fmla="*/ 365 h 436"/>
                  <a:gd name="T40" fmla="*/ 34 w 922"/>
                  <a:gd name="T41" fmla="*/ 346 h 436"/>
                  <a:gd name="T42" fmla="*/ 0 w 922"/>
                  <a:gd name="T43" fmla="*/ 343 h 436"/>
                  <a:gd name="T44" fmla="*/ 7 w 922"/>
                  <a:gd name="T45" fmla="*/ 280 h 436"/>
                  <a:gd name="T46" fmla="*/ 12 w 922"/>
                  <a:gd name="T47" fmla="*/ 218 h 436"/>
                  <a:gd name="T48" fmla="*/ 16 w 922"/>
                  <a:gd name="T49" fmla="*/ 184 h 436"/>
                  <a:gd name="T50" fmla="*/ 31 w 922"/>
                  <a:gd name="T51" fmla="*/ 208 h 436"/>
                  <a:gd name="T52" fmla="*/ 27 w 922"/>
                  <a:gd name="T53" fmla="*/ 260 h 436"/>
                  <a:gd name="T54" fmla="*/ 26 w 922"/>
                  <a:gd name="T55" fmla="*/ 313 h 436"/>
                  <a:gd name="T56" fmla="*/ 87 w 922"/>
                  <a:gd name="T57" fmla="*/ 333 h 436"/>
                  <a:gd name="T58" fmla="*/ 234 w 922"/>
                  <a:gd name="T59" fmla="*/ 342 h 436"/>
                  <a:gd name="T60" fmla="*/ 359 w 922"/>
                  <a:gd name="T61" fmla="*/ 351 h 436"/>
                  <a:gd name="T62" fmla="*/ 462 w 922"/>
                  <a:gd name="T63" fmla="*/ 368 h 436"/>
                  <a:gd name="T64" fmla="*/ 615 w 922"/>
                  <a:gd name="T65" fmla="*/ 393 h 436"/>
                  <a:gd name="T66" fmla="*/ 713 w 922"/>
                  <a:gd name="T67" fmla="*/ 407 h 436"/>
                  <a:gd name="T68" fmla="*/ 721 w 922"/>
                  <a:gd name="T69" fmla="*/ 380 h 436"/>
                  <a:gd name="T70" fmla="*/ 721 w 922"/>
                  <a:gd name="T71" fmla="*/ 318 h 436"/>
                  <a:gd name="T72" fmla="*/ 723 w 922"/>
                  <a:gd name="T73" fmla="*/ 250 h 436"/>
                  <a:gd name="T74" fmla="*/ 734 w 922"/>
                  <a:gd name="T75" fmla="*/ 268 h 436"/>
                  <a:gd name="T76" fmla="*/ 736 w 922"/>
                  <a:gd name="T77" fmla="*/ 344 h 436"/>
                  <a:gd name="T78" fmla="*/ 744 w 922"/>
                  <a:gd name="T79" fmla="*/ 384 h 436"/>
                  <a:gd name="T80" fmla="*/ 764 w 922"/>
                  <a:gd name="T81" fmla="*/ 367 h 436"/>
                  <a:gd name="T82" fmla="*/ 801 w 922"/>
                  <a:gd name="T83" fmla="*/ 298 h 436"/>
                  <a:gd name="T84" fmla="*/ 856 w 922"/>
                  <a:gd name="T85" fmla="*/ 200 h 436"/>
                  <a:gd name="T86" fmla="*/ 897 w 922"/>
                  <a:gd name="T87" fmla="*/ 120 h 436"/>
                  <a:gd name="T88" fmla="*/ 906 w 922"/>
                  <a:gd name="T89" fmla="*/ 97 h 436"/>
                  <a:gd name="T90" fmla="*/ 901 w 922"/>
                  <a:gd name="T91" fmla="*/ 36 h 436"/>
                  <a:gd name="T92" fmla="*/ 888 w 922"/>
                  <a:gd name="T93" fmla="*/ 28 h 436"/>
                  <a:gd name="T94" fmla="*/ 848 w 922"/>
                  <a:gd name="T95" fmla="*/ 94 h 436"/>
                  <a:gd name="T96" fmla="*/ 782 w 922"/>
                  <a:gd name="T97" fmla="*/ 177 h 436"/>
                  <a:gd name="T98" fmla="*/ 732 w 922"/>
                  <a:gd name="T99" fmla="*/ 242 h 436"/>
                  <a:gd name="T100" fmla="*/ 693 w 922"/>
                  <a:gd name="T101" fmla="*/ 247 h 436"/>
                  <a:gd name="T102" fmla="*/ 559 w 922"/>
                  <a:gd name="T103" fmla="*/ 243 h 436"/>
                  <a:gd name="T104" fmla="*/ 397 w 922"/>
                  <a:gd name="T105" fmla="*/ 227 h 436"/>
                  <a:gd name="T106" fmla="*/ 243 w 922"/>
                  <a:gd name="T107" fmla="*/ 203 h 436"/>
                  <a:gd name="T108" fmla="*/ 66 w 922"/>
                  <a:gd name="T109" fmla="*/ 175 h 436"/>
                  <a:gd name="T110" fmla="*/ 15 w 922"/>
                  <a:gd name="T111" fmla="*/ 153 h 4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922" h="436">
                    <a:moveTo>
                      <a:pt x="15" y="153"/>
                    </a:moveTo>
                    <a:lnTo>
                      <a:pt x="139" y="76"/>
                    </a:lnTo>
                    <a:lnTo>
                      <a:pt x="139" y="98"/>
                    </a:lnTo>
                    <a:lnTo>
                      <a:pt x="54" y="154"/>
                    </a:lnTo>
                    <a:lnTo>
                      <a:pt x="186" y="168"/>
                    </a:lnTo>
                    <a:lnTo>
                      <a:pt x="460" y="215"/>
                    </a:lnTo>
                    <a:lnTo>
                      <a:pt x="607" y="227"/>
                    </a:lnTo>
                    <a:lnTo>
                      <a:pt x="701" y="224"/>
                    </a:lnTo>
                    <a:lnTo>
                      <a:pt x="727" y="221"/>
                    </a:lnTo>
                    <a:lnTo>
                      <a:pt x="869" y="22"/>
                    </a:lnTo>
                    <a:lnTo>
                      <a:pt x="821" y="0"/>
                    </a:lnTo>
                    <a:lnTo>
                      <a:pt x="896" y="0"/>
                    </a:lnTo>
                    <a:lnTo>
                      <a:pt x="922" y="28"/>
                    </a:lnTo>
                    <a:lnTo>
                      <a:pt x="921" y="110"/>
                    </a:lnTo>
                    <a:lnTo>
                      <a:pt x="889" y="172"/>
                    </a:lnTo>
                    <a:lnTo>
                      <a:pt x="786" y="373"/>
                    </a:lnTo>
                    <a:lnTo>
                      <a:pt x="742" y="433"/>
                    </a:lnTo>
                    <a:lnTo>
                      <a:pt x="712" y="436"/>
                    </a:lnTo>
                    <a:lnTo>
                      <a:pt x="490" y="396"/>
                    </a:lnTo>
                    <a:lnTo>
                      <a:pt x="256" y="365"/>
                    </a:lnTo>
                    <a:lnTo>
                      <a:pt x="34" y="346"/>
                    </a:lnTo>
                    <a:lnTo>
                      <a:pt x="0" y="343"/>
                    </a:lnTo>
                    <a:lnTo>
                      <a:pt x="7" y="280"/>
                    </a:lnTo>
                    <a:lnTo>
                      <a:pt x="12" y="218"/>
                    </a:lnTo>
                    <a:lnTo>
                      <a:pt x="16" y="184"/>
                    </a:lnTo>
                    <a:lnTo>
                      <a:pt x="31" y="208"/>
                    </a:lnTo>
                    <a:lnTo>
                      <a:pt x="27" y="260"/>
                    </a:lnTo>
                    <a:lnTo>
                      <a:pt x="26" y="313"/>
                    </a:lnTo>
                    <a:lnTo>
                      <a:pt x="87" y="333"/>
                    </a:lnTo>
                    <a:lnTo>
                      <a:pt x="234" y="342"/>
                    </a:lnTo>
                    <a:lnTo>
                      <a:pt x="359" y="351"/>
                    </a:lnTo>
                    <a:lnTo>
                      <a:pt x="462" y="368"/>
                    </a:lnTo>
                    <a:lnTo>
                      <a:pt x="615" y="393"/>
                    </a:lnTo>
                    <a:lnTo>
                      <a:pt x="713" y="407"/>
                    </a:lnTo>
                    <a:lnTo>
                      <a:pt x="721" y="380"/>
                    </a:lnTo>
                    <a:lnTo>
                      <a:pt x="721" y="318"/>
                    </a:lnTo>
                    <a:lnTo>
                      <a:pt x="723" y="250"/>
                    </a:lnTo>
                    <a:lnTo>
                      <a:pt x="734" y="268"/>
                    </a:lnTo>
                    <a:lnTo>
                      <a:pt x="736" y="344"/>
                    </a:lnTo>
                    <a:lnTo>
                      <a:pt x="744" y="384"/>
                    </a:lnTo>
                    <a:lnTo>
                      <a:pt x="764" y="367"/>
                    </a:lnTo>
                    <a:lnTo>
                      <a:pt x="801" y="298"/>
                    </a:lnTo>
                    <a:lnTo>
                      <a:pt x="856" y="200"/>
                    </a:lnTo>
                    <a:lnTo>
                      <a:pt x="897" y="120"/>
                    </a:lnTo>
                    <a:lnTo>
                      <a:pt x="906" y="97"/>
                    </a:lnTo>
                    <a:lnTo>
                      <a:pt x="901" y="36"/>
                    </a:lnTo>
                    <a:lnTo>
                      <a:pt x="888" y="28"/>
                    </a:lnTo>
                    <a:lnTo>
                      <a:pt x="848" y="94"/>
                    </a:lnTo>
                    <a:lnTo>
                      <a:pt x="782" y="177"/>
                    </a:lnTo>
                    <a:lnTo>
                      <a:pt x="732" y="242"/>
                    </a:lnTo>
                    <a:lnTo>
                      <a:pt x="693" y="247"/>
                    </a:lnTo>
                    <a:lnTo>
                      <a:pt x="559" y="243"/>
                    </a:lnTo>
                    <a:lnTo>
                      <a:pt x="397" y="227"/>
                    </a:lnTo>
                    <a:lnTo>
                      <a:pt x="243" y="203"/>
                    </a:lnTo>
                    <a:lnTo>
                      <a:pt x="66" y="175"/>
                    </a:lnTo>
                    <a:lnTo>
                      <a:pt x="15" y="1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1" name="Freeform 9"/>
              <p:cNvSpPr>
                <a:spLocks/>
              </p:cNvSpPr>
              <p:nvPr/>
            </p:nvSpPr>
            <p:spPr bwMode="auto">
              <a:xfrm>
                <a:off x="1615" y="1332"/>
                <a:ext cx="460" cy="136"/>
              </a:xfrm>
              <a:custGeom>
                <a:avLst/>
                <a:gdLst>
                  <a:gd name="T0" fmla="*/ 15 w 460"/>
                  <a:gd name="T1" fmla="*/ 13 h 136"/>
                  <a:gd name="T2" fmla="*/ 50 w 460"/>
                  <a:gd name="T3" fmla="*/ 0 h 136"/>
                  <a:gd name="T4" fmla="*/ 65 w 460"/>
                  <a:gd name="T5" fmla="*/ 7 h 136"/>
                  <a:gd name="T6" fmla="*/ 51 w 460"/>
                  <a:gd name="T7" fmla="*/ 29 h 136"/>
                  <a:gd name="T8" fmla="*/ 25 w 460"/>
                  <a:gd name="T9" fmla="*/ 39 h 136"/>
                  <a:gd name="T10" fmla="*/ 67 w 460"/>
                  <a:gd name="T11" fmla="*/ 68 h 136"/>
                  <a:gd name="T12" fmla="*/ 134 w 460"/>
                  <a:gd name="T13" fmla="*/ 83 h 136"/>
                  <a:gd name="T14" fmla="*/ 195 w 460"/>
                  <a:gd name="T15" fmla="*/ 87 h 136"/>
                  <a:gd name="T16" fmla="*/ 238 w 460"/>
                  <a:gd name="T17" fmla="*/ 90 h 136"/>
                  <a:gd name="T18" fmla="*/ 320 w 460"/>
                  <a:gd name="T19" fmla="*/ 95 h 136"/>
                  <a:gd name="T20" fmla="*/ 372 w 460"/>
                  <a:gd name="T21" fmla="*/ 98 h 136"/>
                  <a:gd name="T22" fmla="*/ 408 w 460"/>
                  <a:gd name="T23" fmla="*/ 94 h 136"/>
                  <a:gd name="T24" fmla="*/ 442 w 460"/>
                  <a:gd name="T25" fmla="*/ 80 h 136"/>
                  <a:gd name="T26" fmla="*/ 441 w 460"/>
                  <a:gd name="T27" fmla="*/ 65 h 136"/>
                  <a:gd name="T28" fmla="*/ 460 w 460"/>
                  <a:gd name="T29" fmla="*/ 73 h 136"/>
                  <a:gd name="T30" fmla="*/ 447 w 460"/>
                  <a:gd name="T31" fmla="*/ 121 h 136"/>
                  <a:gd name="T32" fmla="*/ 396 w 460"/>
                  <a:gd name="T33" fmla="*/ 136 h 136"/>
                  <a:gd name="T34" fmla="*/ 287 w 460"/>
                  <a:gd name="T35" fmla="*/ 124 h 136"/>
                  <a:gd name="T36" fmla="*/ 177 w 460"/>
                  <a:gd name="T37" fmla="*/ 117 h 136"/>
                  <a:gd name="T38" fmla="*/ 114 w 460"/>
                  <a:gd name="T39" fmla="*/ 115 h 136"/>
                  <a:gd name="T40" fmla="*/ 42 w 460"/>
                  <a:gd name="T41" fmla="*/ 84 h 136"/>
                  <a:gd name="T42" fmla="*/ 7 w 460"/>
                  <a:gd name="T43" fmla="*/ 67 h 136"/>
                  <a:gd name="T44" fmla="*/ 0 w 460"/>
                  <a:gd name="T45" fmla="*/ 36 h 136"/>
                  <a:gd name="T46" fmla="*/ 15 w 460"/>
                  <a:gd name="T47" fmla="*/ 13 h 1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60" h="136">
                    <a:moveTo>
                      <a:pt x="15" y="13"/>
                    </a:moveTo>
                    <a:lnTo>
                      <a:pt x="50" y="0"/>
                    </a:lnTo>
                    <a:lnTo>
                      <a:pt x="65" y="7"/>
                    </a:lnTo>
                    <a:lnTo>
                      <a:pt x="51" y="29"/>
                    </a:lnTo>
                    <a:lnTo>
                      <a:pt x="25" y="39"/>
                    </a:lnTo>
                    <a:lnTo>
                      <a:pt x="67" y="68"/>
                    </a:lnTo>
                    <a:lnTo>
                      <a:pt x="134" y="83"/>
                    </a:lnTo>
                    <a:lnTo>
                      <a:pt x="195" y="87"/>
                    </a:lnTo>
                    <a:lnTo>
                      <a:pt x="238" y="90"/>
                    </a:lnTo>
                    <a:lnTo>
                      <a:pt x="320" y="95"/>
                    </a:lnTo>
                    <a:lnTo>
                      <a:pt x="372" y="98"/>
                    </a:lnTo>
                    <a:lnTo>
                      <a:pt x="408" y="94"/>
                    </a:lnTo>
                    <a:lnTo>
                      <a:pt x="442" y="80"/>
                    </a:lnTo>
                    <a:lnTo>
                      <a:pt x="441" y="65"/>
                    </a:lnTo>
                    <a:lnTo>
                      <a:pt x="460" y="73"/>
                    </a:lnTo>
                    <a:lnTo>
                      <a:pt x="447" y="121"/>
                    </a:lnTo>
                    <a:lnTo>
                      <a:pt x="396" y="136"/>
                    </a:lnTo>
                    <a:lnTo>
                      <a:pt x="287" y="124"/>
                    </a:lnTo>
                    <a:lnTo>
                      <a:pt x="177" y="117"/>
                    </a:lnTo>
                    <a:lnTo>
                      <a:pt x="114" y="115"/>
                    </a:lnTo>
                    <a:lnTo>
                      <a:pt x="42" y="84"/>
                    </a:lnTo>
                    <a:lnTo>
                      <a:pt x="7" y="67"/>
                    </a:lnTo>
                    <a:lnTo>
                      <a:pt x="0" y="36"/>
                    </a:lnTo>
                    <a:lnTo>
                      <a:pt x="15"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2" name="Freeform 10"/>
              <p:cNvSpPr>
                <a:spLocks/>
              </p:cNvSpPr>
              <p:nvPr/>
            </p:nvSpPr>
            <p:spPr bwMode="auto">
              <a:xfrm>
                <a:off x="1518" y="1491"/>
                <a:ext cx="52" cy="46"/>
              </a:xfrm>
              <a:custGeom>
                <a:avLst/>
                <a:gdLst>
                  <a:gd name="T0" fmla="*/ 9 w 52"/>
                  <a:gd name="T1" fmla="*/ 0 h 46"/>
                  <a:gd name="T2" fmla="*/ 52 w 52"/>
                  <a:gd name="T3" fmla="*/ 5 h 46"/>
                  <a:gd name="T4" fmla="*/ 47 w 52"/>
                  <a:gd name="T5" fmla="*/ 46 h 46"/>
                  <a:gd name="T6" fmla="*/ 0 w 52"/>
                  <a:gd name="T7" fmla="*/ 39 h 46"/>
                  <a:gd name="T8" fmla="*/ 9 w 52"/>
                  <a:gd name="T9" fmla="*/ 0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46">
                    <a:moveTo>
                      <a:pt x="9" y="0"/>
                    </a:moveTo>
                    <a:lnTo>
                      <a:pt x="52" y="5"/>
                    </a:lnTo>
                    <a:lnTo>
                      <a:pt x="47" y="46"/>
                    </a:lnTo>
                    <a:lnTo>
                      <a:pt x="0" y="39"/>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3" name="Freeform 11"/>
              <p:cNvSpPr>
                <a:spLocks/>
              </p:cNvSpPr>
              <p:nvPr/>
            </p:nvSpPr>
            <p:spPr bwMode="auto">
              <a:xfrm>
                <a:off x="1608" y="1500"/>
                <a:ext cx="51" cy="46"/>
              </a:xfrm>
              <a:custGeom>
                <a:avLst/>
                <a:gdLst>
                  <a:gd name="T0" fmla="*/ 8 w 51"/>
                  <a:gd name="T1" fmla="*/ 0 h 46"/>
                  <a:gd name="T2" fmla="*/ 51 w 51"/>
                  <a:gd name="T3" fmla="*/ 5 h 46"/>
                  <a:gd name="T4" fmla="*/ 47 w 51"/>
                  <a:gd name="T5" fmla="*/ 46 h 46"/>
                  <a:gd name="T6" fmla="*/ 0 w 51"/>
                  <a:gd name="T7" fmla="*/ 39 h 46"/>
                  <a:gd name="T8" fmla="*/ 8 w 51"/>
                  <a:gd name="T9" fmla="*/ 0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46">
                    <a:moveTo>
                      <a:pt x="8" y="0"/>
                    </a:moveTo>
                    <a:lnTo>
                      <a:pt x="51" y="5"/>
                    </a:lnTo>
                    <a:lnTo>
                      <a:pt x="47" y="46"/>
                    </a:lnTo>
                    <a:lnTo>
                      <a:pt x="0" y="39"/>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4" name="Freeform 12"/>
              <p:cNvSpPr>
                <a:spLocks/>
              </p:cNvSpPr>
              <p:nvPr/>
            </p:nvSpPr>
            <p:spPr bwMode="auto">
              <a:xfrm>
                <a:off x="1896" y="1544"/>
                <a:ext cx="194" cy="51"/>
              </a:xfrm>
              <a:custGeom>
                <a:avLst/>
                <a:gdLst>
                  <a:gd name="T0" fmla="*/ 4 w 194"/>
                  <a:gd name="T1" fmla="*/ 0 h 51"/>
                  <a:gd name="T2" fmla="*/ 193 w 194"/>
                  <a:gd name="T3" fmla="*/ 18 h 51"/>
                  <a:gd name="T4" fmla="*/ 194 w 194"/>
                  <a:gd name="T5" fmla="*/ 51 h 51"/>
                  <a:gd name="T6" fmla="*/ 0 w 194"/>
                  <a:gd name="T7" fmla="*/ 33 h 51"/>
                  <a:gd name="T8" fmla="*/ 4 w 194"/>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51">
                    <a:moveTo>
                      <a:pt x="4" y="0"/>
                    </a:moveTo>
                    <a:lnTo>
                      <a:pt x="193" y="18"/>
                    </a:lnTo>
                    <a:lnTo>
                      <a:pt x="194" y="51"/>
                    </a:lnTo>
                    <a:lnTo>
                      <a:pt x="0" y="33"/>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5" name="Freeform 13"/>
              <p:cNvSpPr>
                <a:spLocks/>
              </p:cNvSpPr>
              <p:nvPr/>
            </p:nvSpPr>
            <p:spPr bwMode="auto">
              <a:xfrm>
                <a:off x="1479" y="723"/>
                <a:ext cx="848" cy="658"/>
              </a:xfrm>
              <a:custGeom>
                <a:avLst/>
                <a:gdLst>
                  <a:gd name="T0" fmla="*/ 47 w 848"/>
                  <a:gd name="T1" fmla="*/ 551 h 658"/>
                  <a:gd name="T2" fmla="*/ 28 w 848"/>
                  <a:gd name="T3" fmla="*/ 523 h 658"/>
                  <a:gd name="T4" fmla="*/ 20 w 848"/>
                  <a:gd name="T5" fmla="*/ 481 h 658"/>
                  <a:gd name="T6" fmla="*/ 31 w 848"/>
                  <a:gd name="T7" fmla="*/ 389 h 658"/>
                  <a:gd name="T8" fmla="*/ 54 w 848"/>
                  <a:gd name="T9" fmla="*/ 240 h 658"/>
                  <a:gd name="T10" fmla="*/ 76 w 848"/>
                  <a:gd name="T11" fmla="*/ 129 h 658"/>
                  <a:gd name="T12" fmla="*/ 94 w 848"/>
                  <a:gd name="T13" fmla="*/ 104 h 658"/>
                  <a:gd name="T14" fmla="*/ 123 w 848"/>
                  <a:gd name="T15" fmla="*/ 76 h 658"/>
                  <a:gd name="T16" fmla="*/ 189 w 848"/>
                  <a:gd name="T17" fmla="*/ 61 h 658"/>
                  <a:gd name="T18" fmla="*/ 300 w 848"/>
                  <a:gd name="T19" fmla="*/ 48 h 658"/>
                  <a:gd name="T20" fmla="*/ 392 w 848"/>
                  <a:gd name="T21" fmla="*/ 38 h 658"/>
                  <a:gd name="T22" fmla="*/ 434 w 848"/>
                  <a:gd name="T23" fmla="*/ 21 h 658"/>
                  <a:gd name="T24" fmla="*/ 506 w 848"/>
                  <a:gd name="T25" fmla="*/ 25 h 658"/>
                  <a:gd name="T26" fmla="*/ 628 w 848"/>
                  <a:gd name="T27" fmla="*/ 57 h 658"/>
                  <a:gd name="T28" fmla="*/ 731 w 848"/>
                  <a:gd name="T29" fmla="*/ 67 h 658"/>
                  <a:gd name="T30" fmla="*/ 776 w 848"/>
                  <a:gd name="T31" fmla="*/ 65 h 658"/>
                  <a:gd name="T32" fmla="*/ 811 w 848"/>
                  <a:gd name="T33" fmla="*/ 80 h 658"/>
                  <a:gd name="T34" fmla="*/ 825 w 848"/>
                  <a:gd name="T35" fmla="*/ 144 h 658"/>
                  <a:gd name="T36" fmla="*/ 823 w 848"/>
                  <a:gd name="T37" fmla="*/ 262 h 658"/>
                  <a:gd name="T38" fmla="*/ 823 w 848"/>
                  <a:gd name="T39" fmla="*/ 354 h 658"/>
                  <a:gd name="T40" fmla="*/ 810 w 848"/>
                  <a:gd name="T41" fmla="*/ 394 h 658"/>
                  <a:gd name="T42" fmla="*/ 766 w 848"/>
                  <a:gd name="T43" fmla="*/ 491 h 658"/>
                  <a:gd name="T44" fmla="*/ 714 w 848"/>
                  <a:gd name="T45" fmla="*/ 589 h 658"/>
                  <a:gd name="T46" fmla="*/ 683 w 848"/>
                  <a:gd name="T47" fmla="*/ 625 h 658"/>
                  <a:gd name="T48" fmla="*/ 665 w 848"/>
                  <a:gd name="T49" fmla="*/ 640 h 658"/>
                  <a:gd name="T50" fmla="*/ 686 w 848"/>
                  <a:gd name="T51" fmla="*/ 658 h 658"/>
                  <a:gd name="T52" fmla="*/ 719 w 848"/>
                  <a:gd name="T53" fmla="*/ 619 h 658"/>
                  <a:gd name="T54" fmla="*/ 769 w 848"/>
                  <a:gd name="T55" fmla="*/ 531 h 658"/>
                  <a:gd name="T56" fmla="*/ 815 w 848"/>
                  <a:gd name="T57" fmla="*/ 438 h 658"/>
                  <a:gd name="T58" fmla="*/ 831 w 848"/>
                  <a:gd name="T59" fmla="*/ 392 h 658"/>
                  <a:gd name="T60" fmla="*/ 841 w 848"/>
                  <a:gd name="T61" fmla="*/ 347 h 658"/>
                  <a:gd name="T62" fmla="*/ 844 w 848"/>
                  <a:gd name="T63" fmla="*/ 270 h 658"/>
                  <a:gd name="T64" fmla="*/ 848 w 848"/>
                  <a:gd name="T65" fmla="*/ 153 h 658"/>
                  <a:gd name="T66" fmla="*/ 836 w 848"/>
                  <a:gd name="T67" fmla="*/ 89 h 658"/>
                  <a:gd name="T68" fmla="*/ 819 w 848"/>
                  <a:gd name="T69" fmla="*/ 57 h 658"/>
                  <a:gd name="T70" fmla="*/ 787 w 848"/>
                  <a:gd name="T71" fmla="*/ 44 h 658"/>
                  <a:gd name="T72" fmla="*/ 744 w 848"/>
                  <a:gd name="T73" fmla="*/ 50 h 658"/>
                  <a:gd name="T74" fmla="*/ 679 w 848"/>
                  <a:gd name="T75" fmla="*/ 45 h 658"/>
                  <a:gd name="T76" fmla="*/ 599 w 848"/>
                  <a:gd name="T77" fmla="*/ 31 h 658"/>
                  <a:gd name="T78" fmla="*/ 516 w 848"/>
                  <a:gd name="T79" fmla="*/ 6 h 658"/>
                  <a:gd name="T80" fmla="*/ 460 w 848"/>
                  <a:gd name="T81" fmla="*/ 0 h 658"/>
                  <a:gd name="T82" fmla="*/ 430 w 848"/>
                  <a:gd name="T83" fmla="*/ 6 h 658"/>
                  <a:gd name="T84" fmla="*/ 360 w 848"/>
                  <a:gd name="T85" fmla="*/ 28 h 658"/>
                  <a:gd name="T86" fmla="*/ 235 w 848"/>
                  <a:gd name="T87" fmla="*/ 40 h 658"/>
                  <a:gd name="T88" fmla="*/ 112 w 848"/>
                  <a:gd name="T89" fmla="*/ 60 h 658"/>
                  <a:gd name="T90" fmla="*/ 72 w 848"/>
                  <a:gd name="T91" fmla="*/ 96 h 658"/>
                  <a:gd name="T92" fmla="*/ 44 w 848"/>
                  <a:gd name="T93" fmla="*/ 147 h 658"/>
                  <a:gd name="T94" fmla="*/ 24 w 848"/>
                  <a:gd name="T95" fmla="*/ 255 h 658"/>
                  <a:gd name="T96" fmla="*/ 13 w 848"/>
                  <a:gd name="T97" fmla="*/ 358 h 658"/>
                  <a:gd name="T98" fmla="*/ 0 w 848"/>
                  <a:gd name="T99" fmla="*/ 467 h 658"/>
                  <a:gd name="T100" fmla="*/ 10 w 848"/>
                  <a:gd name="T101" fmla="*/ 529 h 658"/>
                  <a:gd name="T102" fmla="*/ 24 w 848"/>
                  <a:gd name="T103" fmla="*/ 566 h 658"/>
                  <a:gd name="T104" fmla="*/ 55 w 848"/>
                  <a:gd name="T105" fmla="*/ 582 h 658"/>
                  <a:gd name="T106" fmla="*/ 73 w 848"/>
                  <a:gd name="T107" fmla="*/ 579 h 658"/>
                  <a:gd name="T108" fmla="*/ 47 w 848"/>
                  <a:gd name="T109" fmla="*/ 551 h 65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848" h="658">
                    <a:moveTo>
                      <a:pt x="47" y="551"/>
                    </a:moveTo>
                    <a:lnTo>
                      <a:pt x="28" y="523"/>
                    </a:lnTo>
                    <a:lnTo>
                      <a:pt x="20" y="481"/>
                    </a:lnTo>
                    <a:lnTo>
                      <a:pt x="31" y="389"/>
                    </a:lnTo>
                    <a:lnTo>
                      <a:pt x="54" y="240"/>
                    </a:lnTo>
                    <a:lnTo>
                      <a:pt x="76" y="129"/>
                    </a:lnTo>
                    <a:lnTo>
                      <a:pt x="94" y="104"/>
                    </a:lnTo>
                    <a:lnTo>
                      <a:pt x="123" y="76"/>
                    </a:lnTo>
                    <a:lnTo>
                      <a:pt x="189" y="61"/>
                    </a:lnTo>
                    <a:lnTo>
                      <a:pt x="300" y="48"/>
                    </a:lnTo>
                    <a:lnTo>
                      <a:pt x="392" y="38"/>
                    </a:lnTo>
                    <a:lnTo>
                      <a:pt x="434" y="21"/>
                    </a:lnTo>
                    <a:lnTo>
                      <a:pt x="506" y="25"/>
                    </a:lnTo>
                    <a:lnTo>
                      <a:pt x="628" y="57"/>
                    </a:lnTo>
                    <a:lnTo>
                      <a:pt x="731" y="67"/>
                    </a:lnTo>
                    <a:lnTo>
                      <a:pt x="776" y="65"/>
                    </a:lnTo>
                    <a:lnTo>
                      <a:pt x="811" y="80"/>
                    </a:lnTo>
                    <a:lnTo>
                      <a:pt x="825" y="144"/>
                    </a:lnTo>
                    <a:lnTo>
                      <a:pt x="823" y="262"/>
                    </a:lnTo>
                    <a:lnTo>
                      <a:pt x="823" y="354"/>
                    </a:lnTo>
                    <a:lnTo>
                      <a:pt x="810" y="394"/>
                    </a:lnTo>
                    <a:lnTo>
                      <a:pt x="766" y="491"/>
                    </a:lnTo>
                    <a:lnTo>
                      <a:pt x="714" y="589"/>
                    </a:lnTo>
                    <a:lnTo>
                      <a:pt x="683" y="625"/>
                    </a:lnTo>
                    <a:lnTo>
                      <a:pt x="665" y="640"/>
                    </a:lnTo>
                    <a:lnTo>
                      <a:pt x="686" y="658"/>
                    </a:lnTo>
                    <a:lnTo>
                      <a:pt x="719" y="619"/>
                    </a:lnTo>
                    <a:lnTo>
                      <a:pt x="769" y="531"/>
                    </a:lnTo>
                    <a:lnTo>
                      <a:pt x="815" y="438"/>
                    </a:lnTo>
                    <a:lnTo>
                      <a:pt x="831" y="392"/>
                    </a:lnTo>
                    <a:lnTo>
                      <a:pt x="841" y="347"/>
                    </a:lnTo>
                    <a:lnTo>
                      <a:pt x="844" y="270"/>
                    </a:lnTo>
                    <a:lnTo>
                      <a:pt x="848" y="153"/>
                    </a:lnTo>
                    <a:lnTo>
                      <a:pt x="836" y="89"/>
                    </a:lnTo>
                    <a:lnTo>
                      <a:pt x="819" y="57"/>
                    </a:lnTo>
                    <a:lnTo>
                      <a:pt x="787" y="44"/>
                    </a:lnTo>
                    <a:lnTo>
                      <a:pt x="744" y="50"/>
                    </a:lnTo>
                    <a:lnTo>
                      <a:pt x="679" y="45"/>
                    </a:lnTo>
                    <a:lnTo>
                      <a:pt x="599" y="31"/>
                    </a:lnTo>
                    <a:lnTo>
                      <a:pt x="516" y="6"/>
                    </a:lnTo>
                    <a:lnTo>
                      <a:pt x="460" y="0"/>
                    </a:lnTo>
                    <a:lnTo>
                      <a:pt x="430" y="6"/>
                    </a:lnTo>
                    <a:lnTo>
                      <a:pt x="360" y="28"/>
                    </a:lnTo>
                    <a:lnTo>
                      <a:pt x="235" y="40"/>
                    </a:lnTo>
                    <a:lnTo>
                      <a:pt x="112" y="60"/>
                    </a:lnTo>
                    <a:lnTo>
                      <a:pt x="72" y="96"/>
                    </a:lnTo>
                    <a:lnTo>
                      <a:pt x="44" y="147"/>
                    </a:lnTo>
                    <a:lnTo>
                      <a:pt x="24" y="255"/>
                    </a:lnTo>
                    <a:lnTo>
                      <a:pt x="13" y="358"/>
                    </a:lnTo>
                    <a:lnTo>
                      <a:pt x="0" y="467"/>
                    </a:lnTo>
                    <a:lnTo>
                      <a:pt x="10" y="529"/>
                    </a:lnTo>
                    <a:lnTo>
                      <a:pt x="24" y="566"/>
                    </a:lnTo>
                    <a:lnTo>
                      <a:pt x="55" y="582"/>
                    </a:lnTo>
                    <a:lnTo>
                      <a:pt x="73" y="579"/>
                    </a:lnTo>
                    <a:lnTo>
                      <a:pt x="47" y="5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6" name="Freeform 14"/>
              <p:cNvSpPr>
                <a:spLocks/>
              </p:cNvSpPr>
              <p:nvPr/>
            </p:nvSpPr>
            <p:spPr bwMode="auto">
              <a:xfrm>
                <a:off x="1523" y="781"/>
                <a:ext cx="778" cy="607"/>
              </a:xfrm>
              <a:custGeom>
                <a:avLst/>
                <a:gdLst>
                  <a:gd name="T0" fmla="*/ 0 w 778"/>
                  <a:gd name="T1" fmla="*/ 499 h 607"/>
                  <a:gd name="T2" fmla="*/ 115 w 778"/>
                  <a:gd name="T3" fmla="*/ 525 h 607"/>
                  <a:gd name="T4" fmla="*/ 276 w 778"/>
                  <a:gd name="T5" fmla="*/ 554 h 607"/>
                  <a:gd name="T6" fmla="*/ 407 w 778"/>
                  <a:gd name="T7" fmla="*/ 576 h 607"/>
                  <a:gd name="T8" fmla="*/ 526 w 778"/>
                  <a:gd name="T9" fmla="*/ 580 h 607"/>
                  <a:gd name="T10" fmla="*/ 604 w 778"/>
                  <a:gd name="T11" fmla="*/ 580 h 607"/>
                  <a:gd name="T12" fmla="*/ 627 w 778"/>
                  <a:gd name="T13" fmla="*/ 573 h 607"/>
                  <a:gd name="T14" fmla="*/ 637 w 778"/>
                  <a:gd name="T15" fmla="*/ 516 h 607"/>
                  <a:gd name="T16" fmla="*/ 633 w 778"/>
                  <a:gd name="T17" fmla="*/ 362 h 607"/>
                  <a:gd name="T18" fmla="*/ 628 w 778"/>
                  <a:gd name="T19" fmla="*/ 174 h 607"/>
                  <a:gd name="T20" fmla="*/ 622 w 778"/>
                  <a:gd name="T21" fmla="*/ 106 h 607"/>
                  <a:gd name="T22" fmla="*/ 610 w 778"/>
                  <a:gd name="T23" fmla="*/ 79 h 607"/>
                  <a:gd name="T24" fmla="*/ 405 w 778"/>
                  <a:gd name="T25" fmla="*/ 69 h 607"/>
                  <a:gd name="T26" fmla="*/ 209 w 778"/>
                  <a:gd name="T27" fmla="*/ 42 h 607"/>
                  <a:gd name="T28" fmla="*/ 101 w 778"/>
                  <a:gd name="T29" fmla="*/ 26 h 607"/>
                  <a:gd name="T30" fmla="*/ 63 w 778"/>
                  <a:gd name="T31" fmla="*/ 26 h 607"/>
                  <a:gd name="T32" fmla="*/ 87 w 778"/>
                  <a:gd name="T33" fmla="*/ 3 h 607"/>
                  <a:gd name="T34" fmla="*/ 133 w 778"/>
                  <a:gd name="T35" fmla="*/ 15 h 607"/>
                  <a:gd name="T36" fmla="*/ 268 w 778"/>
                  <a:gd name="T37" fmla="*/ 32 h 607"/>
                  <a:gd name="T38" fmla="*/ 396 w 778"/>
                  <a:gd name="T39" fmla="*/ 45 h 607"/>
                  <a:gd name="T40" fmla="*/ 511 w 778"/>
                  <a:gd name="T41" fmla="*/ 53 h 607"/>
                  <a:gd name="T42" fmla="*/ 619 w 778"/>
                  <a:gd name="T43" fmla="*/ 60 h 607"/>
                  <a:gd name="T44" fmla="*/ 709 w 778"/>
                  <a:gd name="T45" fmla="*/ 35 h 607"/>
                  <a:gd name="T46" fmla="*/ 763 w 778"/>
                  <a:gd name="T47" fmla="*/ 0 h 607"/>
                  <a:gd name="T48" fmla="*/ 778 w 778"/>
                  <a:gd name="T49" fmla="*/ 24 h 607"/>
                  <a:gd name="T50" fmla="*/ 730 w 778"/>
                  <a:gd name="T51" fmla="*/ 45 h 607"/>
                  <a:gd name="T52" fmla="*/ 660 w 778"/>
                  <a:gd name="T53" fmla="*/ 75 h 607"/>
                  <a:gd name="T54" fmla="*/ 638 w 778"/>
                  <a:gd name="T55" fmla="*/ 86 h 607"/>
                  <a:gd name="T56" fmla="*/ 645 w 778"/>
                  <a:gd name="T57" fmla="*/ 186 h 607"/>
                  <a:gd name="T58" fmla="*/ 649 w 778"/>
                  <a:gd name="T59" fmla="*/ 283 h 607"/>
                  <a:gd name="T60" fmla="*/ 651 w 778"/>
                  <a:gd name="T61" fmla="*/ 371 h 607"/>
                  <a:gd name="T62" fmla="*/ 652 w 778"/>
                  <a:gd name="T63" fmla="*/ 456 h 607"/>
                  <a:gd name="T64" fmla="*/ 655 w 778"/>
                  <a:gd name="T65" fmla="*/ 520 h 607"/>
                  <a:gd name="T66" fmla="*/ 654 w 778"/>
                  <a:gd name="T67" fmla="*/ 574 h 607"/>
                  <a:gd name="T68" fmla="*/ 640 w 778"/>
                  <a:gd name="T69" fmla="*/ 599 h 607"/>
                  <a:gd name="T70" fmla="*/ 547 w 778"/>
                  <a:gd name="T71" fmla="*/ 607 h 607"/>
                  <a:gd name="T72" fmla="*/ 389 w 778"/>
                  <a:gd name="T73" fmla="*/ 593 h 607"/>
                  <a:gd name="T74" fmla="*/ 227 w 778"/>
                  <a:gd name="T75" fmla="*/ 561 h 607"/>
                  <a:gd name="T76" fmla="*/ 108 w 778"/>
                  <a:gd name="T77" fmla="*/ 542 h 607"/>
                  <a:gd name="T78" fmla="*/ 9 w 778"/>
                  <a:gd name="T79" fmla="*/ 524 h 607"/>
                  <a:gd name="T80" fmla="*/ 0 w 778"/>
                  <a:gd name="T81" fmla="*/ 499 h 6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78" h="607">
                    <a:moveTo>
                      <a:pt x="0" y="499"/>
                    </a:moveTo>
                    <a:lnTo>
                      <a:pt x="115" y="525"/>
                    </a:lnTo>
                    <a:lnTo>
                      <a:pt x="276" y="554"/>
                    </a:lnTo>
                    <a:lnTo>
                      <a:pt x="407" y="576"/>
                    </a:lnTo>
                    <a:lnTo>
                      <a:pt x="526" y="580"/>
                    </a:lnTo>
                    <a:lnTo>
                      <a:pt x="604" y="580"/>
                    </a:lnTo>
                    <a:lnTo>
                      <a:pt x="627" y="573"/>
                    </a:lnTo>
                    <a:lnTo>
                      <a:pt x="637" y="516"/>
                    </a:lnTo>
                    <a:lnTo>
                      <a:pt x="633" y="362"/>
                    </a:lnTo>
                    <a:lnTo>
                      <a:pt x="628" y="174"/>
                    </a:lnTo>
                    <a:lnTo>
                      <a:pt x="622" y="106"/>
                    </a:lnTo>
                    <a:lnTo>
                      <a:pt x="610" y="79"/>
                    </a:lnTo>
                    <a:lnTo>
                      <a:pt x="405" y="69"/>
                    </a:lnTo>
                    <a:lnTo>
                      <a:pt x="209" y="42"/>
                    </a:lnTo>
                    <a:lnTo>
                      <a:pt x="101" y="26"/>
                    </a:lnTo>
                    <a:lnTo>
                      <a:pt x="63" y="26"/>
                    </a:lnTo>
                    <a:lnTo>
                      <a:pt x="87" y="3"/>
                    </a:lnTo>
                    <a:lnTo>
                      <a:pt x="133" y="15"/>
                    </a:lnTo>
                    <a:lnTo>
                      <a:pt x="268" y="32"/>
                    </a:lnTo>
                    <a:lnTo>
                      <a:pt x="396" y="45"/>
                    </a:lnTo>
                    <a:lnTo>
                      <a:pt x="511" y="53"/>
                    </a:lnTo>
                    <a:lnTo>
                      <a:pt x="619" y="60"/>
                    </a:lnTo>
                    <a:lnTo>
                      <a:pt x="709" y="35"/>
                    </a:lnTo>
                    <a:lnTo>
                      <a:pt x="763" y="0"/>
                    </a:lnTo>
                    <a:lnTo>
                      <a:pt x="778" y="24"/>
                    </a:lnTo>
                    <a:lnTo>
                      <a:pt x="730" y="45"/>
                    </a:lnTo>
                    <a:lnTo>
                      <a:pt x="660" y="75"/>
                    </a:lnTo>
                    <a:lnTo>
                      <a:pt x="638" y="86"/>
                    </a:lnTo>
                    <a:lnTo>
                      <a:pt x="645" y="186"/>
                    </a:lnTo>
                    <a:lnTo>
                      <a:pt x="649" y="283"/>
                    </a:lnTo>
                    <a:lnTo>
                      <a:pt x="651" y="371"/>
                    </a:lnTo>
                    <a:lnTo>
                      <a:pt x="652" y="456"/>
                    </a:lnTo>
                    <a:lnTo>
                      <a:pt x="655" y="520"/>
                    </a:lnTo>
                    <a:lnTo>
                      <a:pt x="654" y="574"/>
                    </a:lnTo>
                    <a:lnTo>
                      <a:pt x="640" y="599"/>
                    </a:lnTo>
                    <a:lnTo>
                      <a:pt x="547" y="607"/>
                    </a:lnTo>
                    <a:lnTo>
                      <a:pt x="389" y="593"/>
                    </a:lnTo>
                    <a:lnTo>
                      <a:pt x="227" y="561"/>
                    </a:lnTo>
                    <a:lnTo>
                      <a:pt x="108" y="542"/>
                    </a:lnTo>
                    <a:lnTo>
                      <a:pt x="9" y="524"/>
                    </a:lnTo>
                    <a:lnTo>
                      <a:pt x="0" y="4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7" name="Freeform 15"/>
              <p:cNvSpPr>
                <a:spLocks/>
              </p:cNvSpPr>
              <p:nvPr/>
            </p:nvSpPr>
            <p:spPr bwMode="auto">
              <a:xfrm>
                <a:off x="1658" y="858"/>
                <a:ext cx="430" cy="466"/>
              </a:xfrm>
              <a:custGeom>
                <a:avLst/>
                <a:gdLst>
                  <a:gd name="T0" fmla="*/ 0 w 430"/>
                  <a:gd name="T1" fmla="*/ 0 h 466"/>
                  <a:gd name="T2" fmla="*/ 159 w 430"/>
                  <a:gd name="T3" fmla="*/ 19 h 466"/>
                  <a:gd name="T4" fmla="*/ 271 w 430"/>
                  <a:gd name="T5" fmla="*/ 32 h 466"/>
                  <a:gd name="T6" fmla="*/ 394 w 430"/>
                  <a:gd name="T7" fmla="*/ 54 h 466"/>
                  <a:gd name="T8" fmla="*/ 412 w 430"/>
                  <a:gd name="T9" fmla="*/ 70 h 466"/>
                  <a:gd name="T10" fmla="*/ 422 w 430"/>
                  <a:gd name="T11" fmla="*/ 95 h 466"/>
                  <a:gd name="T12" fmla="*/ 430 w 430"/>
                  <a:gd name="T13" fmla="*/ 213 h 466"/>
                  <a:gd name="T14" fmla="*/ 430 w 430"/>
                  <a:gd name="T15" fmla="*/ 346 h 466"/>
                  <a:gd name="T16" fmla="*/ 426 w 430"/>
                  <a:gd name="T17" fmla="*/ 438 h 466"/>
                  <a:gd name="T18" fmla="*/ 412 w 430"/>
                  <a:gd name="T19" fmla="*/ 464 h 466"/>
                  <a:gd name="T20" fmla="*/ 385 w 430"/>
                  <a:gd name="T21" fmla="*/ 466 h 466"/>
                  <a:gd name="T22" fmla="*/ 246 w 430"/>
                  <a:gd name="T23" fmla="*/ 428 h 466"/>
                  <a:gd name="T24" fmla="*/ 395 w 430"/>
                  <a:gd name="T25" fmla="*/ 440 h 466"/>
                  <a:gd name="T26" fmla="*/ 405 w 430"/>
                  <a:gd name="T27" fmla="*/ 435 h 466"/>
                  <a:gd name="T28" fmla="*/ 412 w 430"/>
                  <a:gd name="T29" fmla="*/ 373 h 466"/>
                  <a:gd name="T30" fmla="*/ 414 w 430"/>
                  <a:gd name="T31" fmla="*/ 285 h 466"/>
                  <a:gd name="T32" fmla="*/ 409 w 430"/>
                  <a:gd name="T33" fmla="*/ 165 h 466"/>
                  <a:gd name="T34" fmla="*/ 401 w 430"/>
                  <a:gd name="T35" fmla="*/ 88 h 466"/>
                  <a:gd name="T36" fmla="*/ 385 w 430"/>
                  <a:gd name="T37" fmla="*/ 73 h 466"/>
                  <a:gd name="T38" fmla="*/ 297 w 430"/>
                  <a:gd name="T39" fmla="*/ 56 h 466"/>
                  <a:gd name="T40" fmla="*/ 176 w 430"/>
                  <a:gd name="T41" fmla="*/ 41 h 466"/>
                  <a:gd name="T42" fmla="*/ 78 w 430"/>
                  <a:gd name="T43" fmla="*/ 22 h 466"/>
                  <a:gd name="T44" fmla="*/ 0 w 430"/>
                  <a:gd name="T45" fmla="*/ 0 h 4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30" h="466">
                    <a:moveTo>
                      <a:pt x="0" y="0"/>
                    </a:moveTo>
                    <a:lnTo>
                      <a:pt x="159" y="19"/>
                    </a:lnTo>
                    <a:lnTo>
                      <a:pt x="271" y="32"/>
                    </a:lnTo>
                    <a:lnTo>
                      <a:pt x="394" y="54"/>
                    </a:lnTo>
                    <a:lnTo>
                      <a:pt x="412" y="70"/>
                    </a:lnTo>
                    <a:lnTo>
                      <a:pt x="422" y="95"/>
                    </a:lnTo>
                    <a:lnTo>
                      <a:pt x="430" y="213"/>
                    </a:lnTo>
                    <a:lnTo>
                      <a:pt x="430" y="346"/>
                    </a:lnTo>
                    <a:lnTo>
                      <a:pt x="426" y="438"/>
                    </a:lnTo>
                    <a:lnTo>
                      <a:pt x="412" y="464"/>
                    </a:lnTo>
                    <a:lnTo>
                      <a:pt x="385" y="466"/>
                    </a:lnTo>
                    <a:lnTo>
                      <a:pt x="246" y="428"/>
                    </a:lnTo>
                    <a:lnTo>
                      <a:pt x="395" y="440"/>
                    </a:lnTo>
                    <a:lnTo>
                      <a:pt x="405" y="435"/>
                    </a:lnTo>
                    <a:lnTo>
                      <a:pt x="412" y="373"/>
                    </a:lnTo>
                    <a:lnTo>
                      <a:pt x="414" y="285"/>
                    </a:lnTo>
                    <a:lnTo>
                      <a:pt x="409" y="165"/>
                    </a:lnTo>
                    <a:lnTo>
                      <a:pt x="401" y="88"/>
                    </a:lnTo>
                    <a:lnTo>
                      <a:pt x="385" y="73"/>
                    </a:lnTo>
                    <a:lnTo>
                      <a:pt x="297" y="56"/>
                    </a:lnTo>
                    <a:lnTo>
                      <a:pt x="176" y="41"/>
                    </a:lnTo>
                    <a:lnTo>
                      <a:pt x="78" y="2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8" name="Freeform 16"/>
              <p:cNvSpPr>
                <a:spLocks/>
              </p:cNvSpPr>
              <p:nvPr/>
            </p:nvSpPr>
            <p:spPr bwMode="auto">
              <a:xfrm>
                <a:off x="1574" y="853"/>
                <a:ext cx="453" cy="464"/>
              </a:xfrm>
              <a:custGeom>
                <a:avLst/>
                <a:gdLst>
                  <a:gd name="T0" fmla="*/ 257 w 453"/>
                  <a:gd name="T1" fmla="*/ 27 h 464"/>
                  <a:gd name="T2" fmla="*/ 102 w 453"/>
                  <a:gd name="T3" fmla="*/ 2 h 464"/>
                  <a:gd name="T4" fmla="*/ 57 w 453"/>
                  <a:gd name="T5" fmla="*/ 0 h 464"/>
                  <a:gd name="T6" fmla="*/ 45 w 453"/>
                  <a:gd name="T7" fmla="*/ 17 h 464"/>
                  <a:gd name="T8" fmla="*/ 32 w 453"/>
                  <a:gd name="T9" fmla="*/ 50 h 464"/>
                  <a:gd name="T10" fmla="*/ 12 w 453"/>
                  <a:gd name="T11" fmla="*/ 141 h 464"/>
                  <a:gd name="T12" fmla="*/ 2 w 453"/>
                  <a:gd name="T13" fmla="*/ 232 h 464"/>
                  <a:gd name="T14" fmla="*/ 0 w 453"/>
                  <a:gd name="T15" fmla="*/ 325 h 464"/>
                  <a:gd name="T16" fmla="*/ 14 w 453"/>
                  <a:gd name="T17" fmla="*/ 362 h 464"/>
                  <a:gd name="T18" fmla="*/ 21 w 453"/>
                  <a:gd name="T19" fmla="*/ 374 h 464"/>
                  <a:gd name="T20" fmla="*/ 119 w 453"/>
                  <a:gd name="T21" fmla="*/ 400 h 464"/>
                  <a:gd name="T22" fmla="*/ 245 w 453"/>
                  <a:gd name="T23" fmla="*/ 425 h 464"/>
                  <a:gd name="T24" fmla="*/ 340 w 453"/>
                  <a:gd name="T25" fmla="*/ 441 h 464"/>
                  <a:gd name="T26" fmla="*/ 453 w 453"/>
                  <a:gd name="T27" fmla="*/ 464 h 464"/>
                  <a:gd name="T28" fmla="*/ 450 w 453"/>
                  <a:gd name="T29" fmla="*/ 449 h 464"/>
                  <a:gd name="T30" fmla="*/ 363 w 453"/>
                  <a:gd name="T31" fmla="*/ 429 h 464"/>
                  <a:gd name="T32" fmla="*/ 248 w 453"/>
                  <a:gd name="T33" fmla="*/ 403 h 464"/>
                  <a:gd name="T34" fmla="*/ 92 w 453"/>
                  <a:gd name="T35" fmla="*/ 375 h 464"/>
                  <a:gd name="T36" fmla="*/ 36 w 453"/>
                  <a:gd name="T37" fmla="*/ 349 h 464"/>
                  <a:gd name="T38" fmla="*/ 20 w 453"/>
                  <a:gd name="T39" fmla="*/ 333 h 464"/>
                  <a:gd name="T40" fmla="*/ 18 w 453"/>
                  <a:gd name="T41" fmla="*/ 305 h 464"/>
                  <a:gd name="T42" fmla="*/ 21 w 453"/>
                  <a:gd name="T43" fmla="*/ 228 h 464"/>
                  <a:gd name="T44" fmla="*/ 35 w 453"/>
                  <a:gd name="T45" fmla="*/ 135 h 464"/>
                  <a:gd name="T46" fmla="*/ 56 w 453"/>
                  <a:gd name="T47" fmla="*/ 43 h 464"/>
                  <a:gd name="T48" fmla="*/ 69 w 453"/>
                  <a:gd name="T49" fmla="*/ 22 h 464"/>
                  <a:gd name="T50" fmla="*/ 176 w 453"/>
                  <a:gd name="T51" fmla="*/ 24 h 464"/>
                  <a:gd name="T52" fmla="*/ 257 w 453"/>
                  <a:gd name="T53" fmla="*/ 27 h 46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53" h="464">
                    <a:moveTo>
                      <a:pt x="257" y="27"/>
                    </a:moveTo>
                    <a:lnTo>
                      <a:pt x="102" y="2"/>
                    </a:lnTo>
                    <a:lnTo>
                      <a:pt x="57" y="0"/>
                    </a:lnTo>
                    <a:lnTo>
                      <a:pt x="45" y="17"/>
                    </a:lnTo>
                    <a:lnTo>
                      <a:pt x="32" y="50"/>
                    </a:lnTo>
                    <a:lnTo>
                      <a:pt x="12" y="141"/>
                    </a:lnTo>
                    <a:lnTo>
                      <a:pt x="2" y="232"/>
                    </a:lnTo>
                    <a:lnTo>
                      <a:pt x="0" y="325"/>
                    </a:lnTo>
                    <a:lnTo>
                      <a:pt x="14" y="362"/>
                    </a:lnTo>
                    <a:lnTo>
                      <a:pt x="21" y="374"/>
                    </a:lnTo>
                    <a:lnTo>
                      <a:pt x="119" y="400"/>
                    </a:lnTo>
                    <a:lnTo>
                      <a:pt x="245" y="425"/>
                    </a:lnTo>
                    <a:lnTo>
                      <a:pt x="340" y="441"/>
                    </a:lnTo>
                    <a:lnTo>
                      <a:pt x="453" y="464"/>
                    </a:lnTo>
                    <a:lnTo>
                      <a:pt x="450" y="449"/>
                    </a:lnTo>
                    <a:lnTo>
                      <a:pt x="363" y="429"/>
                    </a:lnTo>
                    <a:lnTo>
                      <a:pt x="248" y="403"/>
                    </a:lnTo>
                    <a:lnTo>
                      <a:pt x="92" y="375"/>
                    </a:lnTo>
                    <a:lnTo>
                      <a:pt x="36" y="349"/>
                    </a:lnTo>
                    <a:lnTo>
                      <a:pt x="20" y="333"/>
                    </a:lnTo>
                    <a:lnTo>
                      <a:pt x="18" y="305"/>
                    </a:lnTo>
                    <a:lnTo>
                      <a:pt x="21" y="228"/>
                    </a:lnTo>
                    <a:lnTo>
                      <a:pt x="35" y="135"/>
                    </a:lnTo>
                    <a:lnTo>
                      <a:pt x="56" y="43"/>
                    </a:lnTo>
                    <a:lnTo>
                      <a:pt x="69" y="22"/>
                    </a:lnTo>
                    <a:lnTo>
                      <a:pt x="176" y="24"/>
                    </a:lnTo>
                    <a:lnTo>
                      <a:pt x="25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59409" name="Group 17"/>
          <p:cNvGrpSpPr>
            <a:grpSpLocks/>
          </p:cNvGrpSpPr>
          <p:nvPr/>
        </p:nvGrpSpPr>
        <p:grpSpPr bwMode="auto">
          <a:xfrm>
            <a:off x="7620000" y="2949576"/>
            <a:ext cx="1422400" cy="2695575"/>
            <a:chOff x="4320" y="790"/>
            <a:chExt cx="896" cy="1641"/>
          </a:xfrm>
        </p:grpSpPr>
        <p:sp>
          <p:nvSpPr>
            <p:cNvPr id="10262" name="Freeform 18"/>
            <p:cNvSpPr>
              <a:spLocks/>
            </p:cNvSpPr>
            <p:nvPr/>
          </p:nvSpPr>
          <p:spPr bwMode="auto">
            <a:xfrm>
              <a:off x="4747" y="790"/>
              <a:ext cx="367" cy="335"/>
            </a:xfrm>
            <a:custGeom>
              <a:avLst/>
              <a:gdLst>
                <a:gd name="T0" fmla="*/ 271 w 367"/>
                <a:gd name="T1" fmla="*/ 175 h 335"/>
                <a:gd name="T2" fmla="*/ 219 w 367"/>
                <a:gd name="T3" fmla="*/ 83 h 335"/>
                <a:gd name="T4" fmla="*/ 182 w 367"/>
                <a:gd name="T5" fmla="*/ 46 h 335"/>
                <a:gd name="T6" fmla="*/ 151 w 367"/>
                <a:gd name="T7" fmla="*/ 18 h 335"/>
                <a:gd name="T8" fmla="*/ 108 w 367"/>
                <a:gd name="T9" fmla="*/ 0 h 335"/>
                <a:gd name="T10" fmla="*/ 68 w 367"/>
                <a:gd name="T11" fmla="*/ 3 h 335"/>
                <a:gd name="T12" fmla="*/ 40 w 367"/>
                <a:gd name="T13" fmla="*/ 22 h 335"/>
                <a:gd name="T14" fmla="*/ 9 w 367"/>
                <a:gd name="T15" fmla="*/ 65 h 335"/>
                <a:gd name="T16" fmla="*/ 0 w 367"/>
                <a:gd name="T17" fmla="*/ 120 h 335"/>
                <a:gd name="T18" fmla="*/ 6 w 367"/>
                <a:gd name="T19" fmla="*/ 175 h 335"/>
                <a:gd name="T20" fmla="*/ 31 w 367"/>
                <a:gd name="T21" fmla="*/ 231 h 335"/>
                <a:gd name="T22" fmla="*/ 62 w 367"/>
                <a:gd name="T23" fmla="*/ 277 h 335"/>
                <a:gd name="T24" fmla="*/ 105 w 367"/>
                <a:gd name="T25" fmla="*/ 307 h 335"/>
                <a:gd name="T26" fmla="*/ 154 w 367"/>
                <a:gd name="T27" fmla="*/ 326 h 335"/>
                <a:gd name="T28" fmla="*/ 200 w 367"/>
                <a:gd name="T29" fmla="*/ 335 h 335"/>
                <a:gd name="T30" fmla="*/ 237 w 367"/>
                <a:gd name="T31" fmla="*/ 326 h 335"/>
                <a:gd name="T32" fmla="*/ 262 w 367"/>
                <a:gd name="T33" fmla="*/ 313 h 335"/>
                <a:gd name="T34" fmla="*/ 274 w 367"/>
                <a:gd name="T35" fmla="*/ 289 h 335"/>
                <a:gd name="T36" fmla="*/ 281 w 367"/>
                <a:gd name="T37" fmla="*/ 240 h 335"/>
                <a:gd name="T38" fmla="*/ 281 w 367"/>
                <a:gd name="T39" fmla="*/ 215 h 335"/>
                <a:gd name="T40" fmla="*/ 321 w 367"/>
                <a:gd name="T41" fmla="*/ 243 h 335"/>
                <a:gd name="T42" fmla="*/ 348 w 367"/>
                <a:gd name="T43" fmla="*/ 252 h 335"/>
                <a:gd name="T44" fmla="*/ 367 w 367"/>
                <a:gd name="T45" fmla="*/ 240 h 335"/>
                <a:gd name="T46" fmla="*/ 364 w 367"/>
                <a:gd name="T47" fmla="*/ 215 h 335"/>
                <a:gd name="T48" fmla="*/ 318 w 367"/>
                <a:gd name="T49" fmla="*/ 194 h 335"/>
                <a:gd name="T50" fmla="*/ 271 w 367"/>
                <a:gd name="T51" fmla="*/ 175 h 33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7" h="335">
                  <a:moveTo>
                    <a:pt x="271" y="175"/>
                  </a:moveTo>
                  <a:lnTo>
                    <a:pt x="219" y="83"/>
                  </a:lnTo>
                  <a:lnTo>
                    <a:pt x="182" y="46"/>
                  </a:lnTo>
                  <a:lnTo>
                    <a:pt x="151" y="18"/>
                  </a:lnTo>
                  <a:lnTo>
                    <a:pt x="108" y="0"/>
                  </a:lnTo>
                  <a:lnTo>
                    <a:pt x="68" y="3"/>
                  </a:lnTo>
                  <a:lnTo>
                    <a:pt x="40" y="22"/>
                  </a:lnTo>
                  <a:lnTo>
                    <a:pt x="9" y="65"/>
                  </a:lnTo>
                  <a:lnTo>
                    <a:pt x="0" y="120"/>
                  </a:lnTo>
                  <a:lnTo>
                    <a:pt x="6" y="175"/>
                  </a:lnTo>
                  <a:lnTo>
                    <a:pt x="31" y="231"/>
                  </a:lnTo>
                  <a:lnTo>
                    <a:pt x="62" y="277"/>
                  </a:lnTo>
                  <a:lnTo>
                    <a:pt x="105" y="307"/>
                  </a:lnTo>
                  <a:lnTo>
                    <a:pt x="154" y="326"/>
                  </a:lnTo>
                  <a:lnTo>
                    <a:pt x="200" y="335"/>
                  </a:lnTo>
                  <a:lnTo>
                    <a:pt x="237" y="326"/>
                  </a:lnTo>
                  <a:lnTo>
                    <a:pt x="262" y="313"/>
                  </a:lnTo>
                  <a:lnTo>
                    <a:pt x="274" y="289"/>
                  </a:lnTo>
                  <a:lnTo>
                    <a:pt x="281" y="240"/>
                  </a:lnTo>
                  <a:lnTo>
                    <a:pt x="281" y="215"/>
                  </a:lnTo>
                  <a:lnTo>
                    <a:pt x="321" y="243"/>
                  </a:lnTo>
                  <a:lnTo>
                    <a:pt x="348" y="252"/>
                  </a:lnTo>
                  <a:lnTo>
                    <a:pt x="367" y="240"/>
                  </a:lnTo>
                  <a:lnTo>
                    <a:pt x="364" y="215"/>
                  </a:lnTo>
                  <a:lnTo>
                    <a:pt x="318" y="194"/>
                  </a:lnTo>
                  <a:lnTo>
                    <a:pt x="271" y="1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3" name="Freeform 19"/>
            <p:cNvSpPr>
              <a:spLocks/>
            </p:cNvSpPr>
            <p:nvPr/>
          </p:nvSpPr>
          <p:spPr bwMode="auto">
            <a:xfrm>
              <a:off x="4895" y="1163"/>
              <a:ext cx="321" cy="651"/>
            </a:xfrm>
            <a:custGeom>
              <a:avLst/>
              <a:gdLst>
                <a:gd name="T0" fmla="*/ 93 w 321"/>
                <a:gd name="T1" fmla="*/ 249 h 651"/>
                <a:gd name="T2" fmla="*/ 62 w 321"/>
                <a:gd name="T3" fmla="*/ 198 h 651"/>
                <a:gd name="T4" fmla="*/ 34 w 321"/>
                <a:gd name="T5" fmla="*/ 140 h 651"/>
                <a:gd name="T6" fmla="*/ 25 w 321"/>
                <a:gd name="T7" fmla="*/ 97 h 651"/>
                <a:gd name="T8" fmla="*/ 25 w 321"/>
                <a:gd name="T9" fmla="*/ 58 h 651"/>
                <a:gd name="T10" fmla="*/ 43 w 321"/>
                <a:gd name="T11" fmla="*/ 24 h 651"/>
                <a:gd name="T12" fmla="*/ 71 w 321"/>
                <a:gd name="T13" fmla="*/ 6 h 651"/>
                <a:gd name="T14" fmla="*/ 108 w 321"/>
                <a:gd name="T15" fmla="*/ 0 h 651"/>
                <a:gd name="T16" fmla="*/ 164 w 321"/>
                <a:gd name="T17" fmla="*/ 21 h 651"/>
                <a:gd name="T18" fmla="*/ 204 w 321"/>
                <a:gd name="T19" fmla="*/ 52 h 651"/>
                <a:gd name="T20" fmla="*/ 241 w 321"/>
                <a:gd name="T21" fmla="*/ 106 h 651"/>
                <a:gd name="T22" fmla="*/ 278 w 321"/>
                <a:gd name="T23" fmla="*/ 186 h 651"/>
                <a:gd name="T24" fmla="*/ 302 w 321"/>
                <a:gd name="T25" fmla="*/ 268 h 651"/>
                <a:gd name="T26" fmla="*/ 312 w 321"/>
                <a:gd name="T27" fmla="*/ 322 h 651"/>
                <a:gd name="T28" fmla="*/ 321 w 321"/>
                <a:gd name="T29" fmla="*/ 395 h 651"/>
                <a:gd name="T30" fmla="*/ 315 w 321"/>
                <a:gd name="T31" fmla="*/ 481 h 651"/>
                <a:gd name="T32" fmla="*/ 287 w 321"/>
                <a:gd name="T33" fmla="*/ 554 h 651"/>
                <a:gd name="T34" fmla="*/ 241 w 321"/>
                <a:gd name="T35" fmla="*/ 608 h 651"/>
                <a:gd name="T36" fmla="*/ 194 w 321"/>
                <a:gd name="T37" fmla="*/ 633 h 651"/>
                <a:gd name="T38" fmla="*/ 136 w 321"/>
                <a:gd name="T39" fmla="*/ 651 h 651"/>
                <a:gd name="T40" fmla="*/ 83 w 321"/>
                <a:gd name="T41" fmla="*/ 651 h 651"/>
                <a:gd name="T42" fmla="*/ 43 w 321"/>
                <a:gd name="T43" fmla="*/ 636 h 651"/>
                <a:gd name="T44" fmla="*/ 15 w 321"/>
                <a:gd name="T45" fmla="*/ 599 h 651"/>
                <a:gd name="T46" fmla="*/ 0 w 321"/>
                <a:gd name="T47" fmla="*/ 560 h 651"/>
                <a:gd name="T48" fmla="*/ 0 w 321"/>
                <a:gd name="T49" fmla="*/ 505 h 651"/>
                <a:gd name="T50" fmla="*/ 25 w 321"/>
                <a:gd name="T51" fmla="*/ 462 h 651"/>
                <a:gd name="T52" fmla="*/ 46 w 321"/>
                <a:gd name="T53" fmla="*/ 432 h 651"/>
                <a:gd name="T54" fmla="*/ 90 w 321"/>
                <a:gd name="T55" fmla="*/ 399 h 651"/>
                <a:gd name="T56" fmla="*/ 108 w 321"/>
                <a:gd name="T57" fmla="*/ 359 h 651"/>
                <a:gd name="T58" fmla="*/ 111 w 321"/>
                <a:gd name="T59" fmla="*/ 326 h 651"/>
                <a:gd name="T60" fmla="*/ 108 w 321"/>
                <a:gd name="T61" fmla="*/ 298 h 651"/>
                <a:gd name="T62" fmla="*/ 93 w 321"/>
                <a:gd name="T63" fmla="*/ 249 h 65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21" h="651">
                  <a:moveTo>
                    <a:pt x="93" y="249"/>
                  </a:moveTo>
                  <a:lnTo>
                    <a:pt x="62" y="198"/>
                  </a:lnTo>
                  <a:lnTo>
                    <a:pt x="34" y="140"/>
                  </a:lnTo>
                  <a:lnTo>
                    <a:pt x="25" y="97"/>
                  </a:lnTo>
                  <a:lnTo>
                    <a:pt x="25" y="58"/>
                  </a:lnTo>
                  <a:lnTo>
                    <a:pt x="43" y="24"/>
                  </a:lnTo>
                  <a:lnTo>
                    <a:pt x="71" y="6"/>
                  </a:lnTo>
                  <a:lnTo>
                    <a:pt x="108" y="0"/>
                  </a:lnTo>
                  <a:lnTo>
                    <a:pt x="164" y="21"/>
                  </a:lnTo>
                  <a:lnTo>
                    <a:pt x="204" y="52"/>
                  </a:lnTo>
                  <a:lnTo>
                    <a:pt x="241" y="106"/>
                  </a:lnTo>
                  <a:lnTo>
                    <a:pt x="278" y="186"/>
                  </a:lnTo>
                  <a:lnTo>
                    <a:pt x="302" y="268"/>
                  </a:lnTo>
                  <a:lnTo>
                    <a:pt x="312" y="322"/>
                  </a:lnTo>
                  <a:lnTo>
                    <a:pt x="321" y="395"/>
                  </a:lnTo>
                  <a:lnTo>
                    <a:pt x="315" y="481"/>
                  </a:lnTo>
                  <a:lnTo>
                    <a:pt x="287" y="554"/>
                  </a:lnTo>
                  <a:lnTo>
                    <a:pt x="241" y="608"/>
                  </a:lnTo>
                  <a:lnTo>
                    <a:pt x="194" y="633"/>
                  </a:lnTo>
                  <a:lnTo>
                    <a:pt x="136" y="651"/>
                  </a:lnTo>
                  <a:lnTo>
                    <a:pt x="83" y="651"/>
                  </a:lnTo>
                  <a:lnTo>
                    <a:pt x="43" y="636"/>
                  </a:lnTo>
                  <a:lnTo>
                    <a:pt x="15" y="599"/>
                  </a:lnTo>
                  <a:lnTo>
                    <a:pt x="0" y="560"/>
                  </a:lnTo>
                  <a:lnTo>
                    <a:pt x="0" y="505"/>
                  </a:lnTo>
                  <a:lnTo>
                    <a:pt x="25" y="462"/>
                  </a:lnTo>
                  <a:lnTo>
                    <a:pt x="46" y="432"/>
                  </a:lnTo>
                  <a:lnTo>
                    <a:pt x="90" y="399"/>
                  </a:lnTo>
                  <a:lnTo>
                    <a:pt x="108" y="359"/>
                  </a:lnTo>
                  <a:lnTo>
                    <a:pt x="111" y="326"/>
                  </a:lnTo>
                  <a:lnTo>
                    <a:pt x="108" y="298"/>
                  </a:lnTo>
                  <a:lnTo>
                    <a:pt x="93" y="2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4" name="Freeform 20"/>
            <p:cNvSpPr>
              <a:spLocks/>
            </p:cNvSpPr>
            <p:nvPr/>
          </p:nvSpPr>
          <p:spPr bwMode="auto">
            <a:xfrm>
              <a:off x="4320" y="1060"/>
              <a:ext cx="691" cy="360"/>
            </a:xfrm>
            <a:custGeom>
              <a:avLst/>
              <a:gdLst>
                <a:gd name="T0" fmla="*/ 527 w 691"/>
                <a:gd name="T1" fmla="*/ 240 h 360"/>
                <a:gd name="T2" fmla="*/ 606 w 691"/>
                <a:gd name="T3" fmla="*/ 182 h 360"/>
                <a:gd name="T4" fmla="*/ 654 w 691"/>
                <a:gd name="T5" fmla="*/ 154 h 360"/>
                <a:gd name="T6" fmla="*/ 679 w 691"/>
                <a:gd name="T7" fmla="*/ 163 h 360"/>
                <a:gd name="T8" fmla="*/ 691 w 691"/>
                <a:gd name="T9" fmla="*/ 191 h 360"/>
                <a:gd name="T10" fmla="*/ 664 w 691"/>
                <a:gd name="T11" fmla="*/ 249 h 360"/>
                <a:gd name="T12" fmla="*/ 588 w 691"/>
                <a:gd name="T13" fmla="*/ 292 h 360"/>
                <a:gd name="T14" fmla="*/ 472 w 691"/>
                <a:gd name="T15" fmla="*/ 338 h 360"/>
                <a:gd name="T16" fmla="*/ 408 w 691"/>
                <a:gd name="T17" fmla="*/ 360 h 360"/>
                <a:gd name="T18" fmla="*/ 365 w 691"/>
                <a:gd name="T19" fmla="*/ 360 h 360"/>
                <a:gd name="T20" fmla="*/ 329 w 691"/>
                <a:gd name="T21" fmla="*/ 351 h 360"/>
                <a:gd name="T22" fmla="*/ 301 w 691"/>
                <a:gd name="T23" fmla="*/ 329 h 360"/>
                <a:gd name="T24" fmla="*/ 256 w 691"/>
                <a:gd name="T25" fmla="*/ 286 h 360"/>
                <a:gd name="T26" fmla="*/ 198 w 691"/>
                <a:gd name="T27" fmla="*/ 218 h 360"/>
                <a:gd name="T28" fmla="*/ 146 w 691"/>
                <a:gd name="T29" fmla="*/ 182 h 360"/>
                <a:gd name="T30" fmla="*/ 116 w 691"/>
                <a:gd name="T31" fmla="*/ 166 h 360"/>
                <a:gd name="T32" fmla="*/ 79 w 691"/>
                <a:gd name="T33" fmla="*/ 175 h 360"/>
                <a:gd name="T34" fmla="*/ 27 w 691"/>
                <a:gd name="T35" fmla="*/ 191 h 360"/>
                <a:gd name="T36" fmla="*/ 0 w 691"/>
                <a:gd name="T37" fmla="*/ 182 h 360"/>
                <a:gd name="T38" fmla="*/ 15 w 691"/>
                <a:gd name="T39" fmla="*/ 154 h 360"/>
                <a:gd name="T40" fmla="*/ 46 w 691"/>
                <a:gd name="T41" fmla="*/ 138 h 360"/>
                <a:gd name="T42" fmla="*/ 82 w 691"/>
                <a:gd name="T43" fmla="*/ 129 h 360"/>
                <a:gd name="T44" fmla="*/ 79 w 691"/>
                <a:gd name="T45" fmla="*/ 111 h 360"/>
                <a:gd name="T46" fmla="*/ 52 w 691"/>
                <a:gd name="T47" fmla="*/ 92 h 360"/>
                <a:gd name="T48" fmla="*/ 0 w 691"/>
                <a:gd name="T49" fmla="*/ 74 h 360"/>
                <a:gd name="T50" fmla="*/ 0 w 691"/>
                <a:gd name="T51" fmla="*/ 37 h 360"/>
                <a:gd name="T52" fmla="*/ 37 w 691"/>
                <a:gd name="T53" fmla="*/ 3 h 360"/>
                <a:gd name="T54" fmla="*/ 64 w 691"/>
                <a:gd name="T55" fmla="*/ 22 h 360"/>
                <a:gd name="T56" fmla="*/ 88 w 691"/>
                <a:gd name="T57" fmla="*/ 58 h 360"/>
                <a:gd name="T58" fmla="*/ 107 w 691"/>
                <a:gd name="T59" fmla="*/ 102 h 360"/>
                <a:gd name="T60" fmla="*/ 128 w 691"/>
                <a:gd name="T61" fmla="*/ 105 h 360"/>
                <a:gd name="T62" fmla="*/ 152 w 691"/>
                <a:gd name="T63" fmla="*/ 92 h 360"/>
                <a:gd name="T64" fmla="*/ 155 w 691"/>
                <a:gd name="T65" fmla="*/ 37 h 360"/>
                <a:gd name="T66" fmla="*/ 155 w 691"/>
                <a:gd name="T67" fmla="*/ 9 h 360"/>
                <a:gd name="T68" fmla="*/ 189 w 691"/>
                <a:gd name="T69" fmla="*/ 0 h 360"/>
                <a:gd name="T70" fmla="*/ 207 w 691"/>
                <a:gd name="T71" fmla="*/ 22 h 360"/>
                <a:gd name="T72" fmla="*/ 201 w 691"/>
                <a:gd name="T73" fmla="*/ 58 h 360"/>
                <a:gd name="T74" fmla="*/ 180 w 691"/>
                <a:gd name="T75" fmla="*/ 111 h 360"/>
                <a:gd name="T76" fmla="*/ 174 w 691"/>
                <a:gd name="T77" fmla="*/ 154 h 360"/>
                <a:gd name="T78" fmla="*/ 228 w 691"/>
                <a:gd name="T79" fmla="*/ 209 h 360"/>
                <a:gd name="T80" fmla="*/ 310 w 691"/>
                <a:gd name="T81" fmla="*/ 265 h 360"/>
                <a:gd name="T82" fmla="*/ 374 w 691"/>
                <a:gd name="T83" fmla="*/ 292 h 360"/>
                <a:gd name="T84" fmla="*/ 402 w 691"/>
                <a:gd name="T85" fmla="*/ 295 h 360"/>
                <a:gd name="T86" fmla="*/ 457 w 691"/>
                <a:gd name="T87" fmla="*/ 277 h 360"/>
                <a:gd name="T88" fmla="*/ 527 w 691"/>
                <a:gd name="T89" fmla="*/ 240 h 36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691" h="360">
                  <a:moveTo>
                    <a:pt x="527" y="240"/>
                  </a:moveTo>
                  <a:lnTo>
                    <a:pt x="606" y="182"/>
                  </a:lnTo>
                  <a:lnTo>
                    <a:pt x="654" y="154"/>
                  </a:lnTo>
                  <a:lnTo>
                    <a:pt x="679" y="163"/>
                  </a:lnTo>
                  <a:lnTo>
                    <a:pt x="691" y="191"/>
                  </a:lnTo>
                  <a:lnTo>
                    <a:pt x="664" y="249"/>
                  </a:lnTo>
                  <a:lnTo>
                    <a:pt x="588" y="292"/>
                  </a:lnTo>
                  <a:lnTo>
                    <a:pt x="472" y="338"/>
                  </a:lnTo>
                  <a:lnTo>
                    <a:pt x="408" y="360"/>
                  </a:lnTo>
                  <a:lnTo>
                    <a:pt x="365" y="360"/>
                  </a:lnTo>
                  <a:lnTo>
                    <a:pt x="329" y="351"/>
                  </a:lnTo>
                  <a:lnTo>
                    <a:pt x="301" y="329"/>
                  </a:lnTo>
                  <a:lnTo>
                    <a:pt x="256" y="286"/>
                  </a:lnTo>
                  <a:lnTo>
                    <a:pt x="198" y="218"/>
                  </a:lnTo>
                  <a:lnTo>
                    <a:pt x="146" y="182"/>
                  </a:lnTo>
                  <a:lnTo>
                    <a:pt x="116" y="166"/>
                  </a:lnTo>
                  <a:lnTo>
                    <a:pt x="79" y="175"/>
                  </a:lnTo>
                  <a:lnTo>
                    <a:pt x="27" y="191"/>
                  </a:lnTo>
                  <a:lnTo>
                    <a:pt x="0" y="182"/>
                  </a:lnTo>
                  <a:lnTo>
                    <a:pt x="15" y="154"/>
                  </a:lnTo>
                  <a:lnTo>
                    <a:pt x="46" y="138"/>
                  </a:lnTo>
                  <a:lnTo>
                    <a:pt x="82" y="129"/>
                  </a:lnTo>
                  <a:lnTo>
                    <a:pt x="79" y="111"/>
                  </a:lnTo>
                  <a:lnTo>
                    <a:pt x="52" y="92"/>
                  </a:lnTo>
                  <a:lnTo>
                    <a:pt x="0" y="74"/>
                  </a:lnTo>
                  <a:lnTo>
                    <a:pt x="0" y="37"/>
                  </a:lnTo>
                  <a:lnTo>
                    <a:pt x="37" y="3"/>
                  </a:lnTo>
                  <a:lnTo>
                    <a:pt x="64" y="22"/>
                  </a:lnTo>
                  <a:lnTo>
                    <a:pt x="88" y="58"/>
                  </a:lnTo>
                  <a:lnTo>
                    <a:pt x="107" y="102"/>
                  </a:lnTo>
                  <a:lnTo>
                    <a:pt x="128" y="105"/>
                  </a:lnTo>
                  <a:lnTo>
                    <a:pt x="152" y="92"/>
                  </a:lnTo>
                  <a:lnTo>
                    <a:pt x="155" y="37"/>
                  </a:lnTo>
                  <a:lnTo>
                    <a:pt x="155" y="9"/>
                  </a:lnTo>
                  <a:lnTo>
                    <a:pt x="189" y="0"/>
                  </a:lnTo>
                  <a:lnTo>
                    <a:pt x="207" y="22"/>
                  </a:lnTo>
                  <a:lnTo>
                    <a:pt x="201" y="58"/>
                  </a:lnTo>
                  <a:lnTo>
                    <a:pt x="180" y="111"/>
                  </a:lnTo>
                  <a:lnTo>
                    <a:pt x="174" y="154"/>
                  </a:lnTo>
                  <a:lnTo>
                    <a:pt x="228" y="209"/>
                  </a:lnTo>
                  <a:lnTo>
                    <a:pt x="310" y="265"/>
                  </a:lnTo>
                  <a:lnTo>
                    <a:pt x="374" y="292"/>
                  </a:lnTo>
                  <a:lnTo>
                    <a:pt x="402" y="295"/>
                  </a:lnTo>
                  <a:lnTo>
                    <a:pt x="457" y="277"/>
                  </a:lnTo>
                  <a:lnTo>
                    <a:pt x="527" y="2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5" name="Freeform 21"/>
            <p:cNvSpPr>
              <a:spLocks/>
            </p:cNvSpPr>
            <p:nvPr/>
          </p:nvSpPr>
          <p:spPr bwMode="auto">
            <a:xfrm>
              <a:off x="4907" y="1725"/>
              <a:ext cx="282" cy="706"/>
            </a:xfrm>
            <a:custGeom>
              <a:avLst/>
              <a:gdLst>
                <a:gd name="T0" fmla="*/ 133 w 282"/>
                <a:gd name="T1" fmla="*/ 0 h 706"/>
                <a:gd name="T2" fmla="*/ 177 w 282"/>
                <a:gd name="T3" fmla="*/ 27 h 706"/>
                <a:gd name="T4" fmla="*/ 208 w 282"/>
                <a:gd name="T5" fmla="*/ 122 h 706"/>
                <a:gd name="T6" fmla="*/ 260 w 282"/>
                <a:gd name="T7" fmla="*/ 246 h 706"/>
                <a:gd name="T8" fmla="*/ 279 w 282"/>
                <a:gd name="T9" fmla="*/ 301 h 706"/>
                <a:gd name="T10" fmla="*/ 282 w 282"/>
                <a:gd name="T11" fmla="*/ 341 h 706"/>
                <a:gd name="T12" fmla="*/ 251 w 282"/>
                <a:gd name="T13" fmla="*/ 383 h 706"/>
                <a:gd name="T14" fmla="*/ 195 w 282"/>
                <a:gd name="T15" fmla="*/ 429 h 706"/>
                <a:gd name="T16" fmla="*/ 139 w 282"/>
                <a:gd name="T17" fmla="*/ 493 h 706"/>
                <a:gd name="T18" fmla="*/ 105 w 282"/>
                <a:gd name="T19" fmla="*/ 557 h 706"/>
                <a:gd name="T20" fmla="*/ 115 w 282"/>
                <a:gd name="T21" fmla="*/ 593 h 706"/>
                <a:gd name="T22" fmla="*/ 130 w 282"/>
                <a:gd name="T23" fmla="*/ 615 h 706"/>
                <a:gd name="T24" fmla="*/ 208 w 282"/>
                <a:gd name="T25" fmla="*/ 624 h 706"/>
                <a:gd name="T26" fmla="*/ 273 w 282"/>
                <a:gd name="T27" fmla="*/ 642 h 706"/>
                <a:gd name="T28" fmla="*/ 282 w 282"/>
                <a:gd name="T29" fmla="*/ 657 h 706"/>
                <a:gd name="T30" fmla="*/ 270 w 282"/>
                <a:gd name="T31" fmla="*/ 669 h 706"/>
                <a:gd name="T32" fmla="*/ 195 w 282"/>
                <a:gd name="T33" fmla="*/ 703 h 706"/>
                <a:gd name="T34" fmla="*/ 170 w 282"/>
                <a:gd name="T35" fmla="*/ 706 h 706"/>
                <a:gd name="T36" fmla="*/ 139 w 282"/>
                <a:gd name="T37" fmla="*/ 679 h 706"/>
                <a:gd name="T38" fmla="*/ 102 w 282"/>
                <a:gd name="T39" fmla="*/ 660 h 706"/>
                <a:gd name="T40" fmla="*/ 68 w 282"/>
                <a:gd name="T41" fmla="*/ 648 h 706"/>
                <a:gd name="T42" fmla="*/ 37 w 282"/>
                <a:gd name="T43" fmla="*/ 651 h 706"/>
                <a:gd name="T44" fmla="*/ 9 w 282"/>
                <a:gd name="T45" fmla="*/ 642 h 706"/>
                <a:gd name="T46" fmla="*/ 0 w 282"/>
                <a:gd name="T47" fmla="*/ 630 h 706"/>
                <a:gd name="T48" fmla="*/ 0 w 282"/>
                <a:gd name="T49" fmla="*/ 587 h 706"/>
                <a:gd name="T50" fmla="*/ 31 w 282"/>
                <a:gd name="T51" fmla="*/ 566 h 706"/>
                <a:gd name="T52" fmla="*/ 50 w 282"/>
                <a:gd name="T53" fmla="*/ 539 h 706"/>
                <a:gd name="T54" fmla="*/ 102 w 282"/>
                <a:gd name="T55" fmla="*/ 478 h 706"/>
                <a:gd name="T56" fmla="*/ 167 w 282"/>
                <a:gd name="T57" fmla="*/ 396 h 706"/>
                <a:gd name="T58" fmla="*/ 198 w 282"/>
                <a:gd name="T59" fmla="*/ 338 h 706"/>
                <a:gd name="T60" fmla="*/ 217 w 282"/>
                <a:gd name="T61" fmla="*/ 310 h 706"/>
                <a:gd name="T62" fmla="*/ 208 w 282"/>
                <a:gd name="T63" fmla="*/ 283 h 706"/>
                <a:gd name="T64" fmla="*/ 167 w 282"/>
                <a:gd name="T65" fmla="*/ 219 h 706"/>
                <a:gd name="T66" fmla="*/ 130 w 282"/>
                <a:gd name="T67" fmla="*/ 158 h 706"/>
                <a:gd name="T68" fmla="*/ 93 w 282"/>
                <a:gd name="T69" fmla="*/ 91 h 706"/>
                <a:gd name="T70" fmla="*/ 87 w 282"/>
                <a:gd name="T71" fmla="*/ 46 h 706"/>
                <a:gd name="T72" fmla="*/ 87 w 282"/>
                <a:gd name="T73" fmla="*/ 3 h 706"/>
                <a:gd name="T74" fmla="*/ 133 w 282"/>
                <a:gd name="T75" fmla="*/ 0 h 70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82" h="706">
                  <a:moveTo>
                    <a:pt x="133" y="0"/>
                  </a:moveTo>
                  <a:lnTo>
                    <a:pt x="177" y="27"/>
                  </a:lnTo>
                  <a:lnTo>
                    <a:pt x="208" y="122"/>
                  </a:lnTo>
                  <a:lnTo>
                    <a:pt x="260" y="246"/>
                  </a:lnTo>
                  <a:lnTo>
                    <a:pt x="279" y="301"/>
                  </a:lnTo>
                  <a:lnTo>
                    <a:pt x="282" y="341"/>
                  </a:lnTo>
                  <a:lnTo>
                    <a:pt x="251" y="383"/>
                  </a:lnTo>
                  <a:lnTo>
                    <a:pt x="195" y="429"/>
                  </a:lnTo>
                  <a:lnTo>
                    <a:pt x="139" y="493"/>
                  </a:lnTo>
                  <a:lnTo>
                    <a:pt x="105" y="557"/>
                  </a:lnTo>
                  <a:lnTo>
                    <a:pt x="115" y="593"/>
                  </a:lnTo>
                  <a:lnTo>
                    <a:pt x="130" y="615"/>
                  </a:lnTo>
                  <a:lnTo>
                    <a:pt x="208" y="624"/>
                  </a:lnTo>
                  <a:lnTo>
                    <a:pt x="273" y="642"/>
                  </a:lnTo>
                  <a:lnTo>
                    <a:pt x="282" y="657"/>
                  </a:lnTo>
                  <a:lnTo>
                    <a:pt x="270" y="669"/>
                  </a:lnTo>
                  <a:lnTo>
                    <a:pt x="195" y="703"/>
                  </a:lnTo>
                  <a:lnTo>
                    <a:pt x="170" y="706"/>
                  </a:lnTo>
                  <a:lnTo>
                    <a:pt x="139" y="679"/>
                  </a:lnTo>
                  <a:lnTo>
                    <a:pt x="102" y="660"/>
                  </a:lnTo>
                  <a:lnTo>
                    <a:pt x="68" y="648"/>
                  </a:lnTo>
                  <a:lnTo>
                    <a:pt x="37" y="651"/>
                  </a:lnTo>
                  <a:lnTo>
                    <a:pt x="9" y="642"/>
                  </a:lnTo>
                  <a:lnTo>
                    <a:pt x="0" y="630"/>
                  </a:lnTo>
                  <a:lnTo>
                    <a:pt x="0" y="587"/>
                  </a:lnTo>
                  <a:lnTo>
                    <a:pt x="31" y="566"/>
                  </a:lnTo>
                  <a:lnTo>
                    <a:pt x="50" y="539"/>
                  </a:lnTo>
                  <a:lnTo>
                    <a:pt x="102" y="478"/>
                  </a:lnTo>
                  <a:lnTo>
                    <a:pt x="167" y="396"/>
                  </a:lnTo>
                  <a:lnTo>
                    <a:pt x="198" y="338"/>
                  </a:lnTo>
                  <a:lnTo>
                    <a:pt x="217" y="310"/>
                  </a:lnTo>
                  <a:lnTo>
                    <a:pt x="208" y="283"/>
                  </a:lnTo>
                  <a:lnTo>
                    <a:pt x="167" y="219"/>
                  </a:lnTo>
                  <a:lnTo>
                    <a:pt x="130" y="158"/>
                  </a:lnTo>
                  <a:lnTo>
                    <a:pt x="93" y="91"/>
                  </a:lnTo>
                  <a:lnTo>
                    <a:pt x="87" y="46"/>
                  </a:lnTo>
                  <a:lnTo>
                    <a:pt x="87" y="3"/>
                  </a:lnTo>
                  <a:lnTo>
                    <a:pt x="1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6" name="Freeform 22"/>
            <p:cNvSpPr>
              <a:spLocks/>
            </p:cNvSpPr>
            <p:nvPr/>
          </p:nvSpPr>
          <p:spPr bwMode="auto">
            <a:xfrm>
              <a:off x="4582" y="1710"/>
              <a:ext cx="393" cy="640"/>
            </a:xfrm>
            <a:custGeom>
              <a:avLst/>
              <a:gdLst>
                <a:gd name="T0" fmla="*/ 264 w 393"/>
                <a:gd name="T1" fmla="*/ 79 h 640"/>
                <a:gd name="T2" fmla="*/ 319 w 393"/>
                <a:gd name="T3" fmla="*/ 9 h 640"/>
                <a:gd name="T4" fmla="*/ 372 w 393"/>
                <a:gd name="T5" fmla="*/ 0 h 640"/>
                <a:gd name="T6" fmla="*/ 393 w 393"/>
                <a:gd name="T7" fmla="*/ 9 h 640"/>
                <a:gd name="T8" fmla="*/ 393 w 393"/>
                <a:gd name="T9" fmla="*/ 52 h 640"/>
                <a:gd name="T10" fmla="*/ 372 w 393"/>
                <a:gd name="T11" fmla="*/ 91 h 640"/>
                <a:gd name="T12" fmla="*/ 316 w 393"/>
                <a:gd name="T13" fmla="*/ 155 h 640"/>
                <a:gd name="T14" fmla="*/ 252 w 393"/>
                <a:gd name="T15" fmla="*/ 226 h 640"/>
                <a:gd name="T16" fmla="*/ 227 w 393"/>
                <a:gd name="T17" fmla="*/ 274 h 640"/>
                <a:gd name="T18" fmla="*/ 227 w 393"/>
                <a:gd name="T19" fmla="*/ 317 h 640"/>
                <a:gd name="T20" fmla="*/ 233 w 393"/>
                <a:gd name="T21" fmla="*/ 393 h 640"/>
                <a:gd name="T22" fmla="*/ 236 w 393"/>
                <a:gd name="T23" fmla="*/ 475 h 640"/>
                <a:gd name="T24" fmla="*/ 255 w 393"/>
                <a:gd name="T25" fmla="*/ 555 h 640"/>
                <a:gd name="T26" fmla="*/ 270 w 393"/>
                <a:gd name="T27" fmla="*/ 591 h 640"/>
                <a:gd name="T28" fmla="*/ 255 w 393"/>
                <a:gd name="T29" fmla="*/ 622 h 640"/>
                <a:gd name="T30" fmla="*/ 215 w 393"/>
                <a:gd name="T31" fmla="*/ 622 h 640"/>
                <a:gd name="T32" fmla="*/ 163 w 393"/>
                <a:gd name="T33" fmla="*/ 610 h 640"/>
                <a:gd name="T34" fmla="*/ 101 w 393"/>
                <a:gd name="T35" fmla="*/ 610 h 640"/>
                <a:gd name="T36" fmla="*/ 34 w 393"/>
                <a:gd name="T37" fmla="*/ 640 h 640"/>
                <a:gd name="T38" fmla="*/ 9 w 393"/>
                <a:gd name="T39" fmla="*/ 637 h 640"/>
                <a:gd name="T40" fmla="*/ 0 w 393"/>
                <a:gd name="T41" fmla="*/ 613 h 640"/>
                <a:gd name="T42" fmla="*/ 43 w 393"/>
                <a:gd name="T43" fmla="*/ 558 h 640"/>
                <a:gd name="T44" fmla="*/ 101 w 393"/>
                <a:gd name="T45" fmla="*/ 555 h 640"/>
                <a:gd name="T46" fmla="*/ 172 w 393"/>
                <a:gd name="T47" fmla="*/ 555 h 640"/>
                <a:gd name="T48" fmla="*/ 200 w 393"/>
                <a:gd name="T49" fmla="*/ 555 h 640"/>
                <a:gd name="T50" fmla="*/ 209 w 393"/>
                <a:gd name="T51" fmla="*/ 509 h 640"/>
                <a:gd name="T52" fmla="*/ 197 w 393"/>
                <a:gd name="T53" fmla="*/ 436 h 640"/>
                <a:gd name="T54" fmla="*/ 178 w 393"/>
                <a:gd name="T55" fmla="*/ 372 h 640"/>
                <a:gd name="T56" fmla="*/ 166 w 393"/>
                <a:gd name="T57" fmla="*/ 308 h 640"/>
                <a:gd name="T58" fmla="*/ 172 w 393"/>
                <a:gd name="T59" fmla="*/ 238 h 640"/>
                <a:gd name="T60" fmla="*/ 187 w 393"/>
                <a:gd name="T61" fmla="*/ 183 h 640"/>
                <a:gd name="T62" fmla="*/ 218 w 393"/>
                <a:gd name="T63" fmla="*/ 134 h 640"/>
                <a:gd name="T64" fmla="*/ 264 w 393"/>
                <a:gd name="T65" fmla="*/ 79 h 6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93" h="640">
                  <a:moveTo>
                    <a:pt x="264" y="79"/>
                  </a:moveTo>
                  <a:lnTo>
                    <a:pt x="319" y="9"/>
                  </a:lnTo>
                  <a:lnTo>
                    <a:pt x="372" y="0"/>
                  </a:lnTo>
                  <a:lnTo>
                    <a:pt x="393" y="9"/>
                  </a:lnTo>
                  <a:lnTo>
                    <a:pt x="393" y="52"/>
                  </a:lnTo>
                  <a:lnTo>
                    <a:pt x="372" y="91"/>
                  </a:lnTo>
                  <a:lnTo>
                    <a:pt x="316" y="155"/>
                  </a:lnTo>
                  <a:lnTo>
                    <a:pt x="252" y="226"/>
                  </a:lnTo>
                  <a:lnTo>
                    <a:pt x="227" y="274"/>
                  </a:lnTo>
                  <a:lnTo>
                    <a:pt x="227" y="317"/>
                  </a:lnTo>
                  <a:lnTo>
                    <a:pt x="233" y="393"/>
                  </a:lnTo>
                  <a:lnTo>
                    <a:pt x="236" y="475"/>
                  </a:lnTo>
                  <a:lnTo>
                    <a:pt x="255" y="555"/>
                  </a:lnTo>
                  <a:lnTo>
                    <a:pt x="270" y="591"/>
                  </a:lnTo>
                  <a:lnTo>
                    <a:pt x="255" y="622"/>
                  </a:lnTo>
                  <a:lnTo>
                    <a:pt x="215" y="622"/>
                  </a:lnTo>
                  <a:lnTo>
                    <a:pt x="163" y="610"/>
                  </a:lnTo>
                  <a:lnTo>
                    <a:pt x="101" y="610"/>
                  </a:lnTo>
                  <a:lnTo>
                    <a:pt x="34" y="640"/>
                  </a:lnTo>
                  <a:lnTo>
                    <a:pt x="9" y="637"/>
                  </a:lnTo>
                  <a:lnTo>
                    <a:pt x="0" y="613"/>
                  </a:lnTo>
                  <a:lnTo>
                    <a:pt x="43" y="558"/>
                  </a:lnTo>
                  <a:lnTo>
                    <a:pt x="101" y="555"/>
                  </a:lnTo>
                  <a:lnTo>
                    <a:pt x="172" y="555"/>
                  </a:lnTo>
                  <a:lnTo>
                    <a:pt x="200" y="555"/>
                  </a:lnTo>
                  <a:lnTo>
                    <a:pt x="209" y="509"/>
                  </a:lnTo>
                  <a:lnTo>
                    <a:pt x="197" y="436"/>
                  </a:lnTo>
                  <a:lnTo>
                    <a:pt x="178" y="372"/>
                  </a:lnTo>
                  <a:lnTo>
                    <a:pt x="166" y="308"/>
                  </a:lnTo>
                  <a:lnTo>
                    <a:pt x="172" y="238"/>
                  </a:lnTo>
                  <a:lnTo>
                    <a:pt x="187" y="183"/>
                  </a:lnTo>
                  <a:lnTo>
                    <a:pt x="218" y="134"/>
                  </a:lnTo>
                  <a:lnTo>
                    <a:pt x="264" y="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59415" name="Group 23"/>
          <p:cNvGrpSpPr>
            <a:grpSpLocks/>
          </p:cNvGrpSpPr>
          <p:nvPr/>
        </p:nvGrpSpPr>
        <p:grpSpPr bwMode="auto">
          <a:xfrm>
            <a:off x="7772400" y="2049463"/>
            <a:ext cx="1600200" cy="933450"/>
            <a:chOff x="3936" y="1248"/>
            <a:chExt cx="1008" cy="568"/>
          </a:xfrm>
        </p:grpSpPr>
        <p:grpSp>
          <p:nvGrpSpPr>
            <p:cNvPr id="10248" name="Group 24"/>
            <p:cNvGrpSpPr>
              <a:grpSpLocks/>
            </p:cNvGrpSpPr>
            <p:nvPr/>
          </p:nvGrpSpPr>
          <p:grpSpPr bwMode="auto">
            <a:xfrm>
              <a:off x="4343" y="1248"/>
              <a:ext cx="342" cy="411"/>
              <a:chOff x="4823" y="242"/>
              <a:chExt cx="342" cy="411"/>
            </a:xfrm>
          </p:grpSpPr>
          <p:sp>
            <p:nvSpPr>
              <p:cNvPr id="10259" name="Freeform 25"/>
              <p:cNvSpPr>
                <a:spLocks/>
              </p:cNvSpPr>
              <p:nvPr/>
            </p:nvSpPr>
            <p:spPr bwMode="auto">
              <a:xfrm>
                <a:off x="4844" y="269"/>
                <a:ext cx="297" cy="348"/>
              </a:xfrm>
              <a:custGeom>
                <a:avLst/>
                <a:gdLst>
                  <a:gd name="T0" fmla="*/ 173 w 297"/>
                  <a:gd name="T1" fmla="*/ 348 h 348"/>
                  <a:gd name="T2" fmla="*/ 74 w 297"/>
                  <a:gd name="T3" fmla="*/ 296 h 348"/>
                  <a:gd name="T4" fmla="*/ 19 w 297"/>
                  <a:gd name="T5" fmla="*/ 203 h 348"/>
                  <a:gd name="T6" fmla="*/ 0 w 297"/>
                  <a:gd name="T7" fmla="*/ 89 h 348"/>
                  <a:gd name="T8" fmla="*/ 15 w 297"/>
                  <a:gd name="T9" fmla="*/ 28 h 348"/>
                  <a:gd name="T10" fmla="*/ 71 w 297"/>
                  <a:gd name="T11" fmla="*/ 6 h 348"/>
                  <a:gd name="T12" fmla="*/ 118 w 297"/>
                  <a:gd name="T13" fmla="*/ 28 h 348"/>
                  <a:gd name="T14" fmla="*/ 164 w 297"/>
                  <a:gd name="T15" fmla="*/ 102 h 348"/>
                  <a:gd name="T16" fmla="*/ 201 w 297"/>
                  <a:gd name="T17" fmla="*/ 25 h 348"/>
                  <a:gd name="T18" fmla="*/ 238 w 297"/>
                  <a:gd name="T19" fmla="*/ 0 h 348"/>
                  <a:gd name="T20" fmla="*/ 288 w 297"/>
                  <a:gd name="T21" fmla="*/ 15 h 348"/>
                  <a:gd name="T22" fmla="*/ 297 w 297"/>
                  <a:gd name="T23" fmla="*/ 83 h 348"/>
                  <a:gd name="T24" fmla="*/ 278 w 297"/>
                  <a:gd name="T25" fmla="*/ 185 h 348"/>
                  <a:gd name="T26" fmla="*/ 173 w 297"/>
                  <a:gd name="T27" fmla="*/ 348 h 3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7" h="348">
                    <a:moveTo>
                      <a:pt x="173" y="348"/>
                    </a:moveTo>
                    <a:lnTo>
                      <a:pt x="74" y="296"/>
                    </a:lnTo>
                    <a:lnTo>
                      <a:pt x="19" y="203"/>
                    </a:lnTo>
                    <a:lnTo>
                      <a:pt x="0" y="89"/>
                    </a:lnTo>
                    <a:lnTo>
                      <a:pt x="15" y="28"/>
                    </a:lnTo>
                    <a:lnTo>
                      <a:pt x="71" y="6"/>
                    </a:lnTo>
                    <a:lnTo>
                      <a:pt x="118" y="28"/>
                    </a:lnTo>
                    <a:lnTo>
                      <a:pt x="164" y="102"/>
                    </a:lnTo>
                    <a:lnTo>
                      <a:pt x="201" y="25"/>
                    </a:lnTo>
                    <a:lnTo>
                      <a:pt x="238" y="0"/>
                    </a:lnTo>
                    <a:lnTo>
                      <a:pt x="288" y="15"/>
                    </a:lnTo>
                    <a:lnTo>
                      <a:pt x="297" y="83"/>
                    </a:lnTo>
                    <a:lnTo>
                      <a:pt x="278" y="185"/>
                    </a:lnTo>
                    <a:lnTo>
                      <a:pt x="173" y="348"/>
                    </a:lnTo>
                    <a:close/>
                  </a:path>
                </a:pathLst>
              </a:custGeom>
              <a:solidFill>
                <a:srgbClr val="FC012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0" name="Freeform 26"/>
              <p:cNvSpPr>
                <a:spLocks/>
              </p:cNvSpPr>
              <p:nvPr/>
            </p:nvSpPr>
            <p:spPr bwMode="auto">
              <a:xfrm>
                <a:off x="4994" y="248"/>
                <a:ext cx="171" cy="405"/>
              </a:xfrm>
              <a:custGeom>
                <a:avLst/>
                <a:gdLst>
                  <a:gd name="T0" fmla="*/ 10 w 171"/>
                  <a:gd name="T1" fmla="*/ 147 h 405"/>
                  <a:gd name="T2" fmla="*/ 41 w 171"/>
                  <a:gd name="T3" fmla="*/ 104 h 405"/>
                  <a:gd name="T4" fmla="*/ 60 w 171"/>
                  <a:gd name="T5" fmla="*/ 77 h 405"/>
                  <a:gd name="T6" fmla="*/ 76 w 171"/>
                  <a:gd name="T7" fmla="*/ 46 h 405"/>
                  <a:gd name="T8" fmla="*/ 89 w 171"/>
                  <a:gd name="T9" fmla="*/ 40 h 405"/>
                  <a:gd name="T10" fmla="*/ 117 w 171"/>
                  <a:gd name="T11" fmla="*/ 58 h 405"/>
                  <a:gd name="T12" fmla="*/ 127 w 171"/>
                  <a:gd name="T13" fmla="*/ 83 h 405"/>
                  <a:gd name="T14" fmla="*/ 127 w 171"/>
                  <a:gd name="T15" fmla="*/ 150 h 405"/>
                  <a:gd name="T16" fmla="*/ 98 w 171"/>
                  <a:gd name="T17" fmla="*/ 212 h 405"/>
                  <a:gd name="T18" fmla="*/ 51 w 171"/>
                  <a:gd name="T19" fmla="*/ 276 h 405"/>
                  <a:gd name="T20" fmla="*/ 0 w 171"/>
                  <a:gd name="T21" fmla="*/ 353 h 405"/>
                  <a:gd name="T22" fmla="*/ 3 w 171"/>
                  <a:gd name="T23" fmla="*/ 380 h 405"/>
                  <a:gd name="T24" fmla="*/ 13 w 171"/>
                  <a:gd name="T25" fmla="*/ 405 h 405"/>
                  <a:gd name="T26" fmla="*/ 29 w 171"/>
                  <a:gd name="T27" fmla="*/ 405 h 405"/>
                  <a:gd name="T28" fmla="*/ 67 w 171"/>
                  <a:gd name="T29" fmla="*/ 353 h 405"/>
                  <a:gd name="T30" fmla="*/ 105 w 171"/>
                  <a:gd name="T31" fmla="*/ 267 h 405"/>
                  <a:gd name="T32" fmla="*/ 143 w 171"/>
                  <a:gd name="T33" fmla="*/ 196 h 405"/>
                  <a:gd name="T34" fmla="*/ 162 w 171"/>
                  <a:gd name="T35" fmla="*/ 141 h 405"/>
                  <a:gd name="T36" fmla="*/ 171 w 171"/>
                  <a:gd name="T37" fmla="*/ 95 h 405"/>
                  <a:gd name="T38" fmla="*/ 171 w 171"/>
                  <a:gd name="T39" fmla="*/ 49 h 405"/>
                  <a:gd name="T40" fmla="*/ 146 w 171"/>
                  <a:gd name="T41" fmla="*/ 28 h 405"/>
                  <a:gd name="T42" fmla="*/ 98 w 171"/>
                  <a:gd name="T43" fmla="*/ 0 h 405"/>
                  <a:gd name="T44" fmla="*/ 60 w 171"/>
                  <a:gd name="T45" fmla="*/ 0 h 405"/>
                  <a:gd name="T46" fmla="*/ 29 w 171"/>
                  <a:gd name="T47" fmla="*/ 28 h 405"/>
                  <a:gd name="T48" fmla="*/ 13 w 171"/>
                  <a:gd name="T49" fmla="*/ 101 h 405"/>
                  <a:gd name="T50" fmla="*/ 10 w 171"/>
                  <a:gd name="T51" fmla="*/ 147 h 40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71" h="405">
                    <a:moveTo>
                      <a:pt x="10" y="147"/>
                    </a:moveTo>
                    <a:lnTo>
                      <a:pt x="41" y="104"/>
                    </a:lnTo>
                    <a:lnTo>
                      <a:pt x="60" y="77"/>
                    </a:lnTo>
                    <a:lnTo>
                      <a:pt x="76" y="46"/>
                    </a:lnTo>
                    <a:lnTo>
                      <a:pt x="89" y="40"/>
                    </a:lnTo>
                    <a:lnTo>
                      <a:pt x="117" y="58"/>
                    </a:lnTo>
                    <a:lnTo>
                      <a:pt x="127" y="83"/>
                    </a:lnTo>
                    <a:lnTo>
                      <a:pt x="127" y="150"/>
                    </a:lnTo>
                    <a:lnTo>
                      <a:pt x="98" y="212"/>
                    </a:lnTo>
                    <a:lnTo>
                      <a:pt x="51" y="276"/>
                    </a:lnTo>
                    <a:lnTo>
                      <a:pt x="0" y="353"/>
                    </a:lnTo>
                    <a:lnTo>
                      <a:pt x="3" y="380"/>
                    </a:lnTo>
                    <a:lnTo>
                      <a:pt x="13" y="405"/>
                    </a:lnTo>
                    <a:lnTo>
                      <a:pt x="29" y="405"/>
                    </a:lnTo>
                    <a:lnTo>
                      <a:pt x="67" y="353"/>
                    </a:lnTo>
                    <a:lnTo>
                      <a:pt x="105" y="267"/>
                    </a:lnTo>
                    <a:lnTo>
                      <a:pt x="143" y="196"/>
                    </a:lnTo>
                    <a:lnTo>
                      <a:pt x="162" y="141"/>
                    </a:lnTo>
                    <a:lnTo>
                      <a:pt x="171" y="95"/>
                    </a:lnTo>
                    <a:lnTo>
                      <a:pt x="171" y="49"/>
                    </a:lnTo>
                    <a:lnTo>
                      <a:pt x="146" y="28"/>
                    </a:lnTo>
                    <a:lnTo>
                      <a:pt x="98" y="0"/>
                    </a:lnTo>
                    <a:lnTo>
                      <a:pt x="60" y="0"/>
                    </a:lnTo>
                    <a:lnTo>
                      <a:pt x="29" y="28"/>
                    </a:lnTo>
                    <a:lnTo>
                      <a:pt x="13" y="101"/>
                    </a:lnTo>
                    <a:lnTo>
                      <a:pt x="10" y="1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1" name="Freeform 27"/>
              <p:cNvSpPr>
                <a:spLocks/>
              </p:cNvSpPr>
              <p:nvPr/>
            </p:nvSpPr>
            <p:spPr bwMode="auto">
              <a:xfrm>
                <a:off x="4823" y="242"/>
                <a:ext cx="197" cy="393"/>
              </a:xfrm>
              <a:custGeom>
                <a:avLst/>
                <a:gdLst>
                  <a:gd name="T0" fmla="*/ 191 w 197"/>
                  <a:gd name="T1" fmla="*/ 111 h 393"/>
                  <a:gd name="T2" fmla="*/ 153 w 197"/>
                  <a:gd name="T3" fmla="*/ 46 h 393"/>
                  <a:gd name="T4" fmla="*/ 116 w 197"/>
                  <a:gd name="T5" fmla="*/ 0 h 393"/>
                  <a:gd name="T6" fmla="*/ 56 w 197"/>
                  <a:gd name="T7" fmla="*/ 6 h 393"/>
                  <a:gd name="T8" fmla="*/ 22 w 197"/>
                  <a:gd name="T9" fmla="*/ 34 h 393"/>
                  <a:gd name="T10" fmla="*/ 0 w 197"/>
                  <a:gd name="T11" fmla="*/ 98 h 393"/>
                  <a:gd name="T12" fmla="*/ 3 w 197"/>
                  <a:gd name="T13" fmla="*/ 157 h 393"/>
                  <a:gd name="T14" fmla="*/ 28 w 197"/>
                  <a:gd name="T15" fmla="*/ 236 h 393"/>
                  <a:gd name="T16" fmla="*/ 78 w 197"/>
                  <a:gd name="T17" fmla="*/ 319 h 393"/>
                  <a:gd name="T18" fmla="*/ 116 w 197"/>
                  <a:gd name="T19" fmla="*/ 356 h 393"/>
                  <a:gd name="T20" fmla="*/ 188 w 197"/>
                  <a:gd name="T21" fmla="*/ 393 h 393"/>
                  <a:gd name="T22" fmla="*/ 197 w 197"/>
                  <a:gd name="T23" fmla="*/ 368 h 393"/>
                  <a:gd name="T24" fmla="*/ 144 w 197"/>
                  <a:gd name="T25" fmla="*/ 322 h 393"/>
                  <a:gd name="T26" fmla="*/ 88 w 197"/>
                  <a:gd name="T27" fmla="*/ 267 h 393"/>
                  <a:gd name="T28" fmla="*/ 59 w 197"/>
                  <a:gd name="T29" fmla="*/ 212 h 393"/>
                  <a:gd name="T30" fmla="*/ 50 w 197"/>
                  <a:gd name="T31" fmla="*/ 144 h 393"/>
                  <a:gd name="T32" fmla="*/ 47 w 197"/>
                  <a:gd name="T33" fmla="*/ 92 h 393"/>
                  <a:gd name="T34" fmla="*/ 69 w 197"/>
                  <a:gd name="T35" fmla="*/ 61 h 393"/>
                  <a:gd name="T36" fmla="*/ 84 w 197"/>
                  <a:gd name="T37" fmla="*/ 61 h 393"/>
                  <a:gd name="T38" fmla="*/ 122 w 197"/>
                  <a:gd name="T39" fmla="*/ 71 h 393"/>
                  <a:gd name="T40" fmla="*/ 144 w 197"/>
                  <a:gd name="T41" fmla="*/ 101 h 393"/>
                  <a:gd name="T42" fmla="*/ 181 w 197"/>
                  <a:gd name="T43" fmla="*/ 154 h 393"/>
                  <a:gd name="T44" fmla="*/ 191 w 197"/>
                  <a:gd name="T45" fmla="*/ 111 h 39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97" h="393">
                    <a:moveTo>
                      <a:pt x="191" y="111"/>
                    </a:moveTo>
                    <a:lnTo>
                      <a:pt x="153" y="46"/>
                    </a:lnTo>
                    <a:lnTo>
                      <a:pt x="116" y="0"/>
                    </a:lnTo>
                    <a:lnTo>
                      <a:pt x="56" y="6"/>
                    </a:lnTo>
                    <a:lnTo>
                      <a:pt x="22" y="34"/>
                    </a:lnTo>
                    <a:lnTo>
                      <a:pt x="0" y="98"/>
                    </a:lnTo>
                    <a:lnTo>
                      <a:pt x="3" y="157"/>
                    </a:lnTo>
                    <a:lnTo>
                      <a:pt x="28" y="236"/>
                    </a:lnTo>
                    <a:lnTo>
                      <a:pt x="78" y="319"/>
                    </a:lnTo>
                    <a:lnTo>
                      <a:pt x="116" y="356"/>
                    </a:lnTo>
                    <a:lnTo>
                      <a:pt x="188" y="393"/>
                    </a:lnTo>
                    <a:lnTo>
                      <a:pt x="197" y="368"/>
                    </a:lnTo>
                    <a:lnTo>
                      <a:pt x="144" y="322"/>
                    </a:lnTo>
                    <a:lnTo>
                      <a:pt x="88" y="267"/>
                    </a:lnTo>
                    <a:lnTo>
                      <a:pt x="59" y="212"/>
                    </a:lnTo>
                    <a:lnTo>
                      <a:pt x="50" y="144"/>
                    </a:lnTo>
                    <a:lnTo>
                      <a:pt x="47" y="92"/>
                    </a:lnTo>
                    <a:lnTo>
                      <a:pt x="69" y="61"/>
                    </a:lnTo>
                    <a:lnTo>
                      <a:pt x="84" y="61"/>
                    </a:lnTo>
                    <a:lnTo>
                      <a:pt x="122" y="71"/>
                    </a:lnTo>
                    <a:lnTo>
                      <a:pt x="144" y="101"/>
                    </a:lnTo>
                    <a:lnTo>
                      <a:pt x="181" y="154"/>
                    </a:lnTo>
                    <a:lnTo>
                      <a:pt x="191" y="1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249" name="Group 28"/>
            <p:cNvGrpSpPr>
              <a:grpSpLocks/>
            </p:cNvGrpSpPr>
            <p:nvPr/>
          </p:nvGrpSpPr>
          <p:grpSpPr bwMode="auto">
            <a:xfrm>
              <a:off x="3936" y="1440"/>
              <a:ext cx="317" cy="278"/>
              <a:chOff x="1109" y="2592"/>
              <a:chExt cx="125" cy="134"/>
            </a:xfrm>
          </p:grpSpPr>
          <p:sp>
            <p:nvSpPr>
              <p:cNvPr id="10255" name="Freeform 29"/>
              <p:cNvSpPr>
                <a:spLocks/>
              </p:cNvSpPr>
              <p:nvPr/>
            </p:nvSpPr>
            <p:spPr bwMode="auto">
              <a:xfrm>
                <a:off x="1119" y="2602"/>
                <a:ext cx="107" cy="112"/>
              </a:xfrm>
              <a:custGeom>
                <a:avLst/>
                <a:gdLst>
                  <a:gd name="T0" fmla="*/ 49 w 107"/>
                  <a:gd name="T1" fmla="*/ 112 h 112"/>
                  <a:gd name="T2" fmla="*/ 10 w 107"/>
                  <a:gd name="T3" fmla="*/ 71 h 112"/>
                  <a:gd name="T4" fmla="*/ 0 w 107"/>
                  <a:gd name="T5" fmla="*/ 41 h 112"/>
                  <a:gd name="T6" fmla="*/ 1 w 107"/>
                  <a:gd name="T7" fmla="*/ 20 h 112"/>
                  <a:gd name="T8" fmla="*/ 14 w 107"/>
                  <a:gd name="T9" fmla="*/ 6 h 112"/>
                  <a:gd name="T10" fmla="*/ 36 w 107"/>
                  <a:gd name="T11" fmla="*/ 3 h 112"/>
                  <a:gd name="T12" fmla="*/ 52 w 107"/>
                  <a:gd name="T13" fmla="*/ 18 h 112"/>
                  <a:gd name="T14" fmla="*/ 56 w 107"/>
                  <a:gd name="T15" fmla="*/ 21 h 112"/>
                  <a:gd name="T16" fmla="*/ 68 w 107"/>
                  <a:gd name="T17" fmla="*/ 6 h 112"/>
                  <a:gd name="T18" fmla="*/ 84 w 107"/>
                  <a:gd name="T19" fmla="*/ 0 h 112"/>
                  <a:gd name="T20" fmla="*/ 100 w 107"/>
                  <a:gd name="T21" fmla="*/ 9 h 112"/>
                  <a:gd name="T22" fmla="*/ 102 w 107"/>
                  <a:gd name="T23" fmla="*/ 29 h 112"/>
                  <a:gd name="T24" fmla="*/ 107 w 107"/>
                  <a:gd name="T25" fmla="*/ 50 h 112"/>
                  <a:gd name="T26" fmla="*/ 89 w 107"/>
                  <a:gd name="T27" fmla="*/ 77 h 112"/>
                  <a:gd name="T28" fmla="*/ 62 w 107"/>
                  <a:gd name="T29" fmla="*/ 100 h 112"/>
                  <a:gd name="T30" fmla="*/ 49 w 107"/>
                  <a:gd name="T31" fmla="*/ 112 h 11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07" h="112">
                    <a:moveTo>
                      <a:pt x="49" y="112"/>
                    </a:moveTo>
                    <a:lnTo>
                      <a:pt x="10" y="71"/>
                    </a:lnTo>
                    <a:lnTo>
                      <a:pt x="0" y="41"/>
                    </a:lnTo>
                    <a:lnTo>
                      <a:pt x="1" y="20"/>
                    </a:lnTo>
                    <a:lnTo>
                      <a:pt x="14" y="6"/>
                    </a:lnTo>
                    <a:lnTo>
                      <a:pt x="36" y="3"/>
                    </a:lnTo>
                    <a:lnTo>
                      <a:pt x="52" y="18"/>
                    </a:lnTo>
                    <a:lnTo>
                      <a:pt x="56" y="21"/>
                    </a:lnTo>
                    <a:lnTo>
                      <a:pt x="68" y="6"/>
                    </a:lnTo>
                    <a:lnTo>
                      <a:pt x="84" y="0"/>
                    </a:lnTo>
                    <a:lnTo>
                      <a:pt x="100" y="9"/>
                    </a:lnTo>
                    <a:lnTo>
                      <a:pt x="102" y="29"/>
                    </a:lnTo>
                    <a:lnTo>
                      <a:pt x="107" y="50"/>
                    </a:lnTo>
                    <a:lnTo>
                      <a:pt x="89" y="77"/>
                    </a:lnTo>
                    <a:lnTo>
                      <a:pt x="62" y="100"/>
                    </a:lnTo>
                    <a:lnTo>
                      <a:pt x="49" y="112"/>
                    </a:lnTo>
                    <a:close/>
                  </a:path>
                </a:pathLst>
              </a:custGeom>
              <a:solidFill>
                <a:srgbClr val="FF00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0256" name="Group 30"/>
              <p:cNvGrpSpPr>
                <a:grpSpLocks/>
              </p:cNvGrpSpPr>
              <p:nvPr/>
            </p:nvGrpSpPr>
            <p:grpSpPr bwMode="auto">
              <a:xfrm>
                <a:off x="1109" y="2592"/>
                <a:ext cx="125" cy="134"/>
                <a:chOff x="1109" y="2592"/>
                <a:chExt cx="125" cy="134"/>
              </a:xfrm>
            </p:grpSpPr>
            <p:sp>
              <p:nvSpPr>
                <p:cNvPr id="10257" name="Freeform 31"/>
                <p:cNvSpPr>
                  <a:spLocks/>
                </p:cNvSpPr>
                <p:nvPr/>
              </p:nvSpPr>
              <p:spPr bwMode="auto">
                <a:xfrm>
                  <a:off x="1109" y="2592"/>
                  <a:ext cx="72" cy="134"/>
                </a:xfrm>
                <a:custGeom>
                  <a:avLst/>
                  <a:gdLst>
                    <a:gd name="T0" fmla="*/ 61 w 72"/>
                    <a:gd name="T1" fmla="*/ 134 h 134"/>
                    <a:gd name="T2" fmla="*/ 34 w 72"/>
                    <a:gd name="T3" fmla="*/ 110 h 134"/>
                    <a:gd name="T4" fmla="*/ 15 w 72"/>
                    <a:gd name="T5" fmla="*/ 89 h 134"/>
                    <a:gd name="T6" fmla="*/ 4 w 72"/>
                    <a:gd name="T7" fmla="*/ 65 h 134"/>
                    <a:gd name="T8" fmla="*/ 0 w 72"/>
                    <a:gd name="T9" fmla="*/ 45 h 134"/>
                    <a:gd name="T10" fmla="*/ 4 w 72"/>
                    <a:gd name="T11" fmla="*/ 27 h 134"/>
                    <a:gd name="T12" fmla="*/ 10 w 72"/>
                    <a:gd name="T13" fmla="*/ 15 h 134"/>
                    <a:gd name="T14" fmla="*/ 22 w 72"/>
                    <a:gd name="T15" fmla="*/ 2 h 134"/>
                    <a:gd name="T16" fmla="*/ 42 w 72"/>
                    <a:gd name="T17" fmla="*/ 0 h 134"/>
                    <a:gd name="T18" fmla="*/ 63 w 72"/>
                    <a:gd name="T19" fmla="*/ 8 h 134"/>
                    <a:gd name="T20" fmla="*/ 70 w 72"/>
                    <a:gd name="T21" fmla="*/ 20 h 134"/>
                    <a:gd name="T22" fmla="*/ 72 w 72"/>
                    <a:gd name="T23" fmla="*/ 39 h 134"/>
                    <a:gd name="T24" fmla="*/ 65 w 72"/>
                    <a:gd name="T25" fmla="*/ 50 h 134"/>
                    <a:gd name="T26" fmla="*/ 57 w 72"/>
                    <a:gd name="T27" fmla="*/ 44 h 134"/>
                    <a:gd name="T28" fmla="*/ 53 w 72"/>
                    <a:gd name="T29" fmla="*/ 30 h 134"/>
                    <a:gd name="T30" fmla="*/ 42 w 72"/>
                    <a:gd name="T31" fmla="*/ 21 h 134"/>
                    <a:gd name="T32" fmla="*/ 27 w 72"/>
                    <a:gd name="T33" fmla="*/ 21 h 134"/>
                    <a:gd name="T34" fmla="*/ 22 w 72"/>
                    <a:gd name="T35" fmla="*/ 32 h 134"/>
                    <a:gd name="T36" fmla="*/ 18 w 72"/>
                    <a:gd name="T37" fmla="*/ 45 h 134"/>
                    <a:gd name="T38" fmla="*/ 21 w 72"/>
                    <a:gd name="T39" fmla="*/ 62 h 134"/>
                    <a:gd name="T40" fmla="*/ 27 w 72"/>
                    <a:gd name="T41" fmla="*/ 77 h 134"/>
                    <a:gd name="T42" fmla="*/ 41 w 72"/>
                    <a:gd name="T43" fmla="*/ 92 h 134"/>
                    <a:gd name="T44" fmla="*/ 59 w 72"/>
                    <a:gd name="T45" fmla="*/ 106 h 134"/>
                    <a:gd name="T46" fmla="*/ 68 w 72"/>
                    <a:gd name="T47" fmla="*/ 112 h 134"/>
                    <a:gd name="T48" fmla="*/ 72 w 72"/>
                    <a:gd name="T49" fmla="*/ 122 h 134"/>
                    <a:gd name="T50" fmla="*/ 61 w 72"/>
                    <a:gd name="T51" fmla="*/ 134 h 13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72" h="134">
                      <a:moveTo>
                        <a:pt x="61" y="134"/>
                      </a:moveTo>
                      <a:lnTo>
                        <a:pt x="34" y="110"/>
                      </a:lnTo>
                      <a:lnTo>
                        <a:pt x="15" y="89"/>
                      </a:lnTo>
                      <a:lnTo>
                        <a:pt x="4" y="65"/>
                      </a:lnTo>
                      <a:lnTo>
                        <a:pt x="0" y="45"/>
                      </a:lnTo>
                      <a:lnTo>
                        <a:pt x="4" y="27"/>
                      </a:lnTo>
                      <a:lnTo>
                        <a:pt x="10" y="15"/>
                      </a:lnTo>
                      <a:lnTo>
                        <a:pt x="22" y="2"/>
                      </a:lnTo>
                      <a:lnTo>
                        <a:pt x="42" y="0"/>
                      </a:lnTo>
                      <a:lnTo>
                        <a:pt x="63" y="8"/>
                      </a:lnTo>
                      <a:lnTo>
                        <a:pt x="70" y="20"/>
                      </a:lnTo>
                      <a:lnTo>
                        <a:pt x="72" y="39"/>
                      </a:lnTo>
                      <a:lnTo>
                        <a:pt x="65" y="50"/>
                      </a:lnTo>
                      <a:lnTo>
                        <a:pt x="57" y="44"/>
                      </a:lnTo>
                      <a:lnTo>
                        <a:pt x="53" y="30"/>
                      </a:lnTo>
                      <a:lnTo>
                        <a:pt x="42" y="21"/>
                      </a:lnTo>
                      <a:lnTo>
                        <a:pt x="27" y="21"/>
                      </a:lnTo>
                      <a:lnTo>
                        <a:pt x="22" y="32"/>
                      </a:lnTo>
                      <a:lnTo>
                        <a:pt x="18" y="45"/>
                      </a:lnTo>
                      <a:lnTo>
                        <a:pt x="21" y="62"/>
                      </a:lnTo>
                      <a:lnTo>
                        <a:pt x="27" y="77"/>
                      </a:lnTo>
                      <a:lnTo>
                        <a:pt x="41" y="92"/>
                      </a:lnTo>
                      <a:lnTo>
                        <a:pt x="59" y="106"/>
                      </a:lnTo>
                      <a:lnTo>
                        <a:pt x="68" y="112"/>
                      </a:lnTo>
                      <a:lnTo>
                        <a:pt x="72" y="122"/>
                      </a:lnTo>
                      <a:lnTo>
                        <a:pt x="61" y="13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8" name="Freeform 32"/>
                <p:cNvSpPr>
                  <a:spLocks/>
                </p:cNvSpPr>
                <p:nvPr/>
              </p:nvSpPr>
              <p:spPr bwMode="auto">
                <a:xfrm>
                  <a:off x="1162" y="2593"/>
                  <a:ext cx="72" cy="129"/>
                </a:xfrm>
                <a:custGeom>
                  <a:avLst/>
                  <a:gdLst>
                    <a:gd name="T0" fmla="*/ 0 w 72"/>
                    <a:gd name="T1" fmla="*/ 120 h 129"/>
                    <a:gd name="T2" fmla="*/ 18 w 72"/>
                    <a:gd name="T3" fmla="*/ 102 h 129"/>
                    <a:gd name="T4" fmla="*/ 33 w 72"/>
                    <a:gd name="T5" fmla="*/ 87 h 129"/>
                    <a:gd name="T6" fmla="*/ 48 w 72"/>
                    <a:gd name="T7" fmla="*/ 74 h 129"/>
                    <a:gd name="T8" fmla="*/ 59 w 72"/>
                    <a:gd name="T9" fmla="*/ 53 h 129"/>
                    <a:gd name="T10" fmla="*/ 55 w 72"/>
                    <a:gd name="T11" fmla="*/ 33 h 129"/>
                    <a:gd name="T12" fmla="*/ 48 w 72"/>
                    <a:gd name="T13" fmla="*/ 18 h 129"/>
                    <a:gd name="T14" fmla="*/ 36 w 72"/>
                    <a:gd name="T15" fmla="*/ 18 h 129"/>
                    <a:gd name="T16" fmla="*/ 22 w 72"/>
                    <a:gd name="T17" fmla="*/ 26 h 129"/>
                    <a:gd name="T18" fmla="*/ 15 w 72"/>
                    <a:gd name="T19" fmla="*/ 38 h 129"/>
                    <a:gd name="T20" fmla="*/ 10 w 72"/>
                    <a:gd name="T21" fmla="*/ 42 h 129"/>
                    <a:gd name="T22" fmla="*/ 4 w 72"/>
                    <a:gd name="T23" fmla="*/ 29 h 129"/>
                    <a:gd name="T24" fmla="*/ 12 w 72"/>
                    <a:gd name="T25" fmla="*/ 20 h 129"/>
                    <a:gd name="T26" fmla="*/ 22 w 72"/>
                    <a:gd name="T27" fmla="*/ 8 h 129"/>
                    <a:gd name="T28" fmla="*/ 34 w 72"/>
                    <a:gd name="T29" fmla="*/ 0 h 129"/>
                    <a:gd name="T30" fmla="*/ 50 w 72"/>
                    <a:gd name="T31" fmla="*/ 0 h 129"/>
                    <a:gd name="T32" fmla="*/ 61 w 72"/>
                    <a:gd name="T33" fmla="*/ 5 h 129"/>
                    <a:gd name="T34" fmla="*/ 70 w 72"/>
                    <a:gd name="T35" fmla="*/ 24 h 129"/>
                    <a:gd name="T36" fmla="*/ 72 w 72"/>
                    <a:gd name="T37" fmla="*/ 42 h 129"/>
                    <a:gd name="T38" fmla="*/ 71 w 72"/>
                    <a:gd name="T39" fmla="*/ 60 h 129"/>
                    <a:gd name="T40" fmla="*/ 63 w 72"/>
                    <a:gd name="T41" fmla="*/ 77 h 129"/>
                    <a:gd name="T42" fmla="*/ 50 w 72"/>
                    <a:gd name="T43" fmla="*/ 93 h 129"/>
                    <a:gd name="T44" fmla="*/ 37 w 72"/>
                    <a:gd name="T45" fmla="*/ 108 h 129"/>
                    <a:gd name="T46" fmla="*/ 23 w 72"/>
                    <a:gd name="T47" fmla="*/ 119 h 129"/>
                    <a:gd name="T48" fmla="*/ 8 w 72"/>
                    <a:gd name="T49" fmla="*/ 128 h 129"/>
                    <a:gd name="T50" fmla="*/ 4 w 72"/>
                    <a:gd name="T51" fmla="*/ 129 h 129"/>
                    <a:gd name="T52" fmla="*/ 0 w 72"/>
                    <a:gd name="T53" fmla="*/ 120 h 12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72" h="129">
                      <a:moveTo>
                        <a:pt x="0" y="120"/>
                      </a:moveTo>
                      <a:lnTo>
                        <a:pt x="18" y="102"/>
                      </a:lnTo>
                      <a:lnTo>
                        <a:pt x="33" y="87"/>
                      </a:lnTo>
                      <a:lnTo>
                        <a:pt x="48" y="74"/>
                      </a:lnTo>
                      <a:lnTo>
                        <a:pt x="59" y="53"/>
                      </a:lnTo>
                      <a:lnTo>
                        <a:pt x="55" y="33"/>
                      </a:lnTo>
                      <a:lnTo>
                        <a:pt x="48" y="18"/>
                      </a:lnTo>
                      <a:lnTo>
                        <a:pt x="36" y="18"/>
                      </a:lnTo>
                      <a:lnTo>
                        <a:pt x="22" y="26"/>
                      </a:lnTo>
                      <a:lnTo>
                        <a:pt x="15" y="38"/>
                      </a:lnTo>
                      <a:lnTo>
                        <a:pt x="10" y="42"/>
                      </a:lnTo>
                      <a:lnTo>
                        <a:pt x="4" y="29"/>
                      </a:lnTo>
                      <a:lnTo>
                        <a:pt x="12" y="20"/>
                      </a:lnTo>
                      <a:lnTo>
                        <a:pt x="22" y="8"/>
                      </a:lnTo>
                      <a:lnTo>
                        <a:pt x="34" y="0"/>
                      </a:lnTo>
                      <a:lnTo>
                        <a:pt x="50" y="0"/>
                      </a:lnTo>
                      <a:lnTo>
                        <a:pt x="61" y="5"/>
                      </a:lnTo>
                      <a:lnTo>
                        <a:pt x="70" y="24"/>
                      </a:lnTo>
                      <a:lnTo>
                        <a:pt x="72" y="42"/>
                      </a:lnTo>
                      <a:lnTo>
                        <a:pt x="71" y="60"/>
                      </a:lnTo>
                      <a:lnTo>
                        <a:pt x="63" y="77"/>
                      </a:lnTo>
                      <a:lnTo>
                        <a:pt x="50" y="93"/>
                      </a:lnTo>
                      <a:lnTo>
                        <a:pt x="37" y="108"/>
                      </a:lnTo>
                      <a:lnTo>
                        <a:pt x="23" y="119"/>
                      </a:lnTo>
                      <a:lnTo>
                        <a:pt x="8" y="128"/>
                      </a:lnTo>
                      <a:lnTo>
                        <a:pt x="4" y="129"/>
                      </a:lnTo>
                      <a:lnTo>
                        <a:pt x="0" y="120"/>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0250" name="Group 33"/>
            <p:cNvGrpSpPr>
              <a:grpSpLocks/>
            </p:cNvGrpSpPr>
            <p:nvPr/>
          </p:nvGrpSpPr>
          <p:grpSpPr bwMode="auto">
            <a:xfrm>
              <a:off x="4704" y="1536"/>
              <a:ext cx="240" cy="280"/>
              <a:chOff x="1308" y="2647"/>
              <a:chExt cx="108" cy="136"/>
            </a:xfrm>
          </p:grpSpPr>
          <p:sp>
            <p:nvSpPr>
              <p:cNvPr id="10251" name="Freeform 34"/>
              <p:cNvSpPr>
                <a:spLocks/>
              </p:cNvSpPr>
              <p:nvPr/>
            </p:nvSpPr>
            <p:spPr bwMode="auto">
              <a:xfrm>
                <a:off x="1315" y="2661"/>
                <a:ext cx="93" cy="110"/>
              </a:xfrm>
              <a:custGeom>
                <a:avLst/>
                <a:gdLst>
                  <a:gd name="T0" fmla="*/ 11 w 93"/>
                  <a:gd name="T1" fmla="*/ 110 h 110"/>
                  <a:gd name="T2" fmla="*/ 0 w 93"/>
                  <a:gd name="T3" fmla="*/ 52 h 110"/>
                  <a:gd name="T4" fmla="*/ 5 w 93"/>
                  <a:gd name="T5" fmla="*/ 20 h 110"/>
                  <a:gd name="T6" fmla="*/ 14 w 93"/>
                  <a:gd name="T7" fmla="*/ 4 h 110"/>
                  <a:gd name="T8" fmla="*/ 30 w 93"/>
                  <a:gd name="T9" fmla="*/ 0 h 110"/>
                  <a:gd name="T10" fmla="*/ 48 w 93"/>
                  <a:gd name="T11" fmla="*/ 11 h 110"/>
                  <a:gd name="T12" fmla="*/ 53 w 93"/>
                  <a:gd name="T13" fmla="*/ 33 h 110"/>
                  <a:gd name="T14" fmla="*/ 55 w 93"/>
                  <a:gd name="T15" fmla="*/ 38 h 110"/>
                  <a:gd name="T16" fmla="*/ 70 w 93"/>
                  <a:gd name="T17" fmla="*/ 33 h 110"/>
                  <a:gd name="T18" fmla="*/ 84 w 93"/>
                  <a:gd name="T19" fmla="*/ 38 h 110"/>
                  <a:gd name="T20" fmla="*/ 93 w 93"/>
                  <a:gd name="T21" fmla="*/ 56 h 110"/>
                  <a:gd name="T22" fmla="*/ 86 w 93"/>
                  <a:gd name="T23" fmla="*/ 74 h 110"/>
                  <a:gd name="T24" fmla="*/ 80 w 93"/>
                  <a:gd name="T25" fmla="*/ 94 h 110"/>
                  <a:gd name="T26" fmla="*/ 55 w 93"/>
                  <a:gd name="T27" fmla="*/ 106 h 110"/>
                  <a:gd name="T28" fmla="*/ 26 w 93"/>
                  <a:gd name="T29" fmla="*/ 108 h 110"/>
                  <a:gd name="T30" fmla="*/ 11 w 93"/>
                  <a:gd name="T31" fmla="*/ 110 h 11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93" h="110">
                    <a:moveTo>
                      <a:pt x="11" y="110"/>
                    </a:moveTo>
                    <a:lnTo>
                      <a:pt x="0" y="52"/>
                    </a:lnTo>
                    <a:lnTo>
                      <a:pt x="5" y="20"/>
                    </a:lnTo>
                    <a:lnTo>
                      <a:pt x="14" y="4"/>
                    </a:lnTo>
                    <a:lnTo>
                      <a:pt x="30" y="0"/>
                    </a:lnTo>
                    <a:lnTo>
                      <a:pt x="48" y="11"/>
                    </a:lnTo>
                    <a:lnTo>
                      <a:pt x="53" y="33"/>
                    </a:lnTo>
                    <a:lnTo>
                      <a:pt x="55" y="38"/>
                    </a:lnTo>
                    <a:lnTo>
                      <a:pt x="70" y="33"/>
                    </a:lnTo>
                    <a:lnTo>
                      <a:pt x="84" y="38"/>
                    </a:lnTo>
                    <a:lnTo>
                      <a:pt x="93" y="56"/>
                    </a:lnTo>
                    <a:lnTo>
                      <a:pt x="86" y="74"/>
                    </a:lnTo>
                    <a:lnTo>
                      <a:pt x="80" y="94"/>
                    </a:lnTo>
                    <a:lnTo>
                      <a:pt x="55" y="106"/>
                    </a:lnTo>
                    <a:lnTo>
                      <a:pt x="26" y="108"/>
                    </a:lnTo>
                    <a:lnTo>
                      <a:pt x="11" y="110"/>
                    </a:lnTo>
                    <a:close/>
                  </a:path>
                </a:pathLst>
              </a:custGeom>
              <a:solidFill>
                <a:srgbClr val="FF00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0252" name="Group 35"/>
              <p:cNvGrpSpPr>
                <a:grpSpLocks/>
              </p:cNvGrpSpPr>
              <p:nvPr/>
            </p:nvGrpSpPr>
            <p:grpSpPr bwMode="auto">
              <a:xfrm>
                <a:off x="1308" y="2647"/>
                <a:ext cx="108" cy="136"/>
                <a:chOff x="1308" y="2647"/>
                <a:chExt cx="108" cy="136"/>
              </a:xfrm>
            </p:grpSpPr>
            <p:sp>
              <p:nvSpPr>
                <p:cNvPr id="10253" name="Freeform 36"/>
                <p:cNvSpPr>
                  <a:spLocks/>
                </p:cNvSpPr>
                <p:nvPr/>
              </p:nvSpPr>
              <p:spPr bwMode="auto">
                <a:xfrm>
                  <a:off x="1308" y="2647"/>
                  <a:ext cx="69" cy="136"/>
                </a:xfrm>
                <a:custGeom>
                  <a:avLst/>
                  <a:gdLst>
                    <a:gd name="T0" fmla="*/ 14 w 69"/>
                    <a:gd name="T1" fmla="*/ 136 h 136"/>
                    <a:gd name="T2" fmla="*/ 4 w 69"/>
                    <a:gd name="T3" fmla="*/ 99 h 136"/>
                    <a:gd name="T4" fmla="*/ 0 w 69"/>
                    <a:gd name="T5" fmla="*/ 70 h 136"/>
                    <a:gd name="T6" fmla="*/ 2 w 69"/>
                    <a:gd name="T7" fmla="*/ 43 h 136"/>
                    <a:gd name="T8" fmla="*/ 7 w 69"/>
                    <a:gd name="T9" fmla="*/ 24 h 136"/>
                    <a:gd name="T10" fmla="*/ 18 w 69"/>
                    <a:gd name="T11" fmla="*/ 11 h 136"/>
                    <a:gd name="T12" fmla="*/ 27 w 69"/>
                    <a:gd name="T13" fmla="*/ 4 h 136"/>
                    <a:gd name="T14" fmla="*/ 41 w 69"/>
                    <a:gd name="T15" fmla="*/ 0 h 136"/>
                    <a:gd name="T16" fmla="*/ 57 w 69"/>
                    <a:gd name="T17" fmla="*/ 11 h 136"/>
                    <a:gd name="T18" fmla="*/ 69 w 69"/>
                    <a:gd name="T19" fmla="*/ 30 h 136"/>
                    <a:gd name="T20" fmla="*/ 69 w 69"/>
                    <a:gd name="T21" fmla="*/ 44 h 136"/>
                    <a:gd name="T22" fmla="*/ 62 w 69"/>
                    <a:gd name="T23" fmla="*/ 62 h 136"/>
                    <a:gd name="T24" fmla="*/ 53 w 69"/>
                    <a:gd name="T25" fmla="*/ 67 h 136"/>
                    <a:gd name="T26" fmla="*/ 49 w 69"/>
                    <a:gd name="T27" fmla="*/ 57 h 136"/>
                    <a:gd name="T28" fmla="*/ 52 w 69"/>
                    <a:gd name="T29" fmla="*/ 43 h 136"/>
                    <a:gd name="T30" fmla="*/ 48 w 69"/>
                    <a:gd name="T31" fmla="*/ 29 h 136"/>
                    <a:gd name="T32" fmla="*/ 37 w 69"/>
                    <a:gd name="T33" fmla="*/ 20 h 136"/>
                    <a:gd name="T34" fmla="*/ 29 w 69"/>
                    <a:gd name="T35" fmla="*/ 26 h 136"/>
                    <a:gd name="T36" fmla="*/ 20 w 69"/>
                    <a:gd name="T37" fmla="*/ 35 h 136"/>
                    <a:gd name="T38" fmla="*/ 15 w 69"/>
                    <a:gd name="T39" fmla="*/ 50 h 136"/>
                    <a:gd name="T40" fmla="*/ 14 w 69"/>
                    <a:gd name="T41" fmla="*/ 67 h 136"/>
                    <a:gd name="T42" fmla="*/ 17 w 69"/>
                    <a:gd name="T43" fmla="*/ 88 h 136"/>
                    <a:gd name="T44" fmla="*/ 24 w 69"/>
                    <a:gd name="T45" fmla="*/ 110 h 136"/>
                    <a:gd name="T46" fmla="*/ 29 w 69"/>
                    <a:gd name="T47" fmla="*/ 121 h 136"/>
                    <a:gd name="T48" fmla="*/ 27 w 69"/>
                    <a:gd name="T49" fmla="*/ 133 h 136"/>
                    <a:gd name="T50" fmla="*/ 14 w 69"/>
                    <a:gd name="T51" fmla="*/ 136 h 1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9" h="136">
                      <a:moveTo>
                        <a:pt x="14" y="136"/>
                      </a:moveTo>
                      <a:lnTo>
                        <a:pt x="4" y="99"/>
                      </a:lnTo>
                      <a:lnTo>
                        <a:pt x="0" y="70"/>
                      </a:lnTo>
                      <a:lnTo>
                        <a:pt x="2" y="43"/>
                      </a:lnTo>
                      <a:lnTo>
                        <a:pt x="7" y="24"/>
                      </a:lnTo>
                      <a:lnTo>
                        <a:pt x="18" y="11"/>
                      </a:lnTo>
                      <a:lnTo>
                        <a:pt x="27" y="4"/>
                      </a:lnTo>
                      <a:lnTo>
                        <a:pt x="41" y="0"/>
                      </a:lnTo>
                      <a:lnTo>
                        <a:pt x="57" y="11"/>
                      </a:lnTo>
                      <a:lnTo>
                        <a:pt x="69" y="30"/>
                      </a:lnTo>
                      <a:lnTo>
                        <a:pt x="69" y="44"/>
                      </a:lnTo>
                      <a:lnTo>
                        <a:pt x="62" y="62"/>
                      </a:lnTo>
                      <a:lnTo>
                        <a:pt x="53" y="67"/>
                      </a:lnTo>
                      <a:lnTo>
                        <a:pt x="49" y="57"/>
                      </a:lnTo>
                      <a:lnTo>
                        <a:pt x="52" y="43"/>
                      </a:lnTo>
                      <a:lnTo>
                        <a:pt x="48" y="29"/>
                      </a:lnTo>
                      <a:lnTo>
                        <a:pt x="37" y="20"/>
                      </a:lnTo>
                      <a:lnTo>
                        <a:pt x="29" y="26"/>
                      </a:lnTo>
                      <a:lnTo>
                        <a:pt x="20" y="35"/>
                      </a:lnTo>
                      <a:lnTo>
                        <a:pt x="15" y="50"/>
                      </a:lnTo>
                      <a:lnTo>
                        <a:pt x="14" y="67"/>
                      </a:lnTo>
                      <a:lnTo>
                        <a:pt x="17" y="88"/>
                      </a:lnTo>
                      <a:lnTo>
                        <a:pt x="24" y="110"/>
                      </a:lnTo>
                      <a:lnTo>
                        <a:pt x="29" y="121"/>
                      </a:lnTo>
                      <a:lnTo>
                        <a:pt x="27" y="133"/>
                      </a:lnTo>
                      <a:lnTo>
                        <a:pt x="14" y="136"/>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4" name="Freeform 37"/>
                <p:cNvSpPr>
                  <a:spLocks/>
                </p:cNvSpPr>
                <p:nvPr/>
              </p:nvSpPr>
              <p:spPr bwMode="auto">
                <a:xfrm>
                  <a:off x="1321" y="2684"/>
                  <a:ext cx="95" cy="95"/>
                </a:xfrm>
                <a:custGeom>
                  <a:avLst/>
                  <a:gdLst>
                    <a:gd name="T0" fmla="*/ 0 w 95"/>
                    <a:gd name="T1" fmla="*/ 83 h 95"/>
                    <a:gd name="T2" fmla="*/ 21 w 95"/>
                    <a:gd name="T3" fmla="*/ 78 h 95"/>
                    <a:gd name="T4" fmla="*/ 38 w 95"/>
                    <a:gd name="T5" fmla="*/ 75 h 95"/>
                    <a:gd name="T6" fmla="*/ 55 w 95"/>
                    <a:gd name="T7" fmla="*/ 72 h 95"/>
                    <a:gd name="T8" fmla="*/ 72 w 95"/>
                    <a:gd name="T9" fmla="*/ 61 h 95"/>
                    <a:gd name="T10" fmla="*/ 77 w 95"/>
                    <a:gd name="T11" fmla="*/ 42 h 95"/>
                    <a:gd name="T12" fmla="*/ 79 w 95"/>
                    <a:gd name="T13" fmla="*/ 25 h 95"/>
                    <a:gd name="T14" fmla="*/ 70 w 95"/>
                    <a:gd name="T15" fmla="*/ 18 h 95"/>
                    <a:gd name="T16" fmla="*/ 57 w 95"/>
                    <a:gd name="T17" fmla="*/ 16 h 95"/>
                    <a:gd name="T18" fmla="*/ 47 w 95"/>
                    <a:gd name="T19" fmla="*/ 22 h 95"/>
                    <a:gd name="T20" fmla="*/ 41 w 95"/>
                    <a:gd name="T21" fmla="*/ 22 h 95"/>
                    <a:gd name="T22" fmla="*/ 43 w 95"/>
                    <a:gd name="T23" fmla="*/ 8 h 95"/>
                    <a:gd name="T24" fmla="*/ 52 w 95"/>
                    <a:gd name="T25" fmla="*/ 5 h 95"/>
                    <a:gd name="T26" fmla="*/ 64 w 95"/>
                    <a:gd name="T27" fmla="*/ 0 h 95"/>
                    <a:gd name="T28" fmla="*/ 76 w 95"/>
                    <a:gd name="T29" fmla="*/ 2 h 95"/>
                    <a:gd name="T30" fmla="*/ 88 w 95"/>
                    <a:gd name="T31" fmla="*/ 12 h 95"/>
                    <a:gd name="T32" fmla="*/ 95 w 95"/>
                    <a:gd name="T33" fmla="*/ 22 h 95"/>
                    <a:gd name="T34" fmla="*/ 92 w 95"/>
                    <a:gd name="T35" fmla="*/ 43 h 95"/>
                    <a:gd name="T36" fmla="*/ 86 w 95"/>
                    <a:gd name="T37" fmla="*/ 61 h 95"/>
                    <a:gd name="T38" fmla="*/ 78 w 95"/>
                    <a:gd name="T39" fmla="*/ 75 h 95"/>
                    <a:gd name="T40" fmla="*/ 65 w 95"/>
                    <a:gd name="T41" fmla="*/ 84 h 95"/>
                    <a:gd name="T42" fmla="*/ 49 w 95"/>
                    <a:gd name="T43" fmla="*/ 90 h 95"/>
                    <a:gd name="T44" fmla="*/ 32 w 95"/>
                    <a:gd name="T45" fmla="*/ 95 h 95"/>
                    <a:gd name="T46" fmla="*/ 18 w 95"/>
                    <a:gd name="T47" fmla="*/ 95 h 95"/>
                    <a:gd name="T48" fmla="*/ 3 w 95"/>
                    <a:gd name="T49" fmla="*/ 94 h 95"/>
                    <a:gd name="T50" fmla="*/ 0 w 95"/>
                    <a:gd name="T51" fmla="*/ 93 h 95"/>
                    <a:gd name="T52" fmla="*/ 0 w 95"/>
                    <a:gd name="T53" fmla="*/ 83 h 9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95" h="95">
                      <a:moveTo>
                        <a:pt x="0" y="83"/>
                      </a:moveTo>
                      <a:lnTo>
                        <a:pt x="21" y="78"/>
                      </a:lnTo>
                      <a:lnTo>
                        <a:pt x="38" y="75"/>
                      </a:lnTo>
                      <a:lnTo>
                        <a:pt x="55" y="72"/>
                      </a:lnTo>
                      <a:lnTo>
                        <a:pt x="72" y="61"/>
                      </a:lnTo>
                      <a:lnTo>
                        <a:pt x="77" y="42"/>
                      </a:lnTo>
                      <a:lnTo>
                        <a:pt x="79" y="25"/>
                      </a:lnTo>
                      <a:lnTo>
                        <a:pt x="70" y="18"/>
                      </a:lnTo>
                      <a:lnTo>
                        <a:pt x="57" y="16"/>
                      </a:lnTo>
                      <a:lnTo>
                        <a:pt x="47" y="22"/>
                      </a:lnTo>
                      <a:lnTo>
                        <a:pt x="41" y="22"/>
                      </a:lnTo>
                      <a:lnTo>
                        <a:pt x="43" y="8"/>
                      </a:lnTo>
                      <a:lnTo>
                        <a:pt x="52" y="5"/>
                      </a:lnTo>
                      <a:lnTo>
                        <a:pt x="64" y="0"/>
                      </a:lnTo>
                      <a:lnTo>
                        <a:pt x="76" y="2"/>
                      </a:lnTo>
                      <a:lnTo>
                        <a:pt x="88" y="12"/>
                      </a:lnTo>
                      <a:lnTo>
                        <a:pt x="95" y="22"/>
                      </a:lnTo>
                      <a:lnTo>
                        <a:pt x="92" y="43"/>
                      </a:lnTo>
                      <a:lnTo>
                        <a:pt x="86" y="61"/>
                      </a:lnTo>
                      <a:lnTo>
                        <a:pt x="78" y="75"/>
                      </a:lnTo>
                      <a:lnTo>
                        <a:pt x="65" y="84"/>
                      </a:lnTo>
                      <a:lnTo>
                        <a:pt x="49" y="90"/>
                      </a:lnTo>
                      <a:lnTo>
                        <a:pt x="32" y="95"/>
                      </a:lnTo>
                      <a:lnTo>
                        <a:pt x="18" y="95"/>
                      </a:lnTo>
                      <a:lnTo>
                        <a:pt x="3" y="94"/>
                      </a:lnTo>
                      <a:lnTo>
                        <a:pt x="0" y="93"/>
                      </a:lnTo>
                      <a:lnTo>
                        <a:pt x="0" y="83"/>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sp>
        <p:nvSpPr>
          <p:cNvPr id="59430" name="Text Box 38"/>
          <p:cNvSpPr txBox="1">
            <a:spLocks noChangeArrowheads="1"/>
          </p:cNvSpPr>
          <p:nvPr/>
        </p:nvSpPr>
        <p:spPr bwMode="auto">
          <a:xfrm>
            <a:off x="6400801" y="5689601"/>
            <a:ext cx="3332163"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20000"/>
              </a:spcBef>
              <a:buClr>
                <a:schemeClr val="accent2"/>
              </a:buClr>
              <a:buFont typeface="Monotype Sorts" pitchFamily="2" charset="2"/>
              <a:buNone/>
            </a:pPr>
            <a:r>
              <a:rPr kumimoji="1" lang="en-US" altLang="en-US" sz="2800" i="1">
                <a:latin typeface="Comic Sans MS" panose="030F0702030302020204" pitchFamily="66" charset="0"/>
              </a:rPr>
              <a:t>Personal computing</a:t>
            </a:r>
          </a:p>
        </p:txBody>
      </p:sp>
    </p:spTree>
    <p:extLst>
      <p:ext uri="{BB962C8B-B14F-4D97-AF65-F5344CB8AC3E}">
        <p14:creationId xmlns:p14="http://schemas.microsoft.com/office/powerpoint/2010/main" val="7750207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9396"/>
                                        </p:tgtEl>
                                        <p:attrNameLst>
                                          <p:attrName>style.visibility</p:attrName>
                                        </p:attrNameLst>
                                      </p:cBhvr>
                                      <p:to>
                                        <p:strVal val="visible"/>
                                      </p:to>
                                    </p:set>
                                    <p:anim calcmode="lin" valueType="num">
                                      <p:cBhvr additive="base">
                                        <p:cTn id="7" dur="500" fill="hold"/>
                                        <p:tgtEl>
                                          <p:spTgt spid="59396"/>
                                        </p:tgtEl>
                                        <p:attrNameLst>
                                          <p:attrName>ppt_x</p:attrName>
                                        </p:attrNameLst>
                                      </p:cBhvr>
                                      <p:tavLst>
                                        <p:tav tm="0">
                                          <p:val>
                                            <p:strVal val="0-#ppt_w/2"/>
                                          </p:val>
                                        </p:tav>
                                        <p:tav tm="100000">
                                          <p:val>
                                            <p:strVal val="#ppt_x"/>
                                          </p:val>
                                        </p:tav>
                                      </p:tavLst>
                                    </p:anim>
                                    <p:anim calcmode="lin" valueType="num">
                                      <p:cBhvr additive="base">
                                        <p:cTn id="8" dur="500" fill="hold"/>
                                        <p:tgtEl>
                                          <p:spTgt spid="5939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59409"/>
                                        </p:tgtEl>
                                        <p:attrNameLst>
                                          <p:attrName>style.visibility</p:attrName>
                                        </p:attrNameLst>
                                      </p:cBhvr>
                                      <p:to>
                                        <p:strVal val="visible"/>
                                      </p:to>
                                    </p:set>
                                    <p:anim calcmode="lin" valueType="num">
                                      <p:cBhvr additive="base">
                                        <p:cTn id="13" dur="500" fill="hold"/>
                                        <p:tgtEl>
                                          <p:spTgt spid="59409"/>
                                        </p:tgtEl>
                                        <p:attrNameLst>
                                          <p:attrName>ppt_x</p:attrName>
                                        </p:attrNameLst>
                                      </p:cBhvr>
                                      <p:tavLst>
                                        <p:tav tm="0">
                                          <p:val>
                                            <p:strVal val="1+#ppt_w/2"/>
                                          </p:val>
                                        </p:tav>
                                        <p:tav tm="100000">
                                          <p:val>
                                            <p:strVal val="#ppt_x"/>
                                          </p:val>
                                        </p:tav>
                                      </p:tavLst>
                                    </p:anim>
                                    <p:anim calcmode="lin" valueType="num">
                                      <p:cBhvr additive="base">
                                        <p:cTn id="14" dur="500" fill="hold"/>
                                        <p:tgtEl>
                                          <p:spTgt spid="5940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nodeType="clickEffect">
                                  <p:stCondLst>
                                    <p:cond delay="0"/>
                                  </p:stCondLst>
                                  <p:childTnLst>
                                    <p:set>
                                      <p:cBhvr>
                                        <p:cTn id="18" dur="1" fill="hold">
                                          <p:stCondLst>
                                            <p:cond delay="0"/>
                                          </p:stCondLst>
                                        </p:cTn>
                                        <p:tgtEl>
                                          <p:spTgt spid="59415"/>
                                        </p:tgtEl>
                                        <p:attrNameLst>
                                          <p:attrName>style.visibility</p:attrName>
                                        </p:attrNameLst>
                                      </p:cBhvr>
                                      <p:to>
                                        <p:strVal val="visible"/>
                                      </p:to>
                                    </p:set>
                                    <p:anim calcmode="lin" valueType="num">
                                      <p:cBhvr additive="base">
                                        <p:cTn id="19" dur="500" fill="hold"/>
                                        <p:tgtEl>
                                          <p:spTgt spid="59415"/>
                                        </p:tgtEl>
                                        <p:attrNameLst>
                                          <p:attrName>ppt_x</p:attrName>
                                        </p:attrNameLst>
                                      </p:cBhvr>
                                      <p:tavLst>
                                        <p:tav tm="0">
                                          <p:val>
                                            <p:strVal val="#ppt_x"/>
                                          </p:val>
                                        </p:tav>
                                        <p:tav tm="100000">
                                          <p:val>
                                            <p:strVal val="#ppt_x"/>
                                          </p:val>
                                        </p:tav>
                                      </p:tavLst>
                                    </p:anim>
                                    <p:anim calcmode="lin" valueType="num">
                                      <p:cBhvr additive="base">
                                        <p:cTn id="20" dur="500" fill="hold"/>
                                        <p:tgtEl>
                                          <p:spTgt spid="59415"/>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59430"/>
                                        </p:tgtEl>
                                        <p:attrNameLst>
                                          <p:attrName>style.visibility</p:attrName>
                                        </p:attrNameLst>
                                      </p:cBhvr>
                                      <p:to>
                                        <p:strVal val="visible"/>
                                      </p:to>
                                    </p:set>
                                    <p:animEffect transition="in" filter="dissolve">
                                      <p:cBhvr>
                                        <p:cTn id="25" dur="500"/>
                                        <p:tgtEl>
                                          <p:spTgt spid="59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30"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dirty="0">
                <a:latin typeface="Times New Roman" panose="02020603050405020304" pitchFamily="18" charset="0"/>
                <a:cs typeface="Times New Roman" panose="02020603050405020304" pitchFamily="18" charset="0"/>
              </a:rPr>
              <a:t>Example Paradigm Shifts: WWW</a:t>
            </a:r>
          </a:p>
        </p:txBody>
      </p:sp>
      <p:sp>
        <p:nvSpPr>
          <p:cNvPr id="11267" name="Rectangle 3"/>
          <p:cNvSpPr>
            <a:spLocks noGrp="1" noChangeArrowheads="1"/>
          </p:cNvSpPr>
          <p:nvPr>
            <p:ph sz="half" idx="1"/>
          </p:nvPr>
        </p:nvSpPr>
        <p:spPr>
          <a:xfrm>
            <a:off x="119336" y="1845734"/>
            <a:ext cx="5915703" cy="4023360"/>
          </a:xfrm>
        </p:spPr>
        <p:txBody>
          <a:bodyPr/>
          <a:lstStyle/>
          <a:p>
            <a:pPr algn="l"/>
            <a:r>
              <a:rPr lang="en-GB" sz="2600" b="0" i="0" u="none" strike="noStrike" baseline="0" dirty="0">
                <a:latin typeface="Times New Roman" panose="02020603050405020304" pitchFamily="18" charset="0"/>
                <a:cs typeface="Times New Roman" panose="02020603050405020304" pitchFamily="18" charset="0"/>
              </a:rPr>
              <a:t>Probably the most significant recent development in interactive computing is the world wide web, often referred to as just the web, or WWW. </a:t>
            </a:r>
          </a:p>
          <a:p>
            <a:pPr algn="l"/>
            <a:r>
              <a:rPr lang="en-GB" sz="2600" b="1" i="0" u="none" strike="noStrike" baseline="0" dirty="0">
                <a:latin typeface="Times New Roman" panose="02020603050405020304" pitchFamily="18" charset="0"/>
                <a:cs typeface="Times New Roman" panose="02020603050405020304" pitchFamily="18" charset="0"/>
              </a:rPr>
              <a:t>The web is built on top of the internet, and offers an easy to use, predominantly graphical interface to information, hiding the underlying complexities of transmission protocols, addresses and remote access to data.</a:t>
            </a:r>
          </a:p>
        </p:txBody>
      </p:sp>
      <p:sp>
        <p:nvSpPr>
          <p:cNvPr id="2" name="Content Placeholder 1">
            <a:extLst>
              <a:ext uri="{FF2B5EF4-FFF2-40B4-BE49-F238E27FC236}">
                <a16:creationId xmlns:a16="http://schemas.microsoft.com/office/drawing/2014/main" id="{537B4C36-1D58-43C9-81E4-118591DB8C6C}"/>
              </a:ext>
            </a:extLst>
          </p:cNvPr>
          <p:cNvSpPr>
            <a:spLocks noGrp="1"/>
          </p:cNvSpPr>
          <p:nvPr>
            <p:ph sz="half" idx="2"/>
          </p:nvPr>
        </p:nvSpPr>
        <p:spPr/>
        <p:txBody>
          <a:bodyPr/>
          <a:lstStyle/>
          <a:p>
            <a:endParaRPr lang="en-GH" dirty="0"/>
          </a:p>
        </p:txBody>
      </p:sp>
      <p:grpSp>
        <p:nvGrpSpPr>
          <p:cNvPr id="60420" name="Group 4"/>
          <p:cNvGrpSpPr>
            <a:grpSpLocks/>
          </p:cNvGrpSpPr>
          <p:nvPr/>
        </p:nvGrpSpPr>
        <p:grpSpPr bwMode="auto">
          <a:xfrm>
            <a:off x="8686801" y="3032126"/>
            <a:ext cx="1368425" cy="1292225"/>
            <a:chOff x="2900" y="1191"/>
            <a:chExt cx="972" cy="888"/>
          </a:xfrm>
        </p:grpSpPr>
        <p:sp>
          <p:nvSpPr>
            <p:cNvPr id="11297" name="Oval 5"/>
            <p:cNvSpPr>
              <a:spLocks noChangeArrowheads="1"/>
            </p:cNvSpPr>
            <p:nvPr/>
          </p:nvSpPr>
          <p:spPr bwMode="auto">
            <a:xfrm>
              <a:off x="2912" y="1202"/>
              <a:ext cx="954" cy="867"/>
            </a:xfrm>
            <a:prstGeom prst="ellipse">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grpSp>
          <p:nvGrpSpPr>
            <p:cNvPr id="11298" name="Group 6"/>
            <p:cNvGrpSpPr>
              <a:grpSpLocks/>
            </p:cNvGrpSpPr>
            <p:nvPr/>
          </p:nvGrpSpPr>
          <p:grpSpPr bwMode="auto">
            <a:xfrm>
              <a:off x="2941" y="1206"/>
              <a:ext cx="921" cy="856"/>
              <a:chOff x="2941" y="1206"/>
              <a:chExt cx="921" cy="856"/>
            </a:xfrm>
          </p:grpSpPr>
          <p:sp>
            <p:nvSpPr>
              <p:cNvPr id="11301" name="Freeform 7"/>
              <p:cNvSpPr>
                <a:spLocks/>
              </p:cNvSpPr>
              <p:nvPr/>
            </p:nvSpPr>
            <p:spPr bwMode="auto">
              <a:xfrm>
                <a:off x="3074" y="1223"/>
                <a:ext cx="230" cy="188"/>
              </a:xfrm>
              <a:custGeom>
                <a:avLst/>
                <a:gdLst>
                  <a:gd name="T0" fmla="*/ 164 w 230"/>
                  <a:gd name="T1" fmla="*/ 0 h 188"/>
                  <a:gd name="T2" fmla="*/ 204 w 230"/>
                  <a:gd name="T3" fmla="*/ 18 h 188"/>
                  <a:gd name="T4" fmla="*/ 226 w 230"/>
                  <a:gd name="T5" fmla="*/ 53 h 188"/>
                  <a:gd name="T6" fmla="*/ 230 w 230"/>
                  <a:gd name="T7" fmla="*/ 101 h 188"/>
                  <a:gd name="T8" fmla="*/ 204 w 230"/>
                  <a:gd name="T9" fmla="*/ 102 h 188"/>
                  <a:gd name="T10" fmla="*/ 178 w 230"/>
                  <a:gd name="T11" fmla="*/ 101 h 188"/>
                  <a:gd name="T12" fmla="*/ 178 w 230"/>
                  <a:gd name="T13" fmla="*/ 133 h 188"/>
                  <a:gd name="T14" fmla="*/ 191 w 230"/>
                  <a:gd name="T15" fmla="*/ 153 h 188"/>
                  <a:gd name="T16" fmla="*/ 174 w 230"/>
                  <a:gd name="T17" fmla="*/ 178 h 188"/>
                  <a:gd name="T18" fmla="*/ 166 w 230"/>
                  <a:gd name="T19" fmla="*/ 187 h 188"/>
                  <a:gd name="T20" fmla="*/ 158 w 230"/>
                  <a:gd name="T21" fmla="*/ 188 h 188"/>
                  <a:gd name="T22" fmla="*/ 148 w 230"/>
                  <a:gd name="T23" fmla="*/ 188 h 188"/>
                  <a:gd name="T24" fmla="*/ 140 w 230"/>
                  <a:gd name="T25" fmla="*/ 184 h 188"/>
                  <a:gd name="T26" fmla="*/ 131 w 230"/>
                  <a:gd name="T27" fmla="*/ 179 h 188"/>
                  <a:gd name="T28" fmla="*/ 123 w 230"/>
                  <a:gd name="T29" fmla="*/ 173 h 188"/>
                  <a:gd name="T30" fmla="*/ 112 w 230"/>
                  <a:gd name="T31" fmla="*/ 171 h 188"/>
                  <a:gd name="T32" fmla="*/ 105 w 230"/>
                  <a:gd name="T33" fmla="*/ 171 h 188"/>
                  <a:gd name="T34" fmla="*/ 101 w 230"/>
                  <a:gd name="T35" fmla="*/ 178 h 188"/>
                  <a:gd name="T36" fmla="*/ 92 w 230"/>
                  <a:gd name="T37" fmla="*/ 183 h 188"/>
                  <a:gd name="T38" fmla="*/ 83 w 230"/>
                  <a:gd name="T39" fmla="*/ 183 h 188"/>
                  <a:gd name="T40" fmla="*/ 74 w 230"/>
                  <a:gd name="T41" fmla="*/ 187 h 188"/>
                  <a:gd name="T42" fmla="*/ 66 w 230"/>
                  <a:gd name="T43" fmla="*/ 187 h 188"/>
                  <a:gd name="T44" fmla="*/ 61 w 230"/>
                  <a:gd name="T45" fmla="*/ 179 h 188"/>
                  <a:gd name="T46" fmla="*/ 57 w 230"/>
                  <a:gd name="T47" fmla="*/ 171 h 188"/>
                  <a:gd name="T48" fmla="*/ 56 w 230"/>
                  <a:gd name="T49" fmla="*/ 162 h 188"/>
                  <a:gd name="T50" fmla="*/ 56 w 230"/>
                  <a:gd name="T51" fmla="*/ 153 h 188"/>
                  <a:gd name="T52" fmla="*/ 56 w 230"/>
                  <a:gd name="T53" fmla="*/ 144 h 188"/>
                  <a:gd name="T54" fmla="*/ 61 w 230"/>
                  <a:gd name="T55" fmla="*/ 136 h 188"/>
                  <a:gd name="T56" fmla="*/ 61 w 230"/>
                  <a:gd name="T57" fmla="*/ 128 h 188"/>
                  <a:gd name="T58" fmla="*/ 56 w 230"/>
                  <a:gd name="T59" fmla="*/ 119 h 188"/>
                  <a:gd name="T60" fmla="*/ 49 w 230"/>
                  <a:gd name="T61" fmla="*/ 115 h 188"/>
                  <a:gd name="T62" fmla="*/ 38 w 230"/>
                  <a:gd name="T63" fmla="*/ 115 h 188"/>
                  <a:gd name="T64" fmla="*/ 31 w 230"/>
                  <a:gd name="T65" fmla="*/ 113 h 188"/>
                  <a:gd name="T66" fmla="*/ 22 w 230"/>
                  <a:gd name="T67" fmla="*/ 107 h 188"/>
                  <a:gd name="T68" fmla="*/ 14 w 230"/>
                  <a:gd name="T69" fmla="*/ 98 h 188"/>
                  <a:gd name="T70" fmla="*/ 8 w 230"/>
                  <a:gd name="T71" fmla="*/ 88 h 188"/>
                  <a:gd name="T72" fmla="*/ 0 w 230"/>
                  <a:gd name="T73" fmla="*/ 87 h 188"/>
                  <a:gd name="T74" fmla="*/ 43 w 230"/>
                  <a:gd name="T75" fmla="*/ 52 h 188"/>
                  <a:gd name="T76" fmla="*/ 92 w 230"/>
                  <a:gd name="T77" fmla="*/ 26 h 188"/>
                  <a:gd name="T78" fmla="*/ 164 w 230"/>
                  <a:gd name="T79" fmla="*/ 0 h 18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30" h="188">
                    <a:moveTo>
                      <a:pt x="164" y="0"/>
                    </a:moveTo>
                    <a:lnTo>
                      <a:pt x="204" y="18"/>
                    </a:lnTo>
                    <a:lnTo>
                      <a:pt x="226" y="53"/>
                    </a:lnTo>
                    <a:lnTo>
                      <a:pt x="230" y="101"/>
                    </a:lnTo>
                    <a:lnTo>
                      <a:pt x="204" y="102"/>
                    </a:lnTo>
                    <a:lnTo>
                      <a:pt x="178" y="101"/>
                    </a:lnTo>
                    <a:lnTo>
                      <a:pt x="178" y="133"/>
                    </a:lnTo>
                    <a:lnTo>
                      <a:pt x="191" y="153"/>
                    </a:lnTo>
                    <a:lnTo>
                      <a:pt x="174" y="178"/>
                    </a:lnTo>
                    <a:lnTo>
                      <a:pt x="166" y="187"/>
                    </a:lnTo>
                    <a:lnTo>
                      <a:pt x="158" y="188"/>
                    </a:lnTo>
                    <a:lnTo>
                      <a:pt x="148" y="188"/>
                    </a:lnTo>
                    <a:lnTo>
                      <a:pt x="140" y="184"/>
                    </a:lnTo>
                    <a:lnTo>
                      <a:pt x="131" y="179"/>
                    </a:lnTo>
                    <a:lnTo>
                      <a:pt x="123" y="173"/>
                    </a:lnTo>
                    <a:lnTo>
                      <a:pt x="112" y="171"/>
                    </a:lnTo>
                    <a:lnTo>
                      <a:pt x="105" y="171"/>
                    </a:lnTo>
                    <a:lnTo>
                      <a:pt x="101" y="178"/>
                    </a:lnTo>
                    <a:lnTo>
                      <a:pt x="92" y="183"/>
                    </a:lnTo>
                    <a:lnTo>
                      <a:pt x="83" y="183"/>
                    </a:lnTo>
                    <a:lnTo>
                      <a:pt x="74" y="187"/>
                    </a:lnTo>
                    <a:lnTo>
                      <a:pt x="66" y="187"/>
                    </a:lnTo>
                    <a:lnTo>
                      <a:pt x="61" y="179"/>
                    </a:lnTo>
                    <a:lnTo>
                      <a:pt x="57" y="171"/>
                    </a:lnTo>
                    <a:lnTo>
                      <a:pt x="56" y="162"/>
                    </a:lnTo>
                    <a:lnTo>
                      <a:pt x="56" y="153"/>
                    </a:lnTo>
                    <a:lnTo>
                      <a:pt x="56" y="144"/>
                    </a:lnTo>
                    <a:lnTo>
                      <a:pt x="61" y="136"/>
                    </a:lnTo>
                    <a:lnTo>
                      <a:pt x="61" y="128"/>
                    </a:lnTo>
                    <a:lnTo>
                      <a:pt x="56" y="119"/>
                    </a:lnTo>
                    <a:lnTo>
                      <a:pt x="49" y="115"/>
                    </a:lnTo>
                    <a:lnTo>
                      <a:pt x="38" y="115"/>
                    </a:lnTo>
                    <a:lnTo>
                      <a:pt x="31" y="113"/>
                    </a:lnTo>
                    <a:lnTo>
                      <a:pt x="22" y="107"/>
                    </a:lnTo>
                    <a:lnTo>
                      <a:pt x="14" y="98"/>
                    </a:lnTo>
                    <a:lnTo>
                      <a:pt x="8" y="88"/>
                    </a:lnTo>
                    <a:lnTo>
                      <a:pt x="0" y="87"/>
                    </a:lnTo>
                    <a:lnTo>
                      <a:pt x="43" y="52"/>
                    </a:lnTo>
                    <a:lnTo>
                      <a:pt x="92" y="26"/>
                    </a:lnTo>
                    <a:lnTo>
                      <a:pt x="164" y="0"/>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02" name="Freeform 8"/>
              <p:cNvSpPr>
                <a:spLocks/>
              </p:cNvSpPr>
              <p:nvPr/>
            </p:nvSpPr>
            <p:spPr bwMode="auto">
              <a:xfrm>
                <a:off x="2941" y="1452"/>
                <a:ext cx="407" cy="527"/>
              </a:xfrm>
              <a:custGeom>
                <a:avLst/>
                <a:gdLst>
                  <a:gd name="T0" fmla="*/ 6 w 407"/>
                  <a:gd name="T1" fmla="*/ 297 h 527"/>
                  <a:gd name="T2" fmla="*/ 10 w 407"/>
                  <a:gd name="T3" fmla="*/ 271 h 527"/>
                  <a:gd name="T4" fmla="*/ 15 w 407"/>
                  <a:gd name="T5" fmla="*/ 241 h 527"/>
                  <a:gd name="T6" fmla="*/ 15 w 407"/>
                  <a:gd name="T7" fmla="*/ 214 h 527"/>
                  <a:gd name="T8" fmla="*/ 10 w 407"/>
                  <a:gd name="T9" fmla="*/ 188 h 527"/>
                  <a:gd name="T10" fmla="*/ 10 w 407"/>
                  <a:gd name="T11" fmla="*/ 163 h 527"/>
                  <a:gd name="T12" fmla="*/ 6 w 407"/>
                  <a:gd name="T13" fmla="*/ 137 h 527"/>
                  <a:gd name="T14" fmla="*/ 15 w 407"/>
                  <a:gd name="T15" fmla="*/ 103 h 527"/>
                  <a:gd name="T16" fmla="*/ 31 w 407"/>
                  <a:gd name="T17" fmla="*/ 84 h 527"/>
                  <a:gd name="T18" fmla="*/ 56 w 407"/>
                  <a:gd name="T19" fmla="*/ 71 h 527"/>
                  <a:gd name="T20" fmla="*/ 82 w 407"/>
                  <a:gd name="T21" fmla="*/ 68 h 527"/>
                  <a:gd name="T22" fmla="*/ 109 w 407"/>
                  <a:gd name="T23" fmla="*/ 68 h 527"/>
                  <a:gd name="T24" fmla="*/ 134 w 407"/>
                  <a:gd name="T25" fmla="*/ 50 h 527"/>
                  <a:gd name="T26" fmla="*/ 169 w 407"/>
                  <a:gd name="T27" fmla="*/ 46 h 527"/>
                  <a:gd name="T28" fmla="*/ 195 w 407"/>
                  <a:gd name="T29" fmla="*/ 38 h 527"/>
                  <a:gd name="T30" fmla="*/ 220 w 407"/>
                  <a:gd name="T31" fmla="*/ 20 h 527"/>
                  <a:gd name="T32" fmla="*/ 246 w 407"/>
                  <a:gd name="T33" fmla="*/ 7 h 527"/>
                  <a:gd name="T34" fmla="*/ 272 w 407"/>
                  <a:gd name="T35" fmla="*/ 0 h 527"/>
                  <a:gd name="T36" fmla="*/ 298 w 407"/>
                  <a:gd name="T37" fmla="*/ 0 h 527"/>
                  <a:gd name="T38" fmla="*/ 319 w 407"/>
                  <a:gd name="T39" fmla="*/ 8 h 527"/>
                  <a:gd name="T40" fmla="*/ 341 w 407"/>
                  <a:gd name="T41" fmla="*/ 24 h 527"/>
                  <a:gd name="T42" fmla="*/ 366 w 407"/>
                  <a:gd name="T43" fmla="*/ 38 h 527"/>
                  <a:gd name="T44" fmla="*/ 388 w 407"/>
                  <a:gd name="T45" fmla="*/ 64 h 527"/>
                  <a:gd name="T46" fmla="*/ 393 w 407"/>
                  <a:gd name="T47" fmla="*/ 90 h 527"/>
                  <a:gd name="T48" fmla="*/ 402 w 407"/>
                  <a:gd name="T49" fmla="*/ 114 h 527"/>
                  <a:gd name="T50" fmla="*/ 403 w 407"/>
                  <a:gd name="T51" fmla="*/ 142 h 527"/>
                  <a:gd name="T52" fmla="*/ 396 w 407"/>
                  <a:gd name="T53" fmla="*/ 167 h 527"/>
                  <a:gd name="T54" fmla="*/ 370 w 407"/>
                  <a:gd name="T55" fmla="*/ 179 h 527"/>
                  <a:gd name="T56" fmla="*/ 351 w 407"/>
                  <a:gd name="T57" fmla="*/ 192 h 527"/>
                  <a:gd name="T58" fmla="*/ 315 w 407"/>
                  <a:gd name="T59" fmla="*/ 202 h 527"/>
                  <a:gd name="T60" fmla="*/ 290 w 407"/>
                  <a:gd name="T61" fmla="*/ 210 h 527"/>
                  <a:gd name="T62" fmla="*/ 268 w 407"/>
                  <a:gd name="T63" fmla="*/ 228 h 527"/>
                  <a:gd name="T64" fmla="*/ 254 w 407"/>
                  <a:gd name="T65" fmla="*/ 244 h 527"/>
                  <a:gd name="T66" fmla="*/ 242 w 407"/>
                  <a:gd name="T67" fmla="*/ 270 h 527"/>
                  <a:gd name="T68" fmla="*/ 242 w 407"/>
                  <a:gd name="T69" fmla="*/ 317 h 527"/>
                  <a:gd name="T70" fmla="*/ 250 w 407"/>
                  <a:gd name="T71" fmla="*/ 351 h 527"/>
                  <a:gd name="T72" fmla="*/ 256 w 407"/>
                  <a:gd name="T73" fmla="*/ 385 h 527"/>
                  <a:gd name="T74" fmla="*/ 276 w 407"/>
                  <a:gd name="T75" fmla="*/ 403 h 527"/>
                  <a:gd name="T76" fmla="*/ 302 w 407"/>
                  <a:gd name="T77" fmla="*/ 408 h 527"/>
                  <a:gd name="T78" fmla="*/ 315 w 407"/>
                  <a:gd name="T79" fmla="*/ 434 h 527"/>
                  <a:gd name="T80" fmla="*/ 332 w 407"/>
                  <a:gd name="T81" fmla="*/ 454 h 527"/>
                  <a:gd name="T82" fmla="*/ 338 w 407"/>
                  <a:gd name="T83" fmla="*/ 486 h 527"/>
                  <a:gd name="T84" fmla="*/ 354 w 407"/>
                  <a:gd name="T85" fmla="*/ 519 h 527"/>
                  <a:gd name="T86" fmla="*/ 338 w 407"/>
                  <a:gd name="T87" fmla="*/ 524 h 527"/>
                  <a:gd name="T88" fmla="*/ 312 w 407"/>
                  <a:gd name="T89" fmla="*/ 519 h 527"/>
                  <a:gd name="T90" fmla="*/ 286 w 407"/>
                  <a:gd name="T91" fmla="*/ 508 h 527"/>
                  <a:gd name="T92" fmla="*/ 260 w 407"/>
                  <a:gd name="T93" fmla="*/ 508 h 527"/>
                  <a:gd name="T94" fmla="*/ 234 w 407"/>
                  <a:gd name="T95" fmla="*/ 509 h 527"/>
                  <a:gd name="T96" fmla="*/ 208 w 407"/>
                  <a:gd name="T97" fmla="*/ 509 h 527"/>
                  <a:gd name="T98" fmla="*/ 187 w 407"/>
                  <a:gd name="T99" fmla="*/ 523 h 527"/>
                  <a:gd name="T100" fmla="*/ 66 w 407"/>
                  <a:gd name="T101" fmla="*/ 454 h 52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07" h="527">
                    <a:moveTo>
                      <a:pt x="0" y="317"/>
                    </a:moveTo>
                    <a:lnTo>
                      <a:pt x="6" y="309"/>
                    </a:lnTo>
                    <a:lnTo>
                      <a:pt x="6" y="297"/>
                    </a:lnTo>
                    <a:lnTo>
                      <a:pt x="6" y="287"/>
                    </a:lnTo>
                    <a:lnTo>
                      <a:pt x="9" y="280"/>
                    </a:lnTo>
                    <a:lnTo>
                      <a:pt x="10" y="271"/>
                    </a:lnTo>
                    <a:lnTo>
                      <a:pt x="15" y="262"/>
                    </a:lnTo>
                    <a:lnTo>
                      <a:pt x="15" y="248"/>
                    </a:lnTo>
                    <a:lnTo>
                      <a:pt x="15" y="241"/>
                    </a:lnTo>
                    <a:lnTo>
                      <a:pt x="15" y="232"/>
                    </a:lnTo>
                    <a:lnTo>
                      <a:pt x="15" y="224"/>
                    </a:lnTo>
                    <a:lnTo>
                      <a:pt x="15" y="214"/>
                    </a:lnTo>
                    <a:lnTo>
                      <a:pt x="14" y="206"/>
                    </a:lnTo>
                    <a:lnTo>
                      <a:pt x="9" y="198"/>
                    </a:lnTo>
                    <a:lnTo>
                      <a:pt x="10" y="188"/>
                    </a:lnTo>
                    <a:lnTo>
                      <a:pt x="10" y="180"/>
                    </a:lnTo>
                    <a:lnTo>
                      <a:pt x="10" y="170"/>
                    </a:lnTo>
                    <a:lnTo>
                      <a:pt x="10" y="163"/>
                    </a:lnTo>
                    <a:lnTo>
                      <a:pt x="6" y="153"/>
                    </a:lnTo>
                    <a:lnTo>
                      <a:pt x="5" y="146"/>
                    </a:lnTo>
                    <a:lnTo>
                      <a:pt x="6" y="137"/>
                    </a:lnTo>
                    <a:lnTo>
                      <a:pt x="10" y="129"/>
                    </a:lnTo>
                    <a:lnTo>
                      <a:pt x="15" y="111"/>
                    </a:lnTo>
                    <a:lnTo>
                      <a:pt x="15" y="103"/>
                    </a:lnTo>
                    <a:lnTo>
                      <a:pt x="18" y="94"/>
                    </a:lnTo>
                    <a:lnTo>
                      <a:pt x="22" y="85"/>
                    </a:lnTo>
                    <a:lnTo>
                      <a:pt x="31" y="84"/>
                    </a:lnTo>
                    <a:lnTo>
                      <a:pt x="40" y="84"/>
                    </a:lnTo>
                    <a:lnTo>
                      <a:pt x="49" y="77"/>
                    </a:lnTo>
                    <a:lnTo>
                      <a:pt x="56" y="71"/>
                    </a:lnTo>
                    <a:lnTo>
                      <a:pt x="65" y="68"/>
                    </a:lnTo>
                    <a:lnTo>
                      <a:pt x="73" y="68"/>
                    </a:lnTo>
                    <a:lnTo>
                      <a:pt x="82" y="68"/>
                    </a:lnTo>
                    <a:lnTo>
                      <a:pt x="92" y="68"/>
                    </a:lnTo>
                    <a:lnTo>
                      <a:pt x="101" y="68"/>
                    </a:lnTo>
                    <a:lnTo>
                      <a:pt x="109" y="68"/>
                    </a:lnTo>
                    <a:lnTo>
                      <a:pt x="117" y="64"/>
                    </a:lnTo>
                    <a:lnTo>
                      <a:pt x="127" y="55"/>
                    </a:lnTo>
                    <a:lnTo>
                      <a:pt x="134" y="50"/>
                    </a:lnTo>
                    <a:lnTo>
                      <a:pt x="144" y="46"/>
                    </a:lnTo>
                    <a:lnTo>
                      <a:pt x="151" y="46"/>
                    </a:lnTo>
                    <a:lnTo>
                      <a:pt x="169" y="46"/>
                    </a:lnTo>
                    <a:lnTo>
                      <a:pt x="177" y="46"/>
                    </a:lnTo>
                    <a:lnTo>
                      <a:pt x="185" y="43"/>
                    </a:lnTo>
                    <a:lnTo>
                      <a:pt x="195" y="38"/>
                    </a:lnTo>
                    <a:lnTo>
                      <a:pt x="203" y="34"/>
                    </a:lnTo>
                    <a:lnTo>
                      <a:pt x="211" y="26"/>
                    </a:lnTo>
                    <a:lnTo>
                      <a:pt x="220" y="20"/>
                    </a:lnTo>
                    <a:lnTo>
                      <a:pt x="228" y="16"/>
                    </a:lnTo>
                    <a:lnTo>
                      <a:pt x="237" y="8"/>
                    </a:lnTo>
                    <a:lnTo>
                      <a:pt x="246" y="7"/>
                    </a:lnTo>
                    <a:lnTo>
                      <a:pt x="254" y="0"/>
                    </a:lnTo>
                    <a:lnTo>
                      <a:pt x="263" y="0"/>
                    </a:lnTo>
                    <a:lnTo>
                      <a:pt x="272" y="0"/>
                    </a:lnTo>
                    <a:lnTo>
                      <a:pt x="280" y="0"/>
                    </a:lnTo>
                    <a:lnTo>
                      <a:pt x="289" y="0"/>
                    </a:lnTo>
                    <a:lnTo>
                      <a:pt x="298" y="0"/>
                    </a:lnTo>
                    <a:lnTo>
                      <a:pt x="303" y="7"/>
                    </a:lnTo>
                    <a:lnTo>
                      <a:pt x="310" y="8"/>
                    </a:lnTo>
                    <a:lnTo>
                      <a:pt x="319" y="8"/>
                    </a:lnTo>
                    <a:lnTo>
                      <a:pt x="328" y="12"/>
                    </a:lnTo>
                    <a:lnTo>
                      <a:pt x="337" y="18"/>
                    </a:lnTo>
                    <a:lnTo>
                      <a:pt x="341" y="24"/>
                    </a:lnTo>
                    <a:lnTo>
                      <a:pt x="349" y="30"/>
                    </a:lnTo>
                    <a:lnTo>
                      <a:pt x="358" y="33"/>
                    </a:lnTo>
                    <a:lnTo>
                      <a:pt x="366" y="38"/>
                    </a:lnTo>
                    <a:lnTo>
                      <a:pt x="375" y="43"/>
                    </a:lnTo>
                    <a:lnTo>
                      <a:pt x="383" y="48"/>
                    </a:lnTo>
                    <a:lnTo>
                      <a:pt x="388" y="64"/>
                    </a:lnTo>
                    <a:lnTo>
                      <a:pt x="392" y="71"/>
                    </a:lnTo>
                    <a:lnTo>
                      <a:pt x="393" y="81"/>
                    </a:lnTo>
                    <a:lnTo>
                      <a:pt x="393" y="90"/>
                    </a:lnTo>
                    <a:lnTo>
                      <a:pt x="393" y="97"/>
                    </a:lnTo>
                    <a:lnTo>
                      <a:pt x="398" y="105"/>
                    </a:lnTo>
                    <a:lnTo>
                      <a:pt x="402" y="114"/>
                    </a:lnTo>
                    <a:lnTo>
                      <a:pt x="406" y="123"/>
                    </a:lnTo>
                    <a:lnTo>
                      <a:pt x="407" y="131"/>
                    </a:lnTo>
                    <a:lnTo>
                      <a:pt x="403" y="142"/>
                    </a:lnTo>
                    <a:lnTo>
                      <a:pt x="398" y="150"/>
                    </a:lnTo>
                    <a:lnTo>
                      <a:pt x="396" y="157"/>
                    </a:lnTo>
                    <a:lnTo>
                      <a:pt x="396" y="167"/>
                    </a:lnTo>
                    <a:lnTo>
                      <a:pt x="396" y="175"/>
                    </a:lnTo>
                    <a:lnTo>
                      <a:pt x="380" y="176"/>
                    </a:lnTo>
                    <a:lnTo>
                      <a:pt x="370" y="179"/>
                    </a:lnTo>
                    <a:lnTo>
                      <a:pt x="364" y="180"/>
                    </a:lnTo>
                    <a:lnTo>
                      <a:pt x="355" y="185"/>
                    </a:lnTo>
                    <a:lnTo>
                      <a:pt x="351" y="192"/>
                    </a:lnTo>
                    <a:lnTo>
                      <a:pt x="332" y="196"/>
                    </a:lnTo>
                    <a:lnTo>
                      <a:pt x="325" y="202"/>
                    </a:lnTo>
                    <a:lnTo>
                      <a:pt x="315" y="202"/>
                    </a:lnTo>
                    <a:lnTo>
                      <a:pt x="308" y="205"/>
                    </a:lnTo>
                    <a:lnTo>
                      <a:pt x="298" y="210"/>
                    </a:lnTo>
                    <a:lnTo>
                      <a:pt x="290" y="210"/>
                    </a:lnTo>
                    <a:lnTo>
                      <a:pt x="286" y="218"/>
                    </a:lnTo>
                    <a:lnTo>
                      <a:pt x="278" y="222"/>
                    </a:lnTo>
                    <a:lnTo>
                      <a:pt x="268" y="228"/>
                    </a:lnTo>
                    <a:lnTo>
                      <a:pt x="263" y="235"/>
                    </a:lnTo>
                    <a:lnTo>
                      <a:pt x="256" y="236"/>
                    </a:lnTo>
                    <a:lnTo>
                      <a:pt x="254" y="244"/>
                    </a:lnTo>
                    <a:lnTo>
                      <a:pt x="252" y="254"/>
                    </a:lnTo>
                    <a:lnTo>
                      <a:pt x="246" y="261"/>
                    </a:lnTo>
                    <a:lnTo>
                      <a:pt x="242" y="270"/>
                    </a:lnTo>
                    <a:lnTo>
                      <a:pt x="242" y="283"/>
                    </a:lnTo>
                    <a:lnTo>
                      <a:pt x="242" y="309"/>
                    </a:lnTo>
                    <a:lnTo>
                      <a:pt x="242" y="317"/>
                    </a:lnTo>
                    <a:lnTo>
                      <a:pt x="242" y="325"/>
                    </a:lnTo>
                    <a:lnTo>
                      <a:pt x="247" y="333"/>
                    </a:lnTo>
                    <a:lnTo>
                      <a:pt x="250" y="351"/>
                    </a:lnTo>
                    <a:lnTo>
                      <a:pt x="250" y="364"/>
                    </a:lnTo>
                    <a:lnTo>
                      <a:pt x="254" y="373"/>
                    </a:lnTo>
                    <a:lnTo>
                      <a:pt x="256" y="385"/>
                    </a:lnTo>
                    <a:lnTo>
                      <a:pt x="263" y="394"/>
                    </a:lnTo>
                    <a:lnTo>
                      <a:pt x="272" y="394"/>
                    </a:lnTo>
                    <a:lnTo>
                      <a:pt x="276" y="403"/>
                    </a:lnTo>
                    <a:lnTo>
                      <a:pt x="284" y="404"/>
                    </a:lnTo>
                    <a:lnTo>
                      <a:pt x="293" y="404"/>
                    </a:lnTo>
                    <a:lnTo>
                      <a:pt x="302" y="408"/>
                    </a:lnTo>
                    <a:lnTo>
                      <a:pt x="303" y="415"/>
                    </a:lnTo>
                    <a:lnTo>
                      <a:pt x="306" y="424"/>
                    </a:lnTo>
                    <a:lnTo>
                      <a:pt x="315" y="434"/>
                    </a:lnTo>
                    <a:lnTo>
                      <a:pt x="325" y="439"/>
                    </a:lnTo>
                    <a:lnTo>
                      <a:pt x="329" y="446"/>
                    </a:lnTo>
                    <a:lnTo>
                      <a:pt x="332" y="454"/>
                    </a:lnTo>
                    <a:lnTo>
                      <a:pt x="334" y="467"/>
                    </a:lnTo>
                    <a:lnTo>
                      <a:pt x="337" y="476"/>
                    </a:lnTo>
                    <a:lnTo>
                      <a:pt x="338" y="486"/>
                    </a:lnTo>
                    <a:lnTo>
                      <a:pt x="341" y="493"/>
                    </a:lnTo>
                    <a:lnTo>
                      <a:pt x="345" y="502"/>
                    </a:lnTo>
                    <a:lnTo>
                      <a:pt x="354" y="519"/>
                    </a:lnTo>
                    <a:lnTo>
                      <a:pt x="354" y="527"/>
                    </a:lnTo>
                    <a:lnTo>
                      <a:pt x="347" y="524"/>
                    </a:lnTo>
                    <a:lnTo>
                      <a:pt x="338" y="524"/>
                    </a:lnTo>
                    <a:lnTo>
                      <a:pt x="329" y="524"/>
                    </a:lnTo>
                    <a:lnTo>
                      <a:pt x="321" y="523"/>
                    </a:lnTo>
                    <a:lnTo>
                      <a:pt x="312" y="519"/>
                    </a:lnTo>
                    <a:lnTo>
                      <a:pt x="303" y="519"/>
                    </a:lnTo>
                    <a:lnTo>
                      <a:pt x="294" y="514"/>
                    </a:lnTo>
                    <a:lnTo>
                      <a:pt x="286" y="508"/>
                    </a:lnTo>
                    <a:lnTo>
                      <a:pt x="278" y="508"/>
                    </a:lnTo>
                    <a:lnTo>
                      <a:pt x="268" y="508"/>
                    </a:lnTo>
                    <a:lnTo>
                      <a:pt x="260" y="508"/>
                    </a:lnTo>
                    <a:lnTo>
                      <a:pt x="252" y="509"/>
                    </a:lnTo>
                    <a:lnTo>
                      <a:pt x="242" y="509"/>
                    </a:lnTo>
                    <a:lnTo>
                      <a:pt x="234" y="509"/>
                    </a:lnTo>
                    <a:lnTo>
                      <a:pt x="226" y="509"/>
                    </a:lnTo>
                    <a:lnTo>
                      <a:pt x="216" y="509"/>
                    </a:lnTo>
                    <a:lnTo>
                      <a:pt x="208" y="509"/>
                    </a:lnTo>
                    <a:lnTo>
                      <a:pt x="204" y="519"/>
                    </a:lnTo>
                    <a:lnTo>
                      <a:pt x="196" y="519"/>
                    </a:lnTo>
                    <a:lnTo>
                      <a:pt x="187" y="523"/>
                    </a:lnTo>
                    <a:lnTo>
                      <a:pt x="179" y="519"/>
                    </a:lnTo>
                    <a:lnTo>
                      <a:pt x="144" y="519"/>
                    </a:lnTo>
                    <a:lnTo>
                      <a:pt x="66" y="454"/>
                    </a:lnTo>
                    <a:lnTo>
                      <a:pt x="24" y="383"/>
                    </a:lnTo>
                    <a:lnTo>
                      <a:pt x="0" y="317"/>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03" name="Freeform 9"/>
              <p:cNvSpPr>
                <a:spLocks/>
              </p:cNvSpPr>
              <p:nvPr/>
            </p:nvSpPr>
            <p:spPr bwMode="auto">
              <a:xfrm>
                <a:off x="3389" y="1206"/>
                <a:ext cx="473" cy="856"/>
              </a:xfrm>
              <a:custGeom>
                <a:avLst/>
                <a:gdLst>
                  <a:gd name="T0" fmla="*/ 66 w 473"/>
                  <a:gd name="T1" fmla="*/ 32 h 856"/>
                  <a:gd name="T2" fmla="*/ 81 w 473"/>
                  <a:gd name="T3" fmla="*/ 64 h 856"/>
                  <a:gd name="T4" fmla="*/ 99 w 473"/>
                  <a:gd name="T5" fmla="*/ 99 h 856"/>
                  <a:gd name="T6" fmla="*/ 109 w 473"/>
                  <a:gd name="T7" fmla="*/ 133 h 856"/>
                  <a:gd name="T8" fmla="*/ 125 w 473"/>
                  <a:gd name="T9" fmla="*/ 166 h 856"/>
                  <a:gd name="T10" fmla="*/ 155 w 473"/>
                  <a:gd name="T11" fmla="*/ 183 h 856"/>
                  <a:gd name="T12" fmla="*/ 185 w 473"/>
                  <a:gd name="T13" fmla="*/ 205 h 856"/>
                  <a:gd name="T14" fmla="*/ 199 w 473"/>
                  <a:gd name="T15" fmla="*/ 252 h 856"/>
                  <a:gd name="T16" fmla="*/ 234 w 473"/>
                  <a:gd name="T17" fmla="*/ 268 h 856"/>
                  <a:gd name="T18" fmla="*/ 262 w 473"/>
                  <a:gd name="T19" fmla="*/ 288 h 856"/>
                  <a:gd name="T20" fmla="*/ 272 w 473"/>
                  <a:gd name="T21" fmla="*/ 324 h 856"/>
                  <a:gd name="T22" fmla="*/ 246 w 473"/>
                  <a:gd name="T23" fmla="*/ 349 h 856"/>
                  <a:gd name="T24" fmla="*/ 240 w 473"/>
                  <a:gd name="T25" fmla="*/ 384 h 856"/>
                  <a:gd name="T26" fmla="*/ 262 w 473"/>
                  <a:gd name="T27" fmla="*/ 410 h 856"/>
                  <a:gd name="T28" fmla="*/ 292 w 473"/>
                  <a:gd name="T29" fmla="*/ 402 h 856"/>
                  <a:gd name="T30" fmla="*/ 306 w 473"/>
                  <a:gd name="T31" fmla="*/ 368 h 856"/>
                  <a:gd name="T32" fmla="*/ 331 w 473"/>
                  <a:gd name="T33" fmla="*/ 355 h 856"/>
                  <a:gd name="T34" fmla="*/ 362 w 473"/>
                  <a:gd name="T35" fmla="*/ 376 h 856"/>
                  <a:gd name="T36" fmla="*/ 392 w 473"/>
                  <a:gd name="T37" fmla="*/ 394 h 856"/>
                  <a:gd name="T38" fmla="*/ 405 w 473"/>
                  <a:gd name="T39" fmla="*/ 432 h 856"/>
                  <a:gd name="T40" fmla="*/ 403 w 473"/>
                  <a:gd name="T41" fmla="*/ 478 h 856"/>
                  <a:gd name="T42" fmla="*/ 400 w 473"/>
                  <a:gd name="T43" fmla="*/ 512 h 856"/>
                  <a:gd name="T44" fmla="*/ 367 w 473"/>
                  <a:gd name="T45" fmla="*/ 527 h 856"/>
                  <a:gd name="T46" fmla="*/ 346 w 473"/>
                  <a:gd name="T47" fmla="*/ 550 h 856"/>
                  <a:gd name="T48" fmla="*/ 316 w 473"/>
                  <a:gd name="T49" fmla="*/ 573 h 856"/>
                  <a:gd name="T50" fmla="*/ 280 w 473"/>
                  <a:gd name="T51" fmla="*/ 580 h 856"/>
                  <a:gd name="T52" fmla="*/ 246 w 473"/>
                  <a:gd name="T53" fmla="*/ 576 h 856"/>
                  <a:gd name="T54" fmla="*/ 213 w 473"/>
                  <a:gd name="T55" fmla="*/ 568 h 856"/>
                  <a:gd name="T56" fmla="*/ 177 w 473"/>
                  <a:gd name="T57" fmla="*/ 576 h 856"/>
                  <a:gd name="T58" fmla="*/ 161 w 473"/>
                  <a:gd name="T59" fmla="*/ 612 h 856"/>
                  <a:gd name="T60" fmla="*/ 167 w 473"/>
                  <a:gd name="T61" fmla="*/ 649 h 856"/>
                  <a:gd name="T62" fmla="*/ 181 w 473"/>
                  <a:gd name="T63" fmla="*/ 689 h 856"/>
                  <a:gd name="T64" fmla="*/ 187 w 473"/>
                  <a:gd name="T65" fmla="*/ 721 h 856"/>
                  <a:gd name="T66" fmla="*/ 177 w 473"/>
                  <a:gd name="T67" fmla="*/ 749 h 856"/>
                  <a:gd name="T68" fmla="*/ 151 w 473"/>
                  <a:gd name="T69" fmla="*/ 776 h 856"/>
                  <a:gd name="T70" fmla="*/ 117 w 473"/>
                  <a:gd name="T71" fmla="*/ 786 h 856"/>
                  <a:gd name="T72" fmla="*/ 91 w 473"/>
                  <a:gd name="T73" fmla="*/ 800 h 856"/>
                  <a:gd name="T74" fmla="*/ 58 w 473"/>
                  <a:gd name="T75" fmla="*/ 809 h 856"/>
                  <a:gd name="T76" fmla="*/ 23 w 473"/>
                  <a:gd name="T77" fmla="*/ 809 h 856"/>
                  <a:gd name="T78" fmla="*/ 2 w 473"/>
                  <a:gd name="T79" fmla="*/ 824 h 856"/>
                  <a:gd name="T80" fmla="*/ 34 w 473"/>
                  <a:gd name="T81" fmla="*/ 834 h 856"/>
                  <a:gd name="T82" fmla="*/ 69 w 473"/>
                  <a:gd name="T83" fmla="*/ 856 h 856"/>
                  <a:gd name="T84" fmla="*/ 115 w 473"/>
                  <a:gd name="T85" fmla="*/ 843 h 856"/>
                  <a:gd name="T86" fmla="*/ 161 w 473"/>
                  <a:gd name="T87" fmla="*/ 842 h 856"/>
                  <a:gd name="T88" fmla="*/ 310 w 473"/>
                  <a:gd name="T89" fmla="*/ 759 h 856"/>
                  <a:gd name="T90" fmla="*/ 465 w 473"/>
                  <a:gd name="T91" fmla="*/ 521 h 856"/>
                  <a:gd name="T92" fmla="*/ 431 w 473"/>
                  <a:gd name="T93" fmla="*/ 244 h 856"/>
                  <a:gd name="T94" fmla="*/ 294 w 473"/>
                  <a:gd name="T95" fmla="*/ 82 h 856"/>
                  <a:gd name="T96" fmla="*/ 58 w 473"/>
                  <a:gd name="T97" fmla="*/ 0 h 85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73" h="856">
                    <a:moveTo>
                      <a:pt x="58" y="0"/>
                    </a:moveTo>
                    <a:lnTo>
                      <a:pt x="64" y="2"/>
                    </a:lnTo>
                    <a:lnTo>
                      <a:pt x="64" y="14"/>
                    </a:lnTo>
                    <a:lnTo>
                      <a:pt x="66" y="32"/>
                    </a:lnTo>
                    <a:lnTo>
                      <a:pt x="69" y="44"/>
                    </a:lnTo>
                    <a:lnTo>
                      <a:pt x="69" y="52"/>
                    </a:lnTo>
                    <a:lnTo>
                      <a:pt x="74" y="60"/>
                    </a:lnTo>
                    <a:lnTo>
                      <a:pt x="81" y="64"/>
                    </a:lnTo>
                    <a:lnTo>
                      <a:pt x="83" y="72"/>
                    </a:lnTo>
                    <a:lnTo>
                      <a:pt x="89" y="80"/>
                    </a:lnTo>
                    <a:lnTo>
                      <a:pt x="91" y="89"/>
                    </a:lnTo>
                    <a:lnTo>
                      <a:pt x="99" y="99"/>
                    </a:lnTo>
                    <a:lnTo>
                      <a:pt x="99" y="107"/>
                    </a:lnTo>
                    <a:lnTo>
                      <a:pt x="103" y="116"/>
                    </a:lnTo>
                    <a:lnTo>
                      <a:pt x="107" y="125"/>
                    </a:lnTo>
                    <a:lnTo>
                      <a:pt x="109" y="133"/>
                    </a:lnTo>
                    <a:lnTo>
                      <a:pt x="113" y="147"/>
                    </a:lnTo>
                    <a:lnTo>
                      <a:pt x="113" y="155"/>
                    </a:lnTo>
                    <a:lnTo>
                      <a:pt x="117" y="161"/>
                    </a:lnTo>
                    <a:lnTo>
                      <a:pt x="125" y="166"/>
                    </a:lnTo>
                    <a:lnTo>
                      <a:pt x="133" y="167"/>
                    </a:lnTo>
                    <a:lnTo>
                      <a:pt x="141" y="171"/>
                    </a:lnTo>
                    <a:lnTo>
                      <a:pt x="147" y="179"/>
                    </a:lnTo>
                    <a:lnTo>
                      <a:pt x="155" y="183"/>
                    </a:lnTo>
                    <a:lnTo>
                      <a:pt x="163" y="187"/>
                    </a:lnTo>
                    <a:lnTo>
                      <a:pt x="172" y="192"/>
                    </a:lnTo>
                    <a:lnTo>
                      <a:pt x="177" y="200"/>
                    </a:lnTo>
                    <a:lnTo>
                      <a:pt x="185" y="205"/>
                    </a:lnTo>
                    <a:lnTo>
                      <a:pt x="185" y="213"/>
                    </a:lnTo>
                    <a:lnTo>
                      <a:pt x="189" y="222"/>
                    </a:lnTo>
                    <a:lnTo>
                      <a:pt x="193" y="243"/>
                    </a:lnTo>
                    <a:lnTo>
                      <a:pt x="199" y="252"/>
                    </a:lnTo>
                    <a:lnTo>
                      <a:pt x="207" y="258"/>
                    </a:lnTo>
                    <a:lnTo>
                      <a:pt x="215" y="260"/>
                    </a:lnTo>
                    <a:lnTo>
                      <a:pt x="224" y="262"/>
                    </a:lnTo>
                    <a:lnTo>
                      <a:pt x="234" y="268"/>
                    </a:lnTo>
                    <a:lnTo>
                      <a:pt x="237" y="278"/>
                    </a:lnTo>
                    <a:lnTo>
                      <a:pt x="244" y="282"/>
                    </a:lnTo>
                    <a:lnTo>
                      <a:pt x="254" y="286"/>
                    </a:lnTo>
                    <a:lnTo>
                      <a:pt x="262" y="288"/>
                    </a:lnTo>
                    <a:lnTo>
                      <a:pt x="266" y="300"/>
                    </a:lnTo>
                    <a:lnTo>
                      <a:pt x="275" y="307"/>
                    </a:lnTo>
                    <a:lnTo>
                      <a:pt x="275" y="315"/>
                    </a:lnTo>
                    <a:lnTo>
                      <a:pt x="272" y="324"/>
                    </a:lnTo>
                    <a:lnTo>
                      <a:pt x="264" y="329"/>
                    </a:lnTo>
                    <a:lnTo>
                      <a:pt x="258" y="337"/>
                    </a:lnTo>
                    <a:lnTo>
                      <a:pt x="250" y="342"/>
                    </a:lnTo>
                    <a:lnTo>
                      <a:pt x="246" y="349"/>
                    </a:lnTo>
                    <a:lnTo>
                      <a:pt x="246" y="358"/>
                    </a:lnTo>
                    <a:lnTo>
                      <a:pt x="244" y="368"/>
                    </a:lnTo>
                    <a:lnTo>
                      <a:pt x="240" y="376"/>
                    </a:lnTo>
                    <a:lnTo>
                      <a:pt x="240" y="384"/>
                    </a:lnTo>
                    <a:lnTo>
                      <a:pt x="242" y="392"/>
                    </a:lnTo>
                    <a:lnTo>
                      <a:pt x="246" y="401"/>
                    </a:lnTo>
                    <a:lnTo>
                      <a:pt x="254" y="406"/>
                    </a:lnTo>
                    <a:lnTo>
                      <a:pt x="262" y="410"/>
                    </a:lnTo>
                    <a:lnTo>
                      <a:pt x="270" y="415"/>
                    </a:lnTo>
                    <a:lnTo>
                      <a:pt x="280" y="415"/>
                    </a:lnTo>
                    <a:lnTo>
                      <a:pt x="288" y="410"/>
                    </a:lnTo>
                    <a:lnTo>
                      <a:pt x="292" y="402"/>
                    </a:lnTo>
                    <a:lnTo>
                      <a:pt x="292" y="394"/>
                    </a:lnTo>
                    <a:lnTo>
                      <a:pt x="296" y="385"/>
                    </a:lnTo>
                    <a:lnTo>
                      <a:pt x="300" y="375"/>
                    </a:lnTo>
                    <a:lnTo>
                      <a:pt x="306" y="368"/>
                    </a:lnTo>
                    <a:lnTo>
                      <a:pt x="306" y="359"/>
                    </a:lnTo>
                    <a:lnTo>
                      <a:pt x="314" y="355"/>
                    </a:lnTo>
                    <a:lnTo>
                      <a:pt x="322" y="354"/>
                    </a:lnTo>
                    <a:lnTo>
                      <a:pt x="331" y="355"/>
                    </a:lnTo>
                    <a:lnTo>
                      <a:pt x="340" y="359"/>
                    </a:lnTo>
                    <a:lnTo>
                      <a:pt x="348" y="364"/>
                    </a:lnTo>
                    <a:lnTo>
                      <a:pt x="357" y="366"/>
                    </a:lnTo>
                    <a:lnTo>
                      <a:pt x="362" y="376"/>
                    </a:lnTo>
                    <a:lnTo>
                      <a:pt x="370" y="380"/>
                    </a:lnTo>
                    <a:lnTo>
                      <a:pt x="376" y="388"/>
                    </a:lnTo>
                    <a:lnTo>
                      <a:pt x="383" y="392"/>
                    </a:lnTo>
                    <a:lnTo>
                      <a:pt x="392" y="394"/>
                    </a:lnTo>
                    <a:lnTo>
                      <a:pt x="398" y="402"/>
                    </a:lnTo>
                    <a:lnTo>
                      <a:pt x="400" y="415"/>
                    </a:lnTo>
                    <a:lnTo>
                      <a:pt x="403" y="424"/>
                    </a:lnTo>
                    <a:lnTo>
                      <a:pt x="405" y="432"/>
                    </a:lnTo>
                    <a:lnTo>
                      <a:pt x="403" y="448"/>
                    </a:lnTo>
                    <a:lnTo>
                      <a:pt x="403" y="456"/>
                    </a:lnTo>
                    <a:lnTo>
                      <a:pt x="403" y="471"/>
                    </a:lnTo>
                    <a:lnTo>
                      <a:pt x="403" y="478"/>
                    </a:lnTo>
                    <a:lnTo>
                      <a:pt x="403" y="486"/>
                    </a:lnTo>
                    <a:lnTo>
                      <a:pt x="403" y="497"/>
                    </a:lnTo>
                    <a:lnTo>
                      <a:pt x="403" y="504"/>
                    </a:lnTo>
                    <a:lnTo>
                      <a:pt x="400" y="512"/>
                    </a:lnTo>
                    <a:lnTo>
                      <a:pt x="393" y="517"/>
                    </a:lnTo>
                    <a:lnTo>
                      <a:pt x="384" y="522"/>
                    </a:lnTo>
                    <a:lnTo>
                      <a:pt x="376" y="525"/>
                    </a:lnTo>
                    <a:lnTo>
                      <a:pt x="367" y="527"/>
                    </a:lnTo>
                    <a:lnTo>
                      <a:pt x="362" y="533"/>
                    </a:lnTo>
                    <a:lnTo>
                      <a:pt x="358" y="542"/>
                    </a:lnTo>
                    <a:lnTo>
                      <a:pt x="352" y="550"/>
                    </a:lnTo>
                    <a:lnTo>
                      <a:pt x="346" y="550"/>
                    </a:lnTo>
                    <a:lnTo>
                      <a:pt x="336" y="554"/>
                    </a:lnTo>
                    <a:lnTo>
                      <a:pt x="331" y="564"/>
                    </a:lnTo>
                    <a:lnTo>
                      <a:pt x="324" y="572"/>
                    </a:lnTo>
                    <a:lnTo>
                      <a:pt x="316" y="573"/>
                    </a:lnTo>
                    <a:lnTo>
                      <a:pt x="306" y="578"/>
                    </a:lnTo>
                    <a:lnTo>
                      <a:pt x="298" y="582"/>
                    </a:lnTo>
                    <a:lnTo>
                      <a:pt x="290" y="584"/>
                    </a:lnTo>
                    <a:lnTo>
                      <a:pt x="280" y="580"/>
                    </a:lnTo>
                    <a:lnTo>
                      <a:pt x="272" y="578"/>
                    </a:lnTo>
                    <a:lnTo>
                      <a:pt x="264" y="578"/>
                    </a:lnTo>
                    <a:lnTo>
                      <a:pt x="254" y="578"/>
                    </a:lnTo>
                    <a:lnTo>
                      <a:pt x="246" y="576"/>
                    </a:lnTo>
                    <a:lnTo>
                      <a:pt x="239" y="572"/>
                    </a:lnTo>
                    <a:lnTo>
                      <a:pt x="229" y="568"/>
                    </a:lnTo>
                    <a:lnTo>
                      <a:pt x="221" y="568"/>
                    </a:lnTo>
                    <a:lnTo>
                      <a:pt x="213" y="568"/>
                    </a:lnTo>
                    <a:lnTo>
                      <a:pt x="203" y="568"/>
                    </a:lnTo>
                    <a:lnTo>
                      <a:pt x="195" y="568"/>
                    </a:lnTo>
                    <a:lnTo>
                      <a:pt x="187" y="573"/>
                    </a:lnTo>
                    <a:lnTo>
                      <a:pt x="177" y="576"/>
                    </a:lnTo>
                    <a:lnTo>
                      <a:pt x="173" y="584"/>
                    </a:lnTo>
                    <a:lnTo>
                      <a:pt x="173" y="598"/>
                    </a:lnTo>
                    <a:lnTo>
                      <a:pt x="167" y="606"/>
                    </a:lnTo>
                    <a:lnTo>
                      <a:pt x="161" y="612"/>
                    </a:lnTo>
                    <a:lnTo>
                      <a:pt x="159" y="629"/>
                    </a:lnTo>
                    <a:lnTo>
                      <a:pt x="159" y="636"/>
                    </a:lnTo>
                    <a:lnTo>
                      <a:pt x="161" y="644"/>
                    </a:lnTo>
                    <a:lnTo>
                      <a:pt x="167" y="649"/>
                    </a:lnTo>
                    <a:lnTo>
                      <a:pt x="167" y="657"/>
                    </a:lnTo>
                    <a:lnTo>
                      <a:pt x="172" y="666"/>
                    </a:lnTo>
                    <a:lnTo>
                      <a:pt x="177" y="675"/>
                    </a:lnTo>
                    <a:lnTo>
                      <a:pt x="181" y="689"/>
                    </a:lnTo>
                    <a:lnTo>
                      <a:pt x="185" y="695"/>
                    </a:lnTo>
                    <a:lnTo>
                      <a:pt x="185" y="705"/>
                    </a:lnTo>
                    <a:lnTo>
                      <a:pt x="185" y="715"/>
                    </a:lnTo>
                    <a:lnTo>
                      <a:pt x="187" y="721"/>
                    </a:lnTo>
                    <a:lnTo>
                      <a:pt x="193" y="725"/>
                    </a:lnTo>
                    <a:lnTo>
                      <a:pt x="193" y="736"/>
                    </a:lnTo>
                    <a:lnTo>
                      <a:pt x="187" y="743"/>
                    </a:lnTo>
                    <a:lnTo>
                      <a:pt x="177" y="749"/>
                    </a:lnTo>
                    <a:lnTo>
                      <a:pt x="173" y="756"/>
                    </a:lnTo>
                    <a:lnTo>
                      <a:pt x="165" y="764"/>
                    </a:lnTo>
                    <a:lnTo>
                      <a:pt x="155" y="769"/>
                    </a:lnTo>
                    <a:lnTo>
                      <a:pt x="151" y="776"/>
                    </a:lnTo>
                    <a:lnTo>
                      <a:pt x="143" y="782"/>
                    </a:lnTo>
                    <a:lnTo>
                      <a:pt x="135" y="785"/>
                    </a:lnTo>
                    <a:lnTo>
                      <a:pt x="125" y="786"/>
                    </a:lnTo>
                    <a:lnTo>
                      <a:pt x="117" y="786"/>
                    </a:lnTo>
                    <a:lnTo>
                      <a:pt x="109" y="791"/>
                    </a:lnTo>
                    <a:lnTo>
                      <a:pt x="107" y="799"/>
                    </a:lnTo>
                    <a:lnTo>
                      <a:pt x="100" y="800"/>
                    </a:lnTo>
                    <a:lnTo>
                      <a:pt x="91" y="800"/>
                    </a:lnTo>
                    <a:lnTo>
                      <a:pt x="83" y="804"/>
                    </a:lnTo>
                    <a:lnTo>
                      <a:pt x="75" y="808"/>
                    </a:lnTo>
                    <a:lnTo>
                      <a:pt x="66" y="809"/>
                    </a:lnTo>
                    <a:lnTo>
                      <a:pt x="58" y="809"/>
                    </a:lnTo>
                    <a:lnTo>
                      <a:pt x="49" y="809"/>
                    </a:lnTo>
                    <a:lnTo>
                      <a:pt x="40" y="809"/>
                    </a:lnTo>
                    <a:lnTo>
                      <a:pt x="32" y="809"/>
                    </a:lnTo>
                    <a:lnTo>
                      <a:pt x="23" y="809"/>
                    </a:lnTo>
                    <a:lnTo>
                      <a:pt x="14" y="809"/>
                    </a:lnTo>
                    <a:lnTo>
                      <a:pt x="6" y="809"/>
                    </a:lnTo>
                    <a:lnTo>
                      <a:pt x="0" y="818"/>
                    </a:lnTo>
                    <a:lnTo>
                      <a:pt x="2" y="824"/>
                    </a:lnTo>
                    <a:lnTo>
                      <a:pt x="10" y="830"/>
                    </a:lnTo>
                    <a:lnTo>
                      <a:pt x="18" y="830"/>
                    </a:lnTo>
                    <a:lnTo>
                      <a:pt x="26" y="830"/>
                    </a:lnTo>
                    <a:lnTo>
                      <a:pt x="34" y="834"/>
                    </a:lnTo>
                    <a:lnTo>
                      <a:pt x="43" y="834"/>
                    </a:lnTo>
                    <a:lnTo>
                      <a:pt x="52" y="834"/>
                    </a:lnTo>
                    <a:lnTo>
                      <a:pt x="60" y="838"/>
                    </a:lnTo>
                    <a:lnTo>
                      <a:pt x="69" y="856"/>
                    </a:lnTo>
                    <a:lnTo>
                      <a:pt x="85" y="856"/>
                    </a:lnTo>
                    <a:lnTo>
                      <a:pt x="103" y="854"/>
                    </a:lnTo>
                    <a:lnTo>
                      <a:pt x="109" y="848"/>
                    </a:lnTo>
                    <a:lnTo>
                      <a:pt x="115" y="843"/>
                    </a:lnTo>
                    <a:lnTo>
                      <a:pt x="125" y="842"/>
                    </a:lnTo>
                    <a:lnTo>
                      <a:pt x="135" y="842"/>
                    </a:lnTo>
                    <a:lnTo>
                      <a:pt x="151" y="842"/>
                    </a:lnTo>
                    <a:lnTo>
                      <a:pt x="161" y="842"/>
                    </a:lnTo>
                    <a:lnTo>
                      <a:pt x="167" y="842"/>
                    </a:lnTo>
                    <a:lnTo>
                      <a:pt x="169" y="834"/>
                    </a:lnTo>
                    <a:lnTo>
                      <a:pt x="244" y="800"/>
                    </a:lnTo>
                    <a:lnTo>
                      <a:pt x="310" y="759"/>
                    </a:lnTo>
                    <a:lnTo>
                      <a:pt x="372" y="705"/>
                    </a:lnTo>
                    <a:lnTo>
                      <a:pt x="413" y="649"/>
                    </a:lnTo>
                    <a:lnTo>
                      <a:pt x="443" y="593"/>
                    </a:lnTo>
                    <a:lnTo>
                      <a:pt x="465" y="521"/>
                    </a:lnTo>
                    <a:lnTo>
                      <a:pt x="473" y="448"/>
                    </a:lnTo>
                    <a:lnTo>
                      <a:pt x="470" y="375"/>
                    </a:lnTo>
                    <a:lnTo>
                      <a:pt x="460" y="315"/>
                    </a:lnTo>
                    <a:lnTo>
                      <a:pt x="431" y="244"/>
                    </a:lnTo>
                    <a:lnTo>
                      <a:pt x="409" y="200"/>
                    </a:lnTo>
                    <a:lnTo>
                      <a:pt x="370" y="155"/>
                    </a:lnTo>
                    <a:lnTo>
                      <a:pt x="336" y="113"/>
                    </a:lnTo>
                    <a:lnTo>
                      <a:pt x="294" y="82"/>
                    </a:lnTo>
                    <a:lnTo>
                      <a:pt x="237" y="56"/>
                    </a:lnTo>
                    <a:lnTo>
                      <a:pt x="177" y="32"/>
                    </a:lnTo>
                    <a:lnTo>
                      <a:pt x="121" y="8"/>
                    </a:lnTo>
                    <a:lnTo>
                      <a:pt x="58" y="0"/>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1299" name="Freeform 10"/>
            <p:cNvSpPr>
              <a:spLocks/>
            </p:cNvSpPr>
            <p:nvPr/>
          </p:nvSpPr>
          <p:spPr bwMode="auto">
            <a:xfrm>
              <a:off x="2900" y="1191"/>
              <a:ext cx="835" cy="886"/>
            </a:xfrm>
            <a:custGeom>
              <a:avLst/>
              <a:gdLst>
                <a:gd name="T0" fmla="*/ 784 w 835"/>
                <a:gd name="T1" fmla="*/ 85 h 886"/>
                <a:gd name="T2" fmla="*/ 720 w 835"/>
                <a:gd name="T3" fmla="*/ 51 h 886"/>
                <a:gd name="T4" fmla="*/ 661 w 835"/>
                <a:gd name="T5" fmla="*/ 30 h 886"/>
                <a:gd name="T6" fmla="*/ 606 w 835"/>
                <a:gd name="T7" fmla="*/ 13 h 886"/>
                <a:gd name="T8" fmla="*/ 547 w 835"/>
                <a:gd name="T9" fmla="*/ 0 h 886"/>
                <a:gd name="T10" fmla="*/ 462 w 835"/>
                <a:gd name="T11" fmla="*/ 0 h 886"/>
                <a:gd name="T12" fmla="*/ 389 w 835"/>
                <a:gd name="T13" fmla="*/ 8 h 886"/>
                <a:gd name="T14" fmla="*/ 332 w 835"/>
                <a:gd name="T15" fmla="*/ 24 h 886"/>
                <a:gd name="T16" fmla="*/ 281 w 835"/>
                <a:gd name="T17" fmla="*/ 43 h 886"/>
                <a:gd name="T18" fmla="*/ 223 w 835"/>
                <a:gd name="T19" fmla="*/ 63 h 886"/>
                <a:gd name="T20" fmla="*/ 179 w 835"/>
                <a:gd name="T21" fmla="*/ 98 h 886"/>
                <a:gd name="T22" fmla="*/ 128 w 835"/>
                <a:gd name="T23" fmla="*/ 137 h 886"/>
                <a:gd name="T24" fmla="*/ 90 w 835"/>
                <a:gd name="T25" fmla="*/ 181 h 886"/>
                <a:gd name="T26" fmla="*/ 63 w 835"/>
                <a:gd name="T27" fmla="*/ 232 h 886"/>
                <a:gd name="T28" fmla="*/ 26 w 835"/>
                <a:gd name="T29" fmla="*/ 298 h 886"/>
                <a:gd name="T30" fmla="*/ 12 w 835"/>
                <a:gd name="T31" fmla="*/ 349 h 886"/>
                <a:gd name="T32" fmla="*/ 3 w 835"/>
                <a:gd name="T33" fmla="*/ 421 h 886"/>
                <a:gd name="T34" fmla="*/ 0 w 835"/>
                <a:gd name="T35" fmla="*/ 490 h 886"/>
                <a:gd name="T36" fmla="*/ 22 w 835"/>
                <a:gd name="T37" fmla="*/ 582 h 886"/>
                <a:gd name="T38" fmla="*/ 59 w 835"/>
                <a:gd name="T39" fmla="*/ 650 h 886"/>
                <a:gd name="T40" fmla="*/ 102 w 835"/>
                <a:gd name="T41" fmla="*/ 716 h 886"/>
                <a:gd name="T42" fmla="*/ 157 w 835"/>
                <a:gd name="T43" fmla="*/ 771 h 886"/>
                <a:gd name="T44" fmla="*/ 213 w 835"/>
                <a:gd name="T45" fmla="*/ 808 h 886"/>
                <a:gd name="T46" fmla="*/ 287 w 835"/>
                <a:gd name="T47" fmla="*/ 848 h 886"/>
                <a:gd name="T48" fmla="*/ 351 w 835"/>
                <a:gd name="T49" fmla="*/ 869 h 886"/>
                <a:gd name="T50" fmla="*/ 419 w 835"/>
                <a:gd name="T51" fmla="*/ 882 h 886"/>
                <a:gd name="T52" fmla="*/ 482 w 835"/>
                <a:gd name="T53" fmla="*/ 886 h 886"/>
                <a:gd name="T54" fmla="*/ 452 w 835"/>
                <a:gd name="T55" fmla="*/ 864 h 886"/>
                <a:gd name="T56" fmla="*/ 372 w 835"/>
                <a:gd name="T57" fmla="*/ 853 h 886"/>
                <a:gd name="T58" fmla="*/ 311 w 835"/>
                <a:gd name="T59" fmla="*/ 836 h 886"/>
                <a:gd name="T60" fmla="*/ 252 w 835"/>
                <a:gd name="T61" fmla="*/ 805 h 886"/>
                <a:gd name="T62" fmla="*/ 191 w 835"/>
                <a:gd name="T63" fmla="*/ 770 h 886"/>
                <a:gd name="T64" fmla="*/ 141 w 835"/>
                <a:gd name="T65" fmla="*/ 729 h 886"/>
                <a:gd name="T66" fmla="*/ 98 w 835"/>
                <a:gd name="T67" fmla="*/ 684 h 886"/>
                <a:gd name="T68" fmla="*/ 65 w 835"/>
                <a:gd name="T69" fmla="*/ 626 h 886"/>
                <a:gd name="T70" fmla="*/ 29 w 835"/>
                <a:gd name="T71" fmla="*/ 528 h 886"/>
                <a:gd name="T72" fmla="*/ 20 w 835"/>
                <a:gd name="T73" fmla="*/ 463 h 886"/>
                <a:gd name="T74" fmla="*/ 26 w 835"/>
                <a:gd name="T75" fmla="*/ 386 h 886"/>
                <a:gd name="T76" fmla="*/ 39 w 835"/>
                <a:gd name="T77" fmla="*/ 303 h 886"/>
                <a:gd name="T78" fmla="*/ 73 w 835"/>
                <a:gd name="T79" fmla="*/ 247 h 886"/>
                <a:gd name="T80" fmla="*/ 120 w 835"/>
                <a:gd name="T81" fmla="*/ 183 h 886"/>
                <a:gd name="T82" fmla="*/ 179 w 835"/>
                <a:gd name="T83" fmla="*/ 127 h 886"/>
                <a:gd name="T84" fmla="*/ 230 w 835"/>
                <a:gd name="T85" fmla="*/ 89 h 886"/>
                <a:gd name="T86" fmla="*/ 282 w 835"/>
                <a:gd name="T87" fmla="*/ 64 h 886"/>
                <a:gd name="T88" fmla="*/ 347 w 835"/>
                <a:gd name="T89" fmla="*/ 43 h 886"/>
                <a:gd name="T90" fmla="*/ 417 w 835"/>
                <a:gd name="T91" fmla="*/ 26 h 886"/>
                <a:gd name="T92" fmla="*/ 495 w 835"/>
                <a:gd name="T93" fmla="*/ 20 h 886"/>
                <a:gd name="T94" fmla="*/ 580 w 835"/>
                <a:gd name="T95" fmla="*/ 26 h 886"/>
                <a:gd name="T96" fmla="*/ 647 w 835"/>
                <a:gd name="T97" fmla="*/ 47 h 886"/>
                <a:gd name="T98" fmla="*/ 712 w 835"/>
                <a:gd name="T99" fmla="*/ 75 h 886"/>
                <a:gd name="T100" fmla="*/ 773 w 835"/>
                <a:gd name="T101" fmla="*/ 104 h 886"/>
                <a:gd name="T102" fmla="*/ 835 w 835"/>
                <a:gd name="T103" fmla="*/ 141 h 886"/>
                <a:gd name="T104" fmla="*/ 784 w 835"/>
                <a:gd name="T105" fmla="*/ 85 h 88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35" h="886">
                  <a:moveTo>
                    <a:pt x="784" y="85"/>
                  </a:moveTo>
                  <a:lnTo>
                    <a:pt x="720" y="51"/>
                  </a:lnTo>
                  <a:lnTo>
                    <a:pt x="661" y="30"/>
                  </a:lnTo>
                  <a:lnTo>
                    <a:pt x="606" y="13"/>
                  </a:lnTo>
                  <a:lnTo>
                    <a:pt x="547" y="0"/>
                  </a:lnTo>
                  <a:lnTo>
                    <a:pt x="462" y="0"/>
                  </a:lnTo>
                  <a:lnTo>
                    <a:pt x="389" y="8"/>
                  </a:lnTo>
                  <a:lnTo>
                    <a:pt x="332" y="24"/>
                  </a:lnTo>
                  <a:lnTo>
                    <a:pt x="281" y="43"/>
                  </a:lnTo>
                  <a:lnTo>
                    <a:pt x="223" y="63"/>
                  </a:lnTo>
                  <a:lnTo>
                    <a:pt x="179" y="98"/>
                  </a:lnTo>
                  <a:lnTo>
                    <a:pt x="128" y="137"/>
                  </a:lnTo>
                  <a:lnTo>
                    <a:pt x="90" y="181"/>
                  </a:lnTo>
                  <a:lnTo>
                    <a:pt x="63" y="232"/>
                  </a:lnTo>
                  <a:lnTo>
                    <a:pt x="26" y="298"/>
                  </a:lnTo>
                  <a:lnTo>
                    <a:pt x="12" y="349"/>
                  </a:lnTo>
                  <a:lnTo>
                    <a:pt x="3" y="421"/>
                  </a:lnTo>
                  <a:lnTo>
                    <a:pt x="0" y="490"/>
                  </a:lnTo>
                  <a:lnTo>
                    <a:pt x="22" y="582"/>
                  </a:lnTo>
                  <a:lnTo>
                    <a:pt x="59" y="650"/>
                  </a:lnTo>
                  <a:lnTo>
                    <a:pt x="102" y="716"/>
                  </a:lnTo>
                  <a:lnTo>
                    <a:pt x="157" y="771"/>
                  </a:lnTo>
                  <a:lnTo>
                    <a:pt x="213" y="808"/>
                  </a:lnTo>
                  <a:lnTo>
                    <a:pt x="287" y="848"/>
                  </a:lnTo>
                  <a:lnTo>
                    <a:pt x="351" y="869"/>
                  </a:lnTo>
                  <a:lnTo>
                    <a:pt x="419" y="882"/>
                  </a:lnTo>
                  <a:lnTo>
                    <a:pt x="482" y="886"/>
                  </a:lnTo>
                  <a:lnTo>
                    <a:pt x="452" y="864"/>
                  </a:lnTo>
                  <a:lnTo>
                    <a:pt x="372" y="853"/>
                  </a:lnTo>
                  <a:lnTo>
                    <a:pt x="311" y="836"/>
                  </a:lnTo>
                  <a:lnTo>
                    <a:pt x="252" y="805"/>
                  </a:lnTo>
                  <a:lnTo>
                    <a:pt x="191" y="770"/>
                  </a:lnTo>
                  <a:lnTo>
                    <a:pt x="141" y="729"/>
                  </a:lnTo>
                  <a:lnTo>
                    <a:pt x="98" y="684"/>
                  </a:lnTo>
                  <a:lnTo>
                    <a:pt x="65" y="626"/>
                  </a:lnTo>
                  <a:lnTo>
                    <a:pt x="29" y="528"/>
                  </a:lnTo>
                  <a:lnTo>
                    <a:pt x="20" y="463"/>
                  </a:lnTo>
                  <a:lnTo>
                    <a:pt x="26" y="386"/>
                  </a:lnTo>
                  <a:lnTo>
                    <a:pt x="39" y="303"/>
                  </a:lnTo>
                  <a:lnTo>
                    <a:pt x="73" y="247"/>
                  </a:lnTo>
                  <a:lnTo>
                    <a:pt x="120" y="183"/>
                  </a:lnTo>
                  <a:lnTo>
                    <a:pt x="179" y="127"/>
                  </a:lnTo>
                  <a:lnTo>
                    <a:pt x="230" y="89"/>
                  </a:lnTo>
                  <a:lnTo>
                    <a:pt x="282" y="64"/>
                  </a:lnTo>
                  <a:lnTo>
                    <a:pt x="347" y="43"/>
                  </a:lnTo>
                  <a:lnTo>
                    <a:pt x="417" y="26"/>
                  </a:lnTo>
                  <a:lnTo>
                    <a:pt x="495" y="20"/>
                  </a:lnTo>
                  <a:lnTo>
                    <a:pt x="580" y="26"/>
                  </a:lnTo>
                  <a:lnTo>
                    <a:pt x="647" y="47"/>
                  </a:lnTo>
                  <a:lnTo>
                    <a:pt x="712" y="75"/>
                  </a:lnTo>
                  <a:lnTo>
                    <a:pt x="773" y="104"/>
                  </a:lnTo>
                  <a:lnTo>
                    <a:pt x="835" y="141"/>
                  </a:lnTo>
                  <a:lnTo>
                    <a:pt x="784"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00" name="Freeform 11"/>
            <p:cNvSpPr>
              <a:spLocks/>
            </p:cNvSpPr>
            <p:nvPr/>
          </p:nvSpPr>
          <p:spPr bwMode="auto">
            <a:xfrm>
              <a:off x="3267" y="1258"/>
              <a:ext cx="605" cy="821"/>
            </a:xfrm>
            <a:custGeom>
              <a:avLst/>
              <a:gdLst>
                <a:gd name="T0" fmla="*/ 468 w 605"/>
                <a:gd name="T1" fmla="*/ 54 h 821"/>
                <a:gd name="T2" fmla="*/ 408 w 605"/>
                <a:gd name="T3" fmla="*/ 12 h 821"/>
                <a:gd name="T4" fmla="*/ 362 w 605"/>
                <a:gd name="T5" fmla="*/ 0 h 821"/>
                <a:gd name="T6" fmla="*/ 441 w 605"/>
                <a:gd name="T7" fmla="*/ 54 h 821"/>
                <a:gd name="T8" fmla="*/ 475 w 605"/>
                <a:gd name="T9" fmla="*/ 95 h 821"/>
                <a:gd name="T10" fmla="*/ 522 w 605"/>
                <a:gd name="T11" fmla="*/ 157 h 821"/>
                <a:gd name="T12" fmla="*/ 551 w 605"/>
                <a:gd name="T13" fmla="*/ 216 h 821"/>
                <a:gd name="T14" fmla="*/ 573 w 605"/>
                <a:gd name="T15" fmla="*/ 268 h 821"/>
                <a:gd name="T16" fmla="*/ 587 w 605"/>
                <a:gd name="T17" fmla="*/ 328 h 821"/>
                <a:gd name="T18" fmla="*/ 587 w 605"/>
                <a:gd name="T19" fmla="*/ 397 h 821"/>
                <a:gd name="T20" fmla="*/ 582 w 605"/>
                <a:gd name="T21" fmla="*/ 451 h 821"/>
                <a:gd name="T22" fmla="*/ 562 w 605"/>
                <a:gd name="T23" fmla="*/ 510 h 821"/>
                <a:gd name="T24" fmla="*/ 541 w 605"/>
                <a:gd name="T25" fmla="*/ 559 h 821"/>
                <a:gd name="T26" fmla="*/ 505 w 605"/>
                <a:gd name="T27" fmla="*/ 617 h 821"/>
                <a:gd name="T28" fmla="*/ 455 w 605"/>
                <a:gd name="T29" fmla="*/ 669 h 821"/>
                <a:gd name="T30" fmla="*/ 403 w 605"/>
                <a:gd name="T31" fmla="*/ 713 h 821"/>
                <a:gd name="T32" fmla="*/ 351 w 605"/>
                <a:gd name="T33" fmla="*/ 739 h 821"/>
                <a:gd name="T34" fmla="*/ 292 w 605"/>
                <a:gd name="T35" fmla="*/ 772 h 821"/>
                <a:gd name="T36" fmla="*/ 236 w 605"/>
                <a:gd name="T37" fmla="*/ 791 h 821"/>
                <a:gd name="T38" fmla="*/ 175 w 605"/>
                <a:gd name="T39" fmla="*/ 799 h 821"/>
                <a:gd name="T40" fmla="*/ 119 w 605"/>
                <a:gd name="T41" fmla="*/ 803 h 821"/>
                <a:gd name="T42" fmla="*/ 48 w 605"/>
                <a:gd name="T43" fmla="*/ 799 h 821"/>
                <a:gd name="T44" fmla="*/ 0 w 605"/>
                <a:gd name="T45" fmla="*/ 798 h 821"/>
                <a:gd name="T46" fmla="*/ 96 w 605"/>
                <a:gd name="T47" fmla="*/ 821 h 821"/>
                <a:gd name="T48" fmla="*/ 180 w 605"/>
                <a:gd name="T49" fmla="*/ 821 h 821"/>
                <a:gd name="T50" fmla="*/ 270 w 605"/>
                <a:gd name="T51" fmla="*/ 803 h 821"/>
                <a:gd name="T52" fmla="*/ 334 w 605"/>
                <a:gd name="T53" fmla="*/ 787 h 821"/>
                <a:gd name="T54" fmla="*/ 395 w 605"/>
                <a:gd name="T55" fmla="*/ 741 h 821"/>
                <a:gd name="T56" fmla="*/ 475 w 605"/>
                <a:gd name="T57" fmla="*/ 686 h 821"/>
                <a:gd name="T58" fmla="*/ 518 w 605"/>
                <a:gd name="T59" fmla="*/ 636 h 821"/>
                <a:gd name="T60" fmla="*/ 556 w 605"/>
                <a:gd name="T61" fmla="*/ 576 h 821"/>
                <a:gd name="T62" fmla="*/ 583 w 605"/>
                <a:gd name="T63" fmla="*/ 506 h 821"/>
                <a:gd name="T64" fmla="*/ 601 w 605"/>
                <a:gd name="T65" fmla="*/ 459 h 821"/>
                <a:gd name="T66" fmla="*/ 605 w 605"/>
                <a:gd name="T67" fmla="*/ 384 h 821"/>
                <a:gd name="T68" fmla="*/ 603 w 605"/>
                <a:gd name="T69" fmla="*/ 326 h 821"/>
                <a:gd name="T70" fmla="*/ 595 w 605"/>
                <a:gd name="T71" fmla="*/ 255 h 821"/>
                <a:gd name="T72" fmla="*/ 573 w 605"/>
                <a:gd name="T73" fmla="*/ 203 h 821"/>
                <a:gd name="T74" fmla="*/ 545 w 605"/>
                <a:gd name="T75" fmla="*/ 153 h 821"/>
                <a:gd name="T76" fmla="*/ 514 w 605"/>
                <a:gd name="T77" fmla="*/ 109 h 821"/>
                <a:gd name="T78" fmla="*/ 468 w 605"/>
                <a:gd name="T79" fmla="*/ 54 h 82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5" h="821">
                  <a:moveTo>
                    <a:pt x="468" y="54"/>
                  </a:moveTo>
                  <a:lnTo>
                    <a:pt x="408" y="12"/>
                  </a:lnTo>
                  <a:lnTo>
                    <a:pt x="362" y="0"/>
                  </a:lnTo>
                  <a:lnTo>
                    <a:pt x="441" y="54"/>
                  </a:lnTo>
                  <a:lnTo>
                    <a:pt x="475" y="95"/>
                  </a:lnTo>
                  <a:lnTo>
                    <a:pt x="522" y="157"/>
                  </a:lnTo>
                  <a:lnTo>
                    <a:pt x="551" y="216"/>
                  </a:lnTo>
                  <a:lnTo>
                    <a:pt x="573" y="268"/>
                  </a:lnTo>
                  <a:lnTo>
                    <a:pt x="587" y="328"/>
                  </a:lnTo>
                  <a:lnTo>
                    <a:pt x="587" y="397"/>
                  </a:lnTo>
                  <a:lnTo>
                    <a:pt x="582" y="451"/>
                  </a:lnTo>
                  <a:lnTo>
                    <a:pt x="562" y="510"/>
                  </a:lnTo>
                  <a:lnTo>
                    <a:pt x="541" y="559"/>
                  </a:lnTo>
                  <a:lnTo>
                    <a:pt x="505" y="617"/>
                  </a:lnTo>
                  <a:lnTo>
                    <a:pt x="455" y="669"/>
                  </a:lnTo>
                  <a:lnTo>
                    <a:pt x="403" y="713"/>
                  </a:lnTo>
                  <a:lnTo>
                    <a:pt x="351" y="739"/>
                  </a:lnTo>
                  <a:lnTo>
                    <a:pt x="292" y="772"/>
                  </a:lnTo>
                  <a:lnTo>
                    <a:pt x="236" y="791"/>
                  </a:lnTo>
                  <a:lnTo>
                    <a:pt x="175" y="799"/>
                  </a:lnTo>
                  <a:lnTo>
                    <a:pt x="119" y="803"/>
                  </a:lnTo>
                  <a:lnTo>
                    <a:pt x="48" y="799"/>
                  </a:lnTo>
                  <a:lnTo>
                    <a:pt x="0" y="798"/>
                  </a:lnTo>
                  <a:lnTo>
                    <a:pt x="96" y="821"/>
                  </a:lnTo>
                  <a:lnTo>
                    <a:pt x="180" y="821"/>
                  </a:lnTo>
                  <a:lnTo>
                    <a:pt x="270" y="803"/>
                  </a:lnTo>
                  <a:lnTo>
                    <a:pt x="334" y="787"/>
                  </a:lnTo>
                  <a:lnTo>
                    <a:pt x="395" y="741"/>
                  </a:lnTo>
                  <a:lnTo>
                    <a:pt x="475" y="686"/>
                  </a:lnTo>
                  <a:lnTo>
                    <a:pt x="518" y="636"/>
                  </a:lnTo>
                  <a:lnTo>
                    <a:pt x="556" y="576"/>
                  </a:lnTo>
                  <a:lnTo>
                    <a:pt x="583" y="506"/>
                  </a:lnTo>
                  <a:lnTo>
                    <a:pt x="601" y="459"/>
                  </a:lnTo>
                  <a:lnTo>
                    <a:pt x="605" y="384"/>
                  </a:lnTo>
                  <a:lnTo>
                    <a:pt x="603" y="326"/>
                  </a:lnTo>
                  <a:lnTo>
                    <a:pt x="595" y="255"/>
                  </a:lnTo>
                  <a:lnTo>
                    <a:pt x="573" y="203"/>
                  </a:lnTo>
                  <a:lnTo>
                    <a:pt x="545" y="153"/>
                  </a:lnTo>
                  <a:lnTo>
                    <a:pt x="514" y="109"/>
                  </a:lnTo>
                  <a:lnTo>
                    <a:pt x="468"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0428" name="Freeform 12"/>
          <p:cNvSpPr>
            <a:spLocks/>
          </p:cNvSpPr>
          <p:nvPr/>
        </p:nvSpPr>
        <p:spPr bwMode="auto">
          <a:xfrm>
            <a:off x="7808913" y="3286125"/>
            <a:ext cx="1295400" cy="419100"/>
          </a:xfrm>
          <a:custGeom>
            <a:avLst/>
            <a:gdLst>
              <a:gd name="T0" fmla="*/ 0 w 627"/>
              <a:gd name="T1" fmla="*/ 7353 h 285"/>
              <a:gd name="T2" fmla="*/ 72311 w 627"/>
              <a:gd name="T3" fmla="*/ 0 h 285"/>
              <a:gd name="T4" fmla="*/ 245857 w 627"/>
              <a:gd name="T5" fmla="*/ 51468 h 285"/>
              <a:gd name="T6" fmla="*/ 442130 w 627"/>
              <a:gd name="T7" fmla="*/ 133818 h 285"/>
              <a:gd name="T8" fmla="*/ 555762 w 627"/>
              <a:gd name="T9" fmla="*/ 199992 h 285"/>
              <a:gd name="T10" fmla="*/ 822279 w 627"/>
              <a:gd name="T11" fmla="*/ 236755 h 285"/>
              <a:gd name="T12" fmla="*/ 1070203 w 627"/>
              <a:gd name="T13" fmla="*/ 260283 h 285"/>
              <a:gd name="T14" fmla="*/ 1130118 w 627"/>
              <a:gd name="T15" fmla="*/ 236755 h 285"/>
              <a:gd name="T16" fmla="*/ 1229287 w 627"/>
              <a:gd name="T17" fmla="*/ 182345 h 285"/>
              <a:gd name="T18" fmla="*/ 1260278 w 627"/>
              <a:gd name="T19" fmla="*/ 204403 h 285"/>
              <a:gd name="T20" fmla="*/ 1146646 w 627"/>
              <a:gd name="T21" fmla="*/ 267636 h 285"/>
              <a:gd name="T22" fmla="*/ 1295400 w 627"/>
              <a:gd name="T23" fmla="*/ 274988 h 285"/>
              <a:gd name="T24" fmla="*/ 1291268 w 627"/>
              <a:gd name="T25" fmla="*/ 307340 h 285"/>
              <a:gd name="T26" fmla="*/ 1167306 w 627"/>
              <a:gd name="T27" fmla="*/ 299987 h 285"/>
              <a:gd name="T28" fmla="*/ 1156976 w 627"/>
              <a:gd name="T29" fmla="*/ 329398 h 285"/>
              <a:gd name="T30" fmla="*/ 1274740 w 627"/>
              <a:gd name="T31" fmla="*/ 392631 h 285"/>
              <a:gd name="T32" fmla="*/ 1243749 w 627"/>
              <a:gd name="T33" fmla="*/ 419100 h 285"/>
              <a:gd name="T34" fmla="*/ 1146646 w 627"/>
              <a:gd name="T35" fmla="*/ 355867 h 285"/>
              <a:gd name="T36" fmla="*/ 1119788 w 627"/>
              <a:gd name="T37" fmla="*/ 419100 h 285"/>
              <a:gd name="T38" fmla="*/ 1094995 w 627"/>
              <a:gd name="T39" fmla="*/ 407336 h 285"/>
              <a:gd name="T40" fmla="*/ 1080533 w 627"/>
              <a:gd name="T41" fmla="*/ 319104 h 285"/>
              <a:gd name="T42" fmla="*/ 749968 w 627"/>
              <a:gd name="T43" fmla="*/ 304399 h 285"/>
              <a:gd name="T44" fmla="*/ 555762 w 627"/>
              <a:gd name="T45" fmla="*/ 282341 h 285"/>
              <a:gd name="T46" fmla="*/ 483451 w 627"/>
              <a:gd name="T47" fmla="*/ 252931 h 285"/>
              <a:gd name="T48" fmla="*/ 256188 w 627"/>
              <a:gd name="T49" fmla="*/ 155876 h 285"/>
              <a:gd name="T50" fmla="*/ 92971 w 627"/>
              <a:gd name="T51" fmla="*/ 119113 h 285"/>
              <a:gd name="T52" fmla="*/ 72311 w 627"/>
              <a:gd name="T53" fmla="*/ 51468 h 285"/>
              <a:gd name="T54" fmla="*/ 0 w 627"/>
              <a:gd name="T55" fmla="*/ 7353 h 28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627" h="285">
                <a:moveTo>
                  <a:pt x="0" y="5"/>
                </a:moveTo>
                <a:lnTo>
                  <a:pt x="35" y="0"/>
                </a:lnTo>
                <a:lnTo>
                  <a:pt x="119" y="35"/>
                </a:lnTo>
                <a:lnTo>
                  <a:pt x="214" y="91"/>
                </a:lnTo>
                <a:lnTo>
                  <a:pt x="269" y="136"/>
                </a:lnTo>
                <a:lnTo>
                  <a:pt x="398" y="161"/>
                </a:lnTo>
                <a:lnTo>
                  <a:pt x="518" y="177"/>
                </a:lnTo>
                <a:lnTo>
                  <a:pt x="547" y="161"/>
                </a:lnTo>
                <a:lnTo>
                  <a:pt x="595" y="124"/>
                </a:lnTo>
                <a:lnTo>
                  <a:pt x="610" y="139"/>
                </a:lnTo>
                <a:lnTo>
                  <a:pt x="555" y="182"/>
                </a:lnTo>
                <a:lnTo>
                  <a:pt x="627" y="187"/>
                </a:lnTo>
                <a:lnTo>
                  <a:pt x="625" y="209"/>
                </a:lnTo>
                <a:lnTo>
                  <a:pt x="565" y="204"/>
                </a:lnTo>
                <a:lnTo>
                  <a:pt x="560" y="224"/>
                </a:lnTo>
                <a:lnTo>
                  <a:pt x="617" y="267"/>
                </a:lnTo>
                <a:lnTo>
                  <a:pt x="602" y="285"/>
                </a:lnTo>
                <a:lnTo>
                  <a:pt x="555" y="242"/>
                </a:lnTo>
                <a:lnTo>
                  <a:pt x="542" y="285"/>
                </a:lnTo>
                <a:lnTo>
                  <a:pt x="530" y="277"/>
                </a:lnTo>
                <a:lnTo>
                  <a:pt x="523" y="217"/>
                </a:lnTo>
                <a:lnTo>
                  <a:pt x="363" y="207"/>
                </a:lnTo>
                <a:lnTo>
                  <a:pt x="269" y="192"/>
                </a:lnTo>
                <a:lnTo>
                  <a:pt x="234" y="172"/>
                </a:lnTo>
                <a:lnTo>
                  <a:pt x="124" y="106"/>
                </a:lnTo>
                <a:lnTo>
                  <a:pt x="45" y="81"/>
                </a:lnTo>
                <a:lnTo>
                  <a:pt x="35" y="35"/>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0429" name="Group 13"/>
          <p:cNvGrpSpPr>
            <a:grpSpLocks/>
          </p:cNvGrpSpPr>
          <p:nvPr/>
        </p:nvGrpSpPr>
        <p:grpSpPr bwMode="auto">
          <a:xfrm>
            <a:off x="7267575" y="3062289"/>
            <a:ext cx="1316038" cy="1430337"/>
            <a:chOff x="3618" y="1865"/>
            <a:chExt cx="829" cy="871"/>
          </a:xfrm>
        </p:grpSpPr>
        <p:sp>
          <p:nvSpPr>
            <p:cNvPr id="11285" name="Freeform 14"/>
            <p:cNvSpPr>
              <a:spLocks/>
            </p:cNvSpPr>
            <p:nvPr/>
          </p:nvSpPr>
          <p:spPr bwMode="auto">
            <a:xfrm>
              <a:off x="3648" y="1872"/>
              <a:ext cx="799" cy="855"/>
            </a:xfrm>
            <a:custGeom>
              <a:avLst/>
              <a:gdLst>
                <a:gd name="T0" fmla="*/ 165 w 901"/>
                <a:gd name="T1" fmla="*/ 518 h 965"/>
                <a:gd name="T2" fmla="*/ 97 w 901"/>
                <a:gd name="T3" fmla="*/ 562 h 965"/>
                <a:gd name="T4" fmla="*/ 12 w 901"/>
                <a:gd name="T5" fmla="*/ 617 h 965"/>
                <a:gd name="T6" fmla="*/ 4 w 901"/>
                <a:gd name="T7" fmla="*/ 672 h 965"/>
                <a:gd name="T8" fmla="*/ 0 w 901"/>
                <a:gd name="T9" fmla="*/ 775 h 965"/>
                <a:gd name="T10" fmla="*/ 126 w 901"/>
                <a:gd name="T11" fmla="*/ 789 h 965"/>
                <a:gd name="T12" fmla="*/ 268 w 901"/>
                <a:gd name="T13" fmla="*/ 797 h 965"/>
                <a:gd name="T14" fmla="*/ 478 w 901"/>
                <a:gd name="T15" fmla="*/ 827 h 965"/>
                <a:gd name="T16" fmla="*/ 633 w 901"/>
                <a:gd name="T17" fmla="*/ 855 h 965"/>
                <a:gd name="T18" fmla="*/ 704 w 901"/>
                <a:gd name="T19" fmla="*/ 764 h 965"/>
                <a:gd name="T20" fmla="*/ 799 w 901"/>
                <a:gd name="T21" fmla="*/ 578 h 965"/>
                <a:gd name="T22" fmla="*/ 796 w 901"/>
                <a:gd name="T23" fmla="*/ 517 h 965"/>
                <a:gd name="T24" fmla="*/ 776 w 901"/>
                <a:gd name="T25" fmla="*/ 490 h 965"/>
                <a:gd name="T26" fmla="*/ 705 w 901"/>
                <a:gd name="T27" fmla="*/ 483 h 965"/>
                <a:gd name="T28" fmla="*/ 763 w 901"/>
                <a:gd name="T29" fmla="*/ 338 h 965"/>
                <a:gd name="T30" fmla="*/ 774 w 901"/>
                <a:gd name="T31" fmla="*/ 293 h 965"/>
                <a:gd name="T32" fmla="*/ 776 w 901"/>
                <a:gd name="T33" fmla="*/ 175 h 965"/>
                <a:gd name="T34" fmla="*/ 772 w 901"/>
                <a:gd name="T35" fmla="*/ 88 h 965"/>
                <a:gd name="T36" fmla="*/ 750 w 901"/>
                <a:gd name="T37" fmla="*/ 44 h 965"/>
                <a:gd name="T38" fmla="*/ 727 w 901"/>
                <a:gd name="T39" fmla="*/ 42 h 965"/>
                <a:gd name="T40" fmla="*/ 670 w 901"/>
                <a:gd name="T41" fmla="*/ 42 h 965"/>
                <a:gd name="T42" fmla="*/ 577 w 901"/>
                <a:gd name="T43" fmla="*/ 32 h 965"/>
                <a:gd name="T44" fmla="*/ 519 w 901"/>
                <a:gd name="T45" fmla="*/ 14 h 965"/>
                <a:gd name="T46" fmla="*/ 455 w 901"/>
                <a:gd name="T47" fmla="*/ 0 h 965"/>
                <a:gd name="T48" fmla="*/ 429 w 901"/>
                <a:gd name="T49" fmla="*/ 3 h 965"/>
                <a:gd name="T50" fmla="*/ 369 w 901"/>
                <a:gd name="T51" fmla="*/ 19 h 965"/>
                <a:gd name="T52" fmla="*/ 286 w 901"/>
                <a:gd name="T53" fmla="*/ 27 h 965"/>
                <a:gd name="T54" fmla="*/ 176 w 901"/>
                <a:gd name="T55" fmla="*/ 47 h 965"/>
                <a:gd name="T56" fmla="*/ 133 w 901"/>
                <a:gd name="T57" fmla="*/ 65 h 965"/>
                <a:gd name="T58" fmla="*/ 90 w 901"/>
                <a:gd name="T59" fmla="*/ 97 h 965"/>
                <a:gd name="T60" fmla="*/ 74 w 901"/>
                <a:gd name="T61" fmla="*/ 153 h 965"/>
                <a:gd name="T62" fmla="*/ 60 w 901"/>
                <a:gd name="T63" fmla="*/ 247 h 965"/>
                <a:gd name="T64" fmla="*/ 46 w 901"/>
                <a:gd name="T65" fmla="*/ 360 h 965"/>
                <a:gd name="T66" fmla="*/ 43 w 901"/>
                <a:gd name="T67" fmla="*/ 427 h 965"/>
                <a:gd name="T68" fmla="*/ 53 w 901"/>
                <a:gd name="T69" fmla="*/ 468 h 965"/>
                <a:gd name="T70" fmla="*/ 74 w 901"/>
                <a:gd name="T71" fmla="*/ 492 h 965"/>
                <a:gd name="T72" fmla="*/ 101 w 901"/>
                <a:gd name="T73" fmla="*/ 504 h 965"/>
                <a:gd name="T74" fmla="*/ 165 w 901"/>
                <a:gd name="T75" fmla="*/ 518 h 96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901" h="965">
                  <a:moveTo>
                    <a:pt x="186" y="585"/>
                  </a:moveTo>
                  <a:lnTo>
                    <a:pt x="109" y="634"/>
                  </a:lnTo>
                  <a:lnTo>
                    <a:pt x="14" y="696"/>
                  </a:lnTo>
                  <a:lnTo>
                    <a:pt x="4" y="758"/>
                  </a:lnTo>
                  <a:lnTo>
                    <a:pt x="0" y="875"/>
                  </a:lnTo>
                  <a:lnTo>
                    <a:pt x="142" y="891"/>
                  </a:lnTo>
                  <a:lnTo>
                    <a:pt x="302" y="899"/>
                  </a:lnTo>
                  <a:lnTo>
                    <a:pt x="539" y="933"/>
                  </a:lnTo>
                  <a:lnTo>
                    <a:pt x="714" y="965"/>
                  </a:lnTo>
                  <a:lnTo>
                    <a:pt x="794" y="862"/>
                  </a:lnTo>
                  <a:lnTo>
                    <a:pt x="901" y="652"/>
                  </a:lnTo>
                  <a:lnTo>
                    <a:pt x="898" y="584"/>
                  </a:lnTo>
                  <a:lnTo>
                    <a:pt x="875" y="553"/>
                  </a:lnTo>
                  <a:lnTo>
                    <a:pt x="795" y="545"/>
                  </a:lnTo>
                  <a:lnTo>
                    <a:pt x="860" y="382"/>
                  </a:lnTo>
                  <a:lnTo>
                    <a:pt x="873" y="331"/>
                  </a:lnTo>
                  <a:lnTo>
                    <a:pt x="875" y="198"/>
                  </a:lnTo>
                  <a:lnTo>
                    <a:pt x="871" y="99"/>
                  </a:lnTo>
                  <a:lnTo>
                    <a:pt x="846" y="50"/>
                  </a:lnTo>
                  <a:lnTo>
                    <a:pt x="820" y="47"/>
                  </a:lnTo>
                  <a:lnTo>
                    <a:pt x="756" y="47"/>
                  </a:lnTo>
                  <a:lnTo>
                    <a:pt x="651" y="36"/>
                  </a:lnTo>
                  <a:lnTo>
                    <a:pt x="585" y="16"/>
                  </a:lnTo>
                  <a:lnTo>
                    <a:pt x="513" y="0"/>
                  </a:lnTo>
                  <a:lnTo>
                    <a:pt x="484" y="3"/>
                  </a:lnTo>
                  <a:lnTo>
                    <a:pt x="416" y="21"/>
                  </a:lnTo>
                  <a:lnTo>
                    <a:pt x="322" y="31"/>
                  </a:lnTo>
                  <a:lnTo>
                    <a:pt x="198" y="53"/>
                  </a:lnTo>
                  <a:lnTo>
                    <a:pt x="150" y="73"/>
                  </a:lnTo>
                  <a:lnTo>
                    <a:pt x="102" y="110"/>
                  </a:lnTo>
                  <a:lnTo>
                    <a:pt x="84" y="173"/>
                  </a:lnTo>
                  <a:lnTo>
                    <a:pt x="68" y="279"/>
                  </a:lnTo>
                  <a:lnTo>
                    <a:pt x="52" y="406"/>
                  </a:lnTo>
                  <a:lnTo>
                    <a:pt x="49" y="482"/>
                  </a:lnTo>
                  <a:lnTo>
                    <a:pt x="60" y="528"/>
                  </a:lnTo>
                  <a:lnTo>
                    <a:pt x="83" y="555"/>
                  </a:lnTo>
                  <a:lnTo>
                    <a:pt x="114" y="569"/>
                  </a:lnTo>
                  <a:lnTo>
                    <a:pt x="186" y="585"/>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6" name="Freeform 15"/>
            <p:cNvSpPr>
              <a:spLocks/>
            </p:cNvSpPr>
            <p:nvPr/>
          </p:nvSpPr>
          <p:spPr bwMode="auto">
            <a:xfrm>
              <a:off x="3756" y="1990"/>
              <a:ext cx="443" cy="397"/>
            </a:xfrm>
            <a:custGeom>
              <a:avLst/>
              <a:gdLst>
                <a:gd name="T0" fmla="*/ 21 w 500"/>
                <a:gd name="T1" fmla="*/ 82 h 448"/>
                <a:gd name="T2" fmla="*/ 36 w 500"/>
                <a:gd name="T3" fmla="*/ 19 h 448"/>
                <a:gd name="T4" fmla="*/ 50 w 500"/>
                <a:gd name="T5" fmla="*/ 3 h 448"/>
                <a:gd name="T6" fmla="*/ 77 w 500"/>
                <a:gd name="T7" fmla="*/ 0 h 448"/>
                <a:gd name="T8" fmla="*/ 190 w 500"/>
                <a:gd name="T9" fmla="*/ 14 h 448"/>
                <a:gd name="T10" fmla="*/ 329 w 500"/>
                <a:gd name="T11" fmla="*/ 35 h 448"/>
                <a:gd name="T12" fmla="*/ 409 w 500"/>
                <a:gd name="T13" fmla="*/ 49 h 448"/>
                <a:gd name="T14" fmla="*/ 427 w 500"/>
                <a:gd name="T15" fmla="*/ 64 h 448"/>
                <a:gd name="T16" fmla="*/ 437 w 500"/>
                <a:gd name="T17" fmla="*/ 90 h 448"/>
                <a:gd name="T18" fmla="*/ 441 w 500"/>
                <a:gd name="T19" fmla="*/ 194 h 448"/>
                <a:gd name="T20" fmla="*/ 443 w 500"/>
                <a:gd name="T21" fmla="*/ 308 h 448"/>
                <a:gd name="T22" fmla="*/ 437 w 500"/>
                <a:gd name="T23" fmla="*/ 381 h 448"/>
                <a:gd name="T24" fmla="*/ 427 w 500"/>
                <a:gd name="T25" fmla="*/ 393 h 448"/>
                <a:gd name="T26" fmla="*/ 401 w 500"/>
                <a:gd name="T27" fmla="*/ 397 h 448"/>
                <a:gd name="T28" fmla="*/ 283 w 500"/>
                <a:gd name="T29" fmla="*/ 376 h 448"/>
                <a:gd name="T30" fmla="*/ 104 w 500"/>
                <a:gd name="T31" fmla="*/ 339 h 448"/>
                <a:gd name="T32" fmla="*/ 14 w 500"/>
                <a:gd name="T33" fmla="*/ 315 h 448"/>
                <a:gd name="T34" fmla="*/ 3 w 500"/>
                <a:gd name="T35" fmla="*/ 295 h 448"/>
                <a:gd name="T36" fmla="*/ 0 w 500"/>
                <a:gd name="T37" fmla="*/ 256 h 448"/>
                <a:gd name="T38" fmla="*/ 5 w 500"/>
                <a:gd name="T39" fmla="*/ 167 h 448"/>
                <a:gd name="T40" fmla="*/ 21 w 500"/>
                <a:gd name="T41" fmla="*/ 82 h 4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00" h="448">
                  <a:moveTo>
                    <a:pt x="24" y="92"/>
                  </a:moveTo>
                  <a:lnTo>
                    <a:pt x="41" y="21"/>
                  </a:lnTo>
                  <a:lnTo>
                    <a:pt x="56" y="3"/>
                  </a:lnTo>
                  <a:lnTo>
                    <a:pt x="87" y="0"/>
                  </a:lnTo>
                  <a:lnTo>
                    <a:pt x="215" y="16"/>
                  </a:lnTo>
                  <a:lnTo>
                    <a:pt x="371" y="39"/>
                  </a:lnTo>
                  <a:lnTo>
                    <a:pt x="462" y="55"/>
                  </a:lnTo>
                  <a:lnTo>
                    <a:pt x="482" y="72"/>
                  </a:lnTo>
                  <a:lnTo>
                    <a:pt x="493" y="102"/>
                  </a:lnTo>
                  <a:lnTo>
                    <a:pt x="498" y="219"/>
                  </a:lnTo>
                  <a:lnTo>
                    <a:pt x="500" y="348"/>
                  </a:lnTo>
                  <a:lnTo>
                    <a:pt x="493" y="430"/>
                  </a:lnTo>
                  <a:lnTo>
                    <a:pt x="482" y="444"/>
                  </a:lnTo>
                  <a:lnTo>
                    <a:pt x="453" y="448"/>
                  </a:lnTo>
                  <a:lnTo>
                    <a:pt x="319" y="424"/>
                  </a:lnTo>
                  <a:lnTo>
                    <a:pt x="117" y="382"/>
                  </a:lnTo>
                  <a:lnTo>
                    <a:pt x="16" y="355"/>
                  </a:lnTo>
                  <a:lnTo>
                    <a:pt x="3" y="333"/>
                  </a:lnTo>
                  <a:lnTo>
                    <a:pt x="0" y="289"/>
                  </a:lnTo>
                  <a:lnTo>
                    <a:pt x="6" y="189"/>
                  </a:lnTo>
                  <a:lnTo>
                    <a:pt x="24" y="92"/>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1287" name="Group 16"/>
            <p:cNvGrpSpPr>
              <a:grpSpLocks/>
            </p:cNvGrpSpPr>
            <p:nvPr/>
          </p:nvGrpSpPr>
          <p:grpSpPr bwMode="auto">
            <a:xfrm>
              <a:off x="3618" y="1865"/>
              <a:ext cx="818" cy="871"/>
              <a:chOff x="1329" y="819"/>
              <a:chExt cx="922" cy="983"/>
            </a:xfrm>
          </p:grpSpPr>
          <p:sp>
            <p:nvSpPr>
              <p:cNvPr id="11288" name="Freeform 17"/>
              <p:cNvSpPr>
                <a:spLocks/>
              </p:cNvSpPr>
              <p:nvPr/>
            </p:nvSpPr>
            <p:spPr bwMode="auto">
              <a:xfrm>
                <a:off x="1329" y="1366"/>
                <a:ext cx="922" cy="436"/>
              </a:xfrm>
              <a:custGeom>
                <a:avLst/>
                <a:gdLst>
                  <a:gd name="T0" fmla="*/ 15 w 922"/>
                  <a:gd name="T1" fmla="*/ 153 h 436"/>
                  <a:gd name="T2" fmla="*/ 139 w 922"/>
                  <a:gd name="T3" fmla="*/ 76 h 436"/>
                  <a:gd name="T4" fmla="*/ 139 w 922"/>
                  <a:gd name="T5" fmla="*/ 98 h 436"/>
                  <a:gd name="T6" fmla="*/ 54 w 922"/>
                  <a:gd name="T7" fmla="*/ 154 h 436"/>
                  <a:gd name="T8" fmla="*/ 186 w 922"/>
                  <a:gd name="T9" fmla="*/ 168 h 436"/>
                  <a:gd name="T10" fmla="*/ 460 w 922"/>
                  <a:gd name="T11" fmla="*/ 215 h 436"/>
                  <a:gd name="T12" fmla="*/ 607 w 922"/>
                  <a:gd name="T13" fmla="*/ 227 h 436"/>
                  <a:gd name="T14" fmla="*/ 701 w 922"/>
                  <a:gd name="T15" fmla="*/ 224 h 436"/>
                  <a:gd name="T16" fmla="*/ 727 w 922"/>
                  <a:gd name="T17" fmla="*/ 221 h 436"/>
                  <a:gd name="T18" fmla="*/ 869 w 922"/>
                  <a:gd name="T19" fmla="*/ 22 h 436"/>
                  <a:gd name="T20" fmla="*/ 821 w 922"/>
                  <a:gd name="T21" fmla="*/ 0 h 436"/>
                  <a:gd name="T22" fmla="*/ 896 w 922"/>
                  <a:gd name="T23" fmla="*/ 0 h 436"/>
                  <a:gd name="T24" fmla="*/ 922 w 922"/>
                  <a:gd name="T25" fmla="*/ 28 h 436"/>
                  <a:gd name="T26" fmla="*/ 921 w 922"/>
                  <a:gd name="T27" fmla="*/ 110 h 436"/>
                  <a:gd name="T28" fmla="*/ 889 w 922"/>
                  <a:gd name="T29" fmla="*/ 172 h 436"/>
                  <a:gd name="T30" fmla="*/ 786 w 922"/>
                  <a:gd name="T31" fmla="*/ 373 h 436"/>
                  <a:gd name="T32" fmla="*/ 742 w 922"/>
                  <a:gd name="T33" fmla="*/ 433 h 436"/>
                  <a:gd name="T34" fmla="*/ 712 w 922"/>
                  <a:gd name="T35" fmla="*/ 436 h 436"/>
                  <a:gd name="T36" fmla="*/ 490 w 922"/>
                  <a:gd name="T37" fmla="*/ 396 h 436"/>
                  <a:gd name="T38" fmla="*/ 256 w 922"/>
                  <a:gd name="T39" fmla="*/ 365 h 436"/>
                  <a:gd name="T40" fmla="*/ 34 w 922"/>
                  <a:gd name="T41" fmla="*/ 346 h 436"/>
                  <a:gd name="T42" fmla="*/ 0 w 922"/>
                  <a:gd name="T43" fmla="*/ 343 h 436"/>
                  <a:gd name="T44" fmla="*/ 7 w 922"/>
                  <a:gd name="T45" fmla="*/ 280 h 436"/>
                  <a:gd name="T46" fmla="*/ 12 w 922"/>
                  <a:gd name="T47" fmla="*/ 218 h 436"/>
                  <a:gd name="T48" fmla="*/ 16 w 922"/>
                  <a:gd name="T49" fmla="*/ 184 h 436"/>
                  <a:gd name="T50" fmla="*/ 31 w 922"/>
                  <a:gd name="T51" fmla="*/ 208 h 436"/>
                  <a:gd name="T52" fmla="*/ 27 w 922"/>
                  <a:gd name="T53" fmla="*/ 260 h 436"/>
                  <a:gd name="T54" fmla="*/ 26 w 922"/>
                  <a:gd name="T55" fmla="*/ 313 h 436"/>
                  <a:gd name="T56" fmla="*/ 87 w 922"/>
                  <a:gd name="T57" fmla="*/ 333 h 436"/>
                  <a:gd name="T58" fmla="*/ 234 w 922"/>
                  <a:gd name="T59" fmla="*/ 342 h 436"/>
                  <a:gd name="T60" fmla="*/ 359 w 922"/>
                  <a:gd name="T61" fmla="*/ 351 h 436"/>
                  <a:gd name="T62" fmla="*/ 462 w 922"/>
                  <a:gd name="T63" fmla="*/ 368 h 436"/>
                  <a:gd name="T64" fmla="*/ 615 w 922"/>
                  <a:gd name="T65" fmla="*/ 393 h 436"/>
                  <a:gd name="T66" fmla="*/ 713 w 922"/>
                  <a:gd name="T67" fmla="*/ 407 h 436"/>
                  <a:gd name="T68" fmla="*/ 721 w 922"/>
                  <a:gd name="T69" fmla="*/ 380 h 436"/>
                  <a:gd name="T70" fmla="*/ 721 w 922"/>
                  <a:gd name="T71" fmla="*/ 318 h 436"/>
                  <a:gd name="T72" fmla="*/ 723 w 922"/>
                  <a:gd name="T73" fmla="*/ 250 h 436"/>
                  <a:gd name="T74" fmla="*/ 734 w 922"/>
                  <a:gd name="T75" fmla="*/ 268 h 436"/>
                  <a:gd name="T76" fmla="*/ 736 w 922"/>
                  <a:gd name="T77" fmla="*/ 344 h 436"/>
                  <a:gd name="T78" fmla="*/ 744 w 922"/>
                  <a:gd name="T79" fmla="*/ 384 h 436"/>
                  <a:gd name="T80" fmla="*/ 764 w 922"/>
                  <a:gd name="T81" fmla="*/ 367 h 436"/>
                  <a:gd name="T82" fmla="*/ 801 w 922"/>
                  <a:gd name="T83" fmla="*/ 298 h 436"/>
                  <a:gd name="T84" fmla="*/ 856 w 922"/>
                  <a:gd name="T85" fmla="*/ 200 h 436"/>
                  <a:gd name="T86" fmla="*/ 897 w 922"/>
                  <a:gd name="T87" fmla="*/ 120 h 436"/>
                  <a:gd name="T88" fmla="*/ 906 w 922"/>
                  <a:gd name="T89" fmla="*/ 97 h 436"/>
                  <a:gd name="T90" fmla="*/ 901 w 922"/>
                  <a:gd name="T91" fmla="*/ 36 h 436"/>
                  <a:gd name="T92" fmla="*/ 888 w 922"/>
                  <a:gd name="T93" fmla="*/ 28 h 436"/>
                  <a:gd name="T94" fmla="*/ 848 w 922"/>
                  <a:gd name="T95" fmla="*/ 94 h 436"/>
                  <a:gd name="T96" fmla="*/ 782 w 922"/>
                  <a:gd name="T97" fmla="*/ 177 h 436"/>
                  <a:gd name="T98" fmla="*/ 732 w 922"/>
                  <a:gd name="T99" fmla="*/ 242 h 436"/>
                  <a:gd name="T100" fmla="*/ 693 w 922"/>
                  <a:gd name="T101" fmla="*/ 247 h 436"/>
                  <a:gd name="T102" fmla="*/ 559 w 922"/>
                  <a:gd name="T103" fmla="*/ 243 h 436"/>
                  <a:gd name="T104" fmla="*/ 397 w 922"/>
                  <a:gd name="T105" fmla="*/ 227 h 436"/>
                  <a:gd name="T106" fmla="*/ 243 w 922"/>
                  <a:gd name="T107" fmla="*/ 203 h 436"/>
                  <a:gd name="T108" fmla="*/ 66 w 922"/>
                  <a:gd name="T109" fmla="*/ 175 h 436"/>
                  <a:gd name="T110" fmla="*/ 15 w 922"/>
                  <a:gd name="T111" fmla="*/ 153 h 4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922" h="436">
                    <a:moveTo>
                      <a:pt x="15" y="153"/>
                    </a:moveTo>
                    <a:lnTo>
                      <a:pt x="139" y="76"/>
                    </a:lnTo>
                    <a:lnTo>
                      <a:pt x="139" y="98"/>
                    </a:lnTo>
                    <a:lnTo>
                      <a:pt x="54" y="154"/>
                    </a:lnTo>
                    <a:lnTo>
                      <a:pt x="186" y="168"/>
                    </a:lnTo>
                    <a:lnTo>
                      <a:pt x="460" y="215"/>
                    </a:lnTo>
                    <a:lnTo>
                      <a:pt x="607" y="227"/>
                    </a:lnTo>
                    <a:lnTo>
                      <a:pt x="701" y="224"/>
                    </a:lnTo>
                    <a:lnTo>
                      <a:pt x="727" y="221"/>
                    </a:lnTo>
                    <a:lnTo>
                      <a:pt x="869" y="22"/>
                    </a:lnTo>
                    <a:lnTo>
                      <a:pt x="821" y="0"/>
                    </a:lnTo>
                    <a:lnTo>
                      <a:pt x="896" y="0"/>
                    </a:lnTo>
                    <a:lnTo>
                      <a:pt x="922" y="28"/>
                    </a:lnTo>
                    <a:lnTo>
                      <a:pt x="921" y="110"/>
                    </a:lnTo>
                    <a:lnTo>
                      <a:pt x="889" y="172"/>
                    </a:lnTo>
                    <a:lnTo>
                      <a:pt x="786" y="373"/>
                    </a:lnTo>
                    <a:lnTo>
                      <a:pt x="742" y="433"/>
                    </a:lnTo>
                    <a:lnTo>
                      <a:pt x="712" y="436"/>
                    </a:lnTo>
                    <a:lnTo>
                      <a:pt x="490" y="396"/>
                    </a:lnTo>
                    <a:lnTo>
                      <a:pt x="256" y="365"/>
                    </a:lnTo>
                    <a:lnTo>
                      <a:pt x="34" y="346"/>
                    </a:lnTo>
                    <a:lnTo>
                      <a:pt x="0" y="343"/>
                    </a:lnTo>
                    <a:lnTo>
                      <a:pt x="7" y="280"/>
                    </a:lnTo>
                    <a:lnTo>
                      <a:pt x="12" y="218"/>
                    </a:lnTo>
                    <a:lnTo>
                      <a:pt x="16" y="184"/>
                    </a:lnTo>
                    <a:lnTo>
                      <a:pt x="31" y="208"/>
                    </a:lnTo>
                    <a:lnTo>
                      <a:pt x="27" y="260"/>
                    </a:lnTo>
                    <a:lnTo>
                      <a:pt x="26" y="313"/>
                    </a:lnTo>
                    <a:lnTo>
                      <a:pt x="87" y="333"/>
                    </a:lnTo>
                    <a:lnTo>
                      <a:pt x="234" y="342"/>
                    </a:lnTo>
                    <a:lnTo>
                      <a:pt x="359" y="351"/>
                    </a:lnTo>
                    <a:lnTo>
                      <a:pt x="462" y="368"/>
                    </a:lnTo>
                    <a:lnTo>
                      <a:pt x="615" y="393"/>
                    </a:lnTo>
                    <a:lnTo>
                      <a:pt x="713" y="407"/>
                    </a:lnTo>
                    <a:lnTo>
                      <a:pt x="721" y="380"/>
                    </a:lnTo>
                    <a:lnTo>
                      <a:pt x="721" y="318"/>
                    </a:lnTo>
                    <a:lnTo>
                      <a:pt x="723" y="250"/>
                    </a:lnTo>
                    <a:lnTo>
                      <a:pt x="734" y="268"/>
                    </a:lnTo>
                    <a:lnTo>
                      <a:pt x="736" y="344"/>
                    </a:lnTo>
                    <a:lnTo>
                      <a:pt x="744" y="384"/>
                    </a:lnTo>
                    <a:lnTo>
                      <a:pt x="764" y="367"/>
                    </a:lnTo>
                    <a:lnTo>
                      <a:pt x="801" y="298"/>
                    </a:lnTo>
                    <a:lnTo>
                      <a:pt x="856" y="200"/>
                    </a:lnTo>
                    <a:lnTo>
                      <a:pt x="897" y="120"/>
                    </a:lnTo>
                    <a:lnTo>
                      <a:pt x="906" y="97"/>
                    </a:lnTo>
                    <a:lnTo>
                      <a:pt x="901" y="36"/>
                    </a:lnTo>
                    <a:lnTo>
                      <a:pt x="888" y="28"/>
                    </a:lnTo>
                    <a:lnTo>
                      <a:pt x="848" y="94"/>
                    </a:lnTo>
                    <a:lnTo>
                      <a:pt x="782" y="177"/>
                    </a:lnTo>
                    <a:lnTo>
                      <a:pt x="732" y="242"/>
                    </a:lnTo>
                    <a:lnTo>
                      <a:pt x="693" y="247"/>
                    </a:lnTo>
                    <a:lnTo>
                      <a:pt x="559" y="243"/>
                    </a:lnTo>
                    <a:lnTo>
                      <a:pt x="397" y="227"/>
                    </a:lnTo>
                    <a:lnTo>
                      <a:pt x="243" y="203"/>
                    </a:lnTo>
                    <a:lnTo>
                      <a:pt x="66" y="175"/>
                    </a:lnTo>
                    <a:lnTo>
                      <a:pt x="15" y="1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9" name="Freeform 18"/>
              <p:cNvSpPr>
                <a:spLocks/>
              </p:cNvSpPr>
              <p:nvPr/>
            </p:nvSpPr>
            <p:spPr bwMode="auto">
              <a:xfrm>
                <a:off x="1519" y="1428"/>
                <a:ext cx="460" cy="136"/>
              </a:xfrm>
              <a:custGeom>
                <a:avLst/>
                <a:gdLst>
                  <a:gd name="T0" fmla="*/ 15 w 460"/>
                  <a:gd name="T1" fmla="*/ 13 h 136"/>
                  <a:gd name="T2" fmla="*/ 50 w 460"/>
                  <a:gd name="T3" fmla="*/ 0 h 136"/>
                  <a:gd name="T4" fmla="*/ 65 w 460"/>
                  <a:gd name="T5" fmla="*/ 7 h 136"/>
                  <a:gd name="T6" fmla="*/ 51 w 460"/>
                  <a:gd name="T7" fmla="*/ 29 h 136"/>
                  <a:gd name="T8" fmla="*/ 25 w 460"/>
                  <a:gd name="T9" fmla="*/ 39 h 136"/>
                  <a:gd name="T10" fmla="*/ 67 w 460"/>
                  <a:gd name="T11" fmla="*/ 68 h 136"/>
                  <a:gd name="T12" fmla="*/ 134 w 460"/>
                  <a:gd name="T13" fmla="*/ 83 h 136"/>
                  <a:gd name="T14" fmla="*/ 195 w 460"/>
                  <a:gd name="T15" fmla="*/ 87 h 136"/>
                  <a:gd name="T16" fmla="*/ 238 w 460"/>
                  <a:gd name="T17" fmla="*/ 90 h 136"/>
                  <a:gd name="T18" fmla="*/ 320 w 460"/>
                  <a:gd name="T19" fmla="*/ 95 h 136"/>
                  <a:gd name="T20" fmla="*/ 372 w 460"/>
                  <a:gd name="T21" fmla="*/ 98 h 136"/>
                  <a:gd name="T22" fmla="*/ 408 w 460"/>
                  <a:gd name="T23" fmla="*/ 94 h 136"/>
                  <a:gd name="T24" fmla="*/ 442 w 460"/>
                  <a:gd name="T25" fmla="*/ 80 h 136"/>
                  <a:gd name="T26" fmla="*/ 441 w 460"/>
                  <a:gd name="T27" fmla="*/ 65 h 136"/>
                  <a:gd name="T28" fmla="*/ 460 w 460"/>
                  <a:gd name="T29" fmla="*/ 73 h 136"/>
                  <a:gd name="T30" fmla="*/ 447 w 460"/>
                  <a:gd name="T31" fmla="*/ 121 h 136"/>
                  <a:gd name="T32" fmla="*/ 396 w 460"/>
                  <a:gd name="T33" fmla="*/ 136 h 136"/>
                  <a:gd name="T34" fmla="*/ 287 w 460"/>
                  <a:gd name="T35" fmla="*/ 124 h 136"/>
                  <a:gd name="T36" fmla="*/ 177 w 460"/>
                  <a:gd name="T37" fmla="*/ 117 h 136"/>
                  <a:gd name="T38" fmla="*/ 114 w 460"/>
                  <a:gd name="T39" fmla="*/ 115 h 136"/>
                  <a:gd name="T40" fmla="*/ 42 w 460"/>
                  <a:gd name="T41" fmla="*/ 84 h 136"/>
                  <a:gd name="T42" fmla="*/ 7 w 460"/>
                  <a:gd name="T43" fmla="*/ 67 h 136"/>
                  <a:gd name="T44" fmla="*/ 0 w 460"/>
                  <a:gd name="T45" fmla="*/ 36 h 136"/>
                  <a:gd name="T46" fmla="*/ 15 w 460"/>
                  <a:gd name="T47" fmla="*/ 13 h 1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60" h="136">
                    <a:moveTo>
                      <a:pt x="15" y="13"/>
                    </a:moveTo>
                    <a:lnTo>
                      <a:pt x="50" y="0"/>
                    </a:lnTo>
                    <a:lnTo>
                      <a:pt x="65" y="7"/>
                    </a:lnTo>
                    <a:lnTo>
                      <a:pt x="51" y="29"/>
                    </a:lnTo>
                    <a:lnTo>
                      <a:pt x="25" y="39"/>
                    </a:lnTo>
                    <a:lnTo>
                      <a:pt x="67" y="68"/>
                    </a:lnTo>
                    <a:lnTo>
                      <a:pt x="134" y="83"/>
                    </a:lnTo>
                    <a:lnTo>
                      <a:pt x="195" y="87"/>
                    </a:lnTo>
                    <a:lnTo>
                      <a:pt x="238" y="90"/>
                    </a:lnTo>
                    <a:lnTo>
                      <a:pt x="320" y="95"/>
                    </a:lnTo>
                    <a:lnTo>
                      <a:pt x="372" y="98"/>
                    </a:lnTo>
                    <a:lnTo>
                      <a:pt x="408" y="94"/>
                    </a:lnTo>
                    <a:lnTo>
                      <a:pt x="442" y="80"/>
                    </a:lnTo>
                    <a:lnTo>
                      <a:pt x="441" y="65"/>
                    </a:lnTo>
                    <a:lnTo>
                      <a:pt x="460" y="73"/>
                    </a:lnTo>
                    <a:lnTo>
                      <a:pt x="447" y="121"/>
                    </a:lnTo>
                    <a:lnTo>
                      <a:pt x="396" y="136"/>
                    </a:lnTo>
                    <a:lnTo>
                      <a:pt x="287" y="124"/>
                    </a:lnTo>
                    <a:lnTo>
                      <a:pt x="177" y="117"/>
                    </a:lnTo>
                    <a:lnTo>
                      <a:pt x="114" y="115"/>
                    </a:lnTo>
                    <a:lnTo>
                      <a:pt x="42" y="84"/>
                    </a:lnTo>
                    <a:lnTo>
                      <a:pt x="7" y="67"/>
                    </a:lnTo>
                    <a:lnTo>
                      <a:pt x="0" y="36"/>
                    </a:lnTo>
                    <a:lnTo>
                      <a:pt x="15"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0" name="Freeform 19"/>
              <p:cNvSpPr>
                <a:spLocks/>
              </p:cNvSpPr>
              <p:nvPr/>
            </p:nvSpPr>
            <p:spPr bwMode="auto">
              <a:xfrm>
                <a:off x="1422" y="1587"/>
                <a:ext cx="52" cy="46"/>
              </a:xfrm>
              <a:custGeom>
                <a:avLst/>
                <a:gdLst>
                  <a:gd name="T0" fmla="*/ 9 w 52"/>
                  <a:gd name="T1" fmla="*/ 0 h 46"/>
                  <a:gd name="T2" fmla="*/ 52 w 52"/>
                  <a:gd name="T3" fmla="*/ 5 h 46"/>
                  <a:gd name="T4" fmla="*/ 47 w 52"/>
                  <a:gd name="T5" fmla="*/ 46 h 46"/>
                  <a:gd name="T6" fmla="*/ 0 w 52"/>
                  <a:gd name="T7" fmla="*/ 39 h 46"/>
                  <a:gd name="T8" fmla="*/ 9 w 52"/>
                  <a:gd name="T9" fmla="*/ 0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46">
                    <a:moveTo>
                      <a:pt x="9" y="0"/>
                    </a:moveTo>
                    <a:lnTo>
                      <a:pt x="52" y="5"/>
                    </a:lnTo>
                    <a:lnTo>
                      <a:pt x="47" y="46"/>
                    </a:lnTo>
                    <a:lnTo>
                      <a:pt x="0" y="39"/>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1" name="Freeform 20"/>
              <p:cNvSpPr>
                <a:spLocks/>
              </p:cNvSpPr>
              <p:nvPr/>
            </p:nvSpPr>
            <p:spPr bwMode="auto">
              <a:xfrm>
                <a:off x="1512" y="1596"/>
                <a:ext cx="51" cy="46"/>
              </a:xfrm>
              <a:custGeom>
                <a:avLst/>
                <a:gdLst>
                  <a:gd name="T0" fmla="*/ 8 w 51"/>
                  <a:gd name="T1" fmla="*/ 0 h 46"/>
                  <a:gd name="T2" fmla="*/ 51 w 51"/>
                  <a:gd name="T3" fmla="*/ 5 h 46"/>
                  <a:gd name="T4" fmla="*/ 47 w 51"/>
                  <a:gd name="T5" fmla="*/ 46 h 46"/>
                  <a:gd name="T6" fmla="*/ 0 w 51"/>
                  <a:gd name="T7" fmla="*/ 39 h 46"/>
                  <a:gd name="T8" fmla="*/ 8 w 51"/>
                  <a:gd name="T9" fmla="*/ 0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46">
                    <a:moveTo>
                      <a:pt x="8" y="0"/>
                    </a:moveTo>
                    <a:lnTo>
                      <a:pt x="51" y="5"/>
                    </a:lnTo>
                    <a:lnTo>
                      <a:pt x="47" y="46"/>
                    </a:lnTo>
                    <a:lnTo>
                      <a:pt x="0" y="39"/>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2" name="Freeform 21"/>
              <p:cNvSpPr>
                <a:spLocks/>
              </p:cNvSpPr>
              <p:nvPr/>
            </p:nvSpPr>
            <p:spPr bwMode="auto">
              <a:xfrm>
                <a:off x="1800" y="1640"/>
                <a:ext cx="194" cy="51"/>
              </a:xfrm>
              <a:custGeom>
                <a:avLst/>
                <a:gdLst>
                  <a:gd name="T0" fmla="*/ 4 w 194"/>
                  <a:gd name="T1" fmla="*/ 0 h 51"/>
                  <a:gd name="T2" fmla="*/ 193 w 194"/>
                  <a:gd name="T3" fmla="*/ 18 h 51"/>
                  <a:gd name="T4" fmla="*/ 194 w 194"/>
                  <a:gd name="T5" fmla="*/ 51 h 51"/>
                  <a:gd name="T6" fmla="*/ 0 w 194"/>
                  <a:gd name="T7" fmla="*/ 33 h 51"/>
                  <a:gd name="T8" fmla="*/ 4 w 194"/>
                  <a:gd name="T9" fmla="*/ 0 h 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 h="51">
                    <a:moveTo>
                      <a:pt x="4" y="0"/>
                    </a:moveTo>
                    <a:lnTo>
                      <a:pt x="193" y="18"/>
                    </a:lnTo>
                    <a:lnTo>
                      <a:pt x="194" y="51"/>
                    </a:lnTo>
                    <a:lnTo>
                      <a:pt x="0" y="33"/>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3" name="Freeform 22"/>
              <p:cNvSpPr>
                <a:spLocks/>
              </p:cNvSpPr>
              <p:nvPr/>
            </p:nvSpPr>
            <p:spPr bwMode="auto">
              <a:xfrm>
                <a:off x="1383" y="819"/>
                <a:ext cx="848" cy="658"/>
              </a:xfrm>
              <a:custGeom>
                <a:avLst/>
                <a:gdLst>
                  <a:gd name="T0" fmla="*/ 47 w 848"/>
                  <a:gd name="T1" fmla="*/ 551 h 658"/>
                  <a:gd name="T2" fmla="*/ 28 w 848"/>
                  <a:gd name="T3" fmla="*/ 523 h 658"/>
                  <a:gd name="T4" fmla="*/ 20 w 848"/>
                  <a:gd name="T5" fmla="*/ 481 h 658"/>
                  <a:gd name="T6" fmla="*/ 31 w 848"/>
                  <a:gd name="T7" fmla="*/ 389 h 658"/>
                  <a:gd name="T8" fmla="*/ 54 w 848"/>
                  <a:gd name="T9" fmla="*/ 240 h 658"/>
                  <a:gd name="T10" fmla="*/ 76 w 848"/>
                  <a:gd name="T11" fmla="*/ 129 h 658"/>
                  <a:gd name="T12" fmla="*/ 94 w 848"/>
                  <a:gd name="T13" fmla="*/ 104 h 658"/>
                  <a:gd name="T14" fmla="*/ 123 w 848"/>
                  <a:gd name="T15" fmla="*/ 76 h 658"/>
                  <a:gd name="T16" fmla="*/ 189 w 848"/>
                  <a:gd name="T17" fmla="*/ 61 h 658"/>
                  <a:gd name="T18" fmla="*/ 300 w 848"/>
                  <a:gd name="T19" fmla="*/ 48 h 658"/>
                  <a:gd name="T20" fmla="*/ 392 w 848"/>
                  <a:gd name="T21" fmla="*/ 38 h 658"/>
                  <a:gd name="T22" fmla="*/ 434 w 848"/>
                  <a:gd name="T23" fmla="*/ 21 h 658"/>
                  <a:gd name="T24" fmla="*/ 506 w 848"/>
                  <a:gd name="T25" fmla="*/ 25 h 658"/>
                  <a:gd name="T26" fmla="*/ 628 w 848"/>
                  <a:gd name="T27" fmla="*/ 57 h 658"/>
                  <a:gd name="T28" fmla="*/ 731 w 848"/>
                  <a:gd name="T29" fmla="*/ 67 h 658"/>
                  <a:gd name="T30" fmla="*/ 776 w 848"/>
                  <a:gd name="T31" fmla="*/ 65 h 658"/>
                  <a:gd name="T32" fmla="*/ 811 w 848"/>
                  <a:gd name="T33" fmla="*/ 80 h 658"/>
                  <a:gd name="T34" fmla="*/ 825 w 848"/>
                  <a:gd name="T35" fmla="*/ 144 h 658"/>
                  <a:gd name="T36" fmla="*/ 823 w 848"/>
                  <a:gd name="T37" fmla="*/ 262 h 658"/>
                  <a:gd name="T38" fmla="*/ 823 w 848"/>
                  <a:gd name="T39" fmla="*/ 354 h 658"/>
                  <a:gd name="T40" fmla="*/ 810 w 848"/>
                  <a:gd name="T41" fmla="*/ 394 h 658"/>
                  <a:gd name="T42" fmla="*/ 766 w 848"/>
                  <a:gd name="T43" fmla="*/ 491 h 658"/>
                  <a:gd name="T44" fmla="*/ 714 w 848"/>
                  <a:gd name="T45" fmla="*/ 589 h 658"/>
                  <a:gd name="T46" fmla="*/ 683 w 848"/>
                  <a:gd name="T47" fmla="*/ 625 h 658"/>
                  <a:gd name="T48" fmla="*/ 665 w 848"/>
                  <a:gd name="T49" fmla="*/ 640 h 658"/>
                  <a:gd name="T50" fmla="*/ 686 w 848"/>
                  <a:gd name="T51" fmla="*/ 658 h 658"/>
                  <a:gd name="T52" fmla="*/ 719 w 848"/>
                  <a:gd name="T53" fmla="*/ 619 h 658"/>
                  <a:gd name="T54" fmla="*/ 769 w 848"/>
                  <a:gd name="T55" fmla="*/ 531 h 658"/>
                  <a:gd name="T56" fmla="*/ 815 w 848"/>
                  <a:gd name="T57" fmla="*/ 438 h 658"/>
                  <a:gd name="T58" fmla="*/ 831 w 848"/>
                  <a:gd name="T59" fmla="*/ 392 h 658"/>
                  <a:gd name="T60" fmla="*/ 841 w 848"/>
                  <a:gd name="T61" fmla="*/ 347 h 658"/>
                  <a:gd name="T62" fmla="*/ 844 w 848"/>
                  <a:gd name="T63" fmla="*/ 270 h 658"/>
                  <a:gd name="T64" fmla="*/ 848 w 848"/>
                  <a:gd name="T65" fmla="*/ 153 h 658"/>
                  <a:gd name="T66" fmla="*/ 836 w 848"/>
                  <a:gd name="T67" fmla="*/ 89 h 658"/>
                  <a:gd name="T68" fmla="*/ 819 w 848"/>
                  <a:gd name="T69" fmla="*/ 57 h 658"/>
                  <a:gd name="T70" fmla="*/ 787 w 848"/>
                  <a:gd name="T71" fmla="*/ 44 h 658"/>
                  <a:gd name="T72" fmla="*/ 744 w 848"/>
                  <a:gd name="T73" fmla="*/ 50 h 658"/>
                  <a:gd name="T74" fmla="*/ 679 w 848"/>
                  <a:gd name="T75" fmla="*/ 45 h 658"/>
                  <a:gd name="T76" fmla="*/ 599 w 848"/>
                  <a:gd name="T77" fmla="*/ 31 h 658"/>
                  <a:gd name="T78" fmla="*/ 516 w 848"/>
                  <a:gd name="T79" fmla="*/ 6 h 658"/>
                  <a:gd name="T80" fmla="*/ 460 w 848"/>
                  <a:gd name="T81" fmla="*/ 0 h 658"/>
                  <a:gd name="T82" fmla="*/ 430 w 848"/>
                  <a:gd name="T83" fmla="*/ 6 h 658"/>
                  <a:gd name="T84" fmla="*/ 360 w 848"/>
                  <a:gd name="T85" fmla="*/ 28 h 658"/>
                  <a:gd name="T86" fmla="*/ 235 w 848"/>
                  <a:gd name="T87" fmla="*/ 40 h 658"/>
                  <a:gd name="T88" fmla="*/ 112 w 848"/>
                  <a:gd name="T89" fmla="*/ 60 h 658"/>
                  <a:gd name="T90" fmla="*/ 72 w 848"/>
                  <a:gd name="T91" fmla="*/ 96 h 658"/>
                  <a:gd name="T92" fmla="*/ 44 w 848"/>
                  <a:gd name="T93" fmla="*/ 147 h 658"/>
                  <a:gd name="T94" fmla="*/ 24 w 848"/>
                  <a:gd name="T95" fmla="*/ 255 h 658"/>
                  <a:gd name="T96" fmla="*/ 13 w 848"/>
                  <a:gd name="T97" fmla="*/ 358 h 658"/>
                  <a:gd name="T98" fmla="*/ 0 w 848"/>
                  <a:gd name="T99" fmla="*/ 467 h 658"/>
                  <a:gd name="T100" fmla="*/ 10 w 848"/>
                  <a:gd name="T101" fmla="*/ 529 h 658"/>
                  <a:gd name="T102" fmla="*/ 24 w 848"/>
                  <a:gd name="T103" fmla="*/ 566 h 658"/>
                  <a:gd name="T104" fmla="*/ 55 w 848"/>
                  <a:gd name="T105" fmla="*/ 582 h 658"/>
                  <a:gd name="T106" fmla="*/ 73 w 848"/>
                  <a:gd name="T107" fmla="*/ 579 h 658"/>
                  <a:gd name="T108" fmla="*/ 47 w 848"/>
                  <a:gd name="T109" fmla="*/ 551 h 65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848" h="658">
                    <a:moveTo>
                      <a:pt x="47" y="551"/>
                    </a:moveTo>
                    <a:lnTo>
                      <a:pt x="28" y="523"/>
                    </a:lnTo>
                    <a:lnTo>
                      <a:pt x="20" y="481"/>
                    </a:lnTo>
                    <a:lnTo>
                      <a:pt x="31" y="389"/>
                    </a:lnTo>
                    <a:lnTo>
                      <a:pt x="54" y="240"/>
                    </a:lnTo>
                    <a:lnTo>
                      <a:pt x="76" y="129"/>
                    </a:lnTo>
                    <a:lnTo>
                      <a:pt x="94" y="104"/>
                    </a:lnTo>
                    <a:lnTo>
                      <a:pt x="123" y="76"/>
                    </a:lnTo>
                    <a:lnTo>
                      <a:pt x="189" y="61"/>
                    </a:lnTo>
                    <a:lnTo>
                      <a:pt x="300" y="48"/>
                    </a:lnTo>
                    <a:lnTo>
                      <a:pt x="392" y="38"/>
                    </a:lnTo>
                    <a:lnTo>
                      <a:pt x="434" y="21"/>
                    </a:lnTo>
                    <a:lnTo>
                      <a:pt x="506" y="25"/>
                    </a:lnTo>
                    <a:lnTo>
                      <a:pt x="628" y="57"/>
                    </a:lnTo>
                    <a:lnTo>
                      <a:pt x="731" y="67"/>
                    </a:lnTo>
                    <a:lnTo>
                      <a:pt x="776" y="65"/>
                    </a:lnTo>
                    <a:lnTo>
                      <a:pt x="811" y="80"/>
                    </a:lnTo>
                    <a:lnTo>
                      <a:pt x="825" y="144"/>
                    </a:lnTo>
                    <a:lnTo>
                      <a:pt x="823" y="262"/>
                    </a:lnTo>
                    <a:lnTo>
                      <a:pt x="823" y="354"/>
                    </a:lnTo>
                    <a:lnTo>
                      <a:pt x="810" y="394"/>
                    </a:lnTo>
                    <a:lnTo>
                      <a:pt x="766" y="491"/>
                    </a:lnTo>
                    <a:lnTo>
                      <a:pt x="714" y="589"/>
                    </a:lnTo>
                    <a:lnTo>
                      <a:pt x="683" y="625"/>
                    </a:lnTo>
                    <a:lnTo>
                      <a:pt x="665" y="640"/>
                    </a:lnTo>
                    <a:lnTo>
                      <a:pt x="686" y="658"/>
                    </a:lnTo>
                    <a:lnTo>
                      <a:pt x="719" y="619"/>
                    </a:lnTo>
                    <a:lnTo>
                      <a:pt x="769" y="531"/>
                    </a:lnTo>
                    <a:lnTo>
                      <a:pt x="815" y="438"/>
                    </a:lnTo>
                    <a:lnTo>
                      <a:pt x="831" y="392"/>
                    </a:lnTo>
                    <a:lnTo>
                      <a:pt x="841" y="347"/>
                    </a:lnTo>
                    <a:lnTo>
                      <a:pt x="844" y="270"/>
                    </a:lnTo>
                    <a:lnTo>
                      <a:pt x="848" y="153"/>
                    </a:lnTo>
                    <a:lnTo>
                      <a:pt x="836" y="89"/>
                    </a:lnTo>
                    <a:lnTo>
                      <a:pt x="819" y="57"/>
                    </a:lnTo>
                    <a:lnTo>
                      <a:pt x="787" y="44"/>
                    </a:lnTo>
                    <a:lnTo>
                      <a:pt x="744" y="50"/>
                    </a:lnTo>
                    <a:lnTo>
                      <a:pt x="679" y="45"/>
                    </a:lnTo>
                    <a:lnTo>
                      <a:pt x="599" y="31"/>
                    </a:lnTo>
                    <a:lnTo>
                      <a:pt x="516" y="6"/>
                    </a:lnTo>
                    <a:lnTo>
                      <a:pt x="460" y="0"/>
                    </a:lnTo>
                    <a:lnTo>
                      <a:pt x="430" y="6"/>
                    </a:lnTo>
                    <a:lnTo>
                      <a:pt x="360" y="28"/>
                    </a:lnTo>
                    <a:lnTo>
                      <a:pt x="235" y="40"/>
                    </a:lnTo>
                    <a:lnTo>
                      <a:pt x="112" y="60"/>
                    </a:lnTo>
                    <a:lnTo>
                      <a:pt x="72" y="96"/>
                    </a:lnTo>
                    <a:lnTo>
                      <a:pt x="44" y="147"/>
                    </a:lnTo>
                    <a:lnTo>
                      <a:pt x="24" y="255"/>
                    </a:lnTo>
                    <a:lnTo>
                      <a:pt x="13" y="358"/>
                    </a:lnTo>
                    <a:lnTo>
                      <a:pt x="0" y="467"/>
                    </a:lnTo>
                    <a:lnTo>
                      <a:pt x="10" y="529"/>
                    </a:lnTo>
                    <a:lnTo>
                      <a:pt x="24" y="566"/>
                    </a:lnTo>
                    <a:lnTo>
                      <a:pt x="55" y="582"/>
                    </a:lnTo>
                    <a:lnTo>
                      <a:pt x="73" y="579"/>
                    </a:lnTo>
                    <a:lnTo>
                      <a:pt x="47" y="5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4" name="Freeform 23"/>
              <p:cNvSpPr>
                <a:spLocks/>
              </p:cNvSpPr>
              <p:nvPr/>
            </p:nvSpPr>
            <p:spPr bwMode="auto">
              <a:xfrm>
                <a:off x="1427" y="877"/>
                <a:ext cx="778" cy="607"/>
              </a:xfrm>
              <a:custGeom>
                <a:avLst/>
                <a:gdLst>
                  <a:gd name="T0" fmla="*/ 0 w 778"/>
                  <a:gd name="T1" fmla="*/ 499 h 607"/>
                  <a:gd name="T2" fmla="*/ 115 w 778"/>
                  <a:gd name="T3" fmla="*/ 525 h 607"/>
                  <a:gd name="T4" fmla="*/ 276 w 778"/>
                  <a:gd name="T5" fmla="*/ 554 h 607"/>
                  <a:gd name="T6" fmla="*/ 407 w 778"/>
                  <a:gd name="T7" fmla="*/ 576 h 607"/>
                  <a:gd name="T8" fmla="*/ 526 w 778"/>
                  <a:gd name="T9" fmla="*/ 580 h 607"/>
                  <a:gd name="T10" fmla="*/ 604 w 778"/>
                  <a:gd name="T11" fmla="*/ 580 h 607"/>
                  <a:gd name="T12" fmla="*/ 627 w 778"/>
                  <a:gd name="T13" fmla="*/ 573 h 607"/>
                  <a:gd name="T14" fmla="*/ 637 w 778"/>
                  <a:gd name="T15" fmla="*/ 516 h 607"/>
                  <a:gd name="T16" fmla="*/ 633 w 778"/>
                  <a:gd name="T17" fmla="*/ 362 h 607"/>
                  <a:gd name="T18" fmla="*/ 628 w 778"/>
                  <a:gd name="T19" fmla="*/ 174 h 607"/>
                  <a:gd name="T20" fmla="*/ 622 w 778"/>
                  <a:gd name="T21" fmla="*/ 106 h 607"/>
                  <a:gd name="T22" fmla="*/ 610 w 778"/>
                  <a:gd name="T23" fmla="*/ 79 h 607"/>
                  <a:gd name="T24" fmla="*/ 405 w 778"/>
                  <a:gd name="T25" fmla="*/ 69 h 607"/>
                  <a:gd name="T26" fmla="*/ 209 w 778"/>
                  <a:gd name="T27" fmla="*/ 42 h 607"/>
                  <a:gd name="T28" fmla="*/ 101 w 778"/>
                  <a:gd name="T29" fmla="*/ 26 h 607"/>
                  <a:gd name="T30" fmla="*/ 63 w 778"/>
                  <a:gd name="T31" fmla="*/ 26 h 607"/>
                  <a:gd name="T32" fmla="*/ 87 w 778"/>
                  <a:gd name="T33" fmla="*/ 3 h 607"/>
                  <a:gd name="T34" fmla="*/ 133 w 778"/>
                  <a:gd name="T35" fmla="*/ 15 h 607"/>
                  <a:gd name="T36" fmla="*/ 268 w 778"/>
                  <a:gd name="T37" fmla="*/ 32 h 607"/>
                  <a:gd name="T38" fmla="*/ 396 w 778"/>
                  <a:gd name="T39" fmla="*/ 45 h 607"/>
                  <a:gd name="T40" fmla="*/ 511 w 778"/>
                  <a:gd name="T41" fmla="*/ 53 h 607"/>
                  <a:gd name="T42" fmla="*/ 619 w 778"/>
                  <a:gd name="T43" fmla="*/ 60 h 607"/>
                  <a:gd name="T44" fmla="*/ 709 w 778"/>
                  <a:gd name="T45" fmla="*/ 35 h 607"/>
                  <a:gd name="T46" fmla="*/ 763 w 778"/>
                  <a:gd name="T47" fmla="*/ 0 h 607"/>
                  <a:gd name="T48" fmla="*/ 778 w 778"/>
                  <a:gd name="T49" fmla="*/ 24 h 607"/>
                  <a:gd name="T50" fmla="*/ 730 w 778"/>
                  <a:gd name="T51" fmla="*/ 45 h 607"/>
                  <a:gd name="T52" fmla="*/ 660 w 778"/>
                  <a:gd name="T53" fmla="*/ 75 h 607"/>
                  <a:gd name="T54" fmla="*/ 638 w 778"/>
                  <a:gd name="T55" fmla="*/ 86 h 607"/>
                  <a:gd name="T56" fmla="*/ 645 w 778"/>
                  <a:gd name="T57" fmla="*/ 186 h 607"/>
                  <a:gd name="T58" fmla="*/ 649 w 778"/>
                  <a:gd name="T59" fmla="*/ 283 h 607"/>
                  <a:gd name="T60" fmla="*/ 651 w 778"/>
                  <a:gd name="T61" fmla="*/ 371 h 607"/>
                  <a:gd name="T62" fmla="*/ 652 w 778"/>
                  <a:gd name="T63" fmla="*/ 456 h 607"/>
                  <a:gd name="T64" fmla="*/ 655 w 778"/>
                  <a:gd name="T65" fmla="*/ 520 h 607"/>
                  <a:gd name="T66" fmla="*/ 654 w 778"/>
                  <a:gd name="T67" fmla="*/ 574 h 607"/>
                  <a:gd name="T68" fmla="*/ 640 w 778"/>
                  <a:gd name="T69" fmla="*/ 599 h 607"/>
                  <a:gd name="T70" fmla="*/ 547 w 778"/>
                  <a:gd name="T71" fmla="*/ 607 h 607"/>
                  <a:gd name="T72" fmla="*/ 389 w 778"/>
                  <a:gd name="T73" fmla="*/ 593 h 607"/>
                  <a:gd name="T74" fmla="*/ 227 w 778"/>
                  <a:gd name="T75" fmla="*/ 561 h 607"/>
                  <a:gd name="T76" fmla="*/ 108 w 778"/>
                  <a:gd name="T77" fmla="*/ 542 h 607"/>
                  <a:gd name="T78" fmla="*/ 9 w 778"/>
                  <a:gd name="T79" fmla="*/ 524 h 607"/>
                  <a:gd name="T80" fmla="*/ 0 w 778"/>
                  <a:gd name="T81" fmla="*/ 499 h 6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78" h="607">
                    <a:moveTo>
                      <a:pt x="0" y="499"/>
                    </a:moveTo>
                    <a:lnTo>
                      <a:pt x="115" y="525"/>
                    </a:lnTo>
                    <a:lnTo>
                      <a:pt x="276" y="554"/>
                    </a:lnTo>
                    <a:lnTo>
                      <a:pt x="407" y="576"/>
                    </a:lnTo>
                    <a:lnTo>
                      <a:pt x="526" y="580"/>
                    </a:lnTo>
                    <a:lnTo>
                      <a:pt x="604" y="580"/>
                    </a:lnTo>
                    <a:lnTo>
                      <a:pt x="627" y="573"/>
                    </a:lnTo>
                    <a:lnTo>
                      <a:pt x="637" y="516"/>
                    </a:lnTo>
                    <a:lnTo>
                      <a:pt x="633" y="362"/>
                    </a:lnTo>
                    <a:lnTo>
                      <a:pt x="628" y="174"/>
                    </a:lnTo>
                    <a:lnTo>
                      <a:pt x="622" y="106"/>
                    </a:lnTo>
                    <a:lnTo>
                      <a:pt x="610" y="79"/>
                    </a:lnTo>
                    <a:lnTo>
                      <a:pt x="405" y="69"/>
                    </a:lnTo>
                    <a:lnTo>
                      <a:pt x="209" y="42"/>
                    </a:lnTo>
                    <a:lnTo>
                      <a:pt x="101" y="26"/>
                    </a:lnTo>
                    <a:lnTo>
                      <a:pt x="63" y="26"/>
                    </a:lnTo>
                    <a:lnTo>
                      <a:pt x="87" y="3"/>
                    </a:lnTo>
                    <a:lnTo>
                      <a:pt x="133" y="15"/>
                    </a:lnTo>
                    <a:lnTo>
                      <a:pt x="268" y="32"/>
                    </a:lnTo>
                    <a:lnTo>
                      <a:pt x="396" y="45"/>
                    </a:lnTo>
                    <a:lnTo>
                      <a:pt x="511" y="53"/>
                    </a:lnTo>
                    <a:lnTo>
                      <a:pt x="619" y="60"/>
                    </a:lnTo>
                    <a:lnTo>
                      <a:pt x="709" y="35"/>
                    </a:lnTo>
                    <a:lnTo>
                      <a:pt x="763" y="0"/>
                    </a:lnTo>
                    <a:lnTo>
                      <a:pt x="778" y="24"/>
                    </a:lnTo>
                    <a:lnTo>
                      <a:pt x="730" y="45"/>
                    </a:lnTo>
                    <a:lnTo>
                      <a:pt x="660" y="75"/>
                    </a:lnTo>
                    <a:lnTo>
                      <a:pt x="638" y="86"/>
                    </a:lnTo>
                    <a:lnTo>
                      <a:pt x="645" y="186"/>
                    </a:lnTo>
                    <a:lnTo>
                      <a:pt x="649" y="283"/>
                    </a:lnTo>
                    <a:lnTo>
                      <a:pt x="651" y="371"/>
                    </a:lnTo>
                    <a:lnTo>
                      <a:pt x="652" y="456"/>
                    </a:lnTo>
                    <a:lnTo>
                      <a:pt x="655" y="520"/>
                    </a:lnTo>
                    <a:lnTo>
                      <a:pt x="654" y="574"/>
                    </a:lnTo>
                    <a:lnTo>
                      <a:pt x="640" y="599"/>
                    </a:lnTo>
                    <a:lnTo>
                      <a:pt x="547" y="607"/>
                    </a:lnTo>
                    <a:lnTo>
                      <a:pt x="389" y="593"/>
                    </a:lnTo>
                    <a:lnTo>
                      <a:pt x="227" y="561"/>
                    </a:lnTo>
                    <a:lnTo>
                      <a:pt x="108" y="542"/>
                    </a:lnTo>
                    <a:lnTo>
                      <a:pt x="9" y="524"/>
                    </a:lnTo>
                    <a:lnTo>
                      <a:pt x="0" y="4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5" name="Freeform 24"/>
              <p:cNvSpPr>
                <a:spLocks/>
              </p:cNvSpPr>
              <p:nvPr/>
            </p:nvSpPr>
            <p:spPr bwMode="auto">
              <a:xfrm>
                <a:off x="1562" y="954"/>
                <a:ext cx="430" cy="466"/>
              </a:xfrm>
              <a:custGeom>
                <a:avLst/>
                <a:gdLst>
                  <a:gd name="T0" fmla="*/ 0 w 430"/>
                  <a:gd name="T1" fmla="*/ 0 h 466"/>
                  <a:gd name="T2" fmla="*/ 159 w 430"/>
                  <a:gd name="T3" fmla="*/ 19 h 466"/>
                  <a:gd name="T4" fmla="*/ 271 w 430"/>
                  <a:gd name="T5" fmla="*/ 32 h 466"/>
                  <a:gd name="T6" fmla="*/ 394 w 430"/>
                  <a:gd name="T7" fmla="*/ 54 h 466"/>
                  <a:gd name="T8" fmla="*/ 412 w 430"/>
                  <a:gd name="T9" fmla="*/ 70 h 466"/>
                  <a:gd name="T10" fmla="*/ 422 w 430"/>
                  <a:gd name="T11" fmla="*/ 95 h 466"/>
                  <a:gd name="T12" fmla="*/ 430 w 430"/>
                  <a:gd name="T13" fmla="*/ 213 h 466"/>
                  <a:gd name="T14" fmla="*/ 430 w 430"/>
                  <a:gd name="T15" fmla="*/ 346 h 466"/>
                  <a:gd name="T16" fmla="*/ 426 w 430"/>
                  <a:gd name="T17" fmla="*/ 438 h 466"/>
                  <a:gd name="T18" fmla="*/ 412 w 430"/>
                  <a:gd name="T19" fmla="*/ 464 h 466"/>
                  <a:gd name="T20" fmla="*/ 385 w 430"/>
                  <a:gd name="T21" fmla="*/ 466 h 466"/>
                  <a:gd name="T22" fmla="*/ 246 w 430"/>
                  <a:gd name="T23" fmla="*/ 428 h 466"/>
                  <a:gd name="T24" fmla="*/ 395 w 430"/>
                  <a:gd name="T25" fmla="*/ 440 h 466"/>
                  <a:gd name="T26" fmla="*/ 405 w 430"/>
                  <a:gd name="T27" fmla="*/ 435 h 466"/>
                  <a:gd name="T28" fmla="*/ 412 w 430"/>
                  <a:gd name="T29" fmla="*/ 373 h 466"/>
                  <a:gd name="T30" fmla="*/ 414 w 430"/>
                  <a:gd name="T31" fmla="*/ 285 h 466"/>
                  <a:gd name="T32" fmla="*/ 409 w 430"/>
                  <a:gd name="T33" fmla="*/ 165 h 466"/>
                  <a:gd name="T34" fmla="*/ 401 w 430"/>
                  <a:gd name="T35" fmla="*/ 88 h 466"/>
                  <a:gd name="T36" fmla="*/ 385 w 430"/>
                  <a:gd name="T37" fmla="*/ 73 h 466"/>
                  <a:gd name="T38" fmla="*/ 297 w 430"/>
                  <a:gd name="T39" fmla="*/ 56 h 466"/>
                  <a:gd name="T40" fmla="*/ 176 w 430"/>
                  <a:gd name="T41" fmla="*/ 41 h 466"/>
                  <a:gd name="T42" fmla="*/ 78 w 430"/>
                  <a:gd name="T43" fmla="*/ 22 h 466"/>
                  <a:gd name="T44" fmla="*/ 0 w 430"/>
                  <a:gd name="T45" fmla="*/ 0 h 4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30" h="466">
                    <a:moveTo>
                      <a:pt x="0" y="0"/>
                    </a:moveTo>
                    <a:lnTo>
                      <a:pt x="159" y="19"/>
                    </a:lnTo>
                    <a:lnTo>
                      <a:pt x="271" y="32"/>
                    </a:lnTo>
                    <a:lnTo>
                      <a:pt x="394" y="54"/>
                    </a:lnTo>
                    <a:lnTo>
                      <a:pt x="412" y="70"/>
                    </a:lnTo>
                    <a:lnTo>
                      <a:pt x="422" y="95"/>
                    </a:lnTo>
                    <a:lnTo>
                      <a:pt x="430" y="213"/>
                    </a:lnTo>
                    <a:lnTo>
                      <a:pt x="430" y="346"/>
                    </a:lnTo>
                    <a:lnTo>
                      <a:pt x="426" y="438"/>
                    </a:lnTo>
                    <a:lnTo>
                      <a:pt x="412" y="464"/>
                    </a:lnTo>
                    <a:lnTo>
                      <a:pt x="385" y="466"/>
                    </a:lnTo>
                    <a:lnTo>
                      <a:pt x="246" y="428"/>
                    </a:lnTo>
                    <a:lnTo>
                      <a:pt x="395" y="440"/>
                    </a:lnTo>
                    <a:lnTo>
                      <a:pt x="405" y="435"/>
                    </a:lnTo>
                    <a:lnTo>
                      <a:pt x="412" y="373"/>
                    </a:lnTo>
                    <a:lnTo>
                      <a:pt x="414" y="285"/>
                    </a:lnTo>
                    <a:lnTo>
                      <a:pt x="409" y="165"/>
                    </a:lnTo>
                    <a:lnTo>
                      <a:pt x="401" y="88"/>
                    </a:lnTo>
                    <a:lnTo>
                      <a:pt x="385" y="73"/>
                    </a:lnTo>
                    <a:lnTo>
                      <a:pt x="297" y="56"/>
                    </a:lnTo>
                    <a:lnTo>
                      <a:pt x="176" y="41"/>
                    </a:lnTo>
                    <a:lnTo>
                      <a:pt x="78" y="2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96" name="Freeform 25"/>
              <p:cNvSpPr>
                <a:spLocks/>
              </p:cNvSpPr>
              <p:nvPr/>
            </p:nvSpPr>
            <p:spPr bwMode="auto">
              <a:xfrm>
                <a:off x="1478" y="949"/>
                <a:ext cx="453" cy="464"/>
              </a:xfrm>
              <a:custGeom>
                <a:avLst/>
                <a:gdLst>
                  <a:gd name="T0" fmla="*/ 257 w 453"/>
                  <a:gd name="T1" fmla="*/ 27 h 464"/>
                  <a:gd name="T2" fmla="*/ 102 w 453"/>
                  <a:gd name="T3" fmla="*/ 2 h 464"/>
                  <a:gd name="T4" fmla="*/ 57 w 453"/>
                  <a:gd name="T5" fmla="*/ 0 h 464"/>
                  <a:gd name="T6" fmla="*/ 45 w 453"/>
                  <a:gd name="T7" fmla="*/ 17 h 464"/>
                  <a:gd name="T8" fmla="*/ 32 w 453"/>
                  <a:gd name="T9" fmla="*/ 50 h 464"/>
                  <a:gd name="T10" fmla="*/ 12 w 453"/>
                  <a:gd name="T11" fmla="*/ 141 h 464"/>
                  <a:gd name="T12" fmla="*/ 2 w 453"/>
                  <a:gd name="T13" fmla="*/ 232 h 464"/>
                  <a:gd name="T14" fmla="*/ 0 w 453"/>
                  <a:gd name="T15" fmla="*/ 325 h 464"/>
                  <a:gd name="T16" fmla="*/ 14 w 453"/>
                  <a:gd name="T17" fmla="*/ 362 h 464"/>
                  <a:gd name="T18" fmla="*/ 21 w 453"/>
                  <a:gd name="T19" fmla="*/ 374 h 464"/>
                  <a:gd name="T20" fmla="*/ 119 w 453"/>
                  <a:gd name="T21" fmla="*/ 400 h 464"/>
                  <a:gd name="T22" fmla="*/ 245 w 453"/>
                  <a:gd name="T23" fmla="*/ 425 h 464"/>
                  <a:gd name="T24" fmla="*/ 340 w 453"/>
                  <a:gd name="T25" fmla="*/ 441 h 464"/>
                  <a:gd name="T26" fmla="*/ 453 w 453"/>
                  <a:gd name="T27" fmla="*/ 464 h 464"/>
                  <a:gd name="T28" fmla="*/ 450 w 453"/>
                  <a:gd name="T29" fmla="*/ 449 h 464"/>
                  <a:gd name="T30" fmla="*/ 363 w 453"/>
                  <a:gd name="T31" fmla="*/ 429 h 464"/>
                  <a:gd name="T32" fmla="*/ 248 w 453"/>
                  <a:gd name="T33" fmla="*/ 403 h 464"/>
                  <a:gd name="T34" fmla="*/ 92 w 453"/>
                  <a:gd name="T35" fmla="*/ 375 h 464"/>
                  <a:gd name="T36" fmla="*/ 36 w 453"/>
                  <a:gd name="T37" fmla="*/ 349 h 464"/>
                  <a:gd name="T38" fmla="*/ 20 w 453"/>
                  <a:gd name="T39" fmla="*/ 333 h 464"/>
                  <a:gd name="T40" fmla="*/ 18 w 453"/>
                  <a:gd name="T41" fmla="*/ 305 h 464"/>
                  <a:gd name="T42" fmla="*/ 21 w 453"/>
                  <a:gd name="T43" fmla="*/ 228 h 464"/>
                  <a:gd name="T44" fmla="*/ 35 w 453"/>
                  <a:gd name="T45" fmla="*/ 135 h 464"/>
                  <a:gd name="T46" fmla="*/ 56 w 453"/>
                  <a:gd name="T47" fmla="*/ 43 h 464"/>
                  <a:gd name="T48" fmla="*/ 69 w 453"/>
                  <a:gd name="T49" fmla="*/ 22 h 464"/>
                  <a:gd name="T50" fmla="*/ 176 w 453"/>
                  <a:gd name="T51" fmla="*/ 24 h 464"/>
                  <a:gd name="T52" fmla="*/ 257 w 453"/>
                  <a:gd name="T53" fmla="*/ 27 h 46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53" h="464">
                    <a:moveTo>
                      <a:pt x="257" y="27"/>
                    </a:moveTo>
                    <a:lnTo>
                      <a:pt x="102" y="2"/>
                    </a:lnTo>
                    <a:lnTo>
                      <a:pt x="57" y="0"/>
                    </a:lnTo>
                    <a:lnTo>
                      <a:pt x="45" y="17"/>
                    </a:lnTo>
                    <a:lnTo>
                      <a:pt x="32" y="50"/>
                    </a:lnTo>
                    <a:lnTo>
                      <a:pt x="12" y="141"/>
                    </a:lnTo>
                    <a:lnTo>
                      <a:pt x="2" y="232"/>
                    </a:lnTo>
                    <a:lnTo>
                      <a:pt x="0" y="325"/>
                    </a:lnTo>
                    <a:lnTo>
                      <a:pt x="14" y="362"/>
                    </a:lnTo>
                    <a:lnTo>
                      <a:pt x="21" y="374"/>
                    </a:lnTo>
                    <a:lnTo>
                      <a:pt x="119" y="400"/>
                    </a:lnTo>
                    <a:lnTo>
                      <a:pt x="245" y="425"/>
                    </a:lnTo>
                    <a:lnTo>
                      <a:pt x="340" y="441"/>
                    </a:lnTo>
                    <a:lnTo>
                      <a:pt x="453" y="464"/>
                    </a:lnTo>
                    <a:lnTo>
                      <a:pt x="450" y="449"/>
                    </a:lnTo>
                    <a:lnTo>
                      <a:pt x="363" y="429"/>
                    </a:lnTo>
                    <a:lnTo>
                      <a:pt x="248" y="403"/>
                    </a:lnTo>
                    <a:lnTo>
                      <a:pt x="92" y="375"/>
                    </a:lnTo>
                    <a:lnTo>
                      <a:pt x="36" y="349"/>
                    </a:lnTo>
                    <a:lnTo>
                      <a:pt x="20" y="333"/>
                    </a:lnTo>
                    <a:lnTo>
                      <a:pt x="18" y="305"/>
                    </a:lnTo>
                    <a:lnTo>
                      <a:pt x="21" y="228"/>
                    </a:lnTo>
                    <a:lnTo>
                      <a:pt x="35" y="135"/>
                    </a:lnTo>
                    <a:lnTo>
                      <a:pt x="56" y="43"/>
                    </a:lnTo>
                    <a:lnTo>
                      <a:pt x="69" y="22"/>
                    </a:lnTo>
                    <a:lnTo>
                      <a:pt x="176" y="24"/>
                    </a:lnTo>
                    <a:lnTo>
                      <a:pt x="25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60442" name="Group 26"/>
          <p:cNvGrpSpPr>
            <a:grpSpLocks/>
          </p:cNvGrpSpPr>
          <p:nvPr/>
        </p:nvGrpSpPr>
        <p:grpSpPr bwMode="auto">
          <a:xfrm>
            <a:off x="6361114" y="2601914"/>
            <a:ext cx="1812925" cy="2301875"/>
            <a:chOff x="3047" y="1584"/>
            <a:chExt cx="1142" cy="1402"/>
          </a:xfrm>
        </p:grpSpPr>
        <p:grpSp>
          <p:nvGrpSpPr>
            <p:cNvPr id="11273" name="Group 27"/>
            <p:cNvGrpSpPr>
              <a:grpSpLocks/>
            </p:cNvGrpSpPr>
            <p:nvPr/>
          </p:nvGrpSpPr>
          <p:grpSpPr bwMode="auto">
            <a:xfrm>
              <a:off x="3047" y="1584"/>
              <a:ext cx="505" cy="1402"/>
              <a:chOff x="3024" y="1603"/>
              <a:chExt cx="505" cy="1402"/>
            </a:xfrm>
          </p:grpSpPr>
          <p:sp>
            <p:nvSpPr>
              <p:cNvPr id="11277" name="Freeform 28"/>
              <p:cNvSpPr>
                <a:spLocks/>
              </p:cNvSpPr>
              <p:nvPr/>
            </p:nvSpPr>
            <p:spPr bwMode="auto">
              <a:xfrm>
                <a:off x="3148" y="1603"/>
                <a:ext cx="302" cy="328"/>
              </a:xfrm>
              <a:custGeom>
                <a:avLst/>
                <a:gdLst>
                  <a:gd name="T0" fmla="*/ 202 w 340"/>
                  <a:gd name="T1" fmla="*/ 168 h 370"/>
                  <a:gd name="T2" fmla="*/ 195 w 340"/>
                  <a:gd name="T3" fmla="*/ 100 h 370"/>
                  <a:gd name="T4" fmla="*/ 168 w 340"/>
                  <a:gd name="T5" fmla="*/ 27 h 370"/>
                  <a:gd name="T6" fmla="*/ 128 w 340"/>
                  <a:gd name="T7" fmla="*/ 0 h 370"/>
                  <a:gd name="T8" fmla="*/ 81 w 340"/>
                  <a:gd name="T9" fmla="*/ 0 h 370"/>
                  <a:gd name="T10" fmla="*/ 27 w 340"/>
                  <a:gd name="T11" fmla="*/ 40 h 370"/>
                  <a:gd name="T12" fmla="*/ 0 w 340"/>
                  <a:gd name="T13" fmla="*/ 121 h 370"/>
                  <a:gd name="T14" fmla="*/ 7 w 340"/>
                  <a:gd name="T15" fmla="*/ 228 h 370"/>
                  <a:gd name="T16" fmla="*/ 34 w 340"/>
                  <a:gd name="T17" fmla="*/ 281 h 370"/>
                  <a:gd name="T18" fmla="*/ 81 w 340"/>
                  <a:gd name="T19" fmla="*/ 328 h 370"/>
                  <a:gd name="T20" fmla="*/ 147 w 340"/>
                  <a:gd name="T21" fmla="*/ 328 h 370"/>
                  <a:gd name="T22" fmla="*/ 195 w 340"/>
                  <a:gd name="T23" fmla="*/ 288 h 370"/>
                  <a:gd name="T24" fmla="*/ 208 w 340"/>
                  <a:gd name="T25" fmla="*/ 234 h 370"/>
                  <a:gd name="T26" fmla="*/ 208 w 340"/>
                  <a:gd name="T27" fmla="*/ 207 h 370"/>
                  <a:gd name="T28" fmla="*/ 295 w 340"/>
                  <a:gd name="T29" fmla="*/ 207 h 370"/>
                  <a:gd name="T30" fmla="*/ 302 w 340"/>
                  <a:gd name="T31" fmla="*/ 154 h 370"/>
                  <a:gd name="T32" fmla="*/ 202 w 340"/>
                  <a:gd name="T33" fmla="*/ 168 h 37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0" h="370">
                    <a:moveTo>
                      <a:pt x="227" y="189"/>
                    </a:moveTo>
                    <a:lnTo>
                      <a:pt x="219" y="113"/>
                    </a:lnTo>
                    <a:lnTo>
                      <a:pt x="189" y="30"/>
                    </a:lnTo>
                    <a:lnTo>
                      <a:pt x="144" y="0"/>
                    </a:lnTo>
                    <a:lnTo>
                      <a:pt x="91" y="0"/>
                    </a:lnTo>
                    <a:lnTo>
                      <a:pt x="30" y="45"/>
                    </a:lnTo>
                    <a:lnTo>
                      <a:pt x="0" y="136"/>
                    </a:lnTo>
                    <a:lnTo>
                      <a:pt x="8" y="257"/>
                    </a:lnTo>
                    <a:lnTo>
                      <a:pt x="38" y="317"/>
                    </a:lnTo>
                    <a:lnTo>
                      <a:pt x="91" y="370"/>
                    </a:lnTo>
                    <a:lnTo>
                      <a:pt x="166" y="370"/>
                    </a:lnTo>
                    <a:lnTo>
                      <a:pt x="219" y="325"/>
                    </a:lnTo>
                    <a:lnTo>
                      <a:pt x="234" y="264"/>
                    </a:lnTo>
                    <a:lnTo>
                      <a:pt x="234" y="234"/>
                    </a:lnTo>
                    <a:lnTo>
                      <a:pt x="332" y="234"/>
                    </a:lnTo>
                    <a:lnTo>
                      <a:pt x="340" y="174"/>
                    </a:lnTo>
                    <a:lnTo>
                      <a:pt x="227" y="18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78" name="Freeform 29"/>
              <p:cNvSpPr>
                <a:spLocks/>
              </p:cNvSpPr>
              <p:nvPr/>
            </p:nvSpPr>
            <p:spPr bwMode="auto">
              <a:xfrm>
                <a:off x="3187" y="1983"/>
                <a:ext cx="217" cy="564"/>
              </a:xfrm>
              <a:custGeom>
                <a:avLst/>
                <a:gdLst>
                  <a:gd name="T0" fmla="*/ 0 w 245"/>
                  <a:gd name="T1" fmla="*/ 73 h 636"/>
                  <a:gd name="T2" fmla="*/ 20 w 245"/>
                  <a:gd name="T3" fmla="*/ 13 h 636"/>
                  <a:gd name="T4" fmla="*/ 61 w 245"/>
                  <a:gd name="T5" fmla="*/ 0 h 636"/>
                  <a:gd name="T6" fmla="*/ 115 w 245"/>
                  <a:gd name="T7" fmla="*/ 0 h 636"/>
                  <a:gd name="T8" fmla="*/ 169 w 245"/>
                  <a:gd name="T9" fmla="*/ 33 h 636"/>
                  <a:gd name="T10" fmla="*/ 197 w 245"/>
                  <a:gd name="T11" fmla="*/ 113 h 636"/>
                  <a:gd name="T12" fmla="*/ 197 w 245"/>
                  <a:gd name="T13" fmla="*/ 166 h 636"/>
                  <a:gd name="T14" fmla="*/ 217 w 245"/>
                  <a:gd name="T15" fmla="*/ 286 h 636"/>
                  <a:gd name="T16" fmla="*/ 210 w 245"/>
                  <a:gd name="T17" fmla="*/ 431 h 636"/>
                  <a:gd name="T18" fmla="*/ 190 w 245"/>
                  <a:gd name="T19" fmla="*/ 518 h 636"/>
                  <a:gd name="T20" fmla="*/ 143 w 245"/>
                  <a:gd name="T21" fmla="*/ 564 h 636"/>
                  <a:gd name="T22" fmla="*/ 102 w 245"/>
                  <a:gd name="T23" fmla="*/ 564 h 636"/>
                  <a:gd name="T24" fmla="*/ 48 w 245"/>
                  <a:gd name="T25" fmla="*/ 537 h 636"/>
                  <a:gd name="T26" fmla="*/ 20 w 245"/>
                  <a:gd name="T27" fmla="*/ 484 h 636"/>
                  <a:gd name="T28" fmla="*/ 7 w 245"/>
                  <a:gd name="T29" fmla="*/ 425 h 636"/>
                  <a:gd name="T30" fmla="*/ 0 w 245"/>
                  <a:gd name="T31" fmla="*/ 358 h 636"/>
                  <a:gd name="T32" fmla="*/ 0 w 245"/>
                  <a:gd name="T33" fmla="*/ 192 h 636"/>
                  <a:gd name="T34" fmla="*/ 0 w 245"/>
                  <a:gd name="T35" fmla="*/ 73 h 6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45" h="636">
                    <a:moveTo>
                      <a:pt x="0" y="82"/>
                    </a:moveTo>
                    <a:lnTo>
                      <a:pt x="23" y="15"/>
                    </a:lnTo>
                    <a:lnTo>
                      <a:pt x="69" y="0"/>
                    </a:lnTo>
                    <a:lnTo>
                      <a:pt x="130" y="0"/>
                    </a:lnTo>
                    <a:lnTo>
                      <a:pt x="191" y="37"/>
                    </a:lnTo>
                    <a:lnTo>
                      <a:pt x="222" y="127"/>
                    </a:lnTo>
                    <a:lnTo>
                      <a:pt x="222" y="187"/>
                    </a:lnTo>
                    <a:lnTo>
                      <a:pt x="245" y="322"/>
                    </a:lnTo>
                    <a:lnTo>
                      <a:pt x="237" y="486"/>
                    </a:lnTo>
                    <a:lnTo>
                      <a:pt x="214" y="584"/>
                    </a:lnTo>
                    <a:lnTo>
                      <a:pt x="161" y="636"/>
                    </a:lnTo>
                    <a:lnTo>
                      <a:pt x="115" y="636"/>
                    </a:lnTo>
                    <a:lnTo>
                      <a:pt x="54" y="606"/>
                    </a:lnTo>
                    <a:lnTo>
                      <a:pt x="23" y="546"/>
                    </a:lnTo>
                    <a:lnTo>
                      <a:pt x="8" y="479"/>
                    </a:lnTo>
                    <a:lnTo>
                      <a:pt x="0" y="404"/>
                    </a:lnTo>
                    <a:lnTo>
                      <a:pt x="0" y="217"/>
                    </a:lnTo>
                    <a:lnTo>
                      <a:pt x="0" y="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79" name="Freeform 30"/>
              <p:cNvSpPr>
                <a:spLocks/>
              </p:cNvSpPr>
              <p:nvPr/>
            </p:nvSpPr>
            <p:spPr bwMode="auto">
              <a:xfrm>
                <a:off x="3024" y="1985"/>
                <a:ext cx="216" cy="514"/>
              </a:xfrm>
              <a:custGeom>
                <a:avLst/>
                <a:gdLst>
                  <a:gd name="T0" fmla="*/ 126 w 244"/>
                  <a:gd name="T1" fmla="*/ 44 h 579"/>
                  <a:gd name="T2" fmla="*/ 171 w 244"/>
                  <a:gd name="T3" fmla="*/ 4 h 579"/>
                  <a:gd name="T4" fmla="*/ 207 w 244"/>
                  <a:gd name="T5" fmla="*/ 0 h 579"/>
                  <a:gd name="T6" fmla="*/ 216 w 244"/>
                  <a:gd name="T7" fmla="*/ 18 h 579"/>
                  <a:gd name="T8" fmla="*/ 198 w 244"/>
                  <a:gd name="T9" fmla="*/ 67 h 579"/>
                  <a:gd name="T10" fmla="*/ 166 w 244"/>
                  <a:gd name="T11" fmla="*/ 98 h 579"/>
                  <a:gd name="T12" fmla="*/ 121 w 244"/>
                  <a:gd name="T13" fmla="*/ 120 h 579"/>
                  <a:gd name="T14" fmla="*/ 90 w 244"/>
                  <a:gd name="T15" fmla="*/ 164 h 579"/>
                  <a:gd name="T16" fmla="*/ 54 w 244"/>
                  <a:gd name="T17" fmla="*/ 213 h 579"/>
                  <a:gd name="T18" fmla="*/ 50 w 244"/>
                  <a:gd name="T19" fmla="*/ 253 h 579"/>
                  <a:gd name="T20" fmla="*/ 58 w 244"/>
                  <a:gd name="T21" fmla="*/ 274 h 579"/>
                  <a:gd name="T22" fmla="*/ 95 w 244"/>
                  <a:gd name="T23" fmla="*/ 323 h 579"/>
                  <a:gd name="T24" fmla="*/ 144 w 244"/>
                  <a:gd name="T25" fmla="*/ 354 h 579"/>
                  <a:gd name="T26" fmla="*/ 158 w 244"/>
                  <a:gd name="T27" fmla="*/ 368 h 579"/>
                  <a:gd name="T28" fmla="*/ 162 w 244"/>
                  <a:gd name="T29" fmla="*/ 399 h 579"/>
                  <a:gd name="T30" fmla="*/ 140 w 244"/>
                  <a:gd name="T31" fmla="*/ 434 h 579"/>
                  <a:gd name="T32" fmla="*/ 104 w 244"/>
                  <a:gd name="T33" fmla="*/ 461 h 579"/>
                  <a:gd name="T34" fmla="*/ 104 w 244"/>
                  <a:gd name="T35" fmla="*/ 514 h 579"/>
                  <a:gd name="T36" fmla="*/ 86 w 244"/>
                  <a:gd name="T37" fmla="*/ 514 h 579"/>
                  <a:gd name="T38" fmla="*/ 76 w 244"/>
                  <a:gd name="T39" fmla="*/ 474 h 579"/>
                  <a:gd name="T40" fmla="*/ 76 w 244"/>
                  <a:gd name="T41" fmla="*/ 439 h 579"/>
                  <a:gd name="T42" fmla="*/ 99 w 244"/>
                  <a:gd name="T43" fmla="*/ 399 h 579"/>
                  <a:gd name="T44" fmla="*/ 112 w 244"/>
                  <a:gd name="T45" fmla="*/ 385 h 579"/>
                  <a:gd name="T46" fmla="*/ 108 w 244"/>
                  <a:gd name="T47" fmla="*/ 372 h 579"/>
                  <a:gd name="T48" fmla="*/ 76 w 244"/>
                  <a:gd name="T49" fmla="*/ 345 h 579"/>
                  <a:gd name="T50" fmla="*/ 36 w 244"/>
                  <a:gd name="T51" fmla="*/ 310 h 579"/>
                  <a:gd name="T52" fmla="*/ 13 w 244"/>
                  <a:gd name="T53" fmla="*/ 270 h 579"/>
                  <a:gd name="T54" fmla="*/ 0 w 244"/>
                  <a:gd name="T55" fmla="*/ 217 h 579"/>
                  <a:gd name="T56" fmla="*/ 13 w 244"/>
                  <a:gd name="T57" fmla="*/ 186 h 579"/>
                  <a:gd name="T58" fmla="*/ 58 w 244"/>
                  <a:gd name="T59" fmla="*/ 124 h 579"/>
                  <a:gd name="T60" fmla="*/ 95 w 244"/>
                  <a:gd name="T61" fmla="*/ 75 h 579"/>
                  <a:gd name="T62" fmla="*/ 126 w 244"/>
                  <a:gd name="T63" fmla="*/ 44 h 57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44" h="579">
                    <a:moveTo>
                      <a:pt x="142" y="50"/>
                    </a:moveTo>
                    <a:lnTo>
                      <a:pt x="193" y="5"/>
                    </a:lnTo>
                    <a:lnTo>
                      <a:pt x="234" y="0"/>
                    </a:lnTo>
                    <a:lnTo>
                      <a:pt x="244" y="20"/>
                    </a:lnTo>
                    <a:lnTo>
                      <a:pt x="224" y="75"/>
                    </a:lnTo>
                    <a:lnTo>
                      <a:pt x="188" y="110"/>
                    </a:lnTo>
                    <a:lnTo>
                      <a:pt x="137" y="135"/>
                    </a:lnTo>
                    <a:lnTo>
                      <a:pt x="102" y="185"/>
                    </a:lnTo>
                    <a:lnTo>
                      <a:pt x="61" y="240"/>
                    </a:lnTo>
                    <a:lnTo>
                      <a:pt x="56" y="285"/>
                    </a:lnTo>
                    <a:lnTo>
                      <a:pt x="66" y="309"/>
                    </a:lnTo>
                    <a:lnTo>
                      <a:pt x="107" y="364"/>
                    </a:lnTo>
                    <a:lnTo>
                      <a:pt x="163" y="399"/>
                    </a:lnTo>
                    <a:lnTo>
                      <a:pt x="178" y="414"/>
                    </a:lnTo>
                    <a:lnTo>
                      <a:pt x="183" y="449"/>
                    </a:lnTo>
                    <a:lnTo>
                      <a:pt x="158" y="489"/>
                    </a:lnTo>
                    <a:lnTo>
                      <a:pt x="117" y="519"/>
                    </a:lnTo>
                    <a:lnTo>
                      <a:pt x="117" y="579"/>
                    </a:lnTo>
                    <a:lnTo>
                      <a:pt x="97" y="579"/>
                    </a:lnTo>
                    <a:lnTo>
                      <a:pt x="86" y="534"/>
                    </a:lnTo>
                    <a:lnTo>
                      <a:pt x="86" y="494"/>
                    </a:lnTo>
                    <a:lnTo>
                      <a:pt x="112" y="449"/>
                    </a:lnTo>
                    <a:lnTo>
                      <a:pt x="127" y="434"/>
                    </a:lnTo>
                    <a:lnTo>
                      <a:pt x="122" y="419"/>
                    </a:lnTo>
                    <a:lnTo>
                      <a:pt x="86" y="389"/>
                    </a:lnTo>
                    <a:lnTo>
                      <a:pt x="41" y="349"/>
                    </a:lnTo>
                    <a:lnTo>
                      <a:pt x="15" y="304"/>
                    </a:lnTo>
                    <a:lnTo>
                      <a:pt x="0" y="245"/>
                    </a:lnTo>
                    <a:lnTo>
                      <a:pt x="15" y="210"/>
                    </a:lnTo>
                    <a:lnTo>
                      <a:pt x="66" y="140"/>
                    </a:lnTo>
                    <a:lnTo>
                      <a:pt x="107" y="85"/>
                    </a:lnTo>
                    <a:lnTo>
                      <a:pt x="142"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0" name="Freeform 31"/>
              <p:cNvSpPr>
                <a:spLocks/>
              </p:cNvSpPr>
              <p:nvPr/>
            </p:nvSpPr>
            <p:spPr bwMode="auto">
              <a:xfrm>
                <a:off x="3051" y="2405"/>
                <a:ext cx="220" cy="600"/>
              </a:xfrm>
              <a:custGeom>
                <a:avLst/>
                <a:gdLst>
                  <a:gd name="T0" fmla="*/ 126 w 248"/>
                  <a:gd name="T1" fmla="*/ 66 h 677"/>
                  <a:gd name="T2" fmla="*/ 166 w 248"/>
                  <a:gd name="T3" fmla="*/ 0 h 677"/>
                  <a:gd name="T4" fmla="*/ 220 w 248"/>
                  <a:gd name="T5" fmla="*/ 27 h 677"/>
                  <a:gd name="T6" fmla="*/ 220 w 248"/>
                  <a:gd name="T7" fmla="*/ 89 h 677"/>
                  <a:gd name="T8" fmla="*/ 202 w 248"/>
                  <a:gd name="T9" fmla="*/ 105 h 677"/>
                  <a:gd name="T10" fmla="*/ 161 w 248"/>
                  <a:gd name="T11" fmla="*/ 136 h 677"/>
                  <a:gd name="T12" fmla="*/ 139 w 248"/>
                  <a:gd name="T13" fmla="*/ 199 h 677"/>
                  <a:gd name="T14" fmla="*/ 139 w 248"/>
                  <a:gd name="T15" fmla="*/ 256 h 677"/>
                  <a:gd name="T16" fmla="*/ 166 w 248"/>
                  <a:gd name="T17" fmla="*/ 348 h 677"/>
                  <a:gd name="T18" fmla="*/ 179 w 248"/>
                  <a:gd name="T19" fmla="*/ 428 h 677"/>
                  <a:gd name="T20" fmla="*/ 170 w 248"/>
                  <a:gd name="T21" fmla="*/ 516 h 677"/>
                  <a:gd name="T22" fmla="*/ 185 w 248"/>
                  <a:gd name="T23" fmla="*/ 534 h 677"/>
                  <a:gd name="T24" fmla="*/ 179 w 248"/>
                  <a:gd name="T25" fmla="*/ 560 h 677"/>
                  <a:gd name="T26" fmla="*/ 161 w 248"/>
                  <a:gd name="T27" fmla="*/ 560 h 677"/>
                  <a:gd name="T28" fmla="*/ 122 w 248"/>
                  <a:gd name="T29" fmla="*/ 569 h 677"/>
                  <a:gd name="T30" fmla="*/ 67 w 248"/>
                  <a:gd name="T31" fmla="*/ 600 h 677"/>
                  <a:gd name="T32" fmla="*/ 50 w 248"/>
                  <a:gd name="T33" fmla="*/ 600 h 677"/>
                  <a:gd name="T34" fmla="*/ 0 w 248"/>
                  <a:gd name="T35" fmla="*/ 565 h 677"/>
                  <a:gd name="T36" fmla="*/ 9 w 248"/>
                  <a:gd name="T37" fmla="*/ 551 h 677"/>
                  <a:gd name="T38" fmla="*/ 76 w 248"/>
                  <a:gd name="T39" fmla="*/ 534 h 677"/>
                  <a:gd name="T40" fmla="*/ 135 w 248"/>
                  <a:gd name="T41" fmla="*/ 534 h 677"/>
                  <a:gd name="T42" fmla="*/ 148 w 248"/>
                  <a:gd name="T43" fmla="*/ 481 h 677"/>
                  <a:gd name="T44" fmla="*/ 144 w 248"/>
                  <a:gd name="T45" fmla="*/ 406 h 677"/>
                  <a:gd name="T46" fmla="*/ 122 w 248"/>
                  <a:gd name="T47" fmla="*/ 339 h 677"/>
                  <a:gd name="T48" fmla="*/ 94 w 248"/>
                  <a:gd name="T49" fmla="*/ 256 h 677"/>
                  <a:gd name="T50" fmla="*/ 81 w 248"/>
                  <a:gd name="T51" fmla="*/ 190 h 677"/>
                  <a:gd name="T52" fmla="*/ 81 w 248"/>
                  <a:gd name="T53" fmla="*/ 141 h 677"/>
                  <a:gd name="T54" fmla="*/ 98 w 248"/>
                  <a:gd name="T55" fmla="*/ 97 h 677"/>
                  <a:gd name="T56" fmla="*/ 126 w 248"/>
                  <a:gd name="T57" fmla="*/ 66 h 67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8" h="677">
                    <a:moveTo>
                      <a:pt x="142" y="75"/>
                    </a:moveTo>
                    <a:lnTo>
                      <a:pt x="187" y="0"/>
                    </a:lnTo>
                    <a:lnTo>
                      <a:pt x="248" y="30"/>
                    </a:lnTo>
                    <a:lnTo>
                      <a:pt x="248" y="100"/>
                    </a:lnTo>
                    <a:lnTo>
                      <a:pt x="228" y="119"/>
                    </a:lnTo>
                    <a:lnTo>
                      <a:pt x="182" y="154"/>
                    </a:lnTo>
                    <a:lnTo>
                      <a:pt x="157" y="224"/>
                    </a:lnTo>
                    <a:lnTo>
                      <a:pt x="157" y="289"/>
                    </a:lnTo>
                    <a:lnTo>
                      <a:pt x="187" y="393"/>
                    </a:lnTo>
                    <a:lnTo>
                      <a:pt x="202" y="483"/>
                    </a:lnTo>
                    <a:lnTo>
                      <a:pt x="192" y="582"/>
                    </a:lnTo>
                    <a:lnTo>
                      <a:pt x="208" y="602"/>
                    </a:lnTo>
                    <a:lnTo>
                      <a:pt x="202" y="632"/>
                    </a:lnTo>
                    <a:lnTo>
                      <a:pt x="182" y="632"/>
                    </a:lnTo>
                    <a:lnTo>
                      <a:pt x="137" y="642"/>
                    </a:lnTo>
                    <a:lnTo>
                      <a:pt x="76" y="677"/>
                    </a:lnTo>
                    <a:lnTo>
                      <a:pt x="56" y="677"/>
                    </a:lnTo>
                    <a:lnTo>
                      <a:pt x="0" y="637"/>
                    </a:lnTo>
                    <a:lnTo>
                      <a:pt x="10" y="622"/>
                    </a:lnTo>
                    <a:lnTo>
                      <a:pt x="86" y="602"/>
                    </a:lnTo>
                    <a:lnTo>
                      <a:pt x="152" y="602"/>
                    </a:lnTo>
                    <a:lnTo>
                      <a:pt x="167" y="543"/>
                    </a:lnTo>
                    <a:lnTo>
                      <a:pt x="162" y="458"/>
                    </a:lnTo>
                    <a:lnTo>
                      <a:pt x="137" y="383"/>
                    </a:lnTo>
                    <a:lnTo>
                      <a:pt x="106" y="289"/>
                    </a:lnTo>
                    <a:lnTo>
                      <a:pt x="91" y="214"/>
                    </a:lnTo>
                    <a:lnTo>
                      <a:pt x="91" y="159"/>
                    </a:lnTo>
                    <a:lnTo>
                      <a:pt x="111" y="110"/>
                    </a:lnTo>
                    <a:lnTo>
                      <a:pt x="142"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1" name="Freeform 32"/>
              <p:cNvSpPr>
                <a:spLocks/>
              </p:cNvSpPr>
              <p:nvPr/>
            </p:nvSpPr>
            <p:spPr bwMode="auto">
              <a:xfrm>
                <a:off x="3299" y="2435"/>
                <a:ext cx="212" cy="539"/>
              </a:xfrm>
              <a:custGeom>
                <a:avLst/>
                <a:gdLst>
                  <a:gd name="T0" fmla="*/ 27 w 239"/>
                  <a:gd name="T1" fmla="*/ 0 h 608"/>
                  <a:gd name="T2" fmla="*/ 76 w 239"/>
                  <a:gd name="T3" fmla="*/ 35 h 608"/>
                  <a:gd name="T4" fmla="*/ 99 w 239"/>
                  <a:gd name="T5" fmla="*/ 89 h 608"/>
                  <a:gd name="T6" fmla="*/ 108 w 239"/>
                  <a:gd name="T7" fmla="*/ 137 h 608"/>
                  <a:gd name="T8" fmla="*/ 113 w 239"/>
                  <a:gd name="T9" fmla="*/ 199 h 608"/>
                  <a:gd name="T10" fmla="*/ 108 w 239"/>
                  <a:gd name="T11" fmla="*/ 283 h 608"/>
                  <a:gd name="T12" fmla="*/ 90 w 239"/>
                  <a:gd name="T13" fmla="*/ 349 h 608"/>
                  <a:gd name="T14" fmla="*/ 76 w 239"/>
                  <a:gd name="T15" fmla="*/ 415 h 608"/>
                  <a:gd name="T16" fmla="*/ 63 w 239"/>
                  <a:gd name="T17" fmla="*/ 455 h 608"/>
                  <a:gd name="T18" fmla="*/ 63 w 239"/>
                  <a:gd name="T19" fmla="*/ 473 h 608"/>
                  <a:gd name="T20" fmla="*/ 86 w 239"/>
                  <a:gd name="T21" fmla="*/ 481 h 608"/>
                  <a:gd name="T22" fmla="*/ 149 w 239"/>
                  <a:gd name="T23" fmla="*/ 481 h 608"/>
                  <a:gd name="T24" fmla="*/ 212 w 239"/>
                  <a:gd name="T25" fmla="*/ 499 h 608"/>
                  <a:gd name="T26" fmla="*/ 212 w 239"/>
                  <a:gd name="T27" fmla="*/ 512 h 608"/>
                  <a:gd name="T28" fmla="*/ 162 w 239"/>
                  <a:gd name="T29" fmla="*/ 539 h 608"/>
                  <a:gd name="T30" fmla="*/ 140 w 239"/>
                  <a:gd name="T31" fmla="*/ 535 h 608"/>
                  <a:gd name="T32" fmla="*/ 95 w 239"/>
                  <a:gd name="T33" fmla="*/ 512 h 608"/>
                  <a:gd name="T34" fmla="*/ 50 w 239"/>
                  <a:gd name="T35" fmla="*/ 504 h 608"/>
                  <a:gd name="T36" fmla="*/ 13 w 239"/>
                  <a:gd name="T37" fmla="*/ 504 h 608"/>
                  <a:gd name="T38" fmla="*/ 4 w 239"/>
                  <a:gd name="T39" fmla="*/ 481 h 608"/>
                  <a:gd name="T40" fmla="*/ 13 w 239"/>
                  <a:gd name="T41" fmla="*/ 455 h 608"/>
                  <a:gd name="T42" fmla="*/ 50 w 239"/>
                  <a:gd name="T43" fmla="*/ 406 h 608"/>
                  <a:gd name="T44" fmla="*/ 67 w 239"/>
                  <a:gd name="T45" fmla="*/ 345 h 608"/>
                  <a:gd name="T46" fmla="*/ 76 w 239"/>
                  <a:gd name="T47" fmla="*/ 274 h 608"/>
                  <a:gd name="T48" fmla="*/ 67 w 239"/>
                  <a:gd name="T49" fmla="*/ 168 h 608"/>
                  <a:gd name="T50" fmla="*/ 50 w 239"/>
                  <a:gd name="T51" fmla="*/ 124 h 608"/>
                  <a:gd name="T52" fmla="*/ 18 w 239"/>
                  <a:gd name="T53" fmla="*/ 89 h 608"/>
                  <a:gd name="T54" fmla="*/ 0 w 239"/>
                  <a:gd name="T55" fmla="*/ 35 h 608"/>
                  <a:gd name="T56" fmla="*/ 27 w 239"/>
                  <a:gd name="T57" fmla="*/ 0 h 6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9" h="608">
                    <a:moveTo>
                      <a:pt x="31" y="0"/>
                    </a:moveTo>
                    <a:lnTo>
                      <a:pt x="86" y="40"/>
                    </a:lnTo>
                    <a:lnTo>
                      <a:pt x="112" y="100"/>
                    </a:lnTo>
                    <a:lnTo>
                      <a:pt x="122" y="154"/>
                    </a:lnTo>
                    <a:lnTo>
                      <a:pt x="127" y="224"/>
                    </a:lnTo>
                    <a:lnTo>
                      <a:pt x="122" y="319"/>
                    </a:lnTo>
                    <a:lnTo>
                      <a:pt x="102" y="394"/>
                    </a:lnTo>
                    <a:lnTo>
                      <a:pt x="86" y="468"/>
                    </a:lnTo>
                    <a:lnTo>
                      <a:pt x="71" y="513"/>
                    </a:lnTo>
                    <a:lnTo>
                      <a:pt x="71" y="533"/>
                    </a:lnTo>
                    <a:lnTo>
                      <a:pt x="97" y="543"/>
                    </a:lnTo>
                    <a:lnTo>
                      <a:pt x="168" y="543"/>
                    </a:lnTo>
                    <a:lnTo>
                      <a:pt x="239" y="563"/>
                    </a:lnTo>
                    <a:lnTo>
                      <a:pt x="239" y="578"/>
                    </a:lnTo>
                    <a:lnTo>
                      <a:pt x="183" y="608"/>
                    </a:lnTo>
                    <a:lnTo>
                      <a:pt x="158" y="603"/>
                    </a:lnTo>
                    <a:lnTo>
                      <a:pt x="107" y="578"/>
                    </a:lnTo>
                    <a:lnTo>
                      <a:pt x="56" y="568"/>
                    </a:lnTo>
                    <a:lnTo>
                      <a:pt x="15" y="568"/>
                    </a:lnTo>
                    <a:lnTo>
                      <a:pt x="5" y="543"/>
                    </a:lnTo>
                    <a:lnTo>
                      <a:pt x="15" y="513"/>
                    </a:lnTo>
                    <a:lnTo>
                      <a:pt x="56" y="458"/>
                    </a:lnTo>
                    <a:lnTo>
                      <a:pt x="76" y="389"/>
                    </a:lnTo>
                    <a:lnTo>
                      <a:pt x="86" y="309"/>
                    </a:lnTo>
                    <a:lnTo>
                      <a:pt x="76" y="189"/>
                    </a:lnTo>
                    <a:lnTo>
                      <a:pt x="56" y="140"/>
                    </a:lnTo>
                    <a:lnTo>
                      <a:pt x="20" y="100"/>
                    </a:lnTo>
                    <a:lnTo>
                      <a:pt x="0" y="40"/>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2" name="Freeform 33"/>
              <p:cNvSpPr>
                <a:spLocks/>
              </p:cNvSpPr>
              <p:nvPr/>
            </p:nvSpPr>
            <p:spPr bwMode="auto">
              <a:xfrm>
                <a:off x="3220" y="2003"/>
                <a:ext cx="309" cy="469"/>
              </a:xfrm>
              <a:custGeom>
                <a:avLst/>
                <a:gdLst>
                  <a:gd name="T0" fmla="*/ 116 w 348"/>
                  <a:gd name="T1" fmla="*/ 84 h 529"/>
                  <a:gd name="T2" fmla="*/ 193 w 348"/>
                  <a:gd name="T3" fmla="*/ 177 h 529"/>
                  <a:gd name="T4" fmla="*/ 273 w 348"/>
                  <a:gd name="T5" fmla="*/ 283 h 529"/>
                  <a:gd name="T6" fmla="*/ 309 w 348"/>
                  <a:gd name="T7" fmla="*/ 340 h 529"/>
                  <a:gd name="T8" fmla="*/ 265 w 348"/>
                  <a:gd name="T9" fmla="*/ 469 h 529"/>
                  <a:gd name="T10" fmla="*/ 147 w 348"/>
                  <a:gd name="T11" fmla="*/ 411 h 529"/>
                  <a:gd name="T12" fmla="*/ 121 w 348"/>
                  <a:gd name="T13" fmla="*/ 256 h 529"/>
                  <a:gd name="T14" fmla="*/ 99 w 348"/>
                  <a:gd name="T15" fmla="*/ 151 h 529"/>
                  <a:gd name="T16" fmla="*/ 54 w 348"/>
                  <a:gd name="T17" fmla="*/ 102 h 529"/>
                  <a:gd name="T18" fmla="*/ 0 w 348"/>
                  <a:gd name="T19" fmla="*/ 62 h 529"/>
                  <a:gd name="T20" fmla="*/ 27 w 348"/>
                  <a:gd name="T21" fmla="*/ 13 h 529"/>
                  <a:gd name="T22" fmla="*/ 103 w 348"/>
                  <a:gd name="T23" fmla="*/ 0 h 529"/>
                  <a:gd name="T24" fmla="*/ 134 w 348"/>
                  <a:gd name="T25" fmla="*/ 22 h 529"/>
                  <a:gd name="T26" fmla="*/ 116 w 348"/>
                  <a:gd name="T27" fmla="*/ 84 h 5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48" h="529">
                    <a:moveTo>
                      <a:pt x="131" y="95"/>
                    </a:moveTo>
                    <a:lnTo>
                      <a:pt x="217" y="200"/>
                    </a:lnTo>
                    <a:lnTo>
                      <a:pt x="308" y="319"/>
                    </a:lnTo>
                    <a:lnTo>
                      <a:pt x="348" y="384"/>
                    </a:lnTo>
                    <a:lnTo>
                      <a:pt x="298" y="529"/>
                    </a:lnTo>
                    <a:lnTo>
                      <a:pt x="166" y="464"/>
                    </a:lnTo>
                    <a:lnTo>
                      <a:pt x="136" y="289"/>
                    </a:lnTo>
                    <a:lnTo>
                      <a:pt x="111" y="170"/>
                    </a:lnTo>
                    <a:lnTo>
                      <a:pt x="61" y="115"/>
                    </a:lnTo>
                    <a:lnTo>
                      <a:pt x="0" y="70"/>
                    </a:lnTo>
                    <a:lnTo>
                      <a:pt x="30" y="15"/>
                    </a:lnTo>
                    <a:lnTo>
                      <a:pt x="116" y="0"/>
                    </a:lnTo>
                    <a:lnTo>
                      <a:pt x="151" y="25"/>
                    </a:lnTo>
                    <a:lnTo>
                      <a:pt x="131" y="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3" name="Freeform 34"/>
              <p:cNvSpPr>
                <a:spLocks/>
              </p:cNvSpPr>
              <p:nvPr/>
            </p:nvSpPr>
            <p:spPr bwMode="auto">
              <a:xfrm>
                <a:off x="3240" y="2015"/>
                <a:ext cx="105" cy="93"/>
              </a:xfrm>
              <a:custGeom>
                <a:avLst/>
                <a:gdLst>
                  <a:gd name="T0" fmla="*/ 56 w 118"/>
                  <a:gd name="T1" fmla="*/ 93 h 105"/>
                  <a:gd name="T2" fmla="*/ 0 w 118"/>
                  <a:gd name="T3" fmla="*/ 50 h 105"/>
                  <a:gd name="T4" fmla="*/ 7 w 118"/>
                  <a:gd name="T5" fmla="*/ 7 h 105"/>
                  <a:gd name="T6" fmla="*/ 84 w 118"/>
                  <a:gd name="T7" fmla="*/ 0 h 105"/>
                  <a:gd name="T8" fmla="*/ 105 w 118"/>
                  <a:gd name="T9" fmla="*/ 21 h 105"/>
                  <a:gd name="T10" fmla="*/ 56 w 118"/>
                  <a:gd name="T11" fmla="*/ 93 h 10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 h="105">
                    <a:moveTo>
                      <a:pt x="63" y="105"/>
                    </a:moveTo>
                    <a:lnTo>
                      <a:pt x="0" y="57"/>
                    </a:lnTo>
                    <a:lnTo>
                      <a:pt x="8" y="8"/>
                    </a:lnTo>
                    <a:lnTo>
                      <a:pt x="94" y="0"/>
                    </a:lnTo>
                    <a:lnTo>
                      <a:pt x="118" y="24"/>
                    </a:lnTo>
                    <a:lnTo>
                      <a:pt x="63" y="10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4" name="Freeform 35"/>
              <p:cNvSpPr>
                <a:spLocks/>
              </p:cNvSpPr>
              <p:nvPr/>
            </p:nvSpPr>
            <p:spPr bwMode="auto">
              <a:xfrm>
                <a:off x="3305" y="2101"/>
                <a:ext cx="197" cy="348"/>
              </a:xfrm>
              <a:custGeom>
                <a:avLst/>
                <a:gdLst>
                  <a:gd name="T0" fmla="*/ 0 w 222"/>
                  <a:gd name="T1" fmla="*/ 13 h 392"/>
                  <a:gd name="T2" fmla="*/ 28 w 222"/>
                  <a:gd name="T3" fmla="*/ 0 h 392"/>
                  <a:gd name="T4" fmla="*/ 197 w 222"/>
                  <a:gd name="T5" fmla="*/ 234 h 392"/>
                  <a:gd name="T6" fmla="*/ 169 w 222"/>
                  <a:gd name="T7" fmla="*/ 348 h 392"/>
                  <a:gd name="T8" fmla="*/ 82 w 222"/>
                  <a:gd name="T9" fmla="*/ 301 h 392"/>
                  <a:gd name="T10" fmla="*/ 61 w 222"/>
                  <a:gd name="T11" fmla="*/ 194 h 392"/>
                  <a:gd name="T12" fmla="*/ 34 w 222"/>
                  <a:gd name="T13" fmla="*/ 80 h 392"/>
                  <a:gd name="T14" fmla="*/ 0 w 222"/>
                  <a:gd name="T15" fmla="*/ 13 h 39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2" h="392">
                    <a:moveTo>
                      <a:pt x="0" y="15"/>
                    </a:moveTo>
                    <a:lnTo>
                      <a:pt x="31" y="0"/>
                    </a:lnTo>
                    <a:lnTo>
                      <a:pt x="222" y="264"/>
                    </a:lnTo>
                    <a:lnTo>
                      <a:pt x="191" y="392"/>
                    </a:lnTo>
                    <a:lnTo>
                      <a:pt x="92" y="339"/>
                    </a:lnTo>
                    <a:lnTo>
                      <a:pt x="69" y="219"/>
                    </a:lnTo>
                    <a:lnTo>
                      <a:pt x="38" y="90"/>
                    </a:lnTo>
                    <a:lnTo>
                      <a:pt x="0"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1274" name="Group 36"/>
            <p:cNvGrpSpPr>
              <a:grpSpLocks/>
            </p:cNvGrpSpPr>
            <p:nvPr/>
          </p:nvGrpSpPr>
          <p:grpSpPr bwMode="auto">
            <a:xfrm>
              <a:off x="3320" y="1958"/>
              <a:ext cx="869" cy="418"/>
              <a:chOff x="3320" y="1958"/>
              <a:chExt cx="869" cy="418"/>
            </a:xfrm>
          </p:grpSpPr>
          <p:sp>
            <p:nvSpPr>
              <p:cNvPr id="11275" name="Freeform 37"/>
              <p:cNvSpPr>
                <a:spLocks/>
              </p:cNvSpPr>
              <p:nvPr/>
            </p:nvSpPr>
            <p:spPr bwMode="auto">
              <a:xfrm>
                <a:off x="3320" y="1958"/>
                <a:ext cx="820" cy="253"/>
              </a:xfrm>
              <a:custGeom>
                <a:avLst/>
                <a:gdLst>
                  <a:gd name="T0" fmla="*/ 0 w 627"/>
                  <a:gd name="T1" fmla="*/ 4 h 285"/>
                  <a:gd name="T2" fmla="*/ 46 w 627"/>
                  <a:gd name="T3" fmla="*/ 0 h 285"/>
                  <a:gd name="T4" fmla="*/ 156 w 627"/>
                  <a:gd name="T5" fmla="*/ 31 h 285"/>
                  <a:gd name="T6" fmla="*/ 280 w 627"/>
                  <a:gd name="T7" fmla="*/ 81 h 285"/>
                  <a:gd name="T8" fmla="*/ 352 w 627"/>
                  <a:gd name="T9" fmla="*/ 121 h 285"/>
                  <a:gd name="T10" fmla="*/ 521 w 627"/>
                  <a:gd name="T11" fmla="*/ 143 h 285"/>
                  <a:gd name="T12" fmla="*/ 677 w 627"/>
                  <a:gd name="T13" fmla="*/ 157 h 285"/>
                  <a:gd name="T14" fmla="*/ 715 w 627"/>
                  <a:gd name="T15" fmla="*/ 143 h 285"/>
                  <a:gd name="T16" fmla="*/ 778 w 627"/>
                  <a:gd name="T17" fmla="*/ 110 h 285"/>
                  <a:gd name="T18" fmla="*/ 798 w 627"/>
                  <a:gd name="T19" fmla="*/ 123 h 285"/>
                  <a:gd name="T20" fmla="*/ 726 w 627"/>
                  <a:gd name="T21" fmla="*/ 162 h 285"/>
                  <a:gd name="T22" fmla="*/ 820 w 627"/>
                  <a:gd name="T23" fmla="*/ 166 h 285"/>
                  <a:gd name="T24" fmla="*/ 817 w 627"/>
                  <a:gd name="T25" fmla="*/ 186 h 285"/>
                  <a:gd name="T26" fmla="*/ 739 w 627"/>
                  <a:gd name="T27" fmla="*/ 181 h 285"/>
                  <a:gd name="T28" fmla="*/ 732 w 627"/>
                  <a:gd name="T29" fmla="*/ 199 h 285"/>
                  <a:gd name="T30" fmla="*/ 807 w 627"/>
                  <a:gd name="T31" fmla="*/ 237 h 285"/>
                  <a:gd name="T32" fmla="*/ 787 w 627"/>
                  <a:gd name="T33" fmla="*/ 253 h 285"/>
                  <a:gd name="T34" fmla="*/ 726 w 627"/>
                  <a:gd name="T35" fmla="*/ 215 h 285"/>
                  <a:gd name="T36" fmla="*/ 709 w 627"/>
                  <a:gd name="T37" fmla="*/ 253 h 285"/>
                  <a:gd name="T38" fmla="*/ 693 w 627"/>
                  <a:gd name="T39" fmla="*/ 246 h 285"/>
                  <a:gd name="T40" fmla="*/ 684 w 627"/>
                  <a:gd name="T41" fmla="*/ 193 h 285"/>
                  <a:gd name="T42" fmla="*/ 475 w 627"/>
                  <a:gd name="T43" fmla="*/ 184 h 285"/>
                  <a:gd name="T44" fmla="*/ 352 w 627"/>
                  <a:gd name="T45" fmla="*/ 170 h 285"/>
                  <a:gd name="T46" fmla="*/ 306 w 627"/>
                  <a:gd name="T47" fmla="*/ 153 h 285"/>
                  <a:gd name="T48" fmla="*/ 162 w 627"/>
                  <a:gd name="T49" fmla="*/ 94 h 285"/>
                  <a:gd name="T50" fmla="*/ 59 w 627"/>
                  <a:gd name="T51" fmla="*/ 72 h 285"/>
                  <a:gd name="T52" fmla="*/ 46 w 627"/>
                  <a:gd name="T53" fmla="*/ 31 h 285"/>
                  <a:gd name="T54" fmla="*/ 0 w 627"/>
                  <a:gd name="T55" fmla="*/ 4 h 28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627" h="285">
                    <a:moveTo>
                      <a:pt x="0" y="5"/>
                    </a:moveTo>
                    <a:lnTo>
                      <a:pt x="35" y="0"/>
                    </a:lnTo>
                    <a:lnTo>
                      <a:pt x="119" y="35"/>
                    </a:lnTo>
                    <a:lnTo>
                      <a:pt x="214" y="91"/>
                    </a:lnTo>
                    <a:lnTo>
                      <a:pt x="269" y="136"/>
                    </a:lnTo>
                    <a:lnTo>
                      <a:pt x="398" y="161"/>
                    </a:lnTo>
                    <a:lnTo>
                      <a:pt x="518" y="177"/>
                    </a:lnTo>
                    <a:lnTo>
                      <a:pt x="547" y="161"/>
                    </a:lnTo>
                    <a:lnTo>
                      <a:pt x="595" y="124"/>
                    </a:lnTo>
                    <a:lnTo>
                      <a:pt x="610" y="139"/>
                    </a:lnTo>
                    <a:lnTo>
                      <a:pt x="555" y="182"/>
                    </a:lnTo>
                    <a:lnTo>
                      <a:pt x="627" y="187"/>
                    </a:lnTo>
                    <a:lnTo>
                      <a:pt x="625" y="209"/>
                    </a:lnTo>
                    <a:lnTo>
                      <a:pt x="565" y="204"/>
                    </a:lnTo>
                    <a:lnTo>
                      <a:pt x="560" y="224"/>
                    </a:lnTo>
                    <a:lnTo>
                      <a:pt x="617" y="267"/>
                    </a:lnTo>
                    <a:lnTo>
                      <a:pt x="602" y="285"/>
                    </a:lnTo>
                    <a:lnTo>
                      <a:pt x="555" y="242"/>
                    </a:lnTo>
                    <a:lnTo>
                      <a:pt x="542" y="285"/>
                    </a:lnTo>
                    <a:lnTo>
                      <a:pt x="530" y="277"/>
                    </a:lnTo>
                    <a:lnTo>
                      <a:pt x="523" y="217"/>
                    </a:lnTo>
                    <a:lnTo>
                      <a:pt x="363" y="207"/>
                    </a:lnTo>
                    <a:lnTo>
                      <a:pt x="269" y="192"/>
                    </a:lnTo>
                    <a:lnTo>
                      <a:pt x="234" y="172"/>
                    </a:lnTo>
                    <a:lnTo>
                      <a:pt x="124" y="106"/>
                    </a:lnTo>
                    <a:lnTo>
                      <a:pt x="45" y="81"/>
                    </a:lnTo>
                    <a:lnTo>
                      <a:pt x="35" y="35"/>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76" name="Freeform 38"/>
              <p:cNvSpPr>
                <a:spLocks/>
              </p:cNvSpPr>
              <p:nvPr/>
            </p:nvSpPr>
            <p:spPr bwMode="auto">
              <a:xfrm>
                <a:off x="3916" y="1979"/>
                <a:ext cx="273" cy="397"/>
              </a:xfrm>
              <a:custGeom>
                <a:avLst/>
                <a:gdLst>
                  <a:gd name="T0" fmla="*/ 13 w 500"/>
                  <a:gd name="T1" fmla="*/ 82 h 448"/>
                  <a:gd name="T2" fmla="*/ 22 w 500"/>
                  <a:gd name="T3" fmla="*/ 19 h 448"/>
                  <a:gd name="T4" fmla="*/ 31 w 500"/>
                  <a:gd name="T5" fmla="*/ 3 h 448"/>
                  <a:gd name="T6" fmla="*/ 48 w 500"/>
                  <a:gd name="T7" fmla="*/ 0 h 448"/>
                  <a:gd name="T8" fmla="*/ 117 w 500"/>
                  <a:gd name="T9" fmla="*/ 14 h 448"/>
                  <a:gd name="T10" fmla="*/ 203 w 500"/>
                  <a:gd name="T11" fmla="*/ 35 h 448"/>
                  <a:gd name="T12" fmla="*/ 252 w 500"/>
                  <a:gd name="T13" fmla="*/ 49 h 448"/>
                  <a:gd name="T14" fmla="*/ 263 w 500"/>
                  <a:gd name="T15" fmla="*/ 64 h 448"/>
                  <a:gd name="T16" fmla="*/ 269 w 500"/>
                  <a:gd name="T17" fmla="*/ 90 h 448"/>
                  <a:gd name="T18" fmla="*/ 272 w 500"/>
                  <a:gd name="T19" fmla="*/ 194 h 448"/>
                  <a:gd name="T20" fmla="*/ 273 w 500"/>
                  <a:gd name="T21" fmla="*/ 308 h 448"/>
                  <a:gd name="T22" fmla="*/ 269 w 500"/>
                  <a:gd name="T23" fmla="*/ 381 h 448"/>
                  <a:gd name="T24" fmla="*/ 263 w 500"/>
                  <a:gd name="T25" fmla="*/ 393 h 448"/>
                  <a:gd name="T26" fmla="*/ 247 w 500"/>
                  <a:gd name="T27" fmla="*/ 397 h 448"/>
                  <a:gd name="T28" fmla="*/ 174 w 500"/>
                  <a:gd name="T29" fmla="*/ 376 h 448"/>
                  <a:gd name="T30" fmla="*/ 64 w 500"/>
                  <a:gd name="T31" fmla="*/ 339 h 448"/>
                  <a:gd name="T32" fmla="*/ 9 w 500"/>
                  <a:gd name="T33" fmla="*/ 315 h 448"/>
                  <a:gd name="T34" fmla="*/ 2 w 500"/>
                  <a:gd name="T35" fmla="*/ 295 h 448"/>
                  <a:gd name="T36" fmla="*/ 0 w 500"/>
                  <a:gd name="T37" fmla="*/ 256 h 448"/>
                  <a:gd name="T38" fmla="*/ 3 w 500"/>
                  <a:gd name="T39" fmla="*/ 167 h 448"/>
                  <a:gd name="T40" fmla="*/ 13 w 500"/>
                  <a:gd name="T41" fmla="*/ 82 h 4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00" h="448">
                    <a:moveTo>
                      <a:pt x="24" y="92"/>
                    </a:moveTo>
                    <a:lnTo>
                      <a:pt x="41" y="21"/>
                    </a:lnTo>
                    <a:lnTo>
                      <a:pt x="56" y="3"/>
                    </a:lnTo>
                    <a:lnTo>
                      <a:pt x="87" y="0"/>
                    </a:lnTo>
                    <a:lnTo>
                      <a:pt x="215" y="16"/>
                    </a:lnTo>
                    <a:lnTo>
                      <a:pt x="371" y="39"/>
                    </a:lnTo>
                    <a:lnTo>
                      <a:pt x="462" y="55"/>
                    </a:lnTo>
                    <a:lnTo>
                      <a:pt x="482" y="72"/>
                    </a:lnTo>
                    <a:lnTo>
                      <a:pt x="493" y="102"/>
                    </a:lnTo>
                    <a:lnTo>
                      <a:pt x="498" y="219"/>
                    </a:lnTo>
                    <a:lnTo>
                      <a:pt x="500" y="348"/>
                    </a:lnTo>
                    <a:lnTo>
                      <a:pt x="493" y="430"/>
                    </a:lnTo>
                    <a:lnTo>
                      <a:pt x="482" y="444"/>
                    </a:lnTo>
                    <a:lnTo>
                      <a:pt x="453" y="448"/>
                    </a:lnTo>
                    <a:lnTo>
                      <a:pt x="319" y="424"/>
                    </a:lnTo>
                    <a:lnTo>
                      <a:pt x="117" y="382"/>
                    </a:lnTo>
                    <a:lnTo>
                      <a:pt x="16" y="355"/>
                    </a:lnTo>
                    <a:lnTo>
                      <a:pt x="3" y="333"/>
                    </a:lnTo>
                    <a:lnTo>
                      <a:pt x="0" y="289"/>
                    </a:lnTo>
                    <a:lnTo>
                      <a:pt x="6" y="189"/>
                    </a:lnTo>
                    <a:lnTo>
                      <a:pt x="24" y="92"/>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60455" name="Text Box 39"/>
          <p:cNvSpPr txBox="1">
            <a:spLocks noChangeArrowheads="1"/>
          </p:cNvSpPr>
          <p:nvPr/>
        </p:nvSpPr>
        <p:spPr bwMode="auto">
          <a:xfrm>
            <a:off x="6537325" y="5278439"/>
            <a:ext cx="3232150"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20000"/>
              </a:spcBef>
              <a:buClr>
                <a:schemeClr val="accent2"/>
              </a:buClr>
              <a:buFont typeface="Monotype Sorts" pitchFamily="2" charset="2"/>
              <a:buNone/>
            </a:pPr>
            <a:r>
              <a:rPr kumimoji="1" lang="en-US" altLang="en-US" sz="2800" i="1">
                <a:latin typeface="Comic Sans MS" panose="030F0702030302020204" pitchFamily="66" charset="0"/>
              </a:rPr>
              <a:t>Global information</a:t>
            </a:r>
          </a:p>
        </p:txBody>
      </p:sp>
    </p:spTree>
    <p:extLst>
      <p:ext uri="{BB962C8B-B14F-4D97-AF65-F5344CB8AC3E}">
        <p14:creationId xmlns:p14="http://schemas.microsoft.com/office/powerpoint/2010/main" val="4902432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042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2" fill="hold" nodeType="clickEffect">
                                  <p:stCondLst>
                                    <p:cond delay="0"/>
                                  </p:stCondLst>
                                  <p:childTnLst>
                                    <p:set>
                                      <p:cBhvr>
                                        <p:cTn id="10" dur="1" fill="hold">
                                          <p:stCondLst>
                                            <p:cond delay="0"/>
                                          </p:stCondLst>
                                        </p:cTn>
                                        <p:tgtEl>
                                          <p:spTgt spid="60420"/>
                                        </p:tgtEl>
                                        <p:attrNameLst>
                                          <p:attrName>style.visibility</p:attrName>
                                        </p:attrNameLst>
                                      </p:cBhvr>
                                      <p:to>
                                        <p:strVal val="visible"/>
                                      </p:to>
                                    </p:set>
                                    <p:anim calcmode="lin" valueType="num">
                                      <p:cBhvr additive="base">
                                        <p:cTn id="11" dur="500" fill="hold"/>
                                        <p:tgtEl>
                                          <p:spTgt spid="60420"/>
                                        </p:tgtEl>
                                        <p:attrNameLst>
                                          <p:attrName>ppt_x</p:attrName>
                                        </p:attrNameLst>
                                      </p:cBhvr>
                                      <p:tavLst>
                                        <p:tav tm="0">
                                          <p:val>
                                            <p:strVal val="1+#ppt_w/2"/>
                                          </p:val>
                                        </p:tav>
                                        <p:tav tm="100000">
                                          <p:val>
                                            <p:strVal val="#ppt_x"/>
                                          </p:val>
                                        </p:tav>
                                      </p:tavLst>
                                    </p:anim>
                                    <p:anim calcmode="lin" valueType="num">
                                      <p:cBhvr additive="base">
                                        <p:cTn id="12" dur="500" fill="hold"/>
                                        <p:tgtEl>
                                          <p:spTgt spid="60420"/>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60442"/>
                                        </p:tgtEl>
                                        <p:attrNameLst>
                                          <p:attrName>style.visibility</p:attrName>
                                        </p:attrNameLst>
                                      </p:cBhvr>
                                      <p:to>
                                        <p:strVal val="visible"/>
                                      </p:to>
                                    </p:set>
                                    <p:anim calcmode="lin" valueType="num">
                                      <p:cBhvr additive="base">
                                        <p:cTn id="17" dur="500" fill="hold"/>
                                        <p:tgtEl>
                                          <p:spTgt spid="60442"/>
                                        </p:tgtEl>
                                        <p:attrNameLst>
                                          <p:attrName>ppt_x</p:attrName>
                                        </p:attrNameLst>
                                      </p:cBhvr>
                                      <p:tavLst>
                                        <p:tav tm="0">
                                          <p:val>
                                            <p:strVal val="0-#ppt_w/2"/>
                                          </p:val>
                                        </p:tav>
                                        <p:tav tm="100000">
                                          <p:val>
                                            <p:strVal val="#ppt_x"/>
                                          </p:val>
                                        </p:tav>
                                      </p:tavLst>
                                    </p:anim>
                                    <p:anim calcmode="lin" valueType="num">
                                      <p:cBhvr additive="base">
                                        <p:cTn id="18" dur="500" fill="hold"/>
                                        <p:tgtEl>
                                          <p:spTgt spid="60442"/>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042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0455"/>
                                        </p:tgtEl>
                                        <p:attrNameLst>
                                          <p:attrName>style.visibility</p:attrName>
                                        </p:attrNameLst>
                                      </p:cBhvr>
                                      <p:to>
                                        <p:strVal val="visible"/>
                                      </p:to>
                                    </p:set>
                                    <p:animEffect transition="in" filter="dissolve">
                                      <p:cBhvr>
                                        <p:cTn id="27" dur="500"/>
                                        <p:tgtEl>
                                          <p:spTgt spid="60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5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ADCA0-DDB9-B58F-A794-C1612FF32BC7}"/>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Example Paradigm Shifts: WWW</a:t>
            </a:r>
            <a:endParaRPr lang="en-US" dirty="0"/>
          </a:p>
        </p:txBody>
      </p:sp>
      <p:sp>
        <p:nvSpPr>
          <p:cNvPr id="3" name="Content Placeholder 2">
            <a:extLst>
              <a:ext uri="{FF2B5EF4-FFF2-40B4-BE49-F238E27FC236}">
                <a16:creationId xmlns:a16="http://schemas.microsoft.com/office/drawing/2014/main" id="{A0D08704-E2B6-2762-1723-E04323DAA1D1}"/>
              </a:ext>
            </a:extLst>
          </p:cNvPr>
          <p:cNvSpPr>
            <a:spLocks noGrp="1"/>
          </p:cNvSpPr>
          <p:nvPr>
            <p:ph sz="half" idx="1"/>
          </p:nvPr>
        </p:nvSpPr>
        <p:spPr/>
        <p:txBody>
          <a:bodyPr/>
          <a:lstStyle/>
          <a:p>
            <a:r>
              <a:rPr lang="en-GB" sz="2600" b="1" i="0" u="none" strike="noStrike" baseline="0" dirty="0">
                <a:latin typeface="Times New Roman" panose="02020603050405020304" pitchFamily="18" charset="0"/>
                <a:cs typeface="Times New Roman" panose="02020603050405020304" pitchFamily="18" charset="0"/>
              </a:rPr>
              <a:t>The internet is simply a collection of computers, each linked by any sort of data connection, whether it be slow telephone line and modem or high-bandwidth optical connection</a:t>
            </a:r>
            <a:endParaRPr lang="en-US" altLang="en-US" sz="2600" b="1" dirty="0">
              <a:latin typeface="Times New Roman" panose="02020603050405020304" pitchFamily="18" charset="0"/>
              <a:cs typeface="Times New Roman" panose="02020603050405020304" pitchFamily="18" charset="0"/>
            </a:endParaRPr>
          </a:p>
          <a:p>
            <a:endParaRPr lang="en-US" sz="2600" b="1" dirty="0"/>
          </a:p>
        </p:txBody>
      </p:sp>
      <p:sp>
        <p:nvSpPr>
          <p:cNvPr id="4" name="Content Placeholder 3">
            <a:extLst>
              <a:ext uri="{FF2B5EF4-FFF2-40B4-BE49-F238E27FC236}">
                <a16:creationId xmlns:a16="http://schemas.microsoft.com/office/drawing/2014/main" id="{240C2AF9-A82D-ED7B-22E2-104906EF6196}"/>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4B678CBA-8A8B-4F93-696F-C15A7D1151A0}"/>
              </a:ext>
            </a:extLst>
          </p:cNvPr>
          <p:cNvSpPr>
            <a:spLocks noGrp="1"/>
          </p:cNvSpPr>
          <p:nvPr>
            <p:ph type="sldNum" sz="quarter" idx="12"/>
          </p:nvPr>
        </p:nvSpPr>
        <p:spPr/>
        <p:txBody>
          <a:bodyPr/>
          <a:lstStyle/>
          <a:p>
            <a:pPr>
              <a:defRPr/>
            </a:pPr>
            <a:fld id="{73AD155A-D4E9-4AE4-84C6-FF1A220296F8}" type="slidenum">
              <a:rPr lang="en-GB" altLang="en-US" smtClean="0"/>
              <a:pPr>
                <a:defRPr/>
              </a:pPr>
              <a:t>16</a:t>
            </a:fld>
            <a:endParaRPr lang="en-GB" altLang="en-US"/>
          </a:p>
        </p:txBody>
      </p:sp>
    </p:spTree>
    <p:extLst>
      <p:ext uri="{BB962C8B-B14F-4D97-AF65-F5344CB8AC3E}">
        <p14:creationId xmlns:p14="http://schemas.microsoft.com/office/powerpoint/2010/main" val="2834493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dirty="0">
                <a:latin typeface="Times New Roman" panose="02020603050405020304" pitchFamily="18" charset="0"/>
                <a:cs typeface="Times New Roman" panose="02020603050405020304" pitchFamily="18" charset="0"/>
              </a:rPr>
              <a:t>Example Paradigm Shifts: WWW</a:t>
            </a:r>
          </a:p>
        </p:txBody>
      </p:sp>
      <p:sp>
        <p:nvSpPr>
          <p:cNvPr id="11267" name="Rectangle 3"/>
          <p:cNvSpPr>
            <a:spLocks noGrp="1" noChangeArrowheads="1"/>
          </p:cNvSpPr>
          <p:nvPr>
            <p:ph sz="half" idx="1"/>
          </p:nvPr>
        </p:nvSpPr>
        <p:spPr>
          <a:xfrm>
            <a:off x="119336" y="1845734"/>
            <a:ext cx="11036344" cy="4391578"/>
          </a:xfrm>
        </p:spPr>
        <p:txBody>
          <a:bodyPr/>
          <a:lstStyle/>
          <a:p>
            <a:pPr algn="l"/>
            <a:r>
              <a:rPr lang="en-GB" sz="2600" b="1" i="0" u="none" strike="noStrike" baseline="0" dirty="0">
                <a:latin typeface="Times New Roman" panose="02020603050405020304" pitchFamily="18" charset="0"/>
                <a:cs typeface="Times New Roman" panose="02020603050405020304" pitchFamily="18" charset="0"/>
              </a:rPr>
              <a:t>The world wide web project was conceived in 1989 by Tim Berners-Lee, working at CERN, the European Particle Physics Laboratory at Geneva, as a means to enable the widespread distribution of scientific data generated at CERN and to share information between physicists worldwide. </a:t>
            </a:r>
          </a:p>
          <a:p>
            <a:pPr algn="l"/>
            <a:r>
              <a:rPr lang="en-GB" sz="2600" b="0" i="0" u="none" strike="noStrike" baseline="0" dirty="0">
                <a:latin typeface="Times New Roman" panose="02020603050405020304" pitchFamily="18" charset="0"/>
                <a:cs typeface="Times New Roman" panose="02020603050405020304" pitchFamily="18" charset="0"/>
              </a:rPr>
              <a:t>In 1991 the first text-based web browser was released. This was followed in early 1993 by several graphical web browsers, most significantly Mosaic developed by Marc Andreesen at the National </a:t>
            </a:r>
            <a:r>
              <a:rPr lang="en-GB" sz="2600" b="0" i="0" u="none" strike="noStrike" baseline="0" dirty="0" err="1">
                <a:latin typeface="Times New Roman" panose="02020603050405020304" pitchFamily="18" charset="0"/>
                <a:cs typeface="Times New Roman" panose="02020603050405020304" pitchFamily="18" charset="0"/>
              </a:rPr>
              <a:t>Center</a:t>
            </a:r>
            <a:r>
              <a:rPr lang="en-GB" sz="2600" b="0" i="0" u="none" strike="noStrike" baseline="0" dirty="0">
                <a:latin typeface="Times New Roman" panose="02020603050405020304" pitchFamily="18" charset="0"/>
                <a:cs typeface="Times New Roman" panose="02020603050405020304" pitchFamily="18" charset="0"/>
              </a:rPr>
              <a:t> for Supercomputer Applications (NCSA) at Champaign, Illinois. </a:t>
            </a:r>
            <a:endParaRPr lang="en-GB" sz="2600" dirty="0">
              <a:latin typeface="Times New Roman" panose="02020603050405020304" pitchFamily="18" charset="0"/>
              <a:cs typeface="Times New Roman" panose="02020603050405020304" pitchFamily="18" charset="0"/>
            </a:endParaRPr>
          </a:p>
          <a:p>
            <a:pPr algn="l"/>
            <a:r>
              <a:rPr lang="en-GB" sz="2600" b="0" i="0" u="none" strike="noStrike" baseline="0" dirty="0">
                <a:latin typeface="Times New Roman" panose="02020603050405020304" pitchFamily="18" charset="0"/>
                <a:cs typeface="Times New Roman" panose="02020603050405020304" pitchFamily="18" charset="0"/>
              </a:rPr>
              <a:t>This was the defining moment at which the meteoric growth of the web began, rapidly growing to dominate internet traffic and change the public view of computing</a:t>
            </a:r>
            <a:endParaRPr lang="en-US" alt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4461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096963" y="287339"/>
            <a:ext cx="10058400" cy="1053430"/>
          </a:xfrm>
        </p:spPr>
        <p:txBody>
          <a:bodyPr/>
          <a:lstStyle/>
          <a:p>
            <a:pPr eaLnBrk="1" hangingPunct="1"/>
            <a:r>
              <a:rPr lang="en-GB" altLang="en-US" dirty="0">
                <a:latin typeface="Times New Roman" panose="02020603050405020304" pitchFamily="18" charset="0"/>
                <a:cs typeface="Times New Roman" panose="02020603050405020304" pitchFamily="18" charset="0"/>
              </a:rPr>
              <a:t>Video Display Units</a:t>
            </a:r>
          </a:p>
        </p:txBody>
      </p:sp>
      <p:sp>
        <p:nvSpPr>
          <p:cNvPr id="14339" name="Rectangle 3"/>
          <p:cNvSpPr>
            <a:spLocks noGrp="1" noChangeArrowheads="1"/>
          </p:cNvSpPr>
          <p:nvPr>
            <p:ph type="body" idx="1"/>
          </p:nvPr>
        </p:nvSpPr>
        <p:spPr>
          <a:xfrm>
            <a:off x="371364" y="1412776"/>
            <a:ext cx="11449272" cy="4463057"/>
          </a:xfrm>
        </p:spPr>
        <p:txBody>
          <a:bodyPr/>
          <a:lstStyle/>
          <a:p>
            <a:pPr eaLnBrk="1" hangingPunct="1">
              <a:lnSpc>
                <a:spcPct val="90000"/>
              </a:lnSpc>
              <a:buFont typeface="Wingdings" panose="05000000000000000000" pitchFamily="2" charset="2"/>
              <a:buChar char="§"/>
            </a:pPr>
            <a:r>
              <a:rPr lang="en-GB" altLang="en-US" sz="2600" b="1" dirty="0">
                <a:solidFill>
                  <a:srgbClr val="00B050"/>
                </a:solidFill>
                <a:latin typeface="Times New Roman" panose="02020603050405020304" pitchFamily="18" charset="0"/>
                <a:cs typeface="Times New Roman" panose="02020603050405020304" pitchFamily="18" charset="0"/>
              </a:rPr>
              <a:t>As early as the mid-1950s researchers were experimenting with the possibility of presenting and manipulating information from a computer in the form of images on a video display unit (VDU). </a:t>
            </a:r>
            <a:endParaRPr lang="en-GB" altLang="en-US" sz="2600" dirty="0">
              <a:latin typeface="Times New Roman" panose="02020603050405020304" pitchFamily="18" charset="0"/>
              <a:cs typeface="Times New Roman" panose="02020603050405020304" pitchFamily="18" charset="0"/>
            </a:endParaRPr>
          </a:p>
          <a:p>
            <a:pPr eaLnBrk="1" hangingPunct="1">
              <a:lnSpc>
                <a:spcPct val="90000"/>
              </a:lnSpc>
              <a:buFont typeface="Wingdings" panose="05000000000000000000" pitchFamily="2" charset="2"/>
              <a:buChar char="§"/>
            </a:pPr>
            <a:r>
              <a:rPr lang="en-GB" altLang="en-US" sz="2600" dirty="0">
                <a:latin typeface="Times New Roman" panose="02020603050405020304" pitchFamily="18" charset="0"/>
                <a:cs typeface="Times New Roman" panose="02020603050405020304" pitchFamily="18" charset="0"/>
              </a:rPr>
              <a:t>These display screens could provide a more suitable medium than a paper printout for presenting vast quantities of strategic information for rapid assimilation. </a:t>
            </a:r>
          </a:p>
          <a:p>
            <a:pPr eaLnBrk="1" hangingPunct="1">
              <a:lnSpc>
                <a:spcPct val="90000"/>
              </a:lnSpc>
              <a:buFont typeface="Wingdings" panose="05000000000000000000" pitchFamily="2" charset="2"/>
              <a:buChar char="§"/>
            </a:pPr>
            <a:r>
              <a:rPr lang="en-GB" altLang="en-US" sz="2600" dirty="0">
                <a:latin typeface="Times New Roman" panose="02020603050405020304" pitchFamily="18" charset="0"/>
                <a:cs typeface="Times New Roman" panose="02020603050405020304" pitchFamily="18" charset="0"/>
              </a:rPr>
              <a:t>The earliest applications of display screen images were developed in military applications, most notably the Semi-Automatic Ground Environment (SAGE) project of the US Air Force. </a:t>
            </a:r>
          </a:p>
          <a:p>
            <a:pPr eaLnBrk="1" hangingPunct="1">
              <a:lnSpc>
                <a:spcPct val="90000"/>
              </a:lnSpc>
              <a:buFont typeface="Wingdings" panose="05000000000000000000" pitchFamily="2" charset="2"/>
              <a:buChar char="§"/>
            </a:pPr>
            <a:r>
              <a:rPr lang="en-GB" altLang="en-US" sz="2600" dirty="0">
                <a:latin typeface="Times New Roman" panose="02020603050405020304" pitchFamily="18" charset="0"/>
                <a:cs typeface="Times New Roman" panose="02020603050405020304" pitchFamily="18" charset="0"/>
              </a:rPr>
              <a:t>It was not until 1962, however, when a young graduate student at the Massachusetts Institute of Technology (MIT), Ivan Sutherland, astonished the established computer science community with his Sketchpad program, that the capabilities of visual images were realized</a:t>
            </a:r>
          </a:p>
        </p:txBody>
      </p:sp>
    </p:spTree>
    <p:extLst>
      <p:ext uri="{BB962C8B-B14F-4D97-AF65-F5344CB8AC3E}">
        <p14:creationId xmlns:p14="http://schemas.microsoft.com/office/powerpoint/2010/main" val="1700669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GB" altLang="en-US" dirty="0">
                <a:latin typeface="Times New Roman" panose="02020603050405020304" pitchFamily="18" charset="0"/>
                <a:cs typeface="Times New Roman" panose="02020603050405020304" pitchFamily="18" charset="0"/>
              </a:rPr>
              <a:t>Ubiquitous Computing</a:t>
            </a:r>
          </a:p>
        </p:txBody>
      </p:sp>
      <p:sp>
        <p:nvSpPr>
          <p:cNvPr id="26627" name="Rectangle 3"/>
          <p:cNvSpPr>
            <a:spLocks noGrp="1" noChangeArrowheads="1"/>
          </p:cNvSpPr>
          <p:nvPr>
            <p:ph type="body" idx="1"/>
          </p:nvPr>
        </p:nvSpPr>
        <p:spPr>
          <a:xfrm>
            <a:off x="623392" y="1736725"/>
            <a:ext cx="11305256" cy="4391049"/>
          </a:xfrm>
        </p:spPr>
        <p:txBody>
          <a:bodyPr/>
          <a:lstStyle/>
          <a:p>
            <a:pPr eaLnBrk="1" hangingPunct="1">
              <a:buFontTx/>
              <a:buNone/>
            </a:pPr>
            <a:r>
              <a:rPr lang="en-GB" altLang="en-US" sz="2600" dirty="0">
                <a:solidFill>
                  <a:srgbClr val="00B050"/>
                </a:solidFill>
                <a:latin typeface="Times New Roman" panose="02020603050405020304" pitchFamily="18" charset="0"/>
                <a:cs typeface="Times New Roman" panose="02020603050405020304" pitchFamily="18" charset="0"/>
              </a:rPr>
              <a:t>Where does computing happen, and more importantly, where do we as users go to interact with a computer</a:t>
            </a:r>
            <a:r>
              <a:rPr lang="en-GB" altLang="en-US" sz="2600" dirty="0">
                <a:latin typeface="Times New Roman" panose="02020603050405020304" pitchFamily="18" charset="0"/>
                <a:cs typeface="Times New Roman" panose="02020603050405020304" pitchFamily="18" charset="0"/>
              </a:rPr>
              <a:t>?</a:t>
            </a:r>
          </a:p>
          <a:p>
            <a:pPr eaLnBrk="1" hangingPunct="1">
              <a:buFontTx/>
              <a:buNone/>
            </a:pPr>
            <a:r>
              <a:rPr lang="en-GB" altLang="en-US" sz="2600" dirty="0">
                <a:latin typeface="Times New Roman" panose="02020603050405020304" pitchFamily="18" charset="0"/>
                <a:cs typeface="Times New Roman" panose="02020603050405020304" pitchFamily="18" charset="0"/>
              </a:rPr>
              <a:t> Over the past 50 years of interactive computing, we thought</a:t>
            </a:r>
            <a:r>
              <a:rPr lang="en-GB" sz="2600" b="0" i="0" u="none" strike="noStrike" baseline="0" dirty="0">
                <a:latin typeface="Times New Roman" panose="02020603050405020304" pitchFamily="18" charset="0"/>
                <a:cs typeface="Times New Roman" panose="02020603050405020304" pitchFamily="18" charset="0"/>
              </a:rPr>
              <a:t> of computers as being confined to a box on a desk or in an office or lab.</a:t>
            </a:r>
          </a:p>
          <a:p>
            <a:pPr eaLnBrk="1" hangingPunct="1">
              <a:buFontTx/>
              <a:buNone/>
            </a:pPr>
            <a:r>
              <a:rPr lang="en-GB" altLang="en-US" sz="2600" b="1" dirty="0">
                <a:solidFill>
                  <a:srgbClr val="00B0F0"/>
                </a:solidFill>
                <a:latin typeface="Times New Roman" panose="02020603050405020304" pitchFamily="18" charset="0"/>
                <a:cs typeface="Times New Roman" panose="02020603050405020304" pitchFamily="18" charset="0"/>
              </a:rPr>
              <a:t>In the late 1980s, a group of researchers at Xerox PARC, led by Mark Weiser, initiated a research program with the goal of moving human–computer interaction away from the desktop and out into our everyday lives.</a:t>
            </a:r>
            <a:endParaRPr lang="en-GB" altLang="en-US" sz="2600" dirty="0">
              <a:latin typeface="Times New Roman" panose="02020603050405020304" pitchFamily="18" charset="0"/>
              <a:cs typeface="Times New Roman" panose="02020603050405020304" pitchFamily="18" charset="0"/>
            </a:endParaRPr>
          </a:p>
          <a:p>
            <a:pPr eaLnBrk="1" hangingPunct="1">
              <a:buFontTx/>
              <a:buNone/>
            </a:pPr>
            <a:r>
              <a:rPr lang="en-GB" altLang="en-US" sz="2600" dirty="0">
                <a:latin typeface="Times New Roman" panose="02020603050405020304" pitchFamily="18" charset="0"/>
                <a:cs typeface="Times New Roman" panose="02020603050405020304" pitchFamily="18" charset="0"/>
              </a:rPr>
              <a:t> </a:t>
            </a:r>
            <a:r>
              <a:rPr lang="en-GB" altLang="en-US" sz="2600" b="1" dirty="0">
                <a:latin typeface="Times New Roman" panose="02020603050405020304" pitchFamily="18" charset="0"/>
                <a:cs typeface="Times New Roman" panose="02020603050405020304" pitchFamily="18" charset="0"/>
              </a:rPr>
              <a:t>Weiser observed:</a:t>
            </a:r>
          </a:p>
          <a:p>
            <a:pPr eaLnBrk="1" hangingPunct="1">
              <a:buFontTx/>
              <a:buNone/>
            </a:pPr>
            <a:r>
              <a:rPr lang="en-GB" altLang="en-US" sz="2600" b="1" dirty="0">
                <a:latin typeface="Times New Roman" panose="02020603050405020304" pitchFamily="18" charset="0"/>
                <a:cs typeface="Times New Roman" panose="02020603050405020304" pitchFamily="18" charset="0"/>
              </a:rPr>
              <a:t>The most profound technologies are those that disappear. They weave themselves into the fabric of everyday life until they are indistinguishable from it.</a:t>
            </a:r>
          </a:p>
        </p:txBody>
      </p:sp>
    </p:spTree>
    <p:extLst>
      <p:ext uri="{BB962C8B-B14F-4D97-AF65-F5344CB8AC3E}">
        <p14:creationId xmlns:p14="http://schemas.microsoft.com/office/powerpoint/2010/main" val="3478189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62D6F-7F8A-4849-9236-DEABF5A68157}"/>
              </a:ext>
            </a:extLst>
          </p:cNvPr>
          <p:cNvSpPr>
            <a:spLocks noGrp="1"/>
          </p:cNvSpPr>
          <p:nvPr>
            <p:ph type="title"/>
          </p:nvPr>
        </p:nvSpPr>
        <p:spPr/>
        <p:txBody>
          <a:bodyPr/>
          <a:lstStyle/>
          <a:p>
            <a:r>
              <a:rPr lang="en-GB" altLang="en-US" dirty="0">
                <a:latin typeface="Times New Roman" panose="02020603050405020304" pitchFamily="18" charset="0"/>
                <a:cs typeface="Times New Roman" panose="02020603050405020304" pitchFamily="18" charset="0"/>
              </a:rPr>
              <a:t>Ubiquitous Computing</a:t>
            </a:r>
            <a:endParaRPr lang="en-GH"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FF5D14D-9B35-4861-9BBA-96680784EE3D}"/>
              </a:ext>
            </a:extLst>
          </p:cNvPr>
          <p:cNvSpPr>
            <a:spLocks noGrp="1"/>
          </p:cNvSpPr>
          <p:nvPr>
            <p:ph idx="1"/>
          </p:nvPr>
        </p:nvSpPr>
        <p:spPr>
          <a:xfrm>
            <a:off x="407368" y="1846263"/>
            <a:ext cx="11593288" cy="4022725"/>
          </a:xfrm>
        </p:spPr>
        <p:txBody>
          <a:bodyPr/>
          <a:lstStyle/>
          <a:p>
            <a:pPr algn="l"/>
            <a:r>
              <a:rPr lang="en-GB" sz="2600" b="0" i="0" u="none" strike="noStrike" baseline="0" dirty="0">
                <a:latin typeface="Times New Roman" panose="02020603050405020304" pitchFamily="18" charset="0"/>
                <a:cs typeface="Times New Roman" panose="02020603050405020304" pitchFamily="18" charset="0"/>
              </a:rPr>
              <a:t>These words have inspired a new generation of researchers in the area of </a:t>
            </a:r>
            <a:r>
              <a:rPr lang="en-GB" sz="2600" b="0" i="1" u="none" strike="noStrike" baseline="0" dirty="0">
                <a:latin typeface="Times New Roman" panose="02020603050405020304" pitchFamily="18" charset="0"/>
                <a:cs typeface="Times New Roman" panose="02020603050405020304" pitchFamily="18" charset="0"/>
              </a:rPr>
              <a:t>ubiquitous computing</a:t>
            </a:r>
            <a:r>
              <a:rPr lang="en-GB" sz="2600" b="0" i="0" u="none" strike="noStrike" baseline="0" dirty="0">
                <a:latin typeface="Times New Roman" panose="02020603050405020304" pitchFamily="18" charset="0"/>
                <a:cs typeface="Times New Roman" panose="02020603050405020304" pitchFamily="18" charset="0"/>
              </a:rPr>
              <a:t>. </a:t>
            </a:r>
            <a:endParaRPr lang="en-GB" sz="2600" dirty="0">
              <a:latin typeface="Times New Roman" panose="02020603050405020304" pitchFamily="18" charset="0"/>
              <a:cs typeface="Times New Roman" panose="02020603050405020304" pitchFamily="18" charset="0"/>
            </a:endParaRPr>
          </a:p>
          <a:p>
            <a:pPr algn="l"/>
            <a:r>
              <a:rPr lang="en-GB" sz="2600" b="0" i="0" u="none" strike="noStrike" baseline="0" dirty="0">
                <a:latin typeface="Times New Roman" panose="02020603050405020304" pitchFamily="18" charset="0"/>
                <a:cs typeface="Times New Roman" panose="02020603050405020304" pitchFamily="18" charset="0"/>
              </a:rPr>
              <a:t>Another popular term for this emerging paradigm is </a:t>
            </a:r>
            <a:r>
              <a:rPr lang="en-GB" sz="2600" b="0" i="1" u="none" strike="noStrike" baseline="0" dirty="0">
                <a:latin typeface="Times New Roman" panose="02020603050405020304" pitchFamily="18" charset="0"/>
                <a:cs typeface="Times New Roman" panose="02020603050405020304" pitchFamily="18" charset="0"/>
              </a:rPr>
              <a:t>pervasive </a:t>
            </a:r>
            <a:r>
              <a:rPr lang="en-GB" sz="2600" b="0" i="0" u="none" strike="noStrike" baseline="0" dirty="0">
                <a:latin typeface="Times New Roman" panose="02020603050405020304" pitchFamily="18" charset="0"/>
                <a:cs typeface="Times New Roman" panose="02020603050405020304" pitchFamily="18" charset="0"/>
              </a:rPr>
              <a:t>computing, first coined by IBM. </a:t>
            </a:r>
            <a:endParaRPr lang="en-GB" sz="2600" dirty="0">
              <a:latin typeface="Times New Roman" panose="02020603050405020304" pitchFamily="18" charset="0"/>
              <a:cs typeface="Times New Roman" panose="02020603050405020304" pitchFamily="18" charset="0"/>
            </a:endParaRPr>
          </a:p>
          <a:p>
            <a:pPr algn="l"/>
            <a:r>
              <a:rPr lang="en-GB" sz="2600" b="0" i="0" u="none" strike="noStrike" baseline="0" dirty="0">
                <a:solidFill>
                  <a:srgbClr val="00B050"/>
                </a:solidFill>
                <a:latin typeface="Times New Roman" panose="02020603050405020304" pitchFamily="18" charset="0"/>
                <a:cs typeface="Times New Roman" panose="02020603050405020304" pitchFamily="18" charset="0"/>
              </a:rPr>
              <a:t>The intention is to create a computing infrastructure that permeates our physical environment so much that we do not notice the computer any longer.</a:t>
            </a:r>
          </a:p>
          <a:p>
            <a:pPr algn="l"/>
            <a:r>
              <a:rPr lang="en-GB" sz="2600" b="1" i="0" u="none" strike="noStrike" baseline="0" dirty="0">
                <a:latin typeface="Times New Roman" panose="02020603050405020304" pitchFamily="18" charset="0"/>
                <a:cs typeface="Times New Roman" panose="02020603050405020304" pitchFamily="18" charset="0"/>
              </a:rPr>
              <a:t>A good analogy for the vision of ubiquitous computing is the electric motor. When the electric motor was first introduced, it was large, loud and very noticeable. Today, the average household contains so many electric motors that we hardly ever notice them anymore. Their utility led to ubiquity and, hence, invisibility.</a:t>
            </a:r>
            <a:endParaRPr lang="en-GH" sz="26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BF57B6D-4512-4A76-A0A5-BEAC2E23E68B}"/>
              </a:ext>
            </a:extLst>
          </p:cNvPr>
          <p:cNvSpPr>
            <a:spLocks noGrp="1"/>
          </p:cNvSpPr>
          <p:nvPr>
            <p:ph type="sldNum" sz="quarter" idx="12"/>
          </p:nvPr>
        </p:nvSpPr>
        <p:spPr/>
        <p:txBody>
          <a:bodyPr/>
          <a:lstStyle/>
          <a:p>
            <a:pPr>
              <a:defRPr/>
            </a:pPr>
            <a:fld id="{0CA33DAF-8E01-46BA-8B98-C3F739052EA6}" type="slidenum">
              <a:rPr lang="en-GB" altLang="en-US" smtClean="0"/>
              <a:pPr>
                <a:defRPr/>
              </a:pPr>
              <a:t>20</a:t>
            </a:fld>
            <a:endParaRPr lang="en-GB" altLang="en-US"/>
          </a:p>
        </p:txBody>
      </p:sp>
    </p:spTree>
    <p:extLst>
      <p:ext uri="{BB962C8B-B14F-4D97-AF65-F5344CB8AC3E}">
        <p14:creationId xmlns:p14="http://schemas.microsoft.com/office/powerpoint/2010/main" val="726949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EF18C-848A-432B-B164-A6371D84F15C}"/>
              </a:ext>
            </a:extLst>
          </p:cNvPr>
          <p:cNvSpPr>
            <a:spLocks noGrp="1"/>
          </p:cNvSpPr>
          <p:nvPr>
            <p:ph type="title"/>
          </p:nvPr>
        </p:nvSpPr>
        <p:spPr/>
        <p:txBody>
          <a:bodyPr/>
          <a:lstStyle/>
          <a:p>
            <a:r>
              <a:rPr lang="en-GB" altLang="en-US" dirty="0">
                <a:latin typeface="Times New Roman" panose="02020603050405020304" pitchFamily="18" charset="0"/>
                <a:cs typeface="Times New Roman" panose="02020603050405020304" pitchFamily="18" charset="0"/>
              </a:rPr>
              <a:t>Ubiquitous Computing</a:t>
            </a:r>
            <a:endParaRPr lang="en-GH"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80C07B6-C05F-4BD9-9848-ADF2A33C8FC0}"/>
              </a:ext>
            </a:extLst>
          </p:cNvPr>
          <p:cNvSpPr>
            <a:spLocks noGrp="1"/>
          </p:cNvSpPr>
          <p:nvPr>
            <p:ph idx="1"/>
          </p:nvPr>
        </p:nvSpPr>
        <p:spPr/>
        <p:txBody>
          <a:bodyPr/>
          <a:lstStyle/>
          <a:p>
            <a:pPr algn="l"/>
            <a:r>
              <a:rPr lang="en-GB" sz="2600" b="0" i="0" u="none" strike="noStrike" baseline="0" dirty="0">
                <a:latin typeface="Times New Roman" panose="02020603050405020304" pitchFamily="18" charset="0"/>
                <a:cs typeface="Times New Roman" panose="02020603050405020304" pitchFamily="18" charset="0"/>
              </a:rPr>
              <a:t>How long in the future will it be before we no longer notice the interactive computer?</a:t>
            </a:r>
          </a:p>
          <a:p>
            <a:pPr algn="l"/>
            <a:endParaRPr lang="en-GB" sz="2600" b="0" i="0" u="none" strike="noStrike" baseline="0" dirty="0">
              <a:latin typeface="Times New Roman" panose="02020603050405020304" pitchFamily="18" charset="0"/>
              <a:cs typeface="Times New Roman" panose="02020603050405020304" pitchFamily="18" charset="0"/>
            </a:endParaRPr>
          </a:p>
          <a:p>
            <a:pPr algn="l"/>
            <a:r>
              <a:rPr lang="en-GB" sz="2600" b="0" i="0" u="none" strike="noStrike" baseline="0" dirty="0">
                <a:latin typeface="Times New Roman" panose="02020603050405020304" pitchFamily="18" charset="0"/>
                <a:cs typeface="Times New Roman" panose="02020603050405020304" pitchFamily="18" charset="0"/>
              </a:rPr>
              <a:t>To some extent, this is already happening, since many everyday items, such as watches, microwaves or automobiles, contain many microprocessors that we don’t directly notice.</a:t>
            </a:r>
          </a:p>
          <a:p>
            <a:pPr algn="l"/>
            <a:endParaRPr lang="en-GB" sz="2600" dirty="0">
              <a:latin typeface="Times New Roman" panose="02020603050405020304" pitchFamily="18" charset="0"/>
              <a:cs typeface="Times New Roman" panose="02020603050405020304" pitchFamily="18" charset="0"/>
            </a:endParaRPr>
          </a:p>
          <a:p>
            <a:pPr algn="l"/>
            <a:r>
              <a:rPr lang="en-GB" sz="2600" b="0" i="0" u="none" strike="noStrike" baseline="0" dirty="0">
                <a:latin typeface="Times New Roman" panose="02020603050405020304" pitchFamily="18" charset="0"/>
                <a:cs typeface="Times New Roman" panose="02020603050405020304" pitchFamily="18" charset="0"/>
              </a:rPr>
              <a:t> </a:t>
            </a:r>
            <a:r>
              <a:rPr lang="en-GB" sz="2600" b="0" i="0" u="none" strike="noStrike" baseline="0" dirty="0">
                <a:solidFill>
                  <a:srgbClr val="FF0000"/>
                </a:solidFill>
                <a:latin typeface="Times New Roman" panose="02020603050405020304" pitchFamily="18" charset="0"/>
                <a:cs typeface="Times New Roman" panose="02020603050405020304" pitchFamily="18" charset="0"/>
              </a:rPr>
              <a:t>But, to a large extent, the vision of Weiser, in which the computer is hardly ever noticed, is a long way off.</a:t>
            </a:r>
            <a:endParaRPr lang="en-GH" sz="2600"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9127FD4-6D9C-4180-B900-0C718F3C8CA4}"/>
              </a:ext>
            </a:extLst>
          </p:cNvPr>
          <p:cNvSpPr>
            <a:spLocks noGrp="1"/>
          </p:cNvSpPr>
          <p:nvPr>
            <p:ph type="sldNum" sz="quarter" idx="12"/>
          </p:nvPr>
        </p:nvSpPr>
        <p:spPr/>
        <p:txBody>
          <a:bodyPr/>
          <a:lstStyle/>
          <a:p>
            <a:pPr>
              <a:defRPr/>
            </a:pPr>
            <a:fld id="{0CA33DAF-8E01-46BA-8B98-C3F739052EA6}" type="slidenum">
              <a:rPr lang="en-GB" altLang="en-US" smtClean="0"/>
              <a:pPr>
                <a:defRPr/>
              </a:pPr>
              <a:t>21</a:t>
            </a:fld>
            <a:endParaRPr lang="en-GB" altLang="en-US"/>
          </a:p>
        </p:txBody>
      </p:sp>
    </p:spTree>
    <p:extLst>
      <p:ext uri="{BB962C8B-B14F-4D97-AF65-F5344CB8AC3E}">
        <p14:creationId xmlns:p14="http://schemas.microsoft.com/office/powerpoint/2010/main" val="1432505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23AA2FEF-AAAC-49A8-B4F2-C805EBDCA323}"/>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Cognitive models</a:t>
            </a:r>
          </a:p>
        </p:txBody>
      </p:sp>
      <p:sp>
        <p:nvSpPr>
          <p:cNvPr id="63491" name="Content Placeholder 2">
            <a:extLst>
              <a:ext uri="{FF2B5EF4-FFF2-40B4-BE49-F238E27FC236}">
                <a16:creationId xmlns:a16="http://schemas.microsoft.com/office/drawing/2014/main" id="{8772A7EA-9549-4DB8-AB9D-0621CC877772}"/>
              </a:ext>
            </a:extLst>
          </p:cNvPr>
          <p:cNvSpPr>
            <a:spLocks noGrp="1"/>
          </p:cNvSpPr>
          <p:nvPr>
            <p:ph idx="1"/>
          </p:nvPr>
        </p:nvSpPr>
        <p:spPr>
          <a:xfrm>
            <a:off x="407368" y="1846263"/>
            <a:ext cx="11161240" cy="4022725"/>
          </a:xfrm>
        </p:spPr>
        <p:txBody>
          <a:bodyPr/>
          <a:lstStyle/>
          <a:p>
            <a:r>
              <a:rPr lang="en-US" altLang="en-GH" sz="2600" dirty="0">
                <a:latin typeface="Times New Roman" panose="02020603050405020304" pitchFamily="18" charset="0"/>
                <a:cs typeface="Times New Roman" panose="02020603050405020304" pitchFamily="18" charset="0"/>
              </a:rPr>
              <a:t>Cognitive models depict some representation of users as they interact with an interface; that is, </a:t>
            </a:r>
            <a:r>
              <a:rPr lang="en-US" altLang="en-GH" sz="2600" b="1" dirty="0">
                <a:latin typeface="Times New Roman" panose="02020603050405020304" pitchFamily="18" charset="0"/>
                <a:cs typeface="Times New Roman" panose="02020603050405020304" pitchFamily="18" charset="0"/>
              </a:rPr>
              <a:t>they model some aspect of the user’s understanding, knowledge, intentions or processing.</a:t>
            </a:r>
          </a:p>
          <a:p>
            <a:endParaRPr lang="en-US" altLang="en-US" sz="2600" dirty="0">
              <a:latin typeface="Times New Roman" panose="02020603050405020304" pitchFamily="18" charset="0"/>
              <a:cs typeface="Times New Roman" panose="02020603050405020304" pitchFamily="18" charset="0"/>
            </a:endParaRPr>
          </a:p>
          <a:p>
            <a:r>
              <a:rPr lang="en-US" altLang="en-GH" sz="2600" dirty="0">
                <a:latin typeface="Times New Roman" panose="02020603050405020304" pitchFamily="18" charset="0"/>
                <a:cs typeface="Times New Roman" panose="02020603050405020304" pitchFamily="18" charset="0"/>
              </a:rPr>
              <a:t>The level of representation differs from technique to technique – </a:t>
            </a:r>
            <a:r>
              <a:rPr lang="en-US" altLang="en-GH" sz="2600" b="1" dirty="0">
                <a:latin typeface="Times New Roman" panose="02020603050405020304" pitchFamily="18" charset="0"/>
                <a:cs typeface="Times New Roman" panose="02020603050405020304" pitchFamily="18" charset="0"/>
              </a:rPr>
              <a:t>from models of high-level goals and the results of problem-solving activities, to descriptions of motor-level activity, such as keystrokes and mouse clicks.</a:t>
            </a:r>
            <a:endParaRPr lang="en-US" altLang="en-US" sz="2600" b="1" dirty="0">
              <a:latin typeface="Times New Roman" panose="02020603050405020304" pitchFamily="18" charset="0"/>
              <a:cs typeface="Times New Roman" panose="02020603050405020304" pitchFamily="18" charset="0"/>
            </a:endParaRPr>
          </a:p>
        </p:txBody>
      </p:sp>
      <p:sp>
        <p:nvSpPr>
          <p:cNvPr id="63492" name="Slide Number Placeholder 3">
            <a:extLst>
              <a:ext uri="{FF2B5EF4-FFF2-40B4-BE49-F238E27FC236}">
                <a16:creationId xmlns:a16="http://schemas.microsoft.com/office/drawing/2014/main" id="{B3F098DA-DAC3-4E1C-ACB0-D5F162862E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4D14D55-8581-4ABC-AF26-D536F40722AB}" type="slidenum">
              <a:rPr lang="en-GB" altLang="en-GH">
                <a:solidFill>
                  <a:srgbClr val="FFC551"/>
                </a:solidFill>
                <a:latin typeface="Century Gothic" panose="020B0502020202020204" pitchFamily="34" charset="0"/>
              </a:rPr>
              <a:pPr/>
              <a:t>22</a:t>
            </a:fld>
            <a:endParaRPr lang="en-GB" altLang="en-GH">
              <a:solidFill>
                <a:srgbClr val="FFC551"/>
              </a:solidFill>
              <a:latin typeface="Century Gothic" panose="020B0502020202020204" pitchFamily="34" charset="0"/>
            </a:endParaRPr>
          </a:p>
        </p:txBody>
      </p:sp>
    </p:spTree>
    <p:extLst>
      <p:ext uri="{BB962C8B-B14F-4D97-AF65-F5344CB8AC3E}">
        <p14:creationId xmlns:p14="http://schemas.microsoft.com/office/powerpoint/2010/main" val="1106349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1E2F3-AE22-48B8-8E0E-06325C23501A}"/>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Cognitive models</a:t>
            </a:r>
            <a:endParaRPr lang="en-GH"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1A168EC-48D0-4BC8-8E07-F72FBC42426E}"/>
              </a:ext>
            </a:extLst>
          </p:cNvPr>
          <p:cNvSpPr>
            <a:spLocks noGrp="1"/>
          </p:cNvSpPr>
          <p:nvPr>
            <p:ph idx="1"/>
          </p:nvPr>
        </p:nvSpPr>
        <p:spPr>
          <a:xfrm>
            <a:off x="335360" y="1846263"/>
            <a:ext cx="11856640" cy="4613275"/>
          </a:xfrm>
        </p:spPr>
        <p:txBody>
          <a:bodyPr/>
          <a:lstStyle/>
          <a:p>
            <a:pPr>
              <a:buFont typeface="Wingdings" panose="05000000000000000000" pitchFamily="2" charset="2"/>
              <a:buChar char="§"/>
            </a:pPr>
            <a:r>
              <a:rPr lang="en-GB" sz="2600" dirty="0">
                <a:latin typeface="Times New Roman" panose="02020603050405020304" pitchFamily="18" charset="0"/>
                <a:cs typeface="Times New Roman" panose="02020603050405020304" pitchFamily="18" charset="0"/>
              </a:rPr>
              <a:t>A cognitive model is a computer program that behaves like a human being.</a:t>
            </a:r>
          </a:p>
          <a:p>
            <a:pPr>
              <a:buFont typeface="Wingdings" panose="05000000000000000000" pitchFamily="2" charset="2"/>
              <a:buChar char="§"/>
            </a:pPr>
            <a:r>
              <a:rPr lang="en-GB" sz="2600" b="1" dirty="0">
                <a:latin typeface="Times New Roman" panose="02020603050405020304" pitchFamily="18" charset="0"/>
                <a:cs typeface="Times New Roman" panose="02020603050405020304" pitchFamily="18" charset="0"/>
              </a:rPr>
              <a:t> It may emulate the perceptual, cognitive and/or motor processes people go through to complete a task. </a:t>
            </a:r>
          </a:p>
          <a:p>
            <a:pPr marL="0" indent="0">
              <a:buNone/>
            </a:pPr>
            <a:endParaRPr lang="en-GB" sz="2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GB" sz="2600" dirty="0">
                <a:latin typeface="Times New Roman" panose="02020603050405020304" pitchFamily="18" charset="0"/>
                <a:cs typeface="Times New Roman" panose="02020603050405020304" pitchFamily="18" charset="0"/>
              </a:rPr>
              <a:t>It may take the same amount of time that people take to perform a task.</a:t>
            </a:r>
          </a:p>
          <a:p>
            <a:pPr lvl="1">
              <a:buFont typeface="Wingdings" panose="05000000000000000000" pitchFamily="2" charset="2"/>
              <a:buChar char="§"/>
            </a:pPr>
            <a:endParaRPr lang="en-GB" sz="2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GB" sz="2600" dirty="0">
                <a:latin typeface="Times New Roman" panose="02020603050405020304" pitchFamily="18" charset="0"/>
                <a:cs typeface="Times New Roman" panose="02020603050405020304" pitchFamily="18" charset="0"/>
              </a:rPr>
              <a:t>It may make the same type of errors people make. </a:t>
            </a:r>
          </a:p>
          <a:p>
            <a:pPr lvl="1">
              <a:buFont typeface="Wingdings" panose="05000000000000000000" pitchFamily="2" charset="2"/>
              <a:buChar char="§"/>
            </a:pPr>
            <a:endParaRPr lang="en-GB" sz="2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GB" sz="2600" dirty="0">
                <a:latin typeface="Times New Roman" panose="02020603050405020304" pitchFamily="18" charset="0"/>
                <a:cs typeface="Times New Roman" panose="02020603050405020304" pitchFamily="18" charset="0"/>
              </a:rPr>
              <a:t>It may take the same amount of time and require the same type of experience to learn to perform a task</a:t>
            </a:r>
            <a:endParaRPr lang="en-GH" sz="2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B43F85D-DBA4-4ED4-B34B-371737B49739}"/>
              </a:ext>
            </a:extLst>
          </p:cNvPr>
          <p:cNvSpPr>
            <a:spLocks noGrp="1"/>
          </p:cNvSpPr>
          <p:nvPr>
            <p:ph type="sldNum" sz="quarter" idx="12"/>
          </p:nvPr>
        </p:nvSpPr>
        <p:spPr/>
        <p:txBody>
          <a:bodyPr/>
          <a:lstStyle/>
          <a:p>
            <a:pPr>
              <a:defRPr/>
            </a:pPr>
            <a:fld id="{0CA33DAF-8E01-46BA-8B98-C3F739052EA6}" type="slidenum">
              <a:rPr lang="en-GB" altLang="en-US" smtClean="0"/>
              <a:pPr>
                <a:defRPr/>
              </a:pPr>
              <a:t>23</a:t>
            </a:fld>
            <a:endParaRPr lang="en-GB" altLang="en-US"/>
          </a:p>
        </p:txBody>
      </p:sp>
    </p:spTree>
    <p:extLst>
      <p:ext uri="{BB962C8B-B14F-4D97-AF65-F5344CB8AC3E}">
        <p14:creationId xmlns:p14="http://schemas.microsoft.com/office/powerpoint/2010/main" val="34091427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93AF1-664B-4E74-B537-49EE16E8DB42}"/>
              </a:ext>
            </a:extLst>
          </p:cNvPr>
          <p:cNvSpPr>
            <a:spLocks noGrp="1"/>
          </p:cNvSpPr>
          <p:nvPr>
            <p:ph type="title"/>
          </p:nvPr>
        </p:nvSpPr>
        <p:spPr/>
        <p:txBody>
          <a:bodyPr>
            <a:normAutofit fontScale="90000"/>
          </a:bodyPr>
          <a:lstStyle/>
          <a:p>
            <a:r>
              <a:rPr lang="en-GB" dirty="0">
                <a:latin typeface="Times New Roman" panose="02020603050405020304" pitchFamily="18" charset="0"/>
                <a:cs typeface="Times New Roman" panose="02020603050405020304" pitchFamily="18" charset="0"/>
              </a:rPr>
              <a:t>Cognitive models: Predicting Human Behaviour on Proposed Interactive Systems </a:t>
            </a:r>
            <a:endParaRPr lang="en-GH"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0E9D487-1FA8-4F8C-A813-20B42910718B}"/>
              </a:ext>
            </a:extLst>
          </p:cNvPr>
          <p:cNvSpPr>
            <a:spLocks noGrp="1"/>
          </p:cNvSpPr>
          <p:nvPr>
            <p:ph idx="1"/>
          </p:nvPr>
        </p:nvSpPr>
        <p:spPr>
          <a:xfrm>
            <a:off x="911424" y="1844824"/>
            <a:ext cx="10058400" cy="3664124"/>
          </a:xfrm>
        </p:spPr>
        <p:txBody>
          <a:bodyPr/>
          <a:lstStyle/>
          <a:p>
            <a:pPr>
              <a:buFont typeface="Wingdings" panose="05000000000000000000" pitchFamily="2" charset="2"/>
              <a:buChar char="§"/>
            </a:pPr>
            <a:r>
              <a:rPr lang="en-GB" sz="2600" dirty="0">
                <a:latin typeface="Times New Roman" panose="02020603050405020304" pitchFamily="18" charset="0"/>
                <a:cs typeface="Times New Roman" panose="02020603050405020304" pitchFamily="18" charset="0"/>
              </a:rPr>
              <a:t>The overall motivation for HCI cognitive modelling efforts is to provide engineering models of human performance.</a:t>
            </a:r>
          </a:p>
          <a:p>
            <a:pPr>
              <a:buFont typeface="Wingdings" panose="05000000000000000000" pitchFamily="2" charset="2"/>
              <a:buChar char="§"/>
            </a:pPr>
            <a:endParaRPr lang="en-GB"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GB" sz="2600" dirty="0">
                <a:latin typeface="Times New Roman" panose="02020603050405020304" pitchFamily="18" charset="0"/>
                <a:cs typeface="Times New Roman" panose="02020603050405020304" pitchFamily="18" charset="0"/>
              </a:rPr>
              <a:t> In the ideal, such models produce a priori quantitative predictions of performance at an earlier stage in the development process than prototyping and user testing. </a:t>
            </a:r>
          </a:p>
          <a:p>
            <a:pPr>
              <a:buFont typeface="Wingdings" panose="05000000000000000000" pitchFamily="2" charset="2"/>
              <a:buChar char="§"/>
            </a:pPr>
            <a:endParaRPr lang="en-GB"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GB" sz="2600" b="1" dirty="0">
                <a:latin typeface="Times New Roman" panose="02020603050405020304" pitchFamily="18" charset="0"/>
                <a:cs typeface="Times New Roman" panose="02020603050405020304" pitchFamily="18" charset="0"/>
              </a:rPr>
              <a:t>That is, they predict execution time, learning time, errors, and identify those parts of an interface that lead to these predictions, thereby focusing the designer on what to fix</a:t>
            </a:r>
            <a:endParaRPr lang="en-GH" sz="26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F7A88F5-9C1D-4BC5-A4E4-9AEA32C017D2}"/>
              </a:ext>
            </a:extLst>
          </p:cNvPr>
          <p:cNvSpPr>
            <a:spLocks noGrp="1"/>
          </p:cNvSpPr>
          <p:nvPr>
            <p:ph type="sldNum" sz="quarter" idx="12"/>
          </p:nvPr>
        </p:nvSpPr>
        <p:spPr/>
        <p:txBody>
          <a:bodyPr/>
          <a:lstStyle/>
          <a:p>
            <a:pPr>
              <a:defRPr/>
            </a:pPr>
            <a:fld id="{0CA33DAF-8E01-46BA-8B98-C3F739052EA6}" type="slidenum">
              <a:rPr lang="en-GB" altLang="en-US" smtClean="0"/>
              <a:pPr>
                <a:defRPr/>
              </a:pPr>
              <a:t>24</a:t>
            </a:fld>
            <a:endParaRPr lang="en-GB" altLang="en-US"/>
          </a:p>
        </p:txBody>
      </p:sp>
    </p:spTree>
    <p:extLst>
      <p:ext uri="{BB962C8B-B14F-4D97-AF65-F5344CB8AC3E}">
        <p14:creationId xmlns:p14="http://schemas.microsoft.com/office/powerpoint/2010/main" val="24346132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812DD-9865-4BB1-ACA1-3598F28A3481}"/>
              </a:ext>
            </a:extLst>
          </p:cNvPr>
          <p:cNvSpPr>
            <a:spLocks noGrp="1"/>
          </p:cNvSpPr>
          <p:nvPr>
            <p:ph type="title"/>
          </p:nvPr>
        </p:nvSpPr>
        <p:spPr>
          <a:xfrm>
            <a:off x="1096963" y="287339"/>
            <a:ext cx="10058400" cy="909414"/>
          </a:xfrm>
        </p:spPr>
        <p:txBody>
          <a:bodyPr/>
          <a:lstStyle/>
          <a:p>
            <a:r>
              <a:rPr lang="en-GB" dirty="0">
                <a:latin typeface="Times New Roman" panose="02020603050405020304" pitchFamily="18" charset="0"/>
                <a:cs typeface="Times New Roman" panose="02020603050405020304" pitchFamily="18" charset="0"/>
              </a:rPr>
              <a:t>Uses of cognitive models</a:t>
            </a:r>
            <a:endParaRPr lang="en-GH"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82812F5-169B-4530-92D4-114A5EE9E9EA}"/>
              </a:ext>
            </a:extLst>
          </p:cNvPr>
          <p:cNvSpPr>
            <a:spLocks noGrp="1"/>
          </p:cNvSpPr>
          <p:nvPr>
            <p:ph idx="1"/>
          </p:nvPr>
        </p:nvSpPr>
        <p:spPr>
          <a:xfrm>
            <a:off x="335360" y="1846263"/>
            <a:ext cx="11665295" cy="4463057"/>
          </a:xfrm>
        </p:spPr>
        <p:txBody>
          <a:bodyPr/>
          <a:lstStyle/>
          <a:p>
            <a:pPr marL="457200" indent="-457200">
              <a:buFont typeface="+mj-lt"/>
              <a:buAutoNum type="arabicPeriod"/>
            </a:pPr>
            <a:r>
              <a:rPr lang="en-GB" sz="2600" b="0" i="0" dirty="0">
                <a:solidFill>
                  <a:srgbClr val="191E28"/>
                </a:solidFill>
                <a:effectLst/>
                <a:latin typeface="Times New Roman" panose="02020603050405020304" pitchFamily="18" charset="0"/>
                <a:cs typeface="Times New Roman" panose="02020603050405020304" pitchFamily="18" charset="0"/>
              </a:rPr>
              <a:t>A cognitive model can substitute for a human user to </a:t>
            </a:r>
            <a:r>
              <a:rPr lang="en-GB" sz="2600" b="1" i="0" dirty="0">
                <a:solidFill>
                  <a:srgbClr val="191E28"/>
                </a:solidFill>
                <a:effectLst/>
                <a:latin typeface="Times New Roman" panose="02020603050405020304" pitchFamily="18" charset="0"/>
                <a:cs typeface="Times New Roman" panose="02020603050405020304" pitchFamily="18" charset="0"/>
              </a:rPr>
              <a:t>predict how users will perform on a system</a:t>
            </a:r>
            <a:r>
              <a:rPr lang="en-GB" sz="2600" b="0" i="0" dirty="0">
                <a:solidFill>
                  <a:srgbClr val="191E28"/>
                </a:solidFill>
                <a:effectLst/>
                <a:latin typeface="Times New Roman" panose="02020603050405020304" pitchFamily="18" charset="0"/>
                <a:cs typeface="Times New Roman" panose="02020603050405020304" pitchFamily="18" charset="0"/>
              </a:rPr>
              <a:t> before it is implemented or even prototyped.</a:t>
            </a:r>
          </a:p>
          <a:p>
            <a:pPr marL="457200" indent="-457200">
              <a:buFont typeface="+mj-lt"/>
              <a:buAutoNum type="arabicPeriod"/>
            </a:pPr>
            <a:endParaRPr lang="en-GB" sz="2600" dirty="0">
              <a:solidFill>
                <a:srgbClr val="191E28"/>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GB" sz="2600" b="0" i="0" dirty="0">
                <a:solidFill>
                  <a:srgbClr val="191E28"/>
                </a:solidFill>
                <a:effectLst/>
                <a:latin typeface="Times New Roman" panose="02020603050405020304" pitchFamily="18" charset="0"/>
                <a:cs typeface="Times New Roman" panose="02020603050405020304" pitchFamily="18" charset="0"/>
              </a:rPr>
              <a:t>A system can generate a cognitive model of the user currently interacting with the system in order to </a:t>
            </a:r>
            <a:r>
              <a:rPr lang="en-GB" sz="2600" b="1" i="0" dirty="0">
                <a:solidFill>
                  <a:srgbClr val="191E28"/>
                </a:solidFill>
                <a:effectLst/>
                <a:latin typeface="Times New Roman" panose="02020603050405020304" pitchFamily="18" charset="0"/>
                <a:cs typeface="Times New Roman" panose="02020603050405020304" pitchFamily="18" charset="0"/>
              </a:rPr>
              <a:t>modify the interaction to better serve that user. </a:t>
            </a:r>
          </a:p>
          <a:p>
            <a:pPr marL="457200" indent="-457200">
              <a:buFont typeface="+mj-lt"/>
              <a:buAutoNum type="arabicPeriod"/>
            </a:pPr>
            <a:endParaRPr lang="en-GB" sz="2600" dirty="0">
              <a:solidFill>
                <a:srgbClr val="191E28"/>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GB" sz="2600" b="0" i="0" dirty="0">
                <a:solidFill>
                  <a:srgbClr val="191E28"/>
                </a:solidFill>
                <a:effectLst/>
                <a:latin typeface="Times New Roman" panose="02020603050405020304" pitchFamily="18" charset="0"/>
                <a:cs typeface="Times New Roman" panose="02020603050405020304" pitchFamily="18" charset="0"/>
              </a:rPr>
              <a:t>Finally, cognitive models can </a:t>
            </a:r>
            <a:r>
              <a:rPr lang="en-GB" sz="2600" b="1" i="0" dirty="0">
                <a:solidFill>
                  <a:srgbClr val="191E28"/>
                </a:solidFill>
                <a:effectLst/>
                <a:latin typeface="Times New Roman" panose="02020603050405020304" pitchFamily="18" charset="0"/>
                <a:cs typeface="Times New Roman" panose="02020603050405020304" pitchFamily="18" charset="0"/>
              </a:rPr>
              <a:t>substitute directly for people so groups of individuals can be simulated in situations that require many participants, </a:t>
            </a:r>
            <a:r>
              <a:rPr lang="en-GB" sz="2600" b="0" i="0" dirty="0">
                <a:solidFill>
                  <a:srgbClr val="191E28"/>
                </a:solidFill>
                <a:effectLst/>
                <a:latin typeface="Times New Roman" panose="02020603050405020304" pitchFamily="18" charset="0"/>
                <a:cs typeface="Times New Roman" panose="02020603050405020304" pitchFamily="18" charset="0"/>
              </a:rPr>
              <a:t>e.g., for training or entertainment. </a:t>
            </a:r>
            <a:endParaRPr lang="en-GH" sz="2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B839B03-214B-4558-8734-41BB53CBD40B}"/>
              </a:ext>
            </a:extLst>
          </p:cNvPr>
          <p:cNvSpPr>
            <a:spLocks noGrp="1"/>
          </p:cNvSpPr>
          <p:nvPr>
            <p:ph type="sldNum" sz="quarter" idx="12"/>
          </p:nvPr>
        </p:nvSpPr>
        <p:spPr/>
        <p:txBody>
          <a:bodyPr/>
          <a:lstStyle/>
          <a:p>
            <a:pPr>
              <a:defRPr/>
            </a:pPr>
            <a:fld id="{0CA33DAF-8E01-46BA-8B98-C3F739052EA6}" type="slidenum">
              <a:rPr lang="en-GB" altLang="en-US" smtClean="0"/>
              <a:pPr>
                <a:defRPr/>
              </a:pPr>
              <a:t>25</a:t>
            </a:fld>
            <a:endParaRPr lang="en-GB" altLang="en-US"/>
          </a:p>
        </p:txBody>
      </p:sp>
    </p:spTree>
    <p:extLst>
      <p:ext uri="{BB962C8B-B14F-4D97-AF65-F5344CB8AC3E}">
        <p14:creationId xmlns:p14="http://schemas.microsoft.com/office/powerpoint/2010/main" val="2839604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AC85F73E-59E0-434E-A79A-80507096B7D3}"/>
              </a:ext>
            </a:extLst>
          </p:cNvPr>
          <p:cNvSpPr>
            <a:spLocks noGrp="1"/>
          </p:cNvSpPr>
          <p:nvPr>
            <p:ph type="title"/>
          </p:nvPr>
        </p:nvSpPr>
        <p:spPr/>
        <p:txBody>
          <a:bodyPr/>
          <a:lstStyle/>
          <a:p>
            <a:pPr algn="ctr"/>
            <a:r>
              <a:rPr lang="en-US" altLang="en-GH" dirty="0">
                <a:latin typeface="Times New Roman" panose="02020603050405020304" pitchFamily="18" charset="0"/>
                <a:cs typeface="Times New Roman" panose="02020603050405020304" pitchFamily="18" charset="0"/>
              </a:rPr>
              <a:t>Cognitive models in HCI</a:t>
            </a:r>
          </a:p>
        </p:txBody>
      </p:sp>
      <p:sp>
        <p:nvSpPr>
          <p:cNvPr id="64515" name="Content Placeholder 2">
            <a:extLst>
              <a:ext uri="{FF2B5EF4-FFF2-40B4-BE49-F238E27FC236}">
                <a16:creationId xmlns:a16="http://schemas.microsoft.com/office/drawing/2014/main" id="{69365ABC-5200-4E7A-BE71-14BDE834E025}"/>
              </a:ext>
            </a:extLst>
          </p:cNvPr>
          <p:cNvSpPr>
            <a:spLocks noGrp="1"/>
          </p:cNvSpPr>
          <p:nvPr>
            <p:ph idx="1"/>
          </p:nvPr>
        </p:nvSpPr>
        <p:spPr>
          <a:xfrm>
            <a:off x="155340" y="1745661"/>
            <a:ext cx="11881319" cy="4535065"/>
          </a:xfrm>
        </p:spPr>
        <p:txBody>
          <a:bodyPr/>
          <a:lstStyle/>
          <a:p>
            <a:r>
              <a:rPr lang="en-US" altLang="en-GH" sz="2600" dirty="0">
                <a:latin typeface="Times New Roman" panose="02020603050405020304" pitchFamily="18" charset="0"/>
                <a:cs typeface="Times New Roman" panose="02020603050405020304" pitchFamily="18" charset="0"/>
              </a:rPr>
              <a:t>cognitive models are divided into the following categories:</a:t>
            </a:r>
          </a:p>
          <a:p>
            <a:pPr marL="657225" lvl="1" indent="-457200">
              <a:lnSpc>
                <a:spcPct val="200000"/>
              </a:lnSpc>
              <a:buFont typeface="+mj-lt"/>
              <a:buAutoNum type="arabicPeriod"/>
            </a:pPr>
            <a:r>
              <a:rPr lang="en-US" altLang="en-GH" sz="2600" dirty="0">
                <a:latin typeface="Times New Roman" panose="02020603050405020304" pitchFamily="18" charset="0"/>
                <a:cs typeface="Times New Roman" panose="02020603050405020304" pitchFamily="18" charset="0"/>
              </a:rPr>
              <a:t> </a:t>
            </a:r>
            <a:r>
              <a:rPr lang="en-US" altLang="en-GH" sz="2600" b="1" dirty="0">
                <a:latin typeface="Times New Roman" panose="02020603050405020304" pitchFamily="18" charset="0"/>
                <a:cs typeface="Times New Roman" panose="02020603050405020304" pitchFamily="18" charset="0"/>
              </a:rPr>
              <a:t>Hierarchical models </a:t>
            </a:r>
            <a:r>
              <a:rPr lang="en-US" altLang="en-GH" sz="2600" dirty="0">
                <a:latin typeface="Times New Roman" panose="02020603050405020304" pitchFamily="18" charset="0"/>
                <a:cs typeface="Times New Roman" panose="02020603050405020304" pitchFamily="18" charset="0"/>
              </a:rPr>
              <a:t>represent a user’s task and goal structure.</a:t>
            </a:r>
          </a:p>
          <a:p>
            <a:pPr marL="657225" lvl="1" indent="-457200">
              <a:lnSpc>
                <a:spcPct val="200000"/>
              </a:lnSpc>
              <a:buFont typeface="+mj-lt"/>
              <a:buAutoNum type="arabicPeriod"/>
            </a:pPr>
            <a:r>
              <a:rPr lang="en-US" altLang="en-GH" sz="2600" dirty="0">
                <a:latin typeface="Times New Roman" panose="02020603050405020304" pitchFamily="18" charset="0"/>
                <a:cs typeface="Times New Roman" panose="02020603050405020304" pitchFamily="18" charset="0"/>
              </a:rPr>
              <a:t> </a:t>
            </a:r>
            <a:r>
              <a:rPr lang="en-US" altLang="en-GH" sz="2600" b="1" dirty="0">
                <a:latin typeface="Times New Roman" panose="02020603050405020304" pitchFamily="18" charset="0"/>
                <a:cs typeface="Times New Roman" panose="02020603050405020304" pitchFamily="18" charset="0"/>
              </a:rPr>
              <a:t>Linguistic models </a:t>
            </a:r>
            <a:r>
              <a:rPr lang="en-US" altLang="en-GH" sz="2600" dirty="0">
                <a:latin typeface="Times New Roman" panose="02020603050405020304" pitchFamily="18" charset="0"/>
                <a:cs typeface="Times New Roman" panose="02020603050405020304" pitchFamily="18" charset="0"/>
              </a:rPr>
              <a:t>represent the user–system grammar.</a:t>
            </a:r>
          </a:p>
          <a:p>
            <a:pPr marL="657225" lvl="1" indent="-457200">
              <a:lnSpc>
                <a:spcPct val="200000"/>
              </a:lnSpc>
              <a:buFont typeface="+mj-lt"/>
              <a:buAutoNum type="arabicPeriod"/>
            </a:pPr>
            <a:r>
              <a:rPr lang="en-US" altLang="en-GH" sz="2600" b="1" dirty="0">
                <a:latin typeface="Times New Roman" panose="02020603050405020304" pitchFamily="18" charset="0"/>
                <a:cs typeface="Times New Roman" panose="02020603050405020304" pitchFamily="18" charset="0"/>
              </a:rPr>
              <a:t>Physical and device models </a:t>
            </a:r>
            <a:r>
              <a:rPr lang="en-US" altLang="en-GH" sz="2600" dirty="0">
                <a:latin typeface="Times New Roman" panose="02020603050405020304" pitchFamily="18" charset="0"/>
                <a:cs typeface="Times New Roman" panose="02020603050405020304" pitchFamily="18" charset="0"/>
              </a:rPr>
              <a:t>represent human motor skills.</a:t>
            </a:r>
          </a:p>
          <a:p>
            <a:r>
              <a:rPr lang="en-US" sz="2600" dirty="0">
                <a:latin typeface="Times New Roman" panose="02020603050405020304" pitchFamily="18" charset="0"/>
                <a:cs typeface="Times New Roman" panose="02020603050405020304" pitchFamily="18" charset="0"/>
              </a:rPr>
              <a:t>The </a:t>
            </a:r>
            <a:r>
              <a:rPr lang="en-US" sz="2600" b="1" dirty="0">
                <a:latin typeface="Times New Roman" panose="02020603050405020304" pitchFamily="18" charset="0"/>
                <a:cs typeface="Times New Roman" panose="02020603050405020304" pitchFamily="18" charset="0"/>
              </a:rPr>
              <a:t>first category </a:t>
            </a:r>
            <a:r>
              <a:rPr lang="en-US" sz="2600" dirty="0">
                <a:latin typeface="Times New Roman" panose="02020603050405020304" pitchFamily="18" charset="0"/>
                <a:cs typeface="Times New Roman" panose="02020603050405020304" pitchFamily="18" charset="0"/>
              </a:rPr>
              <a:t>deals directly with the </a:t>
            </a:r>
            <a:r>
              <a:rPr lang="en-US" sz="2600" b="1" dirty="0">
                <a:latin typeface="Times New Roman" panose="02020603050405020304" pitchFamily="18" charset="0"/>
                <a:cs typeface="Times New Roman" panose="02020603050405020304" pitchFamily="18" charset="0"/>
              </a:rPr>
              <a:t>issue of formulation of goals and tasks</a:t>
            </a:r>
            <a:r>
              <a:rPr lang="en-US" sz="2600" dirty="0">
                <a:latin typeface="Times New Roman" panose="02020603050405020304" pitchFamily="18" charset="0"/>
                <a:cs typeface="Times New Roman" panose="02020603050405020304" pitchFamily="18" charset="0"/>
              </a:rPr>
              <a:t>. The </a:t>
            </a:r>
            <a:r>
              <a:rPr lang="en-US" sz="2600" b="1" dirty="0">
                <a:latin typeface="Times New Roman" panose="02020603050405020304" pitchFamily="18" charset="0"/>
                <a:cs typeface="Times New Roman" panose="02020603050405020304" pitchFamily="18" charset="0"/>
              </a:rPr>
              <a:t>second</a:t>
            </a:r>
            <a:r>
              <a:rPr lang="en-US" sz="2600" dirty="0">
                <a:latin typeface="Times New Roman" panose="02020603050405020304" pitchFamily="18" charset="0"/>
                <a:cs typeface="Times New Roman" panose="02020603050405020304" pitchFamily="18" charset="0"/>
              </a:rPr>
              <a:t> deals with the </a:t>
            </a:r>
            <a:r>
              <a:rPr lang="en-US" sz="2600" b="1" dirty="0">
                <a:latin typeface="Times New Roman" panose="02020603050405020304" pitchFamily="18" charset="0"/>
                <a:cs typeface="Times New Roman" panose="02020603050405020304" pitchFamily="18" charset="0"/>
              </a:rPr>
              <a:t>grammar of the articulation translation </a:t>
            </a:r>
            <a:r>
              <a:rPr lang="en-US" sz="2600" dirty="0">
                <a:latin typeface="Times New Roman" panose="02020603050405020304" pitchFamily="18" charset="0"/>
                <a:cs typeface="Times New Roman" panose="02020603050405020304" pitchFamily="18" charset="0"/>
              </a:rPr>
              <a:t>and how it is understood by the user. The </a:t>
            </a:r>
            <a:r>
              <a:rPr lang="en-US" sz="2600" b="1" dirty="0">
                <a:latin typeface="Times New Roman" panose="02020603050405020304" pitchFamily="18" charset="0"/>
                <a:cs typeface="Times New Roman" panose="02020603050405020304" pitchFamily="18" charset="0"/>
              </a:rPr>
              <a:t>third</a:t>
            </a:r>
            <a:r>
              <a:rPr lang="en-US" sz="2600" dirty="0">
                <a:latin typeface="Times New Roman" panose="02020603050405020304" pitchFamily="18" charset="0"/>
                <a:cs typeface="Times New Roman" panose="02020603050405020304" pitchFamily="18" charset="0"/>
              </a:rPr>
              <a:t> category again deals with </a:t>
            </a:r>
            <a:r>
              <a:rPr lang="en-US" sz="2600" b="1" dirty="0">
                <a:latin typeface="Times New Roman" panose="02020603050405020304" pitchFamily="18" charset="0"/>
                <a:cs typeface="Times New Roman" panose="02020603050405020304" pitchFamily="18" charset="0"/>
              </a:rPr>
              <a:t>articulation, but at the human motor level </a:t>
            </a:r>
            <a:r>
              <a:rPr lang="en-US" sz="2600" dirty="0">
                <a:latin typeface="Times New Roman" panose="02020603050405020304" pitchFamily="18" charset="0"/>
                <a:cs typeface="Times New Roman" panose="02020603050405020304" pitchFamily="18" charset="0"/>
              </a:rPr>
              <a:t>instead of at a higher level of human understanding.</a:t>
            </a:r>
            <a:endParaRPr lang="en-US" altLang="en-GH" sz="2600" dirty="0">
              <a:latin typeface="Times New Roman" panose="02020603050405020304" pitchFamily="18" charset="0"/>
              <a:cs typeface="Times New Roman" panose="02020603050405020304" pitchFamily="18" charset="0"/>
            </a:endParaRPr>
          </a:p>
        </p:txBody>
      </p:sp>
      <p:sp>
        <p:nvSpPr>
          <p:cNvPr id="64516" name="Slide Number Placeholder 3">
            <a:extLst>
              <a:ext uri="{FF2B5EF4-FFF2-40B4-BE49-F238E27FC236}">
                <a16:creationId xmlns:a16="http://schemas.microsoft.com/office/drawing/2014/main" id="{5A19C3BA-0432-4DAC-92E0-36988BCECE8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6388FE1-3675-4080-A562-8025176DDAD1}" type="slidenum">
              <a:rPr lang="en-GB" altLang="en-GH">
                <a:solidFill>
                  <a:srgbClr val="FFC551"/>
                </a:solidFill>
                <a:latin typeface="Century Gothic" panose="020B0502020202020204" pitchFamily="34" charset="0"/>
              </a:rPr>
              <a:pPr/>
              <a:t>26</a:t>
            </a:fld>
            <a:endParaRPr lang="en-GB" altLang="en-GH">
              <a:solidFill>
                <a:srgbClr val="FFC551"/>
              </a:solidFill>
              <a:latin typeface="Century Gothic" panose="020B0502020202020204" pitchFamily="34" charset="0"/>
            </a:endParaRPr>
          </a:p>
        </p:txBody>
      </p:sp>
    </p:spTree>
    <p:extLst>
      <p:ext uri="{BB962C8B-B14F-4D97-AF65-F5344CB8AC3E}">
        <p14:creationId xmlns:p14="http://schemas.microsoft.com/office/powerpoint/2010/main" val="856792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A74EA343-AD9A-4AB5-970E-3B90DDFB6B50}"/>
              </a:ext>
            </a:extLst>
          </p:cNvPr>
          <p:cNvSpPr>
            <a:spLocks noGrp="1"/>
          </p:cNvSpPr>
          <p:nvPr>
            <p:ph type="title"/>
          </p:nvPr>
        </p:nvSpPr>
        <p:spPr/>
        <p:txBody>
          <a:bodyPr/>
          <a:lstStyle/>
          <a:p>
            <a:r>
              <a:rPr lang="en-US" altLang="en-GH" sz="2800" b="1" dirty="0">
                <a:latin typeface="Times New Roman" panose="02020603050405020304" pitchFamily="18" charset="0"/>
                <a:cs typeface="Times New Roman" panose="02020603050405020304" pitchFamily="18" charset="0"/>
              </a:rPr>
              <a:t>Hierarchical models represent a user’s task and goal structure</a:t>
            </a:r>
            <a:br>
              <a:rPr lang="en-US" altLang="en-GH" sz="2800" b="1" dirty="0">
                <a:latin typeface="Times New Roman" panose="02020603050405020304" pitchFamily="18" charset="0"/>
                <a:cs typeface="Times New Roman" panose="02020603050405020304" pitchFamily="18" charset="0"/>
              </a:rPr>
            </a:br>
            <a:endParaRPr lang="en-US" altLang="en-GH" b="1" dirty="0">
              <a:latin typeface="Futura Md BT" panose="020B0602020204020303"/>
            </a:endParaRPr>
          </a:p>
        </p:txBody>
      </p:sp>
      <p:sp>
        <p:nvSpPr>
          <p:cNvPr id="65539" name="Content Placeholder 2">
            <a:extLst>
              <a:ext uri="{FF2B5EF4-FFF2-40B4-BE49-F238E27FC236}">
                <a16:creationId xmlns:a16="http://schemas.microsoft.com/office/drawing/2014/main" id="{3B18245F-6839-4AB3-945B-AEB6BA40D4A3}"/>
              </a:ext>
            </a:extLst>
          </p:cNvPr>
          <p:cNvSpPr>
            <a:spLocks noGrp="1"/>
          </p:cNvSpPr>
          <p:nvPr>
            <p:ph idx="1"/>
          </p:nvPr>
        </p:nvSpPr>
        <p:spPr>
          <a:xfrm>
            <a:off x="263352" y="1846263"/>
            <a:ext cx="10892011" cy="4463057"/>
          </a:xfrm>
        </p:spPr>
        <p:txBody>
          <a:bodyPr/>
          <a:lstStyle/>
          <a:p>
            <a:endParaRPr lang="en-US" altLang="en-GH" sz="2600" dirty="0">
              <a:latin typeface="Times New Roman" panose="02020603050405020304" pitchFamily="18" charset="0"/>
              <a:cs typeface="Times New Roman" panose="02020603050405020304" pitchFamily="18" charset="0"/>
            </a:endParaRPr>
          </a:p>
          <a:p>
            <a:r>
              <a:rPr lang="en-US" altLang="en-GH" sz="2600" dirty="0">
                <a:latin typeface="Times New Roman" panose="02020603050405020304" pitchFamily="18" charset="0"/>
                <a:cs typeface="Times New Roman" panose="02020603050405020304" pitchFamily="18" charset="0"/>
              </a:rPr>
              <a:t>Many hierarchical models make use of a model of mental processing in which the user achieves </a:t>
            </a:r>
            <a:r>
              <a:rPr lang="en-US" altLang="en-GH" sz="2600" b="1" dirty="0">
                <a:latin typeface="Times New Roman" panose="02020603050405020304" pitchFamily="18" charset="0"/>
                <a:cs typeface="Times New Roman" panose="02020603050405020304" pitchFamily="18" charset="0"/>
              </a:rPr>
              <a:t>goals by solving </a:t>
            </a:r>
            <a:r>
              <a:rPr lang="en-US" altLang="en-GH" sz="2600" b="1" dirty="0" err="1">
                <a:latin typeface="Times New Roman" panose="02020603050405020304" pitchFamily="18" charset="0"/>
                <a:cs typeface="Times New Roman" panose="02020603050405020304" pitchFamily="18" charset="0"/>
              </a:rPr>
              <a:t>subgoals</a:t>
            </a:r>
            <a:r>
              <a:rPr lang="en-US" altLang="en-GH" sz="2600" b="1" dirty="0">
                <a:latin typeface="Times New Roman" panose="02020603050405020304" pitchFamily="18" charset="0"/>
                <a:cs typeface="Times New Roman" panose="02020603050405020304" pitchFamily="18" charset="0"/>
              </a:rPr>
              <a:t> </a:t>
            </a:r>
            <a:r>
              <a:rPr lang="en-US" altLang="en-GH" sz="2600" dirty="0">
                <a:latin typeface="Times New Roman" panose="02020603050405020304" pitchFamily="18" charset="0"/>
                <a:cs typeface="Times New Roman" panose="02020603050405020304" pitchFamily="18" charset="0"/>
              </a:rPr>
              <a:t>in a divide-and-conquer fashion. </a:t>
            </a:r>
          </a:p>
          <a:p>
            <a:endParaRPr lang="en-US" altLang="en-GH" sz="2600" dirty="0">
              <a:latin typeface="Times New Roman" panose="02020603050405020304" pitchFamily="18" charset="0"/>
              <a:cs typeface="Times New Roman" panose="02020603050405020304" pitchFamily="18" charset="0"/>
            </a:endParaRPr>
          </a:p>
          <a:p>
            <a:r>
              <a:rPr lang="en-US" altLang="en-GH" sz="2600" dirty="0">
                <a:latin typeface="Times New Roman" panose="02020603050405020304" pitchFamily="18" charset="0"/>
                <a:cs typeface="Times New Roman" panose="02020603050405020304" pitchFamily="18" charset="0"/>
              </a:rPr>
              <a:t>We will consider two models, </a:t>
            </a:r>
            <a:r>
              <a:rPr lang="en-US" altLang="en-GH" sz="2600" b="1" i="1" dirty="0">
                <a:latin typeface="Times New Roman" panose="02020603050405020304" pitchFamily="18" charset="0"/>
                <a:cs typeface="Times New Roman" panose="02020603050405020304" pitchFamily="18" charset="0"/>
              </a:rPr>
              <a:t>GOMS </a:t>
            </a:r>
            <a:r>
              <a:rPr lang="en-US" altLang="en-GH" sz="2600" b="1" dirty="0">
                <a:latin typeface="Times New Roman" panose="02020603050405020304" pitchFamily="18" charset="0"/>
                <a:cs typeface="Times New Roman" panose="02020603050405020304" pitchFamily="18" charset="0"/>
              </a:rPr>
              <a:t>and </a:t>
            </a:r>
            <a:r>
              <a:rPr lang="en-US" altLang="en-GH" sz="2600" b="1" i="1" dirty="0">
                <a:latin typeface="Times New Roman" panose="02020603050405020304" pitchFamily="18" charset="0"/>
                <a:cs typeface="Times New Roman" panose="02020603050405020304" pitchFamily="18" charset="0"/>
              </a:rPr>
              <a:t>CCT</a:t>
            </a:r>
            <a:r>
              <a:rPr lang="en-US" altLang="en-GH" sz="2200" b="1" i="1" dirty="0">
                <a:latin typeface="Times New Roman" panose="02020603050405020304" pitchFamily="18" charset="0"/>
                <a:cs typeface="Times New Roman" panose="02020603050405020304" pitchFamily="18" charset="0"/>
              </a:rPr>
              <a:t> (</a:t>
            </a:r>
            <a:r>
              <a:rPr lang="en-US" altLang="en-GH" sz="2200" dirty="0">
                <a:latin typeface="Times New Roman" panose="02020603050405020304" pitchFamily="18" charset="0"/>
                <a:cs typeface="Times New Roman" panose="02020603050405020304" pitchFamily="18" charset="0"/>
              </a:rPr>
              <a:t>Cognitive complexity theory)</a:t>
            </a:r>
            <a:endParaRPr lang="en-US" altLang="en-GH" sz="2200" b="1" i="1" dirty="0">
              <a:latin typeface="Times New Roman" panose="02020603050405020304" pitchFamily="18" charset="0"/>
              <a:cs typeface="Times New Roman" panose="02020603050405020304" pitchFamily="18" charset="0"/>
            </a:endParaRPr>
          </a:p>
          <a:p>
            <a:endParaRPr lang="en-US" altLang="en-GH" sz="2600" b="1" dirty="0">
              <a:latin typeface="Times New Roman" panose="02020603050405020304" pitchFamily="18" charset="0"/>
              <a:cs typeface="Times New Roman" panose="02020603050405020304" pitchFamily="18" charset="0"/>
            </a:endParaRPr>
          </a:p>
        </p:txBody>
      </p:sp>
      <p:sp>
        <p:nvSpPr>
          <p:cNvPr id="65540" name="Slide Number Placeholder 3">
            <a:extLst>
              <a:ext uri="{FF2B5EF4-FFF2-40B4-BE49-F238E27FC236}">
                <a16:creationId xmlns:a16="http://schemas.microsoft.com/office/drawing/2014/main" id="{4150D65A-8A24-4B28-AF5F-A9CF9079941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E4F489D-233B-4CCD-8243-3E2BB5118959}" type="slidenum">
              <a:rPr lang="en-GB" altLang="en-GH">
                <a:solidFill>
                  <a:srgbClr val="FFC551"/>
                </a:solidFill>
                <a:latin typeface="Century Gothic" panose="020B0502020202020204" pitchFamily="34" charset="0"/>
              </a:rPr>
              <a:pPr/>
              <a:t>27</a:t>
            </a:fld>
            <a:endParaRPr lang="en-GB" altLang="en-GH">
              <a:solidFill>
                <a:srgbClr val="FFC551"/>
              </a:solidFill>
              <a:latin typeface="Century Gothic" panose="020B0502020202020204" pitchFamily="34" charset="0"/>
            </a:endParaRPr>
          </a:p>
        </p:txBody>
      </p:sp>
    </p:spTree>
    <p:extLst>
      <p:ext uri="{BB962C8B-B14F-4D97-AF65-F5344CB8AC3E}">
        <p14:creationId xmlns:p14="http://schemas.microsoft.com/office/powerpoint/2010/main" val="918958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GH" dirty="0">
                <a:latin typeface="Times New Roman" panose="02020603050405020304" pitchFamily="18" charset="0"/>
                <a:cs typeface="Times New Roman" panose="02020603050405020304" pitchFamily="18" charset="0"/>
              </a:rPr>
              <a:t>Hierarchical models represent a user’s task and goal structure</a:t>
            </a:r>
            <a:br>
              <a:rPr lang="en-US" altLang="en-GH"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sz="half" idx="1"/>
          </p:nvPr>
        </p:nvSpPr>
        <p:spPr>
          <a:xfrm>
            <a:off x="312952" y="1733634"/>
            <a:ext cx="5699679" cy="4247562"/>
          </a:xfrm>
        </p:spPr>
        <p:txBody>
          <a:bodyPr/>
          <a:lstStyle/>
          <a:p>
            <a:r>
              <a:rPr lang="en-US" sz="2600" dirty="0">
                <a:latin typeface="Times New Roman" panose="02020603050405020304" pitchFamily="18" charset="0"/>
                <a:cs typeface="Times New Roman" panose="02020603050405020304" pitchFamily="18" charset="0"/>
              </a:rPr>
              <a:t>Imagine we want to produce a report on sales of introductory HCI textbooks.</a:t>
            </a:r>
          </a:p>
          <a:p>
            <a:r>
              <a:rPr lang="en-US" sz="2600" dirty="0">
                <a:latin typeface="Times New Roman" panose="02020603050405020304" pitchFamily="18" charset="0"/>
                <a:cs typeface="Times New Roman" panose="02020603050405020304" pitchFamily="18" charset="0"/>
              </a:rPr>
              <a:t>To achieve this goal we divide it into several subgoals, say gathering the </a:t>
            </a:r>
            <a:r>
              <a:rPr lang="en-US" sz="2600" b="1" dirty="0">
                <a:latin typeface="Times New Roman" panose="02020603050405020304" pitchFamily="18" charset="0"/>
                <a:cs typeface="Times New Roman" panose="02020603050405020304" pitchFamily="18" charset="0"/>
              </a:rPr>
              <a:t>data together</a:t>
            </a:r>
            <a:r>
              <a:rPr lang="en-US" sz="2600" dirty="0">
                <a:latin typeface="Times New Roman" panose="02020603050405020304" pitchFamily="18" charset="0"/>
                <a:cs typeface="Times New Roman" panose="02020603050405020304" pitchFamily="18" charset="0"/>
              </a:rPr>
              <a:t>, </a:t>
            </a:r>
            <a:r>
              <a:rPr lang="en-US" sz="2600" dirty="0">
                <a:solidFill>
                  <a:srgbClr val="00B050"/>
                </a:solidFill>
                <a:latin typeface="Times New Roman" panose="02020603050405020304" pitchFamily="18" charset="0"/>
                <a:cs typeface="Times New Roman" panose="02020603050405020304" pitchFamily="18" charset="0"/>
              </a:rPr>
              <a:t>producing the tables and histograms</a:t>
            </a:r>
            <a:r>
              <a:rPr lang="en-US" sz="2600" dirty="0">
                <a:latin typeface="Times New Roman" panose="02020603050405020304" pitchFamily="18" charset="0"/>
                <a:cs typeface="Times New Roman" panose="02020603050405020304" pitchFamily="18" charset="0"/>
              </a:rPr>
              <a:t>, and </a:t>
            </a:r>
            <a:r>
              <a:rPr lang="en-US" sz="2600" dirty="0">
                <a:solidFill>
                  <a:srgbClr val="00B0F0"/>
                </a:solidFill>
                <a:latin typeface="Times New Roman" panose="02020603050405020304" pitchFamily="18" charset="0"/>
                <a:cs typeface="Times New Roman" panose="02020603050405020304" pitchFamily="18" charset="0"/>
              </a:rPr>
              <a:t>writing the descriptive material</a:t>
            </a:r>
            <a:r>
              <a:rPr lang="en-US" sz="2600" dirty="0">
                <a:latin typeface="Times New Roman" panose="02020603050405020304" pitchFamily="18" charset="0"/>
                <a:cs typeface="Times New Roman" panose="02020603050405020304" pitchFamily="18" charset="0"/>
              </a:rPr>
              <a:t>. </a:t>
            </a:r>
          </a:p>
          <a:p>
            <a:r>
              <a:rPr lang="en-US" sz="2600" dirty="0">
                <a:latin typeface="Times New Roman" panose="02020603050405020304" pitchFamily="18" charset="0"/>
                <a:cs typeface="Times New Roman" panose="02020603050405020304" pitchFamily="18" charset="0"/>
              </a:rPr>
              <a:t>Concentrating on the data gathering, we decide to split this into further subgoals: find the names of all introductory HCI textbooks and then search the book sales database for these books.</a:t>
            </a:r>
          </a:p>
        </p:txBody>
      </p:sp>
      <p:sp>
        <p:nvSpPr>
          <p:cNvPr id="5" name="Content Placeholder 4"/>
          <p:cNvSpPr>
            <a:spLocks noGrp="1"/>
          </p:cNvSpPr>
          <p:nvPr>
            <p:ph sz="half" idx="2"/>
          </p:nvPr>
        </p:nvSpPr>
        <p:spPr>
          <a:xfrm>
            <a:off x="6217920" y="1845735"/>
            <a:ext cx="5974080" cy="4023360"/>
          </a:xfrm>
        </p:spPr>
        <p:txBody>
          <a:bodyPr/>
          <a:lstStyle/>
          <a:p>
            <a:r>
              <a:rPr lang="en-US" dirty="0"/>
              <a:t>The example can be laid out to expose this structure:</a:t>
            </a:r>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28</a:t>
            </a:fld>
            <a:endParaRPr lang="en-GB" altLang="en-US"/>
          </a:p>
        </p:txBody>
      </p:sp>
      <p:pic>
        <p:nvPicPr>
          <p:cNvPr id="6" name="Picture 5"/>
          <p:cNvPicPr>
            <a:picLocks noChangeAspect="1"/>
          </p:cNvPicPr>
          <p:nvPr/>
        </p:nvPicPr>
        <p:blipFill rotWithShape="1">
          <a:blip r:embed="rId2"/>
          <a:srcRect l="26203" t="33266" r="26203" b="24407"/>
          <a:stretch/>
        </p:blipFill>
        <p:spPr>
          <a:xfrm>
            <a:off x="6012631" y="2327803"/>
            <a:ext cx="6192689" cy="3096344"/>
          </a:xfrm>
          <a:prstGeom prst="rect">
            <a:avLst/>
          </a:prstGeom>
        </p:spPr>
      </p:pic>
    </p:spTree>
    <p:extLst>
      <p:ext uri="{BB962C8B-B14F-4D97-AF65-F5344CB8AC3E}">
        <p14:creationId xmlns:p14="http://schemas.microsoft.com/office/powerpoint/2010/main" val="2112538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E2259-506F-9949-C010-BB9516CC55BF}"/>
              </a:ext>
            </a:extLst>
          </p:cNvPr>
          <p:cNvSpPr>
            <a:spLocks noGrp="1"/>
          </p:cNvSpPr>
          <p:nvPr>
            <p:ph type="title"/>
          </p:nvPr>
        </p:nvSpPr>
        <p:spPr/>
        <p:txBody>
          <a:bodyPr>
            <a:normAutofit fontScale="90000"/>
          </a:bodyPr>
          <a:lstStyle/>
          <a:p>
            <a:r>
              <a:rPr lang="en-US" altLang="en-GH" dirty="0">
                <a:latin typeface="Times New Roman" panose="02020603050405020304" pitchFamily="18" charset="0"/>
                <a:cs typeface="Times New Roman" panose="02020603050405020304" pitchFamily="18" charset="0"/>
              </a:rPr>
              <a:t>Hierarchical models represent a user’s task and goal structure</a:t>
            </a:r>
            <a:br>
              <a:rPr lang="en-US" altLang="en-GH"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E0484B4-541B-1BB5-6816-19ED86B4E269}"/>
              </a:ext>
            </a:extLst>
          </p:cNvPr>
          <p:cNvSpPr>
            <a:spLocks noGrp="1"/>
          </p:cNvSpPr>
          <p:nvPr>
            <p:ph sz="half" idx="1"/>
          </p:nvPr>
        </p:nvSpPr>
        <p:spPr/>
        <p:txBody>
          <a:bodyPr/>
          <a:lstStyle/>
          <a:p>
            <a:r>
              <a:rPr lang="en-US" sz="2600" dirty="0">
                <a:latin typeface="Times New Roman" panose="02020603050405020304" pitchFamily="18" charset="0"/>
                <a:cs typeface="Times New Roman" panose="02020603050405020304" pitchFamily="18" charset="0"/>
              </a:rPr>
              <a:t>Similarly, each of the other subgoals is divided up into further subgoals, until some level of detail is found at which we decide to stop. We thus end up with a hierarchy of goals and subgoals.</a:t>
            </a:r>
            <a:endParaRPr lang="en-US" sz="2600" dirty="0"/>
          </a:p>
        </p:txBody>
      </p:sp>
      <p:sp>
        <p:nvSpPr>
          <p:cNvPr id="4" name="Content Placeholder 3">
            <a:extLst>
              <a:ext uri="{FF2B5EF4-FFF2-40B4-BE49-F238E27FC236}">
                <a16:creationId xmlns:a16="http://schemas.microsoft.com/office/drawing/2014/main" id="{70DC8BAE-2330-AA0B-CE13-2EE14C4F5CFD}"/>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B0EF8BE0-C5E6-597D-F9E7-AE0A3AC73EB0}"/>
              </a:ext>
            </a:extLst>
          </p:cNvPr>
          <p:cNvSpPr>
            <a:spLocks noGrp="1"/>
          </p:cNvSpPr>
          <p:nvPr>
            <p:ph type="sldNum" sz="quarter" idx="12"/>
          </p:nvPr>
        </p:nvSpPr>
        <p:spPr/>
        <p:txBody>
          <a:bodyPr/>
          <a:lstStyle/>
          <a:p>
            <a:pPr>
              <a:defRPr/>
            </a:pPr>
            <a:fld id="{73AD155A-D4E9-4AE4-84C6-FF1A220296F8}" type="slidenum">
              <a:rPr lang="en-GB" altLang="en-US" smtClean="0"/>
              <a:pPr>
                <a:defRPr/>
              </a:pPr>
              <a:t>29</a:t>
            </a:fld>
            <a:endParaRPr lang="en-GB" altLang="en-US"/>
          </a:p>
        </p:txBody>
      </p:sp>
    </p:spTree>
    <p:extLst>
      <p:ext uri="{BB962C8B-B14F-4D97-AF65-F5344CB8AC3E}">
        <p14:creationId xmlns:p14="http://schemas.microsoft.com/office/powerpoint/2010/main" val="42780932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469749D7-C8A9-4BEA-B9CD-7A13FAEDDFF7}"/>
              </a:ext>
            </a:extLst>
          </p:cNvPr>
          <p:cNvSpPr>
            <a:spLocks noGrp="1"/>
          </p:cNvSpPr>
          <p:nvPr>
            <p:ph type="title"/>
          </p:nvPr>
        </p:nvSpPr>
        <p:spPr/>
        <p:txBody>
          <a:bodyPr/>
          <a:lstStyle/>
          <a:p>
            <a:pPr algn="ctr"/>
            <a:r>
              <a:rPr lang="en-US" altLang="en-GH" dirty="0">
                <a:latin typeface="Times New Roman" panose="02020603050405020304" pitchFamily="18" charset="0"/>
                <a:cs typeface="Times New Roman" panose="02020603050405020304" pitchFamily="18" charset="0"/>
              </a:rPr>
              <a:t>GOMS: HCI</a:t>
            </a:r>
          </a:p>
        </p:txBody>
      </p:sp>
      <p:sp>
        <p:nvSpPr>
          <p:cNvPr id="73731" name="Content Placeholder 2">
            <a:extLst>
              <a:ext uri="{FF2B5EF4-FFF2-40B4-BE49-F238E27FC236}">
                <a16:creationId xmlns:a16="http://schemas.microsoft.com/office/drawing/2014/main" id="{CA61D9F7-1728-49C6-9049-77AA1C1B488D}"/>
              </a:ext>
            </a:extLst>
          </p:cNvPr>
          <p:cNvSpPr>
            <a:spLocks noGrp="1"/>
          </p:cNvSpPr>
          <p:nvPr>
            <p:ph idx="1"/>
          </p:nvPr>
        </p:nvSpPr>
        <p:spPr>
          <a:xfrm>
            <a:off x="335360" y="2204864"/>
            <a:ext cx="11856640" cy="4254674"/>
          </a:xfrm>
        </p:spPr>
        <p:txBody>
          <a:bodyPr/>
          <a:lstStyle/>
          <a:p>
            <a:r>
              <a:rPr lang="en-US" altLang="en-GH" sz="2600" dirty="0">
                <a:latin typeface="Times New Roman" panose="02020603050405020304" pitchFamily="18" charset="0"/>
                <a:cs typeface="Times New Roman" panose="02020603050405020304" pitchFamily="18" charset="0"/>
              </a:rPr>
              <a:t>The original GOMS model has served as the basis for much of the cognitive modeling research in HCI. </a:t>
            </a:r>
          </a:p>
          <a:p>
            <a:endParaRPr lang="en-US" altLang="en-GH" sz="2600" dirty="0">
              <a:latin typeface="Times New Roman" panose="02020603050405020304" pitchFamily="18" charset="0"/>
              <a:cs typeface="Times New Roman" panose="02020603050405020304" pitchFamily="18" charset="0"/>
            </a:endParaRPr>
          </a:p>
          <a:p>
            <a:r>
              <a:rPr lang="en-US" altLang="en-GH" sz="2600" dirty="0">
                <a:latin typeface="Times New Roman" panose="02020603050405020304" pitchFamily="18" charset="0"/>
                <a:cs typeface="Times New Roman" panose="02020603050405020304" pitchFamily="18" charset="0"/>
              </a:rPr>
              <a:t>It was good for describing how experts perform routine tasks.</a:t>
            </a:r>
          </a:p>
          <a:p>
            <a:endParaRPr lang="en-US" altLang="en-GH" sz="2600" dirty="0">
              <a:latin typeface="Times New Roman" panose="02020603050405020304" pitchFamily="18" charset="0"/>
              <a:cs typeface="Times New Roman" panose="02020603050405020304" pitchFamily="18" charset="0"/>
            </a:endParaRPr>
          </a:p>
          <a:p>
            <a:r>
              <a:rPr lang="en-US" altLang="en-GH" sz="2600" b="1" dirty="0">
                <a:latin typeface="Times New Roman" panose="02020603050405020304" pitchFamily="18" charset="0"/>
                <a:cs typeface="Times New Roman" panose="02020603050405020304" pitchFamily="18" charset="0"/>
              </a:rPr>
              <a:t>GOMS is a modeling technique (more specifically, a family of modeling techniques) that analyzes the user complexity of interactive systems. It is used by software designers to model user behavior.</a:t>
            </a:r>
          </a:p>
          <a:p>
            <a:endParaRPr lang="en-US" altLang="en-GH" sz="2600" dirty="0">
              <a:latin typeface="Times New Roman" panose="02020603050405020304" pitchFamily="18" charset="0"/>
              <a:cs typeface="Times New Roman" panose="02020603050405020304" pitchFamily="18" charset="0"/>
            </a:endParaRPr>
          </a:p>
          <a:p>
            <a:endParaRPr lang="en-US" altLang="en-GH" sz="2600" dirty="0">
              <a:latin typeface="Times New Roman" panose="02020603050405020304" pitchFamily="18" charset="0"/>
              <a:cs typeface="Times New Roman" panose="02020603050405020304" pitchFamily="18" charset="0"/>
            </a:endParaRPr>
          </a:p>
        </p:txBody>
      </p:sp>
      <p:sp>
        <p:nvSpPr>
          <p:cNvPr id="73732" name="Slide Number Placeholder 3">
            <a:extLst>
              <a:ext uri="{FF2B5EF4-FFF2-40B4-BE49-F238E27FC236}">
                <a16:creationId xmlns:a16="http://schemas.microsoft.com/office/drawing/2014/main" id="{C98D8816-4F52-4DBB-B821-A85F246C9E7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C181704-7D14-4073-AE8B-4BC6E2C5D00A}" type="slidenum">
              <a:rPr lang="en-GB" altLang="en-GH">
                <a:solidFill>
                  <a:srgbClr val="FFC551"/>
                </a:solidFill>
                <a:latin typeface="Century Gothic" panose="020B0502020202020204" pitchFamily="34" charset="0"/>
              </a:rPr>
              <a:pPr/>
              <a:t>30</a:t>
            </a:fld>
            <a:endParaRPr lang="en-GB" altLang="en-GH">
              <a:solidFill>
                <a:srgbClr val="FFC551"/>
              </a:solidFill>
              <a:latin typeface="Century Gothic" panose="020B0502020202020204" pitchFamily="34" charset="0"/>
            </a:endParaRPr>
          </a:p>
        </p:txBody>
      </p:sp>
    </p:spTree>
    <p:extLst>
      <p:ext uri="{BB962C8B-B14F-4D97-AF65-F5344CB8AC3E}">
        <p14:creationId xmlns:p14="http://schemas.microsoft.com/office/powerpoint/2010/main" val="3559466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18CD4C38-7D7C-4991-A982-58A6C5688298}"/>
              </a:ext>
            </a:extLst>
          </p:cNvPr>
          <p:cNvSpPr>
            <a:spLocks noGrp="1"/>
          </p:cNvSpPr>
          <p:nvPr>
            <p:ph type="title"/>
          </p:nvPr>
        </p:nvSpPr>
        <p:spPr/>
        <p:txBody>
          <a:bodyPr/>
          <a:lstStyle/>
          <a:p>
            <a:pPr algn="ctr"/>
            <a:r>
              <a:rPr lang="en-US" altLang="en-GH" dirty="0">
                <a:latin typeface="Times New Roman" panose="02020603050405020304" pitchFamily="18" charset="0"/>
                <a:cs typeface="Times New Roman" panose="02020603050405020304" pitchFamily="18" charset="0"/>
              </a:rPr>
              <a:t>GOMS  Model</a:t>
            </a:r>
          </a:p>
        </p:txBody>
      </p:sp>
      <p:sp>
        <p:nvSpPr>
          <p:cNvPr id="66563" name="Content Placeholder 2">
            <a:extLst>
              <a:ext uri="{FF2B5EF4-FFF2-40B4-BE49-F238E27FC236}">
                <a16:creationId xmlns:a16="http://schemas.microsoft.com/office/drawing/2014/main" id="{1A619B40-676C-442F-A4E1-4553CD52F627}"/>
              </a:ext>
            </a:extLst>
          </p:cNvPr>
          <p:cNvSpPr>
            <a:spLocks noGrp="1"/>
          </p:cNvSpPr>
          <p:nvPr>
            <p:ph idx="1"/>
          </p:nvPr>
        </p:nvSpPr>
        <p:spPr>
          <a:xfrm>
            <a:off x="191344" y="1736725"/>
            <a:ext cx="11665296" cy="4572595"/>
          </a:xfrm>
        </p:spPr>
        <p:txBody>
          <a:bodyPr/>
          <a:lstStyle/>
          <a:p>
            <a:r>
              <a:rPr lang="en-US" altLang="en-GH" sz="2600" dirty="0">
                <a:latin typeface="Times New Roman" panose="02020603050405020304" pitchFamily="18" charset="0"/>
                <a:cs typeface="Times New Roman" panose="02020603050405020304" pitchFamily="18" charset="0"/>
              </a:rPr>
              <a:t>The </a:t>
            </a:r>
            <a:r>
              <a:rPr lang="en-US" altLang="en-GH" sz="2600" i="1" dirty="0">
                <a:latin typeface="Times New Roman" panose="02020603050405020304" pitchFamily="18" charset="0"/>
                <a:cs typeface="Times New Roman" panose="02020603050405020304" pitchFamily="18" charset="0"/>
              </a:rPr>
              <a:t>GOMS </a:t>
            </a:r>
            <a:r>
              <a:rPr lang="en-US" altLang="en-GH" sz="2600" dirty="0">
                <a:latin typeface="Times New Roman" panose="02020603050405020304" pitchFamily="18" charset="0"/>
                <a:cs typeface="Times New Roman" panose="02020603050405020304" pitchFamily="18" charset="0"/>
              </a:rPr>
              <a:t>model developed by Card, Moran and Newell is an acronym for Goals, Operators, Methods and Selection</a:t>
            </a:r>
          </a:p>
          <a:p>
            <a:r>
              <a:rPr lang="en-US" altLang="en-GH" sz="2600" dirty="0">
                <a:latin typeface="Times New Roman" panose="02020603050405020304" pitchFamily="18" charset="0"/>
                <a:cs typeface="Times New Roman" panose="02020603050405020304" pitchFamily="18" charset="0"/>
              </a:rPr>
              <a:t>A GOMS description consists of these </a:t>
            </a:r>
            <a:r>
              <a:rPr lang="en-US" altLang="en-GH" sz="2600" b="1" dirty="0">
                <a:latin typeface="Times New Roman" panose="02020603050405020304" pitchFamily="18" charset="0"/>
                <a:cs typeface="Times New Roman" panose="02020603050405020304" pitchFamily="18" charset="0"/>
              </a:rPr>
              <a:t>four elements: </a:t>
            </a:r>
          </a:p>
          <a:p>
            <a:pPr marL="800100" lvl="1" indent="-457200">
              <a:lnSpc>
                <a:spcPct val="100000"/>
              </a:lnSpc>
              <a:buFont typeface="Calibri Light" panose="020F0302020204030204" pitchFamily="34" charset="0"/>
              <a:buAutoNum type="arabicPeriod"/>
            </a:pPr>
            <a:r>
              <a:rPr lang="en-US" altLang="en-GH" sz="2600" dirty="0">
                <a:latin typeface="Times New Roman" panose="02020603050405020304" pitchFamily="18" charset="0"/>
                <a:cs typeface="Times New Roman" panose="02020603050405020304" pitchFamily="18" charset="0"/>
              </a:rPr>
              <a:t>Goals, </a:t>
            </a:r>
          </a:p>
          <a:p>
            <a:pPr marL="800100" lvl="1" indent="-457200">
              <a:lnSpc>
                <a:spcPct val="100000"/>
              </a:lnSpc>
              <a:buFont typeface="Calibri Light" panose="020F0302020204030204" pitchFamily="34" charset="0"/>
              <a:buAutoNum type="arabicPeriod"/>
            </a:pPr>
            <a:r>
              <a:rPr lang="en-US" altLang="en-GH" sz="2600" dirty="0">
                <a:latin typeface="Times New Roman" panose="02020603050405020304" pitchFamily="18" charset="0"/>
                <a:cs typeface="Times New Roman" panose="02020603050405020304" pitchFamily="18" charset="0"/>
              </a:rPr>
              <a:t>Operators, </a:t>
            </a:r>
          </a:p>
          <a:p>
            <a:pPr marL="800100" lvl="1" indent="-457200">
              <a:lnSpc>
                <a:spcPct val="100000"/>
              </a:lnSpc>
              <a:buFont typeface="Calibri Light" panose="020F0302020204030204" pitchFamily="34" charset="0"/>
              <a:buAutoNum type="arabicPeriod"/>
            </a:pPr>
            <a:r>
              <a:rPr lang="en-US" altLang="en-GH" sz="2600" dirty="0">
                <a:latin typeface="Times New Roman" panose="02020603050405020304" pitchFamily="18" charset="0"/>
                <a:cs typeface="Times New Roman" panose="02020603050405020304" pitchFamily="18" charset="0"/>
              </a:rPr>
              <a:t>Methods and </a:t>
            </a:r>
          </a:p>
          <a:p>
            <a:pPr marL="800100" lvl="1" indent="-457200">
              <a:lnSpc>
                <a:spcPct val="100000"/>
              </a:lnSpc>
              <a:buFont typeface="Calibri Light" panose="020F0302020204030204" pitchFamily="34" charset="0"/>
              <a:buAutoNum type="arabicPeriod"/>
            </a:pPr>
            <a:r>
              <a:rPr lang="en-US" altLang="en-GH" sz="2600" dirty="0">
                <a:latin typeface="Times New Roman" panose="02020603050405020304" pitchFamily="18" charset="0"/>
                <a:cs typeface="Times New Roman" panose="02020603050405020304" pitchFamily="18" charset="0"/>
              </a:rPr>
              <a:t>Selection</a:t>
            </a:r>
          </a:p>
          <a:p>
            <a:pPr marL="342900" lvl="1" indent="0">
              <a:lnSpc>
                <a:spcPct val="100000"/>
              </a:lnSpc>
              <a:buNone/>
            </a:pPr>
            <a:r>
              <a:rPr lang="en-US" sz="2600" b="1" dirty="0">
                <a:latin typeface="Times New Roman" panose="02020603050405020304" pitchFamily="18" charset="0"/>
                <a:cs typeface="Times New Roman" panose="02020603050405020304" pitchFamily="18" charset="0"/>
              </a:rPr>
              <a:t>GOMS is a widely used method by usability specialists and computer system designers because it produces quantitative and qualitative predictions of how people will use a proposed system</a:t>
            </a:r>
            <a:endParaRPr lang="en-US" altLang="en-GH" sz="2600" b="1" dirty="0">
              <a:latin typeface="Times New Roman" panose="02020603050405020304" pitchFamily="18" charset="0"/>
              <a:cs typeface="Times New Roman" panose="02020603050405020304" pitchFamily="18" charset="0"/>
            </a:endParaRPr>
          </a:p>
        </p:txBody>
      </p:sp>
      <p:sp>
        <p:nvSpPr>
          <p:cNvPr id="66564" name="Slide Number Placeholder 3">
            <a:extLst>
              <a:ext uri="{FF2B5EF4-FFF2-40B4-BE49-F238E27FC236}">
                <a16:creationId xmlns:a16="http://schemas.microsoft.com/office/drawing/2014/main" id="{49572EA7-BB9D-4C46-9549-086305AF69E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E10AEBA-AB49-48CE-9B94-A51396AC4681}" type="slidenum">
              <a:rPr lang="en-GB" altLang="en-GH">
                <a:solidFill>
                  <a:srgbClr val="FFC551"/>
                </a:solidFill>
                <a:latin typeface="Century Gothic" panose="020B0502020202020204" pitchFamily="34" charset="0"/>
              </a:rPr>
              <a:pPr/>
              <a:t>31</a:t>
            </a:fld>
            <a:endParaRPr lang="en-GB" altLang="en-GH">
              <a:solidFill>
                <a:srgbClr val="FFC551"/>
              </a:solidFill>
              <a:latin typeface="Century Gothic" panose="020B0502020202020204" pitchFamily="34" charset="0"/>
            </a:endParaRPr>
          </a:p>
        </p:txBody>
      </p:sp>
    </p:spTree>
    <p:extLst>
      <p:ext uri="{BB962C8B-B14F-4D97-AF65-F5344CB8AC3E}">
        <p14:creationId xmlns:p14="http://schemas.microsoft.com/office/powerpoint/2010/main" val="3220728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7E9F7CF0-D449-4699-9847-2FCA3B6ED80F}"/>
              </a:ext>
            </a:extLst>
          </p:cNvPr>
          <p:cNvSpPr>
            <a:spLocks noGrp="1"/>
          </p:cNvSpPr>
          <p:nvPr>
            <p:ph type="title"/>
          </p:nvPr>
        </p:nvSpPr>
        <p:spPr/>
        <p:txBody>
          <a:bodyPr/>
          <a:lstStyle/>
          <a:p>
            <a:pPr algn="ctr"/>
            <a:r>
              <a:rPr lang="en-US" altLang="en-GH" dirty="0">
                <a:latin typeface="Times New Roman" panose="02020603050405020304" pitchFamily="18" charset="0"/>
                <a:cs typeface="Times New Roman" panose="02020603050405020304" pitchFamily="18" charset="0"/>
              </a:rPr>
              <a:t>GOMS: GOALS</a:t>
            </a:r>
          </a:p>
        </p:txBody>
      </p:sp>
      <p:sp>
        <p:nvSpPr>
          <p:cNvPr id="3" name="Content Placeholder 2">
            <a:extLst>
              <a:ext uri="{FF2B5EF4-FFF2-40B4-BE49-F238E27FC236}">
                <a16:creationId xmlns:a16="http://schemas.microsoft.com/office/drawing/2014/main" id="{54959F8E-5142-4756-BECE-A2637FA850C8}"/>
              </a:ext>
            </a:extLst>
          </p:cNvPr>
          <p:cNvSpPr>
            <a:spLocks noGrp="1"/>
          </p:cNvSpPr>
          <p:nvPr>
            <p:ph idx="1"/>
          </p:nvPr>
        </p:nvSpPr>
        <p:spPr>
          <a:xfrm>
            <a:off x="1096963" y="1846263"/>
            <a:ext cx="10058400" cy="4463057"/>
          </a:xfrm>
        </p:spPr>
        <p:txBody>
          <a:bodyPr/>
          <a:lstStyle/>
          <a:p>
            <a:pPr marL="0" indent="0" algn="ctr">
              <a:buFont typeface="Arial" panose="020B0604020202020204" pitchFamily="34" charset="0"/>
              <a:buNone/>
              <a:defRPr/>
            </a:pPr>
            <a:r>
              <a:rPr lang="en-US" sz="2600" b="1" dirty="0">
                <a:latin typeface="Times New Roman" panose="02020603050405020304" pitchFamily="18" charset="0"/>
                <a:cs typeface="Times New Roman" panose="02020603050405020304" pitchFamily="18" charset="0"/>
              </a:rPr>
              <a:t>Goals </a:t>
            </a:r>
          </a:p>
          <a:p>
            <a:pPr>
              <a:defRPr/>
            </a:pPr>
            <a:r>
              <a:rPr lang="en-US" sz="2600" dirty="0">
                <a:latin typeface="Times New Roman" panose="02020603050405020304" pitchFamily="18" charset="0"/>
                <a:cs typeface="Times New Roman" panose="02020603050405020304" pitchFamily="18" charset="0"/>
              </a:rPr>
              <a:t>These are </a:t>
            </a:r>
            <a:r>
              <a:rPr lang="en-US" sz="2600" b="1" dirty="0">
                <a:latin typeface="Times New Roman" panose="02020603050405020304" pitchFamily="18" charset="0"/>
                <a:cs typeface="Times New Roman" panose="02020603050405020304" pitchFamily="18" charset="0"/>
              </a:rPr>
              <a:t>the user’s goals, describing what the user wants to achieve.</a:t>
            </a:r>
          </a:p>
          <a:p>
            <a:pPr>
              <a:defRPr/>
            </a:pPr>
            <a:endParaRPr lang="en-US" sz="2600" dirty="0">
              <a:latin typeface="Times New Roman" panose="02020603050405020304" pitchFamily="18" charset="0"/>
              <a:cs typeface="Times New Roman" panose="02020603050405020304" pitchFamily="18" charset="0"/>
            </a:endParaRPr>
          </a:p>
          <a:p>
            <a:pPr>
              <a:defRPr/>
            </a:pPr>
            <a:r>
              <a:rPr lang="en-US" sz="2600" dirty="0">
                <a:latin typeface="Times New Roman" panose="02020603050405020304" pitchFamily="18" charset="0"/>
                <a:cs typeface="Times New Roman" panose="02020603050405020304" pitchFamily="18" charset="0"/>
              </a:rPr>
              <a:t>Further, in GOMS, the goals are taken to represent a ‘</a:t>
            </a:r>
            <a:r>
              <a:rPr lang="en-US" sz="2600" b="1" dirty="0">
                <a:latin typeface="Times New Roman" panose="02020603050405020304" pitchFamily="18" charset="0"/>
                <a:cs typeface="Times New Roman" panose="02020603050405020304" pitchFamily="18" charset="0"/>
              </a:rPr>
              <a:t>memory point’ </a:t>
            </a:r>
            <a:r>
              <a:rPr lang="en-US" sz="2600" dirty="0">
                <a:latin typeface="Times New Roman" panose="02020603050405020304" pitchFamily="18" charset="0"/>
                <a:cs typeface="Times New Roman" panose="02020603050405020304" pitchFamily="18" charset="0"/>
              </a:rPr>
              <a:t>for the user, from which he can evaluate what should be done and to which he may return should any errors occur.</a:t>
            </a:r>
          </a:p>
          <a:p>
            <a:pPr>
              <a:defRPr/>
            </a:pPr>
            <a:endParaRPr lang="en-US" sz="2600" dirty="0">
              <a:latin typeface="Times New Roman" panose="02020603050405020304" pitchFamily="18" charset="0"/>
              <a:cs typeface="Times New Roman" panose="02020603050405020304" pitchFamily="18" charset="0"/>
            </a:endParaRPr>
          </a:p>
          <a:p>
            <a:pPr>
              <a:defRPr/>
            </a:pPr>
            <a:r>
              <a:rPr lang="en-US" sz="2600" dirty="0">
                <a:latin typeface="Times New Roman" panose="02020603050405020304" pitchFamily="18" charset="0"/>
                <a:cs typeface="Times New Roman" panose="02020603050405020304" pitchFamily="18" charset="0"/>
              </a:rPr>
              <a:t>An example of a Goal might be:-</a:t>
            </a:r>
          </a:p>
          <a:p>
            <a:pPr marL="342900" lvl="1" indent="0">
              <a:buFont typeface="Arial" panose="020B0604020202020204" pitchFamily="34" charset="0"/>
              <a:buNone/>
              <a:defRPr/>
            </a:pPr>
            <a:r>
              <a:rPr lang="en-US" sz="2600" dirty="0">
                <a:latin typeface="Times New Roman" panose="02020603050405020304" pitchFamily="18" charset="0"/>
                <a:cs typeface="Times New Roman" panose="02020603050405020304" pitchFamily="18" charset="0"/>
              </a:rPr>
              <a:t>GOAL: Copy text from file</a:t>
            </a:r>
          </a:p>
        </p:txBody>
      </p:sp>
      <p:sp>
        <p:nvSpPr>
          <p:cNvPr id="67588" name="Slide Number Placeholder 3">
            <a:extLst>
              <a:ext uri="{FF2B5EF4-FFF2-40B4-BE49-F238E27FC236}">
                <a16:creationId xmlns:a16="http://schemas.microsoft.com/office/drawing/2014/main" id="{D612B478-7C51-48AB-B9C7-816595066DF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D06FCFB-AC9D-4FAE-A2C2-591CCD92EC43}" type="slidenum">
              <a:rPr lang="en-GB" altLang="en-GH">
                <a:solidFill>
                  <a:srgbClr val="FFC551"/>
                </a:solidFill>
                <a:latin typeface="Century Gothic" panose="020B0502020202020204" pitchFamily="34" charset="0"/>
              </a:rPr>
              <a:pPr/>
              <a:t>32</a:t>
            </a:fld>
            <a:endParaRPr lang="en-GB" altLang="en-GH">
              <a:solidFill>
                <a:srgbClr val="FFC551"/>
              </a:solidFill>
              <a:latin typeface="Century Gothic" panose="020B0502020202020204" pitchFamily="34" charset="0"/>
            </a:endParaRPr>
          </a:p>
        </p:txBody>
      </p:sp>
    </p:spTree>
    <p:extLst>
      <p:ext uri="{BB962C8B-B14F-4D97-AF65-F5344CB8AC3E}">
        <p14:creationId xmlns:p14="http://schemas.microsoft.com/office/powerpoint/2010/main" val="11582936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E2EC20EE-FE1E-4A2A-964E-EEF849D303C8}"/>
              </a:ext>
            </a:extLst>
          </p:cNvPr>
          <p:cNvSpPr>
            <a:spLocks noGrp="1"/>
          </p:cNvSpPr>
          <p:nvPr>
            <p:ph type="title"/>
          </p:nvPr>
        </p:nvSpPr>
        <p:spPr/>
        <p:txBody>
          <a:bodyPr/>
          <a:lstStyle/>
          <a:p>
            <a:pPr algn="ctr"/>
            <a:r>
              <a:rPr lang="en-US" altLang="en-GH" dirty="0">
                <a:latin typeface="Times New Roman" panose="02020603050405020304" pitchFamily="18" charset="0"/>
                <a:cs typeface="Times New Roman" panose="02020603050405020304" pitchFamily="18" charset="0"/>
              </a:rPr>
              <a:t>GOMS: Operations</a:t>
            </a:r>
          </a:p>
        </p:txBody>
      </p:sp>
      <p:sp>
        <p:nvSpPr>
          <p:cNvPr id="3" name="Content Placeholder 2">
            <a:extLst>
              <a:ext uri="{FF2B5EF4-FFF2-40B4-BE49-F238E27FC236}">
                <a16:creationId xmlns:a16="http://schemas.microsoft.com/office/drawing/2014/main" id="{A2AEB710-BAAB-4DA5-BD40-1F6AF57A130A}"/>
              </a:ext>
            </a:extLst>
          </p:cNvPr>
          <p:cNvSpPr>
            <a:spLocks noGrp="1"/>
          </p:cNvSpPr>
          <p:nvPr>
            <p:ph idx="1"/>
          </p:nvPr>
        </p:nvSpPr>
        <p:spPr>
          <a:xfrm>
            <a:off x="407368" y="1846263"/>
            <a:ext cx="11305256" cy="4391049"/>
          </a:xfrm>
        </p:spPr>
        <p:txBody>
          <a:bodyPr/>
          <a:lstStyle/>
          <a:p>
            <a:pPr>
              <a:defRPr/>
            </a:pPr>
            <a:r>
              <a:rPr lang="en-US" sz="2600" dirty="0">
                <a:latin typeface="Times New Roman" panose="02020603050405020304" pitchFamily="18" charset="0"/>
                <a:cs typeface="Times New Roman" panose="02020603050405020304" pitchFamily="18" charset="0"/>
              </a:rPr>
              <a:t>These are the lowest level of analysis. </a:t>
            </a:r>
          </a:p>
          <a:p>
            <a:pPr>
              <a:defRPr/>
            </a:pPr>
            <a:endParaRPr lang="en-US" sz="2600" dirty="0">
              <a:latin typeface="Times New Roman" panose="02020603050405020304" pitchFamily="18" charset="0"/>
              <a:cs typeface="Times New Roman" panose="02020603050405020304" pitchFamily="18" charset="0"/>
            </a:endParaRPr>
          </a:p>
          <a:p>
            <a:pPr>
              <a:defRPr/>
            </a:pPr>
            <a:r>
              <a:rPr lang="en-US" sz="2600" dirty="0">
                <a:latin typeface="Times New Roman" panose="02020603050405020304" pitchFamily="18" charset="0"/>
                <a:cs typeface="Times New Roman" panose="02020603050405020304" pitchFamily="18" charset="0"/>
              </a:rPr>
              <a:t>They are the basic actions that the user must perform in order to use the system. </a:t>
            </a:r>
          </a:p>
          <a:p>
            <a:pPr>
              <a:defRPr/>
            </a:pPr>
            <a:endParaRPr lang="en-US" sz="2600" dirty="0">
              <a:latin typeface="Times New Roman" panose="02020603050405020304" pitchFamily="18" charset="0"/>
              <a:cs typeface="Times New Roman" panose="02020603050405020304" pitchFamily="18" charset="0"/>
            </a:endParaRPr>
          </a:p>
          <a:p>
            <a:pPr>
              <a:defRPr/>
            </a:pPr>
            <a:r>
              <a:rPr lang="en-US" sz="2600" b="1" dirty="0">
                <a:latin typeface="Times New Roman" panose="02020603050405020304" pitchFamily="18" charset="0"/>
                <a:cs typeface="Times New Roman" panose="02020603050405020304" pitchFamily="18" charset="0"/>
              </a:rPr>
              <a:t>They may affect the system (for example, press the ‘X’ key) or only the user’s mental state (for example, read the dialog box)</a:t>
            </a:r>
          </a:p>
          <a:p>
            <a:pPr>
              <a:defRPr/>
            </a:pPr>
            <a:endParaRPr lang="en-US" sz="2600" dirty="0">
              <a:latin typeface="Times New Roman" panose="02020603050405020304" pitchFamily="18" charset="0"/>
              <a:cs typeface="Times New Roman" panose="02020603050405020304" pitchFamily="18" charset="0"/>
            </a:endParaRPr>
          </a:p>
          <a:p>
            <a:pPr>
              <a:defRPr/>
            </a:pPr>
            <a:r>
              <a:rPr lang="en-US" sz="2600" dirty="0">
                <a:latin typeface="Times New Roman" panose="02020603050405020304" pitchFamily="18" charset="0"/>
                <a:cs typeface="Times New Roman" panose="02020603050405020304" pitchFamily="18" charset="0"/>
              </a:rPr>
              <a:t>another example of an Operation might be:-</a:t>
            </a:r>
          </a:p>
          <a:p>
            <a:pPr marL="0" indent="0">
              <a:buFont typeface="Arial" panose="020B0604020202020204" pitchFamily="34" charset="0"/>
              <a:buNone/>
              <a:defRPr/>
            </a:pPr>
            <a:r>
              <a:rPr lang="en-US" sz="2600" dirty="0">
                <a:latin typeface="Times New Roman" panose="02020603050405020304" pitchFamily="18" charset="0"/>
                <a:cs typeface="Times New Roman" panose="02020603050405020304" pitchFamily="18" charset="0"/>
              </a:rPr>
              <a:t>	Move mouse to Edit Menu</a:t>
            </a:r>
          </a:p>
        </p:txBody>
      </p:sp>
      <p:sp>
        <p:nvSpPr>
          <p:cNvPr id="68612" name="Slide Number Placeholder 3">
            <a:extLst>
              <a:ext uri="{FF2B5EF4-FFF2-40B4-BE49-F238E27FC236}">
                <a16:creationId xmlns:a16="http://schemas.microsoft.com/office/drawing/2014/main" id="{19D07BDC-FA53-4F2E-A708-0F3F6EB3FD1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4EBD382-33C8-4863-9ED0-1A65DDF7B9DF}" type="slidenum">
              <a:rPr lang="en-GB" altLang="en-GH">
                <a:solidFill>
                  <a:srgbClr val="FFC551"/>
                </a:solidFill>
                <a:latin typeface="Century Gothic" panose="020B0502020202020204" pitchFamily="34" charset="0"/>
              </a:rPr>
              <a:pPr/>
              <a:t>33</a:t>
            </a:fld>
            <a:endParaRPr lang="en-GB" altLang="en-GH">
              <a:solidFill>
                <a:srgbClr val="FFC551"/>
              </a:solidFill>
              <a:latin typeface="Century Gothic" panose="020B0502020202020204" pitchFamily="34" charset="0"/>
            </a:endParaRPr>
          </a:p>
        </p:txBody>
      </p:sp>
    </p:spTree>
    <p:extLst>
      <p:ext uri="{BB962C8B-B14F-4D97-AF65-F5344CB8AC3E}">
        <p14:creationId xmlns:p14="http://schemas.microsoft.com/office/powerpoint/2010/main" val="20154086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49FBEEAE-4B25-4386-98A8-FB9F6D2EA158}"/>
              </a:ext>
            </a:extLst>
          </p:cNvPr>
          <p:cNvSpPr>
            <a:spLocks noGrp="1"/>
          </p:cNvSpPr>
          <p:nvPr>
            <p:ph type="title"/>
          </p:nvPr>
        </p:nvSpPr>
        <p:spPr>
          <a:xfrm>
            <a:off x="801688" y="788988"/>
            <a:ext cx="10515600" cy="901700"/>
          </a:xfrm>
        </p:spPr>
        <p:txBody>
          <a:bodyPr/>
          <a:lstStyle/>
          <a:p>
            <a:pPr algn="ctr"/>
            <a:r>
              <a:rPr lang="en-US" altLang="en-GH" dirty="0">
                <a:latin typeface="Times New Roman" panose="02020603050405020304" pitchFamily="18" charset="0"/>
                <a:cs typeface="Times New Roman" panose="02020603050405020304" pitchFamily="18" charset="0"/>
              </a:rPr>
              <a:t>GOMS: Methods</a:t>
            </a:r>
          </a:p>
        </p:txBody>
      </p:sp>
      <p:sp>
        <p:nvSpPr>
          <p:cNvPr id="3" name="Content Placeholder 2">
            <a:extLst>
              <a:ext uri="{FF2B5EF4-FFF2-40B4-BE49-F238E27FC236}">
                <a16:creationId xmlns:a16="http://schemas.microsoft.com/office/drawing/2014/main" id="{28B67ECA-3420-4850-9589-0579DC23D881}"/>
              </a:ext>
            </a:extLst>
          </p:cNvPr>
          <p:cNvSpPr>
            <a:spLocks noGrp="1"/>
          </p:cNvSpPr>
          <p:nvPr>
            <p:ph idx="1"/>
          </p:nvPr>
        </p:nvSpPr>
        <p:spPr>
          <a:xfrm>
            <a:off x="407988" y="1690688"/>
            <a:ext cx="11304587" cy="4773612"/>
          </a:xfrm>
        </p:spPr>
        <p:txBody>
          <a:bodyPr/>
          <a:lstStyle/>
          <a:p>
            <a:pPr marL="0" indent="0" algn="ctr">
              <a:buFont typeface="Arial" panose="020B0604020202020204" pitchFamily="34" charset="0"/>
              <a:buNone/>
              <a:defRPr/>
            </a:pPr>
            <a:r>
              <a:rPr lang="en-US" sz="2600" b="1" dirty="0">
                <a:latin typeface="Times New Roman" panose="02020603050405020304" pitchFamily="18" charset="0"/>
                <a:cs typeface="Times New Roman" panose="02020603050405020304" pitchFamily="18" charset="0"/>
              </a:rPr>
              <a:t>Methods </a:t>
            </a:r>
          </a:p>
          <a:p>
            <a:pPr>
              <a:defRPr/>
            </a:pPr>
            <a:r>
              <a:rPr lang="en-US" sz="2600" b="1" dirty="0">
                <a:latin typeface="Times New Roman" panose="02020603050405020304" pitchFamily="18" charset="0"/>
                <a:cs typeface="Times New Roman" panose="02020603050405020304" pitchFamily="18" charset="0"/>
              </a:rPr>
              <a:t>There are typically several ways in which a goal can be split into </a:t>
            </a:r>
            <a:r>
              <a:rPr lang="en-US" sz="2600" b="1" dirty="0" err="1">
                <a:latin typeface="Times New Roman" panose="02020603050405020304" pitchFamily="18" charset="0"/>
                <a:cs typeface="Times New Roman" panose="02020603050405020304" pitchFamily="18" charset="0"/>
              </a:rPr>
              <a:t>subgoals</a:t>
            </a:r>
            <a:r>
              <a:rPr lang="en-US" sz="2600" b="1" dirty="0">
                <a:latin typeface="Times New Roman" panose="02020603050405020304" pitchFamily="18" charset="0"/>
                <a:cs typeface="Times New Roman" panose="02020603050405020304" pitchFamily="18" charset="0"/>
              </a:rPr>
              <a:t>. </a:t>
            </a:r>
          </a:p>
          <a:p>
            <a:pPr>
              <a:defRPr/>
            </a:pPr>
            <a:endParaRPr lang="en-US" sz="2600" dirty="0">
              <a:latin typeface="Times New Roman" panose="02020603050405020304" pitchFamily="18" charset="0"/>
              <a:cs typeface="Times New Roman" panose="02020603050405020304" pitchFamily="18" charset="0"/>
            </a:endParaRPr>
          </a:p>
          <a:p>
            <a:pPr>
              <a:defRPr/>
            </a:pPr>
            <a:r>
              <a:rPr lang="en-US" sz="2600" dirty="0">
                <a:latin typeface="Times New Roman" panose="02020603050405020304" pitchFamily="18" charset="0"/>
                <a:cs typeface="Times New Roman" panose="02020603050405020304" pitchFamily="18" charset="0"/>
              </a:rPr>
              <a:t>For instance, in a certain window manager, a currently selected window can be closed either by </a:t>
            </a:r>
            <a:r>
              <a:rPr lang="en-US" sz="2600" b="1" dirty="0">
                <a:latin typeface="Times New Roman" panose="02020603050405020304" pitchFamily="18" charset="0"/>
                <a:cs typeface="Times New Roman" panose="02020603050405020304" pitchFamily="18" charset="0"/>
              </a:rPr>
              <a:t>clicking on the close icon </a:t>
            </a:r>
            <a:r>
              <a:rPr lang="en-US" sz="2600" dirty="0">
                <a:latin typeface="Times New Roman" panose="02020603050405020304" pitchFamily="18" charset="0"/>
                <a:cs typeface="Times New Roman" panose="02020603050405020304" pitchFamily="18" charset="0"/>
              </a:rPr>
              <a:t>or by </a:t>
            </a:r>
            <a:r>
              <a:rPr lang="en-US" sz="2600" b="1" dirty="0">
                <a:latin typeface="Times New Roman" panose="02020603050405020304" pitchFamily="18" charset="0"/>
                <a:cs typeface="Times New Roman" panose="02020603050405020304" pitchFamily="18" charset="0"/>
              </a:rPr>
              <a:t>hitting a specific function key</a:t>
            </a:r>
            <a:r>
              <a:rPr lang="en-US" sz="2600" dirty="0">
                <a:latin typeface="Times New Roman" panose="02020603050405020304" pitchFamily="18" charset="0"/>
                <a:cs typeface="Times New Roman" panose="02020603050405020304" pitchFamily="18" charset="0"/>
              </a:rPr>
              <a:t>.</a:t>
            </a:r>
          </a:p>
          <a:p>
            <a:pPr>
              <a:defRPr/>
            </a:pPr>
            <a:endParaRPr lang="en-US" sz="2600" dirty="0">
              <a:latin typeface="Times New Roman" panose="02020603050405020304" pitchFamily="18" charset="0"/>
              <a:cs typeface="Times New Roman" panose="02020603050405020304" pitchFamily="18" charset="0"/>
            </a:endParaRPr>
          </a:p>
          <a:p>
            <a:pPr>
              <a:defRPr/>
            </a:pPr>
            <a:r>
              <a:rPr lang="en-US" sz="2600" dirty="0">
                <a:latin typeface="Times New Roman" panose="02020603050405020304" pitchFamily="18" charset="0"/>
                <a:cs typeface="Times New Roman" panose="02020603050405020304" pitchFamily="18" charset="0"/>
              </a:rPr>
              <a:t> In GOMS, these </a:t>
            </a:r>
            <a:r>
              <a:rPr lang="en-US" sz="2600" b="1" dirty="0">
                <a:solidFill>
                  <a:srgbClr val="00B050"/>
                </a:solidFill>
                <a:latin typeface="Times New Roman" panose="02020603050405020304" pitchFamily="18" charset="0"/>
                <a:cs typeface="Times New Roman" panose="02020603050405020304" pitchFamily="18" charset="0"/>
              </a:rPr>
              <a:t>two goal decompositions are referred to as methods, so we have the ICON-METHOD and the FUNCTIONKEY-METHOD:</a:t>
            </a:r>
          </a:p>
        </p:txBody>
      </p:sp>
      <p:sp>
        <p:nvSpPr>
          <p:cNvPr id="69636" name="Slide Number Placeholder 3">
            <a:extLst>
              <a:ext uri="{FF2B5EF4-FFF2-40B4-BE49-F238E27FC236}">
                <a16:creationId xmlns:a16="http://schemas.microsoft.com/office/drawing/2014/main" id="{CD637BFC-5ACB-478B-9E88-3D96C7AC46E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BC3F303-70D8-4EFF-9753-DDF843F2B717}" type="slidenum">
              <a:rPr lang="en-GB" altLang="en-GH">
                <a:solidFill>
                  <a:srgbClr val="FFC551"/>
                </a:solidFill>
                <a:latin typeface="Century Gothic" panose="020B0502020202020204" pitchFamily="34" charset="0"/>
              </a:rPr>
              <a:pPr/>
              <a:t>34</a:t>
            </a:fld>
            <a:endParaRPr lang="en-GB" altLang="en-GH">
              <a:solidFill>
                <a:srgbClr val="FFC551"/>
              </a:solidFill>
              <a:latin typeface="Century Gothic" panose="020B0502020202020204" pitchFamily="34" charset="0"/>
            </a:endParaRPr>
          </a:p>
        </p:txBody>
      </p:sp>
    </p:spTree>
    <p:extLst>
      <p:ext uri="{BB962C8B-B14F-4D97-AF65-F5344CB8AC3E}">
        <p14:creationId xmlns:p14="http://schemas.microsoft.com/office/powerpoint/2010/main" val="14094347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2CD281AF-02B9-49B5-9FFB-5F963DEDDD5B}"/>
              </a:ext>
            </a:extLst>
          </p:cNvPr>
          <p:cNvSpPr>
            <a:spLocks noGrp="1"/>
          </p:cNvSpPr>
          <p:nvPr>
            <p:ph type="title"/>
          </p:nvPr>
        </p:nvSpPr>
        <p:spPr/>
        <p:txBody>
          <a:bodyPr/>
          <a:lstStyle/>
          <a:p>
            <a:pPr algn="ctr"/>
            <a:r>
              <a:rPr lang="en-US" altLang="en-GH" dirty="0">
                <a:latin typeface="Times New Roman" panose="02020603050405020304" pitchFamily="18" charset="0"/>
                <a:cs typeface="Times New Roman" panose="02020603050405020304" pitchFamily="18" charset="0"/>
              </a:rPr>
              <a:t>GOMS: Methods/Select</a:t>
            </a:r>
          </a:p>
        </p:txBody>
      </p:sp>
      <p:sp>
        <p:nvSpPr>
          <p:cNvPr id="70659" name="Content Placeholder 2">
            <a:extLst>
              <a:ext uri="{FF2B5EF4-FFF2-40B4-BE49-F238E27FC236}">
                <a16:creationId xmlns:a16="http://schemas.microsoft.com/office/drawing/2014/main" id="{8C1C0EC1-344B-435F-866F-84B13E4E1AE6}"/>
              </a:ext>
            </a:extLst>
          </p:cNvPr>
          <p:cNvSpPr>
            <a:spLocks noGrp="1"/>
          </p:cNvSpPr>
          <p:nvPr>
            <p:ph idx="1"/>
          </p:nvPr>
        </p:nvSpPr>
        <p:spPr>
          <a:xfrm>
            <a:off x="1096963" y="1846263"/>
            <a:ext cx="10058400" cy="4022725"/>
          </a:xfrm>
        </p:spPr>
        <p:txBody>
          <a:bodyPr/>
          <a:lstStyle/>
          <a:p>
            <a:pPr marL="0" indent="0">
              <a:buFont typeface="Arial" panose="020B0604020202020204" pitchFamily="34" charset="0"/>
              <a:buNone/>
            </a:pPr>
            <a:r>
              <a:rPr lang="en-US" altLang="en-GH" sz="2600" dirty="0">
                <a:latin typeface="Times New Roman" panose="02020603050405020304" pitchFamily="18" charset="0"/>
                <a:cs typeface="Times New Roman" panose="02020603050405020304" pitchFamily="18" charset="0"/>
              </a:rPr>
              <a:t>GOAL: CLOSE-WINDOW</a:t>
            </a:r>
          </a:p>
          <a:p>
            <a:pPr marL="0" indent="0">
              <a:buFont typeface="Arial" panose="020B0604020202020204" pitchFamily="34" charset="0"/>
              <a:buNone/>
            </a:pPr>
            <a:endParaRPr lang="en-US" altLang="en-GH" sz="26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GH" sz="2600" dirty="0">
                <a:latin typeface="Times New Roman" panose="02020603050405020304" pitchFamily="18" charset="0"/>
                <a:cs typeface="Times New Roman" panose="02020603050405020304" pitchFamily="18" charset="0"/>
              </a:rPr>
              <a:t>. 	[select GOAL:     USE-ICON-METHOD</a:t>
            </a:r>
          </a:p>
          <a:p>
            <a:pPr marL="0" indent="0">
              <a:buFont typeface="Arial" panose="020B0604020202020204" pitchFamily="34" charset="0"/>
              <a:buNone/>
            </a:pPr>
            <a:r>
              <a:rPr lang="en-US" altLang="en-GH" sz="2600" dirty="0">
                <a:latin typeface="Times New Roman" panose="02020603050405020304" pitchFamily="18" charset="0"/>
                <a:cs typeface="Times New Roman" panose="02020603050405020304" pitchFamily="18" charset="0"/>
              </a:rPr>
              <a:t>. 	              . 	  MOVE-MOUSE-TO-WINDOW-HEADER</a:t>
            </a:r>
          </a:p>
          <a:p>
            <a:pPr marL="0" indent="0">
              <a:buFont typeface="Arial" panose="020B0604020202020204" pitchFamily="34" charset="0"/>
              <a:buNone/>
            </a:pPr>
            <a:r>
              <a:rPr lang="en-US" altLang="en-GH" sz="2600" dirty="0">
                <a:latin typeface="Times New Roman" panose="02020603050405020304" pitchFamily="18" charset="0"/>
                <a:cs typeface="Times New Roman" panose="02020603050405020304" pitchFamily="18" charset="0"/>
              </a:rPr>
              <a:t>.		  .              CLICK-ON-THE-CLOSE-ICON</a:t>
            </a:r>
          </a:p>
          <a:p>
            <a:pPr marL="0" indent="0">
              <a:buFont typeface="Arial" panose="020B0604020202020204" pitchFamily="34" charset="0"/>
              <a:buNone/>
            </a:pPr>
            <a:endParaRPr lang="en-US" altLang="en-GH" sz="26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GH" sz="2600" dirty="0">
                <a:latin typeface="Times New Roman" panose="02020603050405020304" pitchFamily="18" charset="0"/>
                <a:cs typeface="Times New Roman" panose="02020603050405020304" pitchFamily="18" charset="0"/>
              </a:rPr>
              <a:t>	           GOAL:     USE-FUNCTIONKEY-METHOD</a:t>
            </a:r>
          </a:p>
          <a:p>
            <a:pPr marL="0" indent="0">
              <a:buFont typeface="Arial" panose="020B0604020202020204" pitchFamily="34" charset="0"/>
              <a:buNone/>
            </a:pPr>
            <a:r>
              <a:rPr lang="en-US" altLang="en-GH" sz="2600" dirty="0">
                <a:latin typeface="Times New Roman" panose="02020603050405020304" pitchFamily="18" charset="0"/>
                <a:cs typeface="Times New Roman" panose="02020603050405020304" pitchFamily="18" charset="0"/>
              </a:rPr>
              <a:t>.                          . 	   PRESS ALT+F4]</a:t>
            </a:r>
          </a:p>
          <a:p>
            <a:pPr marL="0" indent="0">
              <a:buFont typeface="Arial" panose="020B0604020202020204" pitchFamily="34" charset="0"/>
              <a:buNone/>
            </a:pPr>
            <a:endParaRPr lang="en-US" altLang="en-GH" sz="2600" dirty="0"/>
          </a:p>
        </p:txBody>
      </p:sp>
      <p:sp>
        <p:nvSpPr>
          <p:cNvPr id="70660" name="Slide Number Placeholder 3">
            <a:extLst>
              <a:ext uri="{FF2B5EF4-FFF2-40B4-BE49-F238E27FC236}">
                <a16:creationId xmlns:a16="http://schemas.microsoft.com/office/drawing/2014/main" id="{400387F9-B7EE-453D-82D3-ECF3F39BD42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FF5DC51-BF01-4F19-B1D1-68564E5FDAE3}" type="slidenum">
              <a:rPr lang="en-GB" altLang="en-GH">
                <a:solidFill>
                  <a:srgbClr val="FFC551"/>
                </a:solidFill>
                <a:latin typeface="Century Gothic" panose="020B0502020202020204" pitchFamily="34" charset="0"/>
              </a:rPr>
              <a:pPr/>
              <a:t>35</a:t>
            </a:fld>
            <a:endParaRPr lang="en-GB" altLang="en-GH">
              <a:solidFill>
                <a:srgbClr val="FFC551"/>
              </a:solidFill>
              <a:latin typeface="Century Gothic" panose="020B0502020202020204" pitchFamily="34" charset="0"/>
            </a:endParaRPr>
          </a:p>
        </p:txBody>
      </p:sp>
    </p:spTree>
    <p:extLst>
      <p:ext uri="{BB962C8B-B14F-4D97-AF65-F5344CB8AC3E}">
        <p14:creationId xmlns:p14="http://schemas.microsoft.com/office/powerpoint/2010/main" val="11171040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081F4B0F-8054-4BBF-ADC8-96723E4438B8}"/>
              </a:ext>
            </a:extLst>
          </p:cNvPr>
          <p:cNvSpPr>
            <a:spLocks noGrp="1"/>
          </p:cNvSpPr>
          <p:nvPr>
            <p:ph type="title"/>
          </p:nvPr>
        </p:nvSpPr>
        <p:spPr>
          <a:xfrm>
            <a:off x="801688" y="788988"/>
            <a:ext cx="10515600" cy="623887"/>
          </a:xfrm>
        </p:spPr>
        <p:txBody>
          <a:bodyPr>
            <a:normAutofit fontScale="90000"/>
          </a:bodyPr>
          <a:lstStyle/>
          <a:p>
            <a:pPr algn="ctr"/>
            <a:r>
              <a:rPr lang="en-US" altLang="en-GH" dirty="0">
                <a:latin typeface="Times New Roman" panose="02020603050405020304" pitchFamily="18" charset="0"/>
                <a:cs typeface="Times New Roman" panose="02020603050405020304" pitchFamily="18" charset="0"/>
              </a:rPr>
              <a:t>GOMS: Selection</a:t>
            </a:r>
          </a:p>
        </p:txBody>
      </p:sp>
      <p:sp>
        <p:nvSpPr>
          <p:cNvPr id="71683" name="Content Placeholder 2">
            <a:extLst>
              <a:ext uri="{FF2B5EF4-FFF2-40B4-BE49-F238E27FC236}">
                <a16:creationId xmlns:a16="http://schemas.microsoft.com/office/drawing/2014/main" id="{4842CCED-7D9F-4586-9671-F2980BA53628}"/>
              </a:ext>
            </a:extLst>
          </p:cNvPr>
          <p:cNvSpPr>
            <a:spLocks noGrp="1"/>
          </p:cNvSpPr>
          <p:nvPr>
            <p:ph idx="1"/>
          </p:nvPr>
        </p:nvSpPr>
        <p:spPr>
          <a:xfrm>
            <a:off x="407988" y="1700213"/>
            <a:ext cx="11592668" cy="4321075"/>
          </a:xfrm>
        </p:spPr>
        <p:txBody>
          <a:bodyPr/>
          <a:lstStyle/>
          <a:p>
            <a:r>
              <a:rPr lang="en-US" altLang="en-GH" sz="2600" b="1" dirty="0">
                <a:latin typeface="Times New Roman" panose="02020603050405020304" pitchFamily="18" charset="0"/>
                <a:cs typeface="Times New Roman" panose="02020603050405020304" pitchFamily="18" charset="0"/>
              </a:rPr>
              <a:t> </a:t>
            </a:r>
            <a:r>
              <a:rPr lang="en-US" altLang="en-GH" sz="2600" dirty="0">
                <a:latin typeface="Times New Roman" panose="02020603050405020304" pitchFamily="18" charset="0"/>
                <a:cs typeface="Times New Roman" panose="02020603050405020304" pitchFamily="18" charset="0"/>
              </a:rPr>
              <a:t>From the above snippet, we see the use of the word select </a:t>
            </a:r>
            <a:r>
              <a:rPr lang="en-US" altLang="en-GH" sz="2600" b="1" dirty="0">
                <a:solidFill>
                  <a:srgbClr val="00B050"/>
                </a:solidFill>
                <a:latin typeface="Times New Roman" panose="02020603050405020304" pitchFamily="18" charset="0"/>
                <a:cs typeface="Times New Roman" panose="02020603050405020304" pitchFamily="18" charset="0"/>
              </a:rPr>
              <a:t>where the choice of methods arises. </a:t>
            </a:r>
            <a:endParaRPr lang="en-US" altLang="en-GH" sz="2600" dirty="0">
              <a:latin typeface="Times New Roman" panose="02020603050405020304" pitchFamily="18" charset="0"/>
              <a:cs typeface="Times New Roman" panose="02020603050405020304" pitchFamily="18" charset="0"/>
            </a:endParaRPr>
          </a:p>
          <a:p>
            <a:r>
              <a:rPr lang="en-US" altLang="en-GH" sz="2600" b="1" dirty="0">
                <a:latin typeface="Times New Roman" panose="02020603050405020304" pitchFamily="18" charset="0"/>
                <a:cs typeface="Times New Roman" panose="02020603050405020304" pitchFamily="18" charset="0"/>
              </a:rPr>
              <a:t>GOMS does not leave this as a random choice</a:t>
            </a:r>
            <a:r>
              <a:rPr lang="en-US" altLang="en-GH" sz="2600" dirty="0">
                <a:latin typeface="Times New Roman" panose="02020603050405020304" pitchFamily="18" charset="0"/>
                <a:cs typeface="Times New Roman" panose="02020603050405020304" pitchFamily="18" charset="0"/>
              </a:rPr>
              <a:t>, but attempts to predict which methods will be used. </a:t>
            </a:r>
          </a:p>
          <a:p>
            <a:endParaRPr lang="en-US" altLang="en-GH" sz="2600" dirty="0">
              <a:latin typeface="Times New Roman" panose="02020603050405020304" pitchFamily="18" charset="0"/>
              <a:cs typeface="Times New Roman" panose="02020603050405020304" pitchFamily="18" charset="0"/>
            </a:endParaRPr>
          </a:p>
          <a:p>
            <a:r>
              <a:rPr lang="en-US" altLang="en-GH" sz="2600" dirty="0">
                <a:latin typeface="Times New Roman" panose="02020603050405020304" pitchFamily="18" charset="0"/>
                <a:cs typeface="Times New Roman" panose="02020603050405020304" pitchFamily="18" charset="0"/>
              </a:rPr>
              <a:t>This typically depends both on the particular user and on the state of the system and details about the goals.</a:t>
            </a:r>
          </a:p>
          <a:p>
            <a:endParaRPr lang="en-US" altLang="en-GH" sz="2600" dirty="0">
              <a:latin typeface="Times New Roman" panose="02020603050405020304" pitchFamily="18" charset="0"/>
              <a:cs typeface="Times New Roman" panose="02020603050405020304" pitchFamily="18" charset="0"/>
            </a:endParaRPr>
          </a:p>
          <a:p>
            <a:r>
              <a:rPr lang="en-US" altLang="en-GH" sz="2600" dirty="0">
                <a:latin typeface="Times New Roman" panose="02020603050405020304" pitchFamily="18" charset="0"/>
                <a:cs typeface="Times New Roman" panose="02020603050405020304" pitchFamily="18" charset="0"/>
              </a:rPr>
              <a:t>For instance, a user, Sam, never uses the FUNCTIONKEY-METHOD, except the mouse or touch pad is not working.</a:t>
            </a:r>
          </a:p>
          <a:p>
            <a:endParaRPr lang="en-US" altLang="en-GH" sz="2600" dirty="0">
              <a:latin typeface="Times New Roman" panose="02020603050405020304" pitchFamily="18" charset="0"/>
              <a:cs typeface="Times New Roman" panose="02020603050405020304" pitchFamily="18" charset="0"/>
            </a:endParaRPr>
          </a:p>
          <a:p>
            <a:endParaRPr lang="en-US" altLang="en-GH" sz="2600" b="1" dirty="0">
              <a:solidFill>
                <a:srgbClr val="00B050"/>
              </a:solidFill>
              <a:latin typeface="Times New Roman" panose="02020603050405020304" pitchFamily="18" charset="0"/>
              <a:cs typeface="Times New Roman" panose="02020603050405020304" pitchFamily="18" charset="0"/>
            </a:endParaRPr>
          </a:p>
        </p:txBody>
      </p:sp>
      <p:sp>
        <p:nvSpPr>
          <p:cNvPr id="71684" name="Slide Number Placeholder 3">
            <a:extLst>
              <a:ext uri="{FF2B5EF4-FFF2-40B4-BE49-F238E27FC236}">
                <a16:creationId xmlns:a16="http://schemas.microsoft.com/office/drawing/2014/main" id="{5EE9B9EC-2A23-4136-8D20-69B4956865B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1DA41C2-33C4-4333-A333-41C9F6C6C121}" type="slidenum">
              <a:rPr lang="en-GB" altLang="en-GH">
                <a:solidFill>
                  <a:srgbClr val="FFC551"/>
                </a:solidFill>
                <a:latin typeface="Century Gothic" panose="020B0502020202020204" pitchFamily="34" charset="0"/>
              </a:rPr>
              <a:pPr/>
              <a:t>36</a:t>
            </a:fld>
            <a:endParaRPr lang="en-GB" altLang="en-GH">
              <a:solidFill>
                <a:srgbClr val="FFC551"/>
              </a:solidFill>
              <a:latin typeface="Century Gothic" panose="020B0502020202020204" pitchFamily="34" charset="0"/>
            </a:endParaRPr>
          </a:p>
        </p:txBody>
      </p:sp>
    </p:spTree>
    <p:extLst>
      <p:ext uri="{BB962C8B-B14F-4D97-AF65-F5344CB8AC3E}">
        <p14:creationId xmlns:p14="http://schemas.microsoft.com/office/powerpoint/2010/main" val="42879611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6BF07C48-B8E1-4BF3-8B0F-ED9DDDAC6D87}"/>
              </a:ext>
            </a:extLst>
          </p:cNvPr>
          <p:cNvSpPr>
            <a:spLocks noGrp="1"/>
          </p:cNvSpPr>
          <p:nvPr>
            <p:ph type="title"/>
          </p:nvPr>
        </p:nvSpPr>
        <p:spPr/>
        <p:txBody>
          <a:bodyPr/>
          <a:lstStyle/>
          <a:p>
            <a:pPr algn="ctr"/>
            <a:r>
              <a:rPr lang="en-US" altLang="en-GH" dirty="0">
                <a:latin typeface="Times New Roman" panose="02020603050405020304" pitchFamily="18" charset="0"/>
                <a:cs typeface="Times New Roman" panose="02020603050405020304" pitchFamily="18" charset="0"/>
              </a:rPr>
              <a:t>GOMS: Selection</a:t>
            </a:r>
          </a:p>
        </p:txBody>
      </p:sp>
      <p:sp>
        <p:nvSpPr>
          <p:cNvPr id="72707" name="Content Placeholder 2">
            <a:extLst>
              <a:ext uri="{FF2B5EF4-FFF2-40B4-BE49-F238E27FC236}">
                <a16:creationId xmlns:a16="http://schemas.microsoft.com/office/drawing/2014/main" id="{FE6B7A5D-4835-49B7-A198-54934BC99A7E}"/>
              </a:ext>
            </a:extLst>
          </p:cNvPr>
          <p:cNvSpPr>
            <a:spLocks noGrp="1"/>
          </p:cNvSpPr>
          <p:nvPr>
            <p:ph idx="1"/>
          </p:nvPr>
        </p:nvSpPr>
        <p:spPr/>
        <p:txBody>
          <a:bodyPr/>
          <a:lstStyle/>
          <a:p>
            <a:pPr>
              <a:lnSpc>
                <a:spcPct val="100000"/>
              </a:lnSpc>
            </a:pPr>
            <a:r>
              <a:rPr lang="en-US" altLang="en-GH" sz="2600" b="1" dirty="0">
                <a:latin typeface="Times New Roman" panose="02020603050405020304" pitchFamily="18" charset="0"/>
                <a:cs typeface="Times New Roman" panose="02020603050405020304" pitchFamily="18" charset="0"/>
              </a:rPr>
              <a:t>GOMS captures this in a selection rule for Sam:</a:t>
            </a:r>
          </a:p>
          <a:p>
            <a:pPr marL="342900" lvl="1" indent="0">
              <a:lnSpc>
                <a:spcPct val="100000"/>
              </a:lnSpc>
              <a:buFont typeface="Arial" panose="020B0604020202020204" pitchFamily="34" charset="0"/>
              <a:buNone/>
            </a:pPr>
            <a:r>
              <a:rPr lang="en-US" altLang="en-GH" sz="2600" dirty="0">
                <a:latin typeface="Times New Roman" panose="02020603050405020304" pitchFamily="18" charset="0"/>
                <a:cs typeface="Times New Roman" panose="02020603050405020304" pitchFamily="18" charset="0"/>
              </a:rPr>
              <a:t>User Sam:</a:t>
            </a:r>
          </a:p>
          <a:p>
            <a:pPr marL="342900" lvl="1" indent="0">
              <a:lnSpc>
                <a:spcPct val="100000"/>
              </a:lnSpc>
              <a:buFont typeface="Arial" panose="020B0604020202020204" pitchFamily="34" charset="0"/>
              <a:buNone/>
            </a:pPr>
            <a:r>
              <a:rPr lang="en-US" altLang="en-GH" sz="2600" dirty="0">
                <a:latin typeface="Times New Roman" panose="02020603050405020304" pitchFamily="18" charset="0"/>
                <a:cs typeface="Times New Roman" panose="02020603050405020304" pitchFamily="18" charset="0"/>
              </a:rPr>
              <a:t>Rule 1: Use the ICON-METHOD unless another rule applies.</a:t>
            </a:r>
          </a:p>
          <a:p>
            <a:pPr marL="342900" lvl="1" indent="0">
              <a:lnSpc>
                <a:spcPct val="100000"/>
              </a:lnSpc>
              <a:buFont typeface="Arial" panose="020B0604020202020204" pitchFamily="34" charset="0"/>
              <a:buNone/>
            </a:pPr>
            <a:r>
              <a:rPr lang="en-US" altLang="en-GH" sz="2600" dirty="0">
                <a:latin typeface="Times New Roman" panose="02020603050405020304" pitchFamily="18" charset="0"/>
                <a:cs typeface="Times New Roman" panose="02020603050405020304" pitchFamily="18" charset="0"/>
              </a:rPr>
              <a:t>Rule 2: If the mouse or touch pad is ‘not working’ use the FUNCTIONKEY-METHOD.</a:t>
            </a:r>
            <a:endParaRPr lang="en-US" altLang="en-GH" sz="2600" b="1" dirty="0">
              <a:solidFill>
                <a:srgbClr val="00B050"/>
              </a:solidFill>
              <a:latin typeface="Times New Roman" panose="02020603050405020304" pitchFamily="18" charset="0"/>
              <a:cs typeface="Times New Roman" panose="02020603050405020304" pitchFamily="18" charset="0"/>
            </a:endParaRPr>
          </a:p>
          <a:p>
            <a:pPr>
              <a:lnSpc>
                <a:spcPct val="100000"/>
              </a:lnSpc>
            </a:pPr>
            <a:r>
              <a:rPr lang="en-US" altLang="en-GH" sz="2600" b="1" dirty="0">
                <a:latin typeface="Times New Roman" panose="02020603050405020304" pitchFamily="18" charset="0"/>
                <a:cs typeface="Times New Roman" panose="02020603050405020304" pitchFamily="18" charset="0"/>
              </a:rPr>
              <a:t>Another Example of Selection rule</a:t>
            </a:r>
          </a:p>
          <a:p>
            <a:pPr marL="342900" lvl="1" indent="0">
              <a:lnSpc>
                <a:spcPct val="100000"/>
              </a:lnSpc>
              <a:buFont typeface="Arial" panose="020B0604020202020204" pitchFamily="34" charset="0"/>
              <a:buNone/>
            </a:pPr>
            <a:r>
              <a:rPr lang="en-US" altLang="en-GH" sz="2600" dirty="0">
                <a:latin typeface="Times New Roman" panose="02020603050405020304" pitchFamily="18" charset="0"/>
                <a:cs typeface="Times New Roman" panose="02020603050405020304" pitchFamily="18" charset="0"/>
              </a:rPr>
              <a:t>Rule1: Use Mouse and Edit menu if hand is currently on mouse.</a:t>
            </a:r>
          </a:p>
          <a:p>
            <a:pPr marL="342900" lvl="1" indent="0">
              <a:lnSpc>
                <a:spcPct val="100000"/>
              </a:lnSpc>
              <a:buFont typeface="Arial" panose="020B0604020202020204" pitchFamily="34" charset="0"/>
              <a:buNone/>
            </a:pPr>
            <a:r>
              <a:rPr lang="en-US" altLang="en-GH" sz="2600" dirty="0">
                <a:latin typeface="Times New Roman" panose="02020603050405020304" pitchFamily="18" charset="0"/>
                <a:cs typeface="Times New Roman" panose="02020603050405020304" pitchFamily="18" charset="0"/>
              </a:rPr>
              <a:t>Rule 2: Use function key if the hands are currently homed on the keyboard.</a:t>
            </a:r>
          </a:p>
        </p:txBody>
      </p:sp>
      <p:sp>
        <p:nvSpPr>
          <p:cNvPr id="72708" name="Slide Number Placeholder 3">
            <a:extLst>
              <a:ext uri="{FF2B5EF4-FFF2-40B4-BE49-F238E27FC236}">
                <a16:creationId xmlns:a16="http://schemas.microsoft.com/office/drawing/2014/main" id="{224F0D8B-74A5-4275-B5A8-4142CD1A51B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69AC9A-1DDE-43FF-BDDC-B510567BE387}" type="slidenum">
              <a:rPr lang="en-GB" altLang="en-GH">
                <a:solidFill>
                  <a:srgbClr val="FFC551"/>
                </a:solidFill>
                <a:latin typeface="Century Gothic" panose="020B0502020202020204" pitchFamily="34" charset="0"/>
              </a:rPr>
              <a:pPr/>
              <a:t>37</a:t>
            </a:fld>
            <a:endParaRPr lang="en-GB" altLang="en-GH">
              <a:solidFill>
                <a:srgbClr val="FFC551"/>
              </a:solidFill>
              <a:latin typeface="Century Gothic" panose="020B0502020202020204" pitchFamily="34" charset="0"/>
            </a:endParaRPr>
          </a:p>
        </p:txBody>
      </p:sp>
    </p:spTree>
    <p:extLst>
      <p:ext uri="{BB962C8B-B14F-4D97-AF65-F5344CB8AC3E}">
        <p14:creationId xmlns:p14="http://schemas.microsoft.com/office/powerpoint/2010/main" val="30464680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rotWithShape="1">
          <a:blip r:embed="rId2"/>
          <a:srcRect l="17373" t="25025" r="26268" b="12324"/>
          <a:stretch/>
        </p:blipFill>
        <p:spPr>
          <a:xfrm>
            <a:off x="1081086" y="188639"/>
            <a:ext cx="9767442" cy="6104651"/>
          </a:xfrm>
          <a:prstGeom prst="rect">
            <a:avLst/>
          </a:prstGeom>
        </p:spPr>
      </p:pic>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38</a:t>
            </a:fld>
            <a:endParaRPr lang="en-GB" altLang="en-US"/>
          </a:p>
        </p:txBody>
      </p:sp>
    </p:spTree>
    <p:extLst>
      <p:ext uri="{BB962C8B-B14F-4D97-AF65-F5344CB8AC3E}">
        <p14:creationId xmlns:p14="http://schemas.microsoft.com/office/powerpoint/2010/main" val="16263573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8151EE39-7AEC-42B7-BBF9-4D82A0C129BC}"/>
              </a:ext>
            </a:extLst>
          </p:cNvPr>
          <p:cNvSpPr>
            <a:spLocks noGrp="1"/>
          </p:cNvSpPr>
          <p:nvPr>
            <p:ph type="title"/>
          </p:nvPr>
        </p:nvSpPr>
        <p:spPr/>
        <p:txBody>
          <a:bodyPr/>
          <a:lstStyle/>
          <a:p>
            <a:pPr algn="ctr"/>
            <a:r>
              <a:rPr lang="en-US" altLang="en-GH">
                <a:latin typeface="Futura Md BT" panose="020B0602020204020303"/>
              </a:rPr>
              <a:t>Exercise</a:t>
            </a:r>
          </a:p>
        </p:txBody>
      </p:sp>
      <p:sp>
        <p:nvSpPr>
          <p:cNvPr id="74755" name="Content Placeholder 2">
            <a:extLst>
              <a:ext uri="{FF2B5EF4-FFF2-40B4-BE49-F238E27FC236}">
                <a16:creationId xmlns:a16="http://schemas.microsoft.com/office/drawing/2014/main" id="{B8F27F19-EF97-4C15-9314-6F2F149DC29B}"/>
              </a:ext>
            </a:extLst>
          </p:cNvPr>
          <p:cNvSpPr>
            <a:spLocks noGrp="1"/>
          </p:cNvSpPr>
          <p:nvPr>
            <p:ph idx="1"/>
          </p:nvPr>
        </p:nvSpPr>
        <p:spPr/>
        <p:txBody>
          <a:bodyPr/>
          <a:lstStyle/>
          <a:p>
            <a:endParaRPr lang="en-US" altLang="en-GH" sz="2600" dirty="0">
              <a:latin typeface="Times New Roman" panose="02020603050405020304" pitchFamily="18" charset="0"/>
              <a:cs typeface="Times New Roman" panose="02020603050405020304" pitchFamily="18" charset="0"/>
            </a:endParaRPr>
          </a:p>
          <a:p>
            <a:r>
              <a:rPr lang="en-US" altLang="en-GH" sz="2600" i="1" dirty="0">
                <a:latin typeface="Times New Roman" panose="02020603050405020304" pitchFamily="18" charset="0"/>
                <a:cs typeface="Times New Roman" panose="02020603050405020304" pitchFamily="18" charset="0"/>
              </a:rPr>
              <a:t>Create a GOMS description of the tasks below</a:t>
            </a:r>
          </a:p>
          <a:p>
            <a:endParaRPr lang="en-US" altLang="en-GH" sz="2600" i="1" dirty="0">
              <a:latin typeface="Times New Roman" panose="02020603050405020304" pitchFamily="18" charset="0"/>
              <a:cs typeface="Times New Roman" panose="02020603050405020304" pitchFamily="18" charset="0"/>
            </a:endParaRPr>
          </a:p>
          <a:p>
            <a:pPr marL="800100" lvl="1" indent="-457200">
              <a:lnSpc>
                <a:spcPct val="200000"/>
              </a:lnSpc>
              <a:buFont typeface="Calibri Light" panose="020F0302020204030204" pitchFamily="34" charset="0"/>
              <a:buAutoNum type="arabicPeriod"/>
            </a:pPr>
            <a:r>
              <a:rPr lang="en-US" altLang="en-GH" sz="2600" dirty="0">
                <a:latin typeface="Times New Roman" panose="02020603050405020304" pitchFamily="18" charset="0"/>
                <a:cs typeface="Times New Roman" panose="02020603050405020304" pitchFamily="18" charset="0"/>
              </a:rPr>
              <a:t>Open a file</a:t>
            </a:r>
          </a:p>
          <a:p>
            <a:pPr marL="800100" lvl="1" indent="-457200">
              <a:lnSpc>
                <a:spcPct val="200000"/>
              </a:lnSpc>
              <a:buFont typeface="Calibri Light" panose="020F0302020204030204" pitchFamily="34" charset="0"/>
              <a:buAutoNum type="arabicPeriod"/>
            </a:pPr>
            <a:r>
              <a:rPr lang="en-US" altLang="en-GH" sz="2600" dirty="0">
                <a:latin typeface="Times New Roman" panose="02020603050405020304" pitchFamily="18" charset="0"/>
                <a:cs typeface="Times New Roman" panose="02020603050405020304" pitchFamily="18" charset="0"/>
              </a:rPr>
              <a:t>Delete a file</a:t>
            </a:r>
          </a:p>
          <a:p>
            <a:pPr marL="800100" lvl="1" indent="-457200">
              <a:lnSpc>
                <a:spcPct val="200000"/>
              </a:lnSpc>
              <a:buFont typeface="Calibri Light" panose="020F0302020204030204" pitchFamily="34" charset="0"/>
              <a:buAutoNum type="arabicPeriod"/>
            </a:pPr>
            <a:r>
              <a:rPr lang="en-US" altLang="en-GH" sz="2600" dirty="0">
                <a:latin typeface="Times New Roman" panose="02020603050405020304" pitchFamily="18" charset="0"/>
                <a:cs typeface="Times New Roman" panose="02020603050405020304" pitchFamily="18" charset="0"/>
              </a:rPr>
              <a:t>Copy a file from “documents” to desktop</a:t>
            </a:r>
          </a:p>
        </p:txBody>
      </p:sp>
      <p:sp>
        <p:nvSpPr>
          <p:cNvPr id="74756" name="Slide Number Placeholder 3">
            <a:extLst>
              <a:ext uri="{FF2B5EF4-FFF2-40B4-BE49-F238E27FC236}">
                <a16:creationId xmlns:a16="http://schemas.microsoft.com/office/drawing/2014/main" id="{D6F6D6FD-1A43-4934-99F3-E8346B1B73F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EBD963-0974-4C51-91B6-8B766B51CF1A}" type="slidenum">
              <a:rPr lang="en-GB" altLang="en-GH">
                <a:solidFill>
                  <a:srgbClr val="FFC551"/>
                </a:solidFill>
                <a:latin typeface="Century Gothic" panose="020B0502020202020204" pitchFamily="34" charset="0"/>
              </a:rPr>
              <a:pPr/>
              <a:t>39</a:t>
            </a:fld>
            <a:endParaRPr lang="en-GB" altLang="en-GH">
              <a:solidFill>
                <a:srgbClr val="FFC551"/>
              </a:solidFill>
              <a:latin typeface="Century Gothic" panose="020B0502020202020204" pitchFamily="34" charset="0"/>
            </a:endParaRPr>
          </a:p>
        </p:txBody>
      </p:sp>
    </p:spTree>
    <p:extLst>
      <p:ext uri="{BB962C8B-B14F-4D97-AF65-F5344CB8AC3E}">
        <p14:creationId xmlns:p14="http://schemas.microsoft.com/office/powerpoint/2010/main" val="34888314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rotWithShape="1">
          <a:blip r:embed="rId2"/>
          <a:srcRect l="23412" t="32185" r="33313" b="17694"/>
          <a:stretch/>
        </p:blipFill>
        <p:spPr>
          <a:xfrm>
            <a:off x="1096962" y="287338"/>
            <a:ext cx="10615662" cy="5880968"/>
          </a:xfrm>
          <a:prstGeom prst="rect">
            <a:avLst/>
          </a:prstGeom>
        </p:spPr>
      </p:pic>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40</a:t>
            </a:fld>
            <a:endParaRPr lang="en-GB" altLang="en-US"/>
          </a:p>
        </p:txBody>
      </p:sp>
    </p:spTree>
    <p:extLst>
      <p:ext uri="{BB962C8B-B14F-4D97-AF65-F5344CB8AC3E}">
        <p14:creationId xmlns:p14="http://schemas.microsoft.com/office/powerpoint/2010/main" val="18280422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l="13348" t="12494" r="59479" b="5164"/>
          <a:stretch/>
        </p:blipFill>
        <p:spPr>
          <a:xfrm>
            <a:off x="1096963" y="285524"/>
            <a:ext cx="6943254" cy="5742329"/>
          </a:xfrm>
          <a:prstGeom prst="rect">
            <a:avLst/>
          </a:prstGeom>
        </p:spPr>
      </p:pic>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41</a:t>
            </a:fld>
            <a:endParaRPr lang="en-GB" altLang="en-US"/>
          </a:p>
        </p:txBody>
      </p:sp>
    </p:spTree>
    <p:extLst>
      <p:ext uri="{BB962C8B-B14F-4D97-AF65-F5344CB8AC3E}">
        <p14:creationId xmlns:p14="http://schemas.microsoft.com/office/powerpoint/2010/main" val="12394538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974C956-6E27-4CF4-BE4D-8B847E7FF52F}"/>
              </a:ext>
            </a:extLst>
          </p:cNvPr>
          <p:cNvSpPr>
            <a:spLocks noGrp="1"/>
          </p:cNvSpPr>
          <p:nvPr>
            <p:ph type="title"/>
          </p:nvPr>
        </p:nvSpPr>
        <p:spPr/>
        <p:txBody>
          <a:bodyPr/>
          <a:lstStyle/>
          <a:p>
            <a:endParaRPr lang="en-GH"/>
          </a:p>
        </p:txBody>
      </p:sp>
      <p:pic>
        <p:nvPicPr>
          <p:cNvPr id="9" name="Content Placeholder 8">
            <a:extLst>
              <a:ext uri="{FF2B5EF4-FFF2-40B4-BE49-F238E27FC236}">
                <a16:creationId xmlns:a16="http://schemas.microsoft.com/office/drawing/2014/main" id="{9415550C-79F9-4A73-8776-E8268E39A321}"/>
              </a:ext>
            </a:extLst>
          </p:cNvPr>
          <p:cNvPicPr>
            <a:picLocks noGrp="1" noChangeAspect="1"/>
          </p:cNvPicPr>
          <p:nvPr>
            <p:ph idx="1"/>
          </p:nvPr>
        </p:nvPicPr>
        <p:blipFill rotWithShape="1">
          <a:blip r:embed="rId2"/>
          <a:srcRect l="9303" t="32185" r="22229" b="15904"/>
          <a:stretch/>
        </p:blipFill>
        <p:spPr>
          <a:xfrm>
            <a:off x="574957" y="69096"/>
            <a:ext cx="10696740" cy="5641966"/>
          </a:xfrm>
        </p:spPr>
      </p:pic>
      <p:sp>
        <p:nvSpPr>
          <p:cNvPr id="5" name="Slide Number Placeholder 4">
            <a:extLst>
              <a:ext uri="{FF2B5EF4-FFF2-40B4-BE49-F238E27FC236}">
                <a16:creationId xmlns:a16="http://schemas.microsoft.com/office/drawing/2014/main" id="{5BDF05A9-A1EA-4F96-8641-EF61BA3F918C}"/>
              </a:ext>
            </a:extLst>
          </p:cNvPr>
          <p:cNvSpPr>
            <a:spLocks noGrp="1"/>
          </p:cNvSpPr>
          <p:nvPr>
            <p:ph type="sldNum" sz="quarter" idx="12"/>
          </p:nvPr>
        </p:nvSpPr>
        <p:spPr/>
        <p:txBody>
          <a:bodyPr/>
          <a:lstStyle/>
          <a:p>
            <a:pPr>
              <a:defRPr/>
            </a:pPr>
            <a:fld id="{73AD155A-D4E9-4AE4-84C6-FF1A220296F8}" type="slidenum">
              <a:rPr lang="en-GB" altLang="en-US" smtClean="0"/>
              <a:pPr>
                <a:defRPr/>
              </a:pPr>
              <a:t>42</a:t>
            </a:fld>
            <a:endParaRPr lang="en-GB" altLang="en-US"/>
          </a:p>
        </p:txBody>
      </p:sp>
    </p:spTree>
    <p:extLst>
      <p:ext uri="{BB962C8B-B14F-4D97-AF65-F5344CB8AC3E}">
        <p14:creationId xmlns:p14="http://schemas.microsoft.com/office/powerpoint/2010/main" val="27931349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rotWithShape="1">
          <a:blip r:embed="rId2"/>
          <a:srcRect l="14354" t="21444" r="31300" b="15904"/>
          <a:stretch/>
        </p:blipFill>
        <p:spPr>
          <a:xfrm>
            <a:off x="983432" y="287338"/>
            <a:ext cx="9073008" cy="5880654"/>
          </a:xfrm>
          <a:prstGeom prst="rect">
            <a:avLst/>
          </a:prstGeom>
        </p:spPr>
      </p:pic>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43</a:t>
            </a:fld>
            <a:endParaRPr lang="en-GB" altLang="en-US"/>
          </a:p>
        </p:txBody>
      </p:sp>
    </p:spTree>
    <p:extLst>
      <p:ext uri="{BB962C8B-B14F-4D97-AF65-F5344CB8AC3E}">
        <p14:creationId xmlns:p14="http://schemas.microsoft.com/office/powerpoint/2010/main" val="4761167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632B224B-656B-4958-BEA7-CE6E60CBF9D8}"/>
              </a:ext>
            </a:extLst>
          </p:cNvPr>
          <p:cNvSpPr>
            <a:spLocks noGrp="1"/>
          </p:cNvSpPr>
          <p:nvPr>
            <p:ph type="title"/>
          </p:nvPr>
        </p:nvSpPr>
        <p:spPr/>
        <p:txBody>
          <a:bodyPr/>
          <a:lstStyle/>
          <a:p>
            <a:pPr algn="ctr"/>
            <a:r>
              <a:rPr lang="en-US" altLang="en-GH" dirty="0">
                <a:latin typeface="Times New Roman" panose="02020603050405020304" pitchFamily="18" charset="0"/>
                <a:cs typeface="Times New Roman" panose="02020603050405020304" pitchFamily="18" charset="0"/>
              </a:rPr>
              <a:t>Cognitive complexity theory</a:t>
            </a:r>
          </a:p>
        </p:txBody>
      </p:sp>
      <p:sp>
        <p:nvSpPr>
          <p:cNvPr id="75779" name="Content Placeholder 2">
            <a:extLst>
              <a:ext uri="{FF2B5EF4-FFF2-40B4-BE49-F238E27FC236}">
                <a16:creationId xmlns:a16="http://schemas.microsoft.com/office/drawing/2014/main" id="{0C4FA4E4-DCFE-4319-879E-61B1F8ECAE9D}"/>
              </a:ext>
            </a:extLst>
          </p:cNvPr>
          <p:cNvSpPr>
            <a:spLocks noGrp="1"/>
          </p:cNvSpPr>
          <p:nvPr>
            <p:ph idx="1"/>
          </p:nvPr>
        </p:nvSpPr>
        <p:spPr>
          <a:xfrm>
            <a:off x="838200" y="1825625"/>
            <a:ext cx="10515600" cy="4638675"/>
          </a:xfrm>
        </p:spPr>
        <p:txBody>
          <a:bodyPr/>
          <a:lstStyle/>
          <a:p>
            <a:r>
              <a:rPr lang="en-US" altLang="en-GH" sz="2600" b="1" dirty="0">
                <a:latin typeface="Times New Roman" panose="02020603050405020304" pitchFamily="18" charset="0"/>
                <a:cs typeface="Times New Roman" panose="02020603050405020304" pitchFamily="18" charset="0"/>
              </a:rPr>
              <a:t>Cognitive complexity theory, introduced by </a:t>
            </a:r>
            <a:r>
              <a:rPr lang="en-US" altLang="en-GH" sz="2600" b="1" dirty="0" err="1">
                <a:latin typeface="Times New Roman" panose="02020603050405020304" pitchFamily="18" charset="0"/>
                <a:cs typeface="Times New Roman" panose="02020603050405020304" pitchFamily="18" charset="0"/>
              </a:rPr>
              <a:t>Kieras</a:t>
            </a:r>
            <a:r>
              <a:rPr lang="en-US" altLang="en-GH" sz="2600" b="1" dirty="0">
                <a:latin typeface="Times New Roman" panose="02020603050405020304" pitchFamily="18" charset="0"/>
                <a:cs typeface="Times New Roman" panose="02020603050405020304" pitchFamily="18" charset="0"/>
              </a:rPr>
              <a:t> and Polson, begins with the basic premises of goal decomposition from GOMS and enriches the model to provide more predictive power</a:t>
            </a:r>
            <a:r>
              <a:rPr lang="en-US" altLang="en-GH" sz="2600" dirty="0">
                <a:latin typeface="Times New Roman" panose="02020603050405020304" pitchFamily="18" charset="0"/>
                <a:cs typeface="Times New Roman" panose="02020603050405020304" pitchFamily="18" charset="0"/>
              </a:rPr>
              <a:t>. </a:t>
            </a:r>
          </a:p>
          <a:p>
            <a:r>
              <a:rPr lang="en-US" altLang="en-GH" sz="2600" b="1" dirty="0">
                <a:solidFill>
                  <a:srgbClr val="00B050"/>
                </a:solidFill>
                <a:latin typeface="Times New Roman" panose="02020603050405020304" pitchFamily="18" charset="0"/>
                <a:cs typeface="Times New Roman" panose="02020603050405020304" pitchFamily="18" charset="0"/>
              </a:rPr>
              <a:t>CCT has two parallel descriptions: one of the user’s goals and the other of the computer system</a:t>
            </a:r>
            <a:r>
              <a:rPr lang="en-US" sz="2600" dirty="0">
                <a:latin typeface="Times New Roman" panose="02020603050405020304" pitchFamily="18" charset="0"/>
                <a:cs typeface="Times New Roman" panose="02020603050405020304" pitchFamily="18" charset="0"/>
              </a:rPr>
              <a:t>(called the </a:t>
            </a:r>
            <a:r>
              <a:rPr lang="en-US" sz="2600" i="1" dirty="0">
                <a:latin typeface="Times New Roman" panose="02020603050405020304" pitchFamily="18" charset="0"/>
                <a:cs typeface="Times New Roman" panose="02020603050405020304" pitchFamily="18" charset="0"/>
              </a:rPr>
              <a:t>device </a:t>
            </a:r>
            <a:r>
              <a:rPr lang="en-US" sz="2600" dirty="0">
                <a:latin typeface="Times New Roman" panose="02020603050405020304" pitchFamily="18" charset="0"/>
                <a:cs typeface="Times New Roman" panose="02020603050405020304" pitchFamily="18" charset="0"/>
              </a:rPr>
              <a:t>in CCT).</a:t>
            </a:r>
            <a:endParaRPr lang="en-US" altLang="en-GH" sz="2600" b="1" dirty="0">
              <a:solidFill>
                <a:srgbClr val="00B050"/>
              </a:solidFill>
              <a:latin typeface="Times New Roman" panose="02020603050405020304" pitchFamily="18" charset="0"/>
              <a:cs typeface="Times New Roman" panose="02020603050405020304" pitchFamily="18" charset="0"/>
            </a:endParaRPr>
          </a:p>
          <a:p>
            <a:endParaRPr lang="en-US" altLang="en-GH" sz="2600" dirty="0">
              <a:latin typeface="Times New Roman" panose="02020603050405020304" pitchFamily="18" charset="0"/>
              <a:cs typeface="Times New Roman" panose="02020603050405020304" pitchFamily="18" charset="0"/>
            </a:endParaRPr>
          </a:p>
          <a:p>
            <a:r>
              <a:rPr lang="en-US" altLang="en-GH" sz="2600" dirty="0">
                <a:latin typeface="Times New Roman" panose="02020603050405020304" pitchFamily="18" charset="0"/>
                <a:cs typeface="Times New Roman" panose="02020603050405020304" pitchFamily="18" charset="0"/>
              </a:rPr>
              <a:t>The description of the user’s goals is based on a GOMS-like goal hierarchy, but is expressed primarily using </a:t>
            </a:r>
            <a:r>
              <a:rPr lang="en-US" altLang="en-GH" sz="2600" b="1" i="1" dirty="0">
                <a:latin typeface="Times New Roman" panose="02020603050405020304" pitchFamily="18" charset="0"/>
                <a:cs typeface="Times New Roman" panose="02020603050405020304" pitchFamily="18" charset="0"/>
              </a:rPr>
              <a:t>production rules</a:t>
            </a:r>
            <a:r>
              <a:rPr lang="en-US" altLang="en-GH" sz="2600" b="1" dirty="0">
                <a:latin typeface="Times New Roman" panose="02020603050405020304" pitchFamily="18" charset="0"/>
                <a:cs typeface="Times New Roman" panose="02020603050405020304" pitchFamily="18" charset="0"/>
              </a:rPr>
              <a:t>.</a:t>
            </a:r>
          </a:p>
          <a:p>
            <a:r>
              <a:rPr lang="en-US" altLang="en-GH" sz="2600" dirty="0">
                <a:latin typeface="Times New Roman" panose="02020603050405020304" pitchFamily="18" charset="0"/>
                <a:cs typeface="Times New Roman" panose="02020603050405020304" pitchFamily="18" charset="0"/>
              </a:rPr>
              <a:t>For the system grammar, CCT uses </a:t>
            </a:r>
            <a:r>
              <a:rPr lang="en-US" altLang="en-GH" sz="2600" b="1" i="1" dirty="0">
                <a:latin typeface="Times New Roman" panose="02020603050405020304" pitchFamily="18" charset="0"/>
                <a:cs typeface="Times New Roman" panose="02020603050405020304" pitchFamily="18" charset="0"/>
              </a:rPr>
              <a:t>generalized transition networks</a:t>
            </a:r>
            <a:r>
              <a:rPr lang="en-US" altLang="en-GH" sz="2600" b="1" dirty="0">
                <a:latin typeface="Times New Roman" panose="02020603050405020304" pitchFamily="18" charset="0"/>
                <a:cs typeface="Times New Roman" panose="02020603050405020304" pitchFamily="18" charset="0"/>
              </a:rPr>
              <a:t>, a form of </a:t>
            </a:r>
            <a:r>
              <a:rPr lang="en-US" altLang="en-GH" sz="2600" b="1" i="1" dirty="0">
                <a:latin typeface="Times New Roman" panose="02020603050405020304" pitchFamily="18" charset="0"/>
                <a:cs typeface="Times New Roman" panose="02020603050405020304" pitchFamily="18" charset="0"/>
              </a:rPr>
              <a:t>state transition network</a:t>
            </a:r>
            <a:r>
              <a:rPr lang="en-US" altLang="en-GH" sz="2600" b="1" dirty="0">
                <a:latin typeface="Times New Roman" panose="02020603050405020304" pitchFamily="18" charset="0"/>
                <a:cs typeface="Times New Roman" panose="02020603050405020304" pitchFamily="18" charset="0"/>
              </a:rPr>
              <a:t>.</a:t>
            </a:r>
          </a:p>
        </p:txBody>
      </p:sp>
      <p:sp>
        <p:nvSpPr>
          <p:cNvPr id="75780" name="Slide Number Placeholder 3">
            <a:extLst>
              <a:ext uri="{FF2B5EF4-FFF2-40B4-BE49-F238E27FC236}">
                <a16:creationId xmlns:a16="http://schemas.microsoft.com/office/drawing/2014/main" id="{D0CCB865-6698-4136-9F92-B74711A989A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B44129A-BCD8-4259-93A1-F97567E9D76F}" type="slidenum">
              <a:rPr lang="en-GB" altLang="en-GH">
                <a:solidFill>
                  <a:srgbClr val="FFC551"/>
                </a:solidFill>
                <a:latin typeface="Century Gothic" panose="020B0502020202020204" pitchFamily="34" charset="0"/>
              </a:rPr>
              <a:pPr/>
              <a:t>44</a:t>
            </a:fld>
            <a:endParaRPr lang="en-GB" altLang="en-GH">
              <a:solidFill>
                <a:srgbClr val="FFC551"/>
              </a:solidFill>
              <a:latin typeface="Century Gothic" panose="020B0502020202020204" pitchFamily="34" charset="0"/>
            </a:endParaRPr>
          </a:p>
        </p:txBody>
      </p:sp>
    </p:spTree>
    <p:extLst>
      <p:ext uri="{BB962C8B-B14F-4D97-AF65-F5344CB8AC3E}">
        <p14:creationId xmlns:p14="http://schemas.microsoft.com/office/powerpoint/2010/main" val="11377102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C4C2FF6B-1C79-46A3-9E50-030B326C28B5}"/>
              </a:ext>
            </a:extLst>
          </p:cNvPr>
          <p:cNvSpPr>
            <a:spLocks noGrp="1"/>
          </p:cNvSpPr>
          <p:nvPr>
            <p:ph type="title"/>
          </p:nvPr>
        </p:nvSpPr>
        <p:spPr>
          <a:xfrm>
            <a:off x="838200" y="788988"/>
            <a:ext cx="10515600" cy="623887"/>
          </a:xfrm>
        </p:spPr>
        <p:txBody>
          <a:bodyPr>
            <a:normAutofit fontScale="90000"/>
          </a:bodyPr>
          <a:lstStyle/>
          <a:p>
            <a:pPr algn="ctr"/>
            <a:r>
              <a:rPr lang="en-US" altLang="en-GH" dirty="0">
                <a:latin typeface="Times New Roman" panose="02020603050405020304" pitchFamily="18" charset="0"/>
                <a:cs typeface="Times New Roman" panose="02020603050405020304" pitchFamily="18" charset="0"/>
              </a:rPr>
              <a:t>Cognitive complexity theory: Production rules</a:t>
            </a:r>
          </a:p>
        </p:txBody>
      </p:sp>
      <p:sp>
        <p:nvSpPr>
          <p:cNvPr id="3" name="Content Placeholder 2">
            <a:extLst>
              <a:ext uri="{FF2B5EF4-FFF2-40B4-BE49-F238E27FC236}">
                <a16:creationId xmlns:a16="http://schemas.microsoft.com/office/drawing/2014/main" id="{34F82A65-1227-4AC4-B325-045F4643DCDF}"/>
              </a:ext>
            </a:extLst>
          </p:cNvPr>
          <p:cNvSpPr>
            <a:spLocks noGrp="1"/>
          </p:cNvSpPr>
          <p:nvPr>
            <p:ph idx="1"/>
          </p:nvPr>
        </p:nvSpPr>
        <p:spPr>
          <a:xfrm>
            <a:off x="838200" y="1628775"/>
            <a:ext cx="10515600" cy="4548188"/>
          </a:xfrm>
        </p:spPr>
        <p:txBody>
          <a:bodyPr/>
          <a:lstStyle/>
          <a:p>
            <a:pPr>
              <a:defRPr/>
            </a:pPr>
            <a:r>
              <a:rPr lang="en-US" sz="2600" dirty="0">
                <a:latin typeface="Times New Roman" panose="02020603050405020304" pitchFamily="18" charset="0"/>
                <a:cs typeface="Times New Roman" panose="02020603050405020304" pitchFamily="18" charset="0"/>
              </a:rPr>
              <a:t>The production rules are a sequence of rules:</a:t>
            </a:r>
          </a:p>
          <a:p>
            <a:pPr marL="0" indent="0">
              <a:buFont typeface="Arial" panose="020B0604020202020204" pitchFamily="34" charset="0"/>
              <a:buNone/>
              <a:defRPr/>
            </a:pPr>
            <a:r>
              <a:rPr lang="en-US" sz="2600" b="1" dirty="0">
                <a:latin typeface="Times New Roman" panose="02020603050405020304" pitchFamily="18" charset="0"/>
                <a:cs typeface="Times New Roman" panose="02020603050405020304" pitchFamily="18" charset="0"/>
              </a:rPr>
              <a:t>		if </a:t>
            </a:r>
            <a:r>
              <a:rPr lang="en-US" sz="2600" b="1" i="1" dirty="0">
                <a:latin typeface="Times New Roman" panose="02020603050405020304" pitchFamily="18" charset="0"/>
                <a:cs typeface="Times New Roman" panose="02020603050405020304" pitchFamily="18" charset="0"/>
              </a:rPr>
              <a:t>condition </a:t>
            </a:r>
            <a:r>
              <a:rPr lang="en-US" sz="2600" b="1" dirty="0">
                <a:latin typeface="Times New Roman" panose="02020603050405020304" pitchFamily="18" charset="0"/>
                <a:cs typeface="Times New Roman" panose="02020603050405020304" pitchFamily="18" charset="0"/>
              </a:rPr>
              <a:t>then </a:t>
            </a:r>
            <a:r>
              <a:rPr lang="en-US" sz="2600" b="1" i="1" dirty="0">
                <a:latin typeface="Times New Roman" panose="02020603050405020304" pitchFamily="18" charset="0"/>
                <a:cs typeface="Times New Roman" panose="02020603050405020304" pitchFamily="18" charset="0"/>
              </a:rPr>
              <a:t>action</a:t>
            </a:r>
          </a:p>
          <a:p>
            <a:pPr>
              <a:defRPr/>
            </a:pPr>
            <a:r>
              <a:rPr lang="en-US" sz="2600" dirty="0">
                <a:latin typeface="Times New Roman" panose="02020603050405020304" pitchFamily="18" charset="0"/>
                <a:cs typeface="Times New Roman" panose="02020603050405020304" pitchFamily="18" charset="0"/>
              </a:rPr>
              <a:t>where </a:t>
            </a:r>
            <a:r>
              <a:rPr lang="en-US" sz="2600" b="1" i="1" dirty="0">
                <a:latin typeface="Times New Roman" panose="02020603050405020304" pitchFamily="18" charset="0"/>
                <a:cs typeface="Times New Roman" panose="02020603050405020304" pitchFamily="18" charset="0"/>
              </a:rPr>
              <a:t>condition</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is a statement about the contents of working memory. If the condition is true then the production rule is said to fire. </a:t>
            </a:r>
          </a:p>
          <a:p>
            <a:pPr>
              <a:defRPr/>
            </a:pPr>
            <a:endParaRPr lang="en-US" sz="2600" dirty="0">
              <a:latin typeface="Times New Roman" panose="02020603050405020304" pitchFamily="18" charset="0"/>
              <a:cs typeface="Times New Roman" panose="02020603050405020304" pitchFamily="18" charset="0"/>
            </a:endParaRPr>
          </a:p>
          <a:p>
            <a:pPr>
              <a:defRPr/>
            </a:pPr>
            <a:r>
              <a:rPr lang="en-US" sz="2600" dirty="0">
                <a:latin typeface="Times New Roman" panose="02020603050405020304" pitchFamily="18" charset="0"/>
                <a:cs typeface="Times New Roman" panose="02020603050405020304" pitchFamily="18" charset="0"/>
              </a:rPr>
              <a:t>An </a:t>
            </a:r>
            <a:r>
              <a:rPr lang="en-US" sz="2600" b="1" i="1" dirty="0">
                <a:latin typeface="Times New Roman" panose="02020603050405020304" pitchFamily="18" charset="0"/>
                <a:cs typeface="Times New Roman" panose="02020603050405020304" pitchFamily="18" charset="0"/>
              </a:rPr>
              <a:t>action</a:t>
            </a:r>
            <a:r>
              <a:rPr lang="en-US" sz="2600"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may consist of one or more elementary actions, which may be either changes to the working memory, or external actions such as keystrokes.</a:t>
            </a:r>
          </a:p>
          <a:p>
            <a:pPr>
              <a:defRPr/>
            </a:pPr>
            <a:endParaRPr lang="en-US" sz="2600" dirty="0">
              <a:latin typeface="Times New Roman" panose="02020603050405020304" pitchFamily="18" charset="0"/>
              <a:cs typeface="Times New Roman" panose="02020603050405020304" pitchFamily="18" charset="0"/>
            </a:endParaRPr>
          </a:p>
          <a:p>
            <a:pPr>
              <a:defRPr/>
            </a:pPr>
            <a:r>
              <a:rPr lang="en-GB" sz="2600" b="1" dirty="0">
                <a:solidFill>
                  <a:srgbClr val="00B050"/>
                </a:solidFill>
                <a:latin typeface="Times New Roman" panose="02020603050405020304" pitchFamily="18" charset="0"/>
                <a:cs typeface="Times New Roman" panose="02020603050405020304" pitchFamily="18" charset="0"/>
              </a:rPr>
              <a:t>The production rule ‘program’ is written in a LISP-like language.</a:t>
            </a:r>
            <a:endParaRPr lang="en-GH" sz="2600" b="1" dirty="0">
              <a:solidFill>
                <a:srgbClr val="00B050"/>
              </a:solidFill>
              <a:latin typeface="Times New Roman" panose="02020603050405020304" pitchFamily="18" charset="0"/>
              <a:cs typeface="Times New Roman" panose="02020603050405020304" pitchFamily="18" charset="0"/>
            </a:endParaRPr>
          </a:p>
          <a:p>
            <a:pPr>
              <a:defRPr/>
            </a:pPr>
            <a:endParaRPr lang="en-US" sz="2600" dirty="0">
              <a:latin typeface="Times New Roman" panose="02020603050405020304" pitchFamily="18" charset="0"/>
              <a:cs typeface="Times New Roman" panose="02020603050405020304" pitchFamily="18" charset="0"/>
            </a:endParaRPr>
          </a:p>
        </p:txBody>
      </p:sp>
      <p:sp>
        <p:nvSpPr>
          <p:cNvPr id="76804" name="Slide Number Placeholder 3">
            <a:extLst>
              <a:ext uri="{FF2B5EF4-FFF2-40B4-BE49-F238E27FC236}">
                <a16:creationId xmlns:a16="http://schemas.microsoft.com/office/drawing/2014/main" id="{DB1438A4-A456-4F5F-ACC2-4012E7604F8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BC23AD7-7C26-42DB-9A67-056AA4FA3F09}" type="slidenum">
              <a:rPr lang="en-GB" altLang="en-GH">
                <a:solidFill>
                  <a:srgbClr val="FFC551"/>
                </a:solidFill>
                <a:latin typeface="Century Gothic" panose="020B0502020202020204" pitchFamily="34" charset="0"/>
              </a:rPr>
              <a:pPr/>
              <a:t>45</a:t>
            </a:fld>
            <a:endParaRPr lang="en-GB" altLang="en-GH">
              <a:solidFill>
                <a:srgbClr val="FFC551"/>
              </a:solidFill>
              <a:latin typeface="Century Gothic" panose="020B0502020202020204" pitchFamily="34" charset="0"/>
            </a:endParaRPr>
          </a:p>
        </p:txBody>
      </p:sp>
    </p:spTree>
    <p:extLst>
      <p:ext uri="{BB962C8B-B14F-4D97-AF65-F5344CB8AC3E}">
        <p14:creationId xmlns:p14="http://schemas.microsoft.com/office/powerpoint/2010/main" val="11560297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H" dirty="0">
                <a:latin typeface="Times New Roman" panose="02020603050405020304" pitchFamily="18" charset="0"/>
                <a:cs typeface="Times New Roman" panose="02020603050405020304" pitchFamily="18" charset="0"/>
              </a:rPr>
              <a:t>Cognitive complexity theory: Production rules</a:t>
            </a:r>
            <a:endParaRPr lang="en-US"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79376" y="1846263"/>
            <a:ext cx="11377263" cy="4022725"/>
          </a:xfrm>
        </p:spPr>
        <p:txBody>
          <a:bodyPr/>
          <a:lstStyle/>
          <a:p>
            <a:r>
              <a:rPr lang="en-US" sz="2600" dirty="0">
                <a:latin typeface="Times New Roman" panose="02020603050405020304" pitchFamily="18" charset="0"/>
                <a:cs typeface="Times New Roman" panose="02020603050405020304" pitchFamily="18" charset="0"/>
              </a:rPr>
              <a:t>As an example, we consider an editing task using the UNIX vi text editor. The task is to insert a space where one has been missed out in the text, for instance if we </a:t>
            </a:r>
            <a:r>
              <a:rPr lang="en-US" sz="2600" b="1" dirty="0">
                <a:latin typeface="Times New Roman" panose="02020603050405020304" pitchFamily="18" charset="0"/>
                <a:cs typeface="Times New Roman" panose="02020603050405020304" pitchFamily="18" charset="0"/>
              </a:rPr>
              <a:t>noticed that in the above paragraph we had written ‘</a:t>
            </a:r>
            <a:r>
              <a:rPr lang="en-US" sz="2600" b="1" dirty="0" err="1">
                <a:latin typeface="Times New Roman" panose="02020603050405020304" pitchFamily="18" charset="0"/>
                <a:cs typeface="Times New Roman" panose="02020603050405020304" pitchFamily="18" charset="0"/>
              </a:rPr>
              <a:t>cognitivecomplexity</a:t>
            </a:r>
            <a:r>
              <a:rPr lang="en-US" sz="2600" b="1" dirty="0">
                <a:latin typeface="Times New Roman" panose="02020603050405020304" pitchFamily="18" charset="0"/>
                <a:cs typeface="Times New Roman" panose="02020603050405020304" pitchFamily="18" charset="0"/>
              </a:rPr>
              <a:t> theory’.</a:t>
            </a:r>
          </a:p>
          <a:p>
            <a:pPr marL="0" indent="0">
              <a:buNone/>
            </a:pPr>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This is a reasonably frequent typing error and so we assume that we have developed good procedures to perform the task. We consider a fragment of the associated CCT production rules.</a:t>
            </a:r>
          </a:p>
        </p:txBody>
      </p:sp>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46</a:t>
            </a:fld>
            <a:endParaRPr lang="en-GB" altLang="en-US"/>
          </a:p>
        </p:txBody>
      </p:sp>
    </p:spTree>
    <p:extLst>
      <p:ext uri="{BB962C8B-B14F-4D97-AF65-F5344CB8AC3E}">
        <p14:creationId xmlns:p14="http://schemas.microsoft.com/office/powerpoint/2010/main" val="13286438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rotWithShape="1">
          <a:blip r:embed="rId2"/>
          <a:srcRect l="6302" t="28605" r="24256" b="26644"/>
          <a:stretch/>
        </p:blipFill>
        <p:spPr>
          <a:xfrm>
            <a:off x="551384" y="431354"/>
            <a:ext cx="11377264" cy="5661942"/>
          </a:xfrm>
          <a:prstGeom prst="rect">
            <a:avLst/>
          </a:prstGeom>
        </p:spPr>
      </p:pic>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47</a:t>
            </a:fld>
            <a:endParaRPr lang="en-GB" altLang="en-US"/>
          </a:p>
        </p:txBody>
      </p:sp>
    </p:spTree>
    <p:extLst>
      <p:ext uri="{BB962C8B-B14F-4D97-AF65-F5344CB8AC3E}">
        <p14:creationId xmlns:p14="http://schemas.microsoft.com/office/powerpoint/2010/main" val="30089252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rotWithShape="1">
          <a:blip r:embed="rId2"/>
          <a:srcRect l="8316" t="21444" r="58473" b="28434"/>
          <a:stretch/>
        </p:blipFill>
        <p:spPr>
          <a:xfrm>
            <a:off x="983432" y="17334"/>
            <a:ext cx="9073008" cy="6442204"/>
          </a:xfrm>
          <a:prstGeom prst="rect">
            <a:avLst/>
          </a:prstGeom>
        </p:spPr>
      </p:pic>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48</a:t>
            </a:fld>
            <a:endParaRPr lang="en-GB" altLang="en-US"/>
          </a:p>
        </p:txBody>
      </p:sp>
    </p:spTree>
    <p:extLst>
      <p:ext uri="{BB962C8B-B14F-4D97-AF65-F5344CB8AC3E}">
        <p14:creationId xmlns:p14="http://schemas.microsoft.com/office/powerpoint/2010/main" val="19130052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r>
              <a:rPr lang="en-US" altLang="en-GH" sz="2600" b="1" dirty="0">
                <a:latin typeface="Times New Roman" panose="02020603050405020304" pitchFamily="18" charset="0"/>
                <a:cs typeface="Times New Roman" panose="02020603050405020304" pitchFamily="18" charset="0"/>
              </a:rPr>
              <a:t>Linguistic models represent the user–system grammar: Backus-Naur Form (BNF) </a:t>
            </a:r>
            <a:br>
              <a:rPr lang="en-US" altLang="en-GH" sz="2600" b="1" dirty="0">
                <a:latin typeface="Times New Roman" panose="02020603050405020304" pitchFamily="18" charset="0"/>
                <a:cs typeface="Times New Roman" panose="02020603050405020304" pitchFamily="18" charset="0"/>
              </a:rPr>
            </a:br>
            <a:endParaRPr lang="en-US" sz="2600" b="1" dirty="0"/>
          </a:p>
        </p:txBody>
      </p:sp>
      <p:sp>
        <p:nvSpPr>
          <p:cNvPr id="3" name="Content Placeholder 2"/>
          <p:cNvSpPr>
            <a:spLocks noGrp="1"/>
          </p:cNvSpPr>
          <p:nvPr>
            <p:ph idx="1"/>
          </p:nvPr>
        </p:nvSpPr>
        <p:spPr>
          <a:xfrm>
            <a:off x="335360" y="1846263"/>
            <a:ext cx="11305256" cy="4463057"/>
          </a:xfrm>
        </p:spPr>
        <p:txBody>
          <a:bodyPr/>
          <a:lstStyle/>
          <a:p>
            <a:r>
              <a:rPr lang="en-US" sz="2600" dirty="0">
                <a:latin typeface="Times New Roman" panose="02020603050405020304" pitchFamily="18" charset="0"/>
                <a:cs typeface="Times New Roman" panose="02020603050405020304" pitchFamily="18" charset="0"/>
              </a:rPr>
              <a:t>The user’s interaction with a computer is often viewed in terms of a language, so it is not surprising that several modeling formalisms have developed centered around this concept</a:t>
            </a:r>
          </a:p>
          <a:p>
            <a:r>
              <a:rPr lang="en-US" sz="2600" dirty="0">
                <a:latin typeface="Times New Roman" panose="02020603050405020304" pitchFamily="18" charset="0"/>
                <a:cs typeface="Times New Roman" panose="02020603050405020304" pitchFamily="18" charset="0"/>
              </a:rPr>
              <a:t>Indeed, BNF grammars are frequently used to specify dialogs.</a:t>
            </a: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BNF uses a range of symbols and expressions to create </a:t>
            </a:r>
            <a:r>
              <a:rPr lang="en-US" sz="2600" b="1" dirty="0">
                <a:latin typeface="Times New Roman" panose="02020603050405020304" pitchFamily="18" charset="0"/>
                <a:cs typeface="Times New Roman" panose="02020603050405020304" pitchFamily="18" charset="0"/>
              </a:rPr>
              <a:t>production rules</a:t>
            </a:r>
            <a:r>
              <a:rPr lang="en-US" sz="2600" dirty="0">
                <a:latin typeface="Times New Roman" panose="02020603050405020304" pitchFamily="18" charset="0"/>
                <a:cs typeface="Times New Roman" panose="02020603050405020304" pitchFamily="18" charset="0"/>
              </a:rPr>
              <a:t>. A simple BNF production rule might look like this:</a:t>
            </a:r>
          </a:p>
          <a:p>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&lt;digit&gt; ::= 0|1|2|3|4|5|6|7|8|9</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This would be interpreted as: </a:t>
            </a:r>
            <a:r>
              <a:rPr lang="en-US" sz="2600" i="1" dirty="0">
                <a:latin typeface="Times New Roman" panose="02020603050405020304" pitchFamily="18" charset="0"/>
                <a:cs typeface="Times New Roman" panose="02020603050405020304" pitchFamily="18" charset="0"/>
              </a:rPr>
              <a:t>a digit can be defined as 0, 1, 2, 3, 4, 5, 6, 7, 8, or 9</a:t>
            </a:r>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49</a:t>
            </a:fld>
            <a:endParaRPr lang="en-GB" altLang="en-US"/>
          </a:p>
        </p:txBody>
      </p:sp>
    </p:spTree>
    <p:extLst>
      <p:ext uri="{BB962C8B-B14F-4D97-AF65-F5344CB8AC3E}">
        <p14:creationId xmlns:p14="http://schemas.microsoft.com/office/powerpoint/2010/main" val="3980950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rotWithShape="1">
          <a:blip r:embed="rId2"/>
          <a:srcRect l="23411" t="48294" r="23250" b="10535"/>
          <a:stretch/>
        </p:blipFill>
        <p:spPr>
          <a:xfrm>
            <a:off x="841554" y="369222"/>
            <a:ext cx="11615203" cy="5040560"/>
          </a:xfrm>
          <a:prstGeom prst="rect">
            <a:avLst/>
          </a:prstGeom>
        </p:spPr>
      </p:pic>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50</a:t>
            </a:fld>
            <a:endParaRPr lang="en-GB" altLang="en-US"/>
          </a:p>
        </p:txBody>
      </p:sp>
    </p:spTree>
    <p:extLst>
      <p:ext uri="{BB962C8B-B14F-4D97-AF65-F5344CB8AC3E}">
        <p14:creationId xmlns:p14="http://schemas.microsoft.com/office/powerpoint/2010/main" val="38336948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Keystroke-Level Model (KLM)</a:t>
            </a:r>
          </a:p>
        </p:txBody>
      </p:sp>
      <p:sp>
        <p:nvSpPr>
          <p:cNvPr id="3" name="Content Placeholder 2"/>
          <p:cNvSpPr>
            <a:spLocks noGrp="1"/>
          </p:cNvSpPr>
          <p:nvPr>
            <p:ph idx="1"/>
          </p:nvPr>
        </p:nvSpPr>
        <p:spPr>
          <a:xfrm>
            <a:off x="479376" y="1846263"/>
            <a:ext cx="11089232" cy="4613275"/>
          </a:xfrm>
        </p:spPr>
        <p:txBody>
          <a:bodyPr/>
          <a:lstStyle/>
          <a:p>
            <a:r>
              <a:rPr lang="en-US" sz="2600" b="1" dirty="0">
                <a:latin typeface="Times New Roman" panose="02020603050405020304" pitchFamily="18" charset="0"/>
                <a:cs typeface="Times New Roman" panose="02020603050405020304" pitchFamily="18" charset="0"/>
              </a:rPr>
              <a:t>The Keystroke-Level Model (KLM), proposed by Card, Moran, &amp; Newell (1983), predicts task execution time from a specified design and specific task scenario. </a:t>
            </a:r>
            <a:endParaRPr lang="en-US" sz="2600" dirty="0">
              <a:latin typeface="Times New Roman" panose="02020603050405020304" pitchFamily="18" charset="0"/>
              <a:cs typeface="Times New Roman" panose="02020603050405020304" pitchFamily="18" charset="0"/>
            </a:endParaRPr>
          </a:p>
          <a:p>
            <a:r>
              <a:rPr lang="en-US" sz="2600" b="1" dirty="0">
                <a:solidFill>
                  <a:srgbClr val="00B050"/>
                </a:solidFill>
                <a:latin typeface="Times New Roman" panose="02020603050405020304" pitchFamily="18" charset="0"/>
                <a:cs typeface="Times New Roman" panose="02020603050405020304" pitchFamily="18" charset="0"/>
              </a:rPr>
              <a:t>Basically, you list the sequence of keystroke-level actions the user must perform to accomplish a task, and then add up the times required by the actions.</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actions are termed </a:t>
            </a:r>
            <a:r>
              <a:rPr lang="en-US" sz="2600" i="1" dirty="0">
                <a:latin typeface="Times New Roman" panose="02020603050405020304" pitchFamily="18" charset="0"/>
                <a:cs typeface="Times New Roman" panose="02020603050405020304" pitchFamily="18" charset="0"/>
              </a:rPr>
              <a:t>keystroke level </a:t>
            </a:r>
            <a:r>
              <a:rPr lang="en-US" sz="2600" dirty="0">
                <a:latin typeface="Times New Roman" panose="02020603050405020304" pitchFamily="18" charset="0"/>
                <a:cs typeface="Times New Roman" panose="02020603050405020304" pitchFamily="18" charset="0"/>
              </a:rPr>
              <a:t>if they are at the level of actions like pressing keys, moving the mouse, pressing buttons, and so forth, </a:t>
            </a:r>
            <a:r>
              <a:rPr lang="en-US" sz="2600" b="1" dirty="0">
                <a:solidFill>
                  <a:srgbClr val="FF0000"/>
                </a:solidFill>
                <a:latin typeface="Times New Roman" panose="02020603050405020304" pitchFamily="18" charset="0"/>
                <a:cs typeface="Times New Roman" panose="02020603050405020304" pitchFamily="18" charset="0"/>
              </a:rPr>
              <a:t>as opposed to actions like "log onto system" which is much more abstract.</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There is a standard set of operators for use in the KLM, whose execution times have been estimated from experimental data.</a:t>
            </a:r>
            <a:endParaRPr lang="en-US" sz="26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51</a:t>
            </a:fld>
            <a:endParaRPr lang="en-GB" altLang="en-US"/>
          </a:p>
        </p:txBody>
      </p:sp>
    </p:spTree>
    <p:extLst>
      <p:ext uri="{BB962C8B-B14F-4D97-AF65-F5344CB8AC3E}">
        <p14:creationId xmlns:p14="http://schemas.microsoft.com/office/powerpoint/2010/main" val="13714840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r>
              <a:rPr lang="en-US" sz="4000" b="1" dirty="0">
                <a:latin typeface="Times New Roman" panose="02020603050405020304" pitchFamily="18" charset="0"/>
                <a:cs typeface="Times New Roman" panose="02020603050405020304" pitchFamily="18" charset="0"/>
              </a:rPr>
              <a:t>Keystroke-Level Model (KLM)</a:t>
            </a:r>
            <a:br>
              <a:rPr lang="en-US" altLang="en-GH" sz="2000"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07368" y="1736725"/>
            <a:ext cx="11449272" cy="4644603"/>
          </a:xfrm>
        </p:spPr>
        <p:txBody>
          <a:bodyPr/>
          <a:lstStyle/>
          <a:p>
            <a:r>
              <a:rPr lang="en-US" sz="2600" dirty="0">
                <a:latin typeface="Times New Roman" panose="02020603050405020304" pitchFamily="18" charset="0"/>
                <a:cs typeface="Times New Roman" panose="02020603050405020304" pitchFamily="18" charset="0"/>
              </a:rPr>
              <a:t>The model decomposes the execution phase into five different </a:t>
            </a:r>
            <a:r>
              <a:rPr lang="en-US" sz="2600" b="1" dirty="0">
                <a:latin typeface="Times New Roman" panose="02020603050405020304" pitchFamily="18" charset="0"/>
                <a:cs typeface="Times New Roman" panose="02020603050405020304" pitchFamily="18" charset="0"/>
              </a:rPr>
              <a:t>physical motor operators</a:t>
            </a:r>
            <a:r>
              <a:rPr lang="en-US" sz="2600" dirty="0">
                <a:latin typeface="Times New Roman" panose="02020603050405020304" pitchFamily="18" charset="0"/>
                <a:cs typeface="Times New Roman" panose="02020603050405020304" pitchFamily="18" charset="0"/>
              </a:rPr>
              <a:t>, a </a:t>
            </a:r>
            <a:r>
              <a:rPr lang="en-US" sz="2600" b="1" dirty="0">
                <a:latin typeface="Times New Roman" panose="02020603050405020304" pitchFamily="18" charset="0"/>
                <a:cs typeface="Times New Roman" panose="02020603050405020304" pitchFamily="18" charset="0"/>
              </a:rPr>
              <a:t>mental operator </a:t>
            </a:r>
            <a:r>
              <a:rPr lang="en-US" sz="2600" dirty="0">
                <a:latin typeface="Times New Roman" panose="02020603050405020304" pitchFamily="18" charset="0"/>
                <a:cs typeface="Times New Roman" panose="02020603050405020304" pitchFamily="18" charset="0"/>
              </a:rPr>
              <a:t>and a </a:t>
            </a:r>
            <a:r>
              <a:rPr lang="en-US" sz="2600" b="1" dirty="0">
                <a:latin typeface="Times New Roman" panose="02020603050405020304" pitchFamily="18" charset="0"/>
                <a:cs typeface="Times New Roman" panose="02020603050405020304" pitchFamily="18" charset="0"/>
              </a:rPr>
              <a:t>system response operator</a:t>
            </a:r>
            <a:r>
              <a:rPr lang="en-US" sz="2600" dirty="0">
                <a:latin typeface="Times New Roman" panose="02020603050405020304" pitchFamily="18" charset="0"/>
                <a:cs typeface="Times New Roman" panose="02020603050405020304" pitchFamily="18" charset="0"/>
              </a:rPr>
              <a:t>:</a:t>
            </a:r>
          </a:p>
          <a:p>
            <a:r>
              <a:rPr lang="en-US" sz="2600" b="1" dirty="0">
                <a:latin typeface="Times New Roman" panose="02020603050405020304" pitchFamily="18" charset="0"/>
                <a:cs typeface="Times New Roman" panose="02020603050405020304" pitchFamily="18" charset="0"/>
              </a:rPr>
              <a:t>K </a:t>
            </a:r>
            <a:r>
              <a:rPr lang="en-US" sz="2600" dirty="0">
                <a:latin typeface="Times New Roman" panose="02020603050405020304" pitchFamily="18" charset="0"/>
                <a:cs typeface="Times New Roman" panose="02020603050405020304" pitchFamily="18" charset="0"/>
              </a:rPr>
              <a:t>Keystroking, actually striking keys, including shifts and other modifier keys.</a:t>
            </a:r>
          </a:p>
          <a:p>
            <a:r>
              <a:rPr lang="en-US" sz="2600" b="1" dirty="0">
                <a:latin typeface="Times New Roman" panose="02020603050405020304" pitchFamily="18" charset="0"/>
                <a:cs typeface="Times New Roman" panose="02020603050405020304" pitchFamily="18" charset="0"/>
              </a:rPr>
              <a:t>B </a:t>
            </a:r>
            <a:r>
              <a:rPr lang="en-US" sz="2600" dirty="0">
                <a:latin typeface="Times New Roman" panose="02020603050405020304" pitchFamily="18" charset="0"/>
                <a:cs typeface="Times New Roman" panose="02020603050405020304" pitchFamily="18" charset="0"/>
              </a:rPr>
              <a:t>Pressing a mouse button.</a:t>
            </a:r>
          </a:p>
          <a:p>
            <a:r>
              <a:rPr lang="en-US" sz="2600" b="1" dirty="0">
                <a:latin typeface="Times New Roman" panose="02020603050405020304" pitchFamily="18" charset="0"/>
                <a:cs typeface="Times New Roman" panose="02020603050405020304" pitchFamily="18" charset="0"/>
              </a:rPr>
              <a:t>P </a:t>
            </a:r>
            <a:r>
              <a:rPr lang="en-US" sz="2600" dirty="0">
                <a:latin typeface="Times New Roman" panose="02020603050405020304" pitchFamily="18" charset="0"/>
                <a:cs typeface="Times New Roman" panose="02020603050405020304" pitchFamily="18" charset="0"/>
              </a:rPr>
              <a:t>Pointing, moving the mouse (or similar device) at a target.</a:t>
            </a:r>
          </a:p>
          <a:p>
            <a:r>
              <a:rPr lang="en-US" sz="2600" b="1" dirty="0">
                <a:latin typeface="Times New Roman" panose="02020603050405020304" pitchFamily="18" charset="0"/>
                <a:cs typeface="Times New Roman" panose="02020603050405020304" pitchFamily="18" charset="0"/>
              </a:rPr>
              <a:t>H </a:t>
            </a:r>
            <a:r>
              <a:rPr lang="en-US" sz="2600" dirty="0">
                <a:latin typeface="Times New Roman" panose="02020603050405020304" pitchFamily="18" charset="0"/>
                <a:cs typeface="Times New Roman" panose="02020603050405020304" pitchFamily="18" charset="0"/>
              </a:rPr>
              <a:t>Homing, switching the hand between mouse and keyboard.</a:t>
            </a:r>
          </a:p>
          <a:p>
            <a:r>
              <a:rPr lang="en-US" sz="2600" b="1" dirty="0">
                <a:latin typeface="Times New Roman" panose="02020603050405020304" pitchFamily="18" charset="0"/>
                <a:cs typeface="Times New Roman" panose="02020603050405020304" pitchFamily="18" charset="0"/>
              </a:rPr>
              <a:t>D </a:t>
            </a:r>
            <a:r>
              <a:rPr lang="en-US" sz="2600" dirty="0">
                <a:latin typeface="Times New Roman" panose="02020603050405020304" pitchFamily="18" charset="0"/>
                <a:cs typeface="Times New Roman" panose="02020603050405020304" pitchFamily="18" charset="0"/>
              </a:rPr>
              <a:t>Drawing lines using the mouse.</a:t>
            </a:r>
            <a:endParaRPr lang="en-US" sz="2600" b="1"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M </a:t>
            </a:r>
            <a:r>
              <a:rPr lang="en-US" sz="2600" dirty="0">
                <a:latin typeface="Times New Roman" panose="02020603050405020304" pitchFamily="18" charset="0"/>
                <a:cs typeface="Times New Roman" panose="02020603050405020304" pitchFamily="18" charset="0"/>
              </a:rPr>
              <a:t>Mentally preparing for a physical action.</a:t>
            </a:r>
            <a:endParaRPr lang="en-US" sz="2600" b="1"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R </a:t>
            </a:r>
            <a:r>
              <a:rPr lang="en-US" sz="2600" dirty="0">
                <a:latin typeface="Times New Roman" panose="02020603050405020304" pitchFamily="18" charset="0"/>
                <a:cs typeface="Times New Roman" panose="02020603050405020304" pitchFamily="18" charset="0"/>
              </a:rPr>
              <a:t>System response (which may be ignored if the user does not have to wait for it) </a:t>
            </a:r>
          </a:p>
          <a:p>
            <a:endParaRPr 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52</a:t>
            </a:fld>
            <a:endParaRPr lang="en-GB" altLang="en-US"/>
          </a:p>
        </p:txBody>
      </p:sp>
      <p:sp>
        <p:nvSpPr>
          <p:cNvPr id="6" name="Right Brace 5"/>
          <p:cNvSpPr/>
          <p:nvPr/>
        </p:nvSpPr>
        <p:spPr>
          <a:xfrm>
            <a:off x="8688288" y="2636912"/>
            <a:ext cx="504056" cy="208823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Rectangle 6"/>
          <p:cNvSpPr/>
          <p:nvPr/>
        </p:nvSpPr>
        <p:spPr>
          <a:xfrm>
            <a:off x="9336360" y="3429000"/>
            <a:ext cx="2304256" cy="864096"/>
          </a:xfrm>
          <a:prstGeom prst="rect">
            <a:avLst/>
          </a:prstGeom>
          <a:noFill/>
          <a:ln>
            <a:noFill/>
          </a:ln>
        </p:spPr>
        <p:style>
          <a:lnRef idx="0">
            <a:scrgbClr r="0" g="0" b="0"/>
          </a:lnRef>
          <a:fillRef idx="0">
            <a:scrgbClr r="0" g="0" b="0"/>
          </a:fillRef>
          <a:effectRef idx="0">
            <a:scrgbClr r="0" g="0" b="0"/>
          </a:effectRef>
          <a:fontRef idx="minor">
            <a:schemeClr val="accent5"/>
          </a:fontRef>
        </p:style>
        <p:txBody>
          <a:bodyPr rtlCol="0" anchor="ctr"/>
          <a:lstStyle/>
          <a:p>
            <a:pPr algn="ctr"/>
            <a:r>
              <a:rPr lang="en-US" dirty="0"/>
              <a:t>Physical motor operators</a:t>
            </a:r>
          </a:p>
        </p:txBody>
      </p:sp>
      <p:cxnSp>
        <p:nvCxnSpPr>
          <p:cNvPr id="9" name="Straight Connector 8"/>
          <p:cNvCxnSpPr/>
          <p:nvPr/>
        </p:nvCxnSpPr>
        <p:spPr>
          <a:xfrm>
            <a:off x="5231904" y="5517232"/>
            <a:ext cx="360040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8363421" y="5373216"/>
            <a:ext cx="2016224"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Mental operator</a:t>
            </a:r>
          </a:p>
        </p:txBody>
      </p:sp>
      <p:cxnSp>
        <p:nvCxnSpPr>
          <p:cNvPr id="12" name="Straight Connector 11"/>
          <p:cNvCxnSpPr>
            <a:cxnSpLocks/>
          </p:cNvCxnSpPr>
          <p:nvPr/>
        </p:nvCxnSpPr>
        <p:spPr>
          <a:xfrm flipV="1">
            <a:off x="10848528" y="5229200"/>
            <a:ext cx="576064" cy="756171"/>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10788860" y="4790639"/>
            <a:ext cx="1991544"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response operator</a:t>
            </a:r>
          </a:p>
        </p:txBody>
      </p:sp>
    </p:spTree>
    <p:extLst>
      <p:ext uri="{BB962C8B-B14F-4D97-AF65-F5344CB8AC3E}">
        <p14:creationId xmlns:p14="http://schemas.microsoft.com/office/powerpoint/2010/main" val="32869812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53</a:t>
            </a:fld>
            <a:endParaRPr lang="en-GB" altLang="en-US"/>
          </a:p>
        </p:txBody>
      </p:sp>
      <p:pic>
        <p:nvPicPr>
          <p:cNvPr id="9" name="Content Placeholder 8">
            <a:extLst>
              <a:ext uri="{FF2B5EF4-FFF2-40B4-BE49-F238E27FC236}">
                <a16:creationId xmlns:a16="http://schemas.microsoft.com/office/drawing/2014/main" id="{8F71441D-12CD-6E51-B691-7139D568A1D4}"/>
              </a:ext>
            </a:extLst>
          </p:cNvPr>
          <p:cNvPicPr>
            <a:picLocks noGrp="1" noChangeAspect="1"/>
          </p:cNvPicPr>
          <p:nvPr>
            <p:ph idx="1"/>
          </p:nvPr>
        </p:nvPicPr>
        <p:blipFill rotWithShape="1">
          <a:blip r:embed="rId2"/>
          <a:srcRect l="26420" t="25025" r="20215" b="5164"/>
          <a:stretch/>
        </p:blipFill>
        <p:spPr>
          <a:xfrm>
            <a:off x="839416" y="476672"/>
            <a:ext cx="8856984" cy="6517404"/>
          </a:xfrm>
        </p:spPr>
      </p:pic>
    </p:spTree>
    <p:extLst>
      <p:ext uri="{BB962C8B-B14F-4D97-AF65-F5344CB8AC3E}">
        <p14:creationId xmlns:p14="http://schemas.microsoft.com/office/powerpoint/2010/main" val="3863508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rotWithShape="1">
          <a:blip r:embed="rId2"/>
          <a:srcRect l="17373" t="21444" r="30294" b="12324"/>
          <a:stretch/>
        </p:blipFill>
        <p:spPr>
          <a:xfrm>
            <a:off x="1775520" y="315613"/>
            <a:ext cx="8496944" cy="6045903"/>
          </a:xfrm>
          <a:prstGeom prst="rect">
            <a:avLst/>
          </a:prstGeom>
        </p:spPr>
      </p:pic>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54</a:t>
            </a:fld>
            <a:endParaRPr lang="en-GB" altLang="en-US"/>
          </a:p>
        </p:txBody>
      </p:sp>
    </p:spTree>
    <p:extLst>
      <p:ext uri="{BB962C8B-B14F-4D97-AF65-F5344CB8AC3E}">
        <p14:creationId xmlns:p14="http://schemas.microsoft.com/office/powerpoint/2010/main" val="12247736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rotWithShape="1">
          <a:blip r:embed="rId2"/>
          <a:srcRect l="13348" t="16075" r="31300" b="14114"/>
          <a:stretch/>
        </p:blipFill>
        <p:spPr>
          <a:xfrm>
            <a:off x="1065116" y="404664"/>
            <a:ext cx="8991323" cy="5544616"/>
          </a:xfrm>
          <a:prstGeom prst="rect">
            <a:avLst/>
          </a:prstGeom>
        </p:spPr>
      </p:pic>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55</a:t>
            </a:fld>
            <a:endParaRPr lang="en-GB" altLang="en-US"/>
          </a:p>
        </p:txBody>
      </p:sp>
    </p:spTree>
    <p:extLst>
      <p:ext uri="{BB962C8B-B14F-4D97-AF65-F5344CB8AC3E}">
        <p14:creationId xmlns:p14="http://schemas.microsoft.com/office/powerpoint/2010/main" val="12216782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rotWithShape="1">
          <a:blip r:embed="rId2"/>
          <a:srcRect l="17373" t="16075" r="33313" b="12324"/>
          <a:stretch/>
        </p:blipFill>
        <p:spPr>
          <a:xfrm>
            <a:off x="1343472" y="494307"/>
            <a:ext cx="9073008" cy="5526981"/>
          </a:xfrm>
          <a:prstGeom prst="rect">
            <a:avLst/>
          </a:prstGeom>
        </p:spPr>
      </p:pic>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56</a:t>
            </a:fld>
            <a:endParaRPr lang="en-GB" altLang="en-US"/>
          </a:p>
        </p:txBody>
      </p:sp>
    </p:spTree>
    <p:extLst>
      <p:ext uri="{BB962C8B-B14F-4D97-AF65-F5344CB8AC3E}">
        <p14:creationId xmlns:p14="http://schemas.microsoft.com/office/powerpoint/2010/main" val="15980352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l="14354" t="19654" r="29287" b="10534"/>
          <a:stretch/>
        </p:blipFill>
        <p:spPr>
          <a:xfrm>
            <a:off x="1559496" y="287338"/>
            <a:ext cx="8136904" cy="5666772"/>
          </a:xfrm>
          <a:prstGeom prst="rect">
            <a:avLst/>
          </a:prstGeom>
        </p:spPr>
      </p:pic>
      <p:sp>
        <p:nvSpPr>
          <p:cNvPr id="4" name="Slide Number Placeholder 3"/>
          <p:cNvSpPr>
            <a:spLocks noGrp="1"/>
          </p:cNvSpPr>
          <p:nvPr>
            <p:ph type="sldNum" sz="quarter" idx="12"/>
          </p:nvPr>
        </p:nvSpPr>
        <p:spPr/>
        <p:txBody>
          <a:bodyPr/>
          <a:lstStyle/>
          <a:p>
            <a:pPr>
              <a:defRPr/>
            </a:pPr>
            <a:fld id="{0CA33DAF-8E01-46BA-8B98-C3F739052EA6}" type="slidenum">
              <a:rPr lang="en-GB" altLang="en-US" smtClean="0"/>
              <a:pPr>
                <a:defRPr/>
              </a:pPr>
              <a:t>57</a:t>
            </a:fld>
            <a:endParaRPr lang="en-GB" altLang="en-US"/>
          </a:p>
        </p:txBody>
      </p:sp>
    </p:spTree>
    <p:extLst>
      <p:ext uri="{BB962C8B-B14F-4D97-AF65-F5344CB8AC3E}">
        <p14:creationId xmlns:p14="http://schemas.microsoft.com/office/powerpoint/2010/main" val="40522126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p:cNvSpPr>
            <a:spLocks noGrp="1" noChangeArrowheads="1"/>
          </p:cNvSpPr>
          <p:nvPr>
            <p:ph idx="1"/>
          </p:nvPr>
        </p:nvSpPr>
        <p:spPr>
          <a:xfrm>
            <a:off x="3124200" y="2924175"/>
            <a:ext cx="7086600" cy="2376488"/>
          </a:xfrm>
        </p:spPr>
        <p:txBody>
          <a:bodyPr/>
          <a:lstStyle/>
          <a:p>
            <a:pPr marL="0" indent="0" eaLnBrk="1" hangingPunct="1">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marL="0" indent="0" algn="ctr" eaLnBrk="1" hangingPunct="1">
              <a:buFont typeface="Arial" panose="020B0604020202020204" pitchFamily="34" charset="0"/>
              <a:buNone/>
            </a:pPr>
            <a:r>
              <a:rPr lang="en-US" altLang="en-US" sz="6600" dirty="0">
                <a:latin typeface="Times New Roman" panose="02020603050405020304" pitchFamily="18" charset="0"/>
                <a:cs typeface="Times New Roman" panose="02020603050405020304" pitchFamily="18" charset="0"/>
              </a:rPr>
              <a:t>THANK YOU</a:t>
            </a:r>
          </a:p>
        </p:txBody>
      </p:sp>
      <p:sp>
        <p:nvSpPr>
          <p:cNvPr id="59397" name="Date Placeholder 4"/>
          <p:cNvSpPr>
            <a:spLocks noGrp="1"/>
          </p:cNvSpPr>
          <p:nvPr>
            <p:ph type="dt" sz="quarter" idx="10"/>
          </p:nvPr>
        </p:nvSpPr>
        <p:spPr/>
        <p:txBody>
          <a:bodyPr/>
          <a:lstStyle/>
          <a:p>
            <a:pPr>
              <a:defRPr/>
            </a:pPr>
            <a:fld id="{BDEEDA69-C557-4CF5-B18C-B3053D04829F}" type="datetime1">
              <a:rPr lang="en-GB">
                <a:solidFill>
                  <a:schemeClr val="tx1">
                    <a:tint val="75000"/>
                  </a:schemeClr>
                </a:solidFill>
              </a:rPr>
              <a:pPr>
                <a:defRPr/>
              </a:pPr>
              <a:t>18/03/2024</a:t>
            </a:fld>
            <a:endParaRPr lang="en-GB" dirty="0">
              <a:solidFill>
                <a:schemeClr val="tx1">
                  <a:tint val="75000"/>
                </a:schemeClr>
              </a:solidFill>
            </a:endParaRPr>
          </a:p>
        </p:txBody>
      </p:sp>
      <p:sp>
        <p:nvSpPr>
          <p:cNvPr id="17412"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3B7ECC9-DE86-4384-8035-3C9A356983CB}" type="slidenum">
              <a:rPr lang="en-GB" altLang="en-US" sz="2800" smtClean="0">
                <a:solidFill>
                  <a:schemeClr val="folHlink"/>
                </a:solidFill>
                <a:latin typeface="Arial" panose="020B0604020202020204" pitchFamily="34" charset="0"/>
                <a:cs typeface="Arial" panose="020B0604020202020204" pitchFamily="34" charset="0"/>
              </a:rPr>
              <a:pPr/>
              <a:t>58</a:t>
            </a:fld>
            <a:endParaRPr lang="en-GB" altLang="en-US" sz="2800">
              <a:solidFill>
                <a:schemeClr val="folHlink"/>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18356</TotalTime>
  <Words>3243</Words>
  <Application>Microsoft Office PowerPoint</Application>
  <PresentationFormat>Widescreen</PresentationFormat>
  <Paragraphs>302</Paragraphs>
  <Slides>58</Slides>
  <Notes>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58</vt:i4>
      </vt:variant>
    </vt:vector>
  </HeadingPairs>
  <TitlesOfParts>
    <vt:vector size="69" baseType="lpstr">
      <vt:lpstr>Arial</vt:lpstr>
      <vt:lpstr>Calibri</vt:lpstr>
      <vt:lpstr>Calibri Light</vt:lpstr>
      <vt:lpstr>Century Gothic</vt:lpstr>
      <vt:lpstr>Comic Sans MS</vt:lpstr>
      <vt:lpstr>Futura Md BT</vt:lpstr>
      <vt:lpstr>Monotype Sorts</vt:lpstr>
      <vt:lpstr>Times New Roman</vt:lpstr>
      <vt:lpstr>Wingdings</vt:lpstr>
      <vt:lpstr>Retrospect</vt:lpstr>
      <vt:lpstr>Microsoft ClipArt Gallery</vt:lpstr>
      <vt:lpstr> CSM 357 Human-Computer Interaction lecture 6: HCI Paradigms/ Cognitive models</vt:lpstr>
      <vt:lpstr>HCI PARADIGMS</vt:lpstr>
      <vt:lpstr>HCI Paradigms</vt:lpstr>
      <vt:lpstr>HCI Paradigms</vt:lpstr>
      <vt:lpstr>The initial paradigm: Batch processing </vt:lpstr>
      <vt:lpstr>Batch Processing systems</vt:lpstr>
      <vt:lpstr>Batch Processing systems</vt:lpstr>
      <vt:lpstr>Example Paradigm Shifts: Time-sharing </vt:lpstr>
      <vt:lpstr>Paradigms for interaction: Time sharing</vt:lpstr>
      <vt:lpstr>Paradigms for interaction: Time sharing</vt:lpstr>
      <vt:lpstr>Paradigms for interaction: Time sharing</vt:lpstr>
      <vt:lpstr>Example Paradigm Shifts: Networking</vt:lpstr>
      <vt:lpstr>Example Paradigm Shifts: Graphical displays </vt:lpstr>
      <vt:lpstr>Example Paradigm Shifts: Microprocessor</vt:lpstr>
      <vt:lpstr>Example Paradigm Shifts: WWW</vt:lpstr>
      <vt:lpstr>Example Paradigm Shifts: WWW</vt:lpstr>
      <vt:lpstr>Example Paradigm Shifts: WWW</vt:lpstr>
      <vt:lpstr>Video Display Units</vt:lpstr>
      <vt:lpstr>Ubiquitous Computing</vt:lpstr>
      <vt:lpstr>Ubiquitous Computing</vt:lpstr>
      <vt:lpstr>Ubiquitous Computing</vt:lpstr>
      <vt:lpstr>Cognitive models</vt:lpstr>
      <vt:lpstr>Cognitive models</vt:lpstr>
      <vt:lpstr>Cognitive models: Predicting Human Behaviour on Proposed Interactive Systems </vt:lpstr>
      <vt:lpstr>Uses of cognitive models</vt:lpstr>
      <vt:lpstr>Cognitive models in HCI</vt:lpstr>
      <vt:lpstr>Hierarchical models represent a user’s task and goal structure </vt:lpstr>
      <vt:lpstr>Hierarchical models represent a user’s task and goal structure </vt:lpstr>
      <vt:lpstr>Hierarchical models represent a user’s task and goal structure </vt:lpstr>
      <vt:lpstr>GOMS: HCI</vt:lpstr>
      <vt:lpstr>GOMS  Model</vt:lpstr>
      <vt:lpstr>GOMS: GOALS</vt:lpstr>
      <vt:lpstr>GOMS: Operations</vt:lpstr>
      <vt:lpstr>GOMS: Methods</vt:lpstr>
      <vt:lpstr>GOMS: Methods/Select</vt:lpstr>
      <vt:lpstr>GOMS: Selection</vt:lpstr>
      <vt:lpstr>GOMS: Selection</vt:lpstr>
      <vt:lpstr>PowerPoint Presentation</vt:lpstr>
      <vt:lpstr>Exercise</vt:lpstr>
      <vt:lpstr>PowerPoint Presentation</vt:lpstr>
      <vt:lpstr>PowerPoint Presentation</vt:lpstr>
      <vt:lpstr>PowerPoint Presentation</vt:lpstr>
      <vt:lpstr>PowerPoint Presentation</vt:lpstr>
      <vt:lpstr>Cognitive complexity theory</vt:lpstr>
      <vt:lpstr>Cognitive complexity theory: Production rules</vt:lpstr>
      <vt:lpstr>Cognitive complexity theory: Production rules</vt:lpstr>
      <vt:lpstr>PowerPoint Presentation</vt:lpstr>
      <vt:lpstr>PowerPoint Presentation</vt:lpstr>
      <vt:lpstr>Linguistic models represent the user–system grammar: Backus-Naur Form (BNF)  </vt:lpstr>
      <vt:lpstr>PowerPoint Presentation</vt:lpstr>
      <vt:lpstr>Keystroke-Level Model (KLM)</vt:lpstr>
      <vt:lpstr>Keystroke-Level Model (KLM)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knowledge management</dc:title>
  <dc:creator>Pierro</dc:creator>
  <cp:lastModifiedBy>Rose-Mary Owusuaa Mensah Gyening</cp:lastModifiedBy>
  <cp:revision>479</cp:revision>
  <cp:lastPrinted>2018-09-24T12:35:42Z</cp:lastPrinted>
  <dcterms:created xsi:type="dcterms:W3CDTF">2011-10-18T10:49:17Z</dcterms:created>
  <dcterms:modified xsi:type="dcterms:W3CDTF">2024-03-18T19:17:31Z</dcterms:modified>
</cp:coreProperties>
</file>