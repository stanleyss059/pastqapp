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17" r:id="rId1"/>
  </p:sldMasterIdLst>
  <p:notesMasterIdLst>
    <p:notesMasterId r:id="rId62"/>
  </p:notesMasterIdLst>
  <p:handoutMasterIdLst>
    <p:handoutMasterId r:id="rId63"/>
  </p:handoutMasterIdLst>
  <p:sldIdLst>
    <p:sldId id="377" r:id="rId2"/>
    <p:sldId id="329" r:id="rId3"/>
    <p:sldId id="449" r:id="rId4"/>
    <p:sldId id="330" r:id="rId5"/>
    <p:sldId id="370" r:id="rId6"/>
    <p:sldId id="331" r:id="rId7"/>
    <p:sldId id="332" r:id="rId8"/>
    <p:sldId id="371" r:id="rId9"/>
    <p:sldId id="333" r:id="rId10"/>
    <p:sldId id="334" r:id="rId11"/>
    <p:sldId id="446" r:id="rId12"/>
    <p:sldId id="335" r:id="rId13"/>
    <p:sldId id="372" r:id="rId14"/>
    <p:sldId id="336" r:id="rId15"/>
    <p:sldId id="337" r:id="rId16"/>
    <p:sldId id="338" r:id="rId17"/>
    <p:sldId id="379" r:id="rId18"/>
    <p:sldId id="378" r:id="rId19"/>
    <p:sldId id="447" r:id="rId20"/>
    <p:sldId id="339" r:id="rId21"/>
    <p:sldId id="340" r:id="rId22"/>
    <p:sldId id="341" r:id="rId23"/>
    <p:sldId id="342" r:id="rId24"/>
    <p:sldId id="380" r:id="rId25"/>
    <p:sldId id="343" r:id="rId26"/>
    <p:sldId id="381" r:id="rId27"/>
    <p:sldId id="344" r:id="rId28"/>
    <p:sldId id="345" r:id="rId29"/>
    <p:sldId id="346" r:id="rId30"/>
    <p:sldId id="347" r:id="rId31"/>
    <p:sldId id="348" r:id="rId32"/>
    <p:sldId id="349" r:id="rId33"/>
    <p:sldId id="350" r:id="rId34"/>
    <p:sldId id="351" r:id="rId35"/>
    <p:sldId id="352" r:id="rId36"/>
    <p:sldId id="353" r:id="rId37"/>
    <p:sldId id="354" r:id="rId38"/>
    <p:sldId id="374" r:id="rId39"/>
    <p:sldId id="355" r:id="rId40"/>
    <p:sldId id="356" r:id="rId41"/>
    <p:sldId id="382" r:id="rId42"/>
    <p:sldId id="357" r:id="rId43"/>
    <p:sldId id="358" r:id="rId44"/>
    <p:sldId id="359" r:id="rId45"/>
    <p:sldId id="360" r:id="rId46"/>
    <p:sldId id="361" r:id="rId47"/>
    <p:sldId id="362" r:id="rId48"/>
    <p:sldId id="363" r:id="rId49"/>
    <p:sldId id="383" r:id="rId50"/>
    <p:sldId id="364" r:id="rId51"/>
    <p:sldId id="365" r:id="rId52"/>
    <p:sldId id="366" r:id="rId53"/>
    <p:sldId id="375" r:id="rId54"/>
    <p:sldId id="367" r:id="rId55"/>
    <p:sldId id="368" r:id="rId56"/>
    <p:sldId id="376" r:id="rId57"/>
    <p:sldId id="369" r:id="rId58"/>
    <p:sldId id="448" r:id="rId59"/>
    <p:sldId id="384" r:id="rId60"/>
    <p:sldId id="315" r:id="rId61"/>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3" d="100"/>
          <a:sy n="93" d="100"/>
        </p:scale>
        <p:origin x="274" y="67"/>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eaLnBrk="1" fontAlgn="auto" hangingPunct="1">
              <a:spcBef>
                <a:spcPts val="0"/>
              </a:spcBef>
              <a:spcAft>
                <a:spcPts val="0"/>
              </a:spcAft>
              <a:defRPr sz="1200">
                <a:latin typeface="+mn-lt"/>
              </a:defRPr>
            </a:lvl1pPr>
          </a:lstStyle>
          <a:p>
            <a:pPr>
              <a:defRPr/>
            </a:pPr>
            <a:fld id="{7EFE7336-02EE-41CA-8B7B-C60B20EE8FE4}" type="datetimeFigureOut">
              <a:rPr lang="en-US"/>
              <a:pPr>
                <a:defRPr/>
              </a:pPr>
              <a:t>3/18/2024</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fld id="{01421602-B55C-4D52-B934-85A55A2E53C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fontAlgn="auto" hangingPunct="1">
              <a:spcBef>
                <a:spcPts val="0"/>
              </a:spcBef>
              <a:spcAft>
                <a:spcPts val="0"/>
              </a:spcAft>
              <a:defRPr sz="1200">
                <a:latin typeface="Arial" charset="0"/>
                <a:cs typeface="+mn-cs"/>
              </a:defRPr>
            </a:lvl1pPr>
          </a:lstStyle>
          <a:p>
            <a:pPr>
              <a:defRPr/>
            </a:pPr>
            <a:endParaRPr lang="en-GB"/>
          </a:p>
        </p:txBody>
      </p:sp>
      <p:sp>
        <p:nvSpPr>
          <p:cNvPr id="8196"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a:lvl1pPr>
          </a:lstStyle>
          <a:p>
            <a:fld id="{BDECF8CB-37C3-4410-8695-35F0AE005628}"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Newsgroup, Internet-based discussion group, similar to a bulletin board system (BBS), where people post messages concerning whatever topic around which the group is organized.</a:t>
            </a:r>
          </a:p>
        </p:txBody>
      </p:sp>
      <p:sp>
        <p:nvSpPr>
          <p:cNvPr id="4" name="Slide Number Placeholder 3"/>
          <p:cNvSpPr>
            <a:spLocks noGrp="1"/>
          </p:cNvSpPr>
          <p:nvPr>
            <p:ph type="sldNum" sz="quarter" idx="10"/>
          </p:nvPr>
        </p:nvSpPr>
        <p:spPr/>
        <p:txBody>
          <a:bodyPr/>
          <a:lstStyle/>
          <a:p>
            <a:fld id="{BDECF8CB-37C3-4410-8695-35F0AE005628}" type="slidenum">
              <a:rPr lang="en-GB" altLang="en-US" smtClean="0"/>
              <a:pPr/>
              <a:t>31</a:t>
            </a:fld>
            <a:endParaRPr lang="en-GB" altLang="en-US"/>
          </a:p>
        </p:txBody>
      </p:sp>
    </p:spTree>
    <p:extLst>
      <p:ext uri="{BB962C8B-B14F-4D97-AF65-F5344CB8AC3E}">
        <p14:creationId xmlns:p14="http://schemas.microsoft.com/office/powerpoint/2010/main" val="3545160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86370504-2AAF-4F16-8BC2-F3A6E712D736}"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C7AFD7A7-5A35-4050-A67E-AB6BFFB9C8F1}" type="slidenum">
              <a:rPr lang="en-US" altLang="en-US" smtClean="0"/>
              <a:pPr/>
              <a:t>‹#›</a:t>
            </a:fld>
            <a:endParaRPr lang="en-US"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387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AD43745-DB92-4769-BA46-44AF65005848}"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6D012235-B351-4270-A2D7-CDF0C6F62708}" type="slidenum">
              <a:rPr lang="en-GB" altLang="en-US" smtClean="0"/>
              <a:pPr/>
              <a:t>‹#›</a:t>
            </a:fld>
            <a:endParaRPr lang="en-GB" altLang="en-US"/>
          </a:p>
        </p:txBody>
      </p:sp>
    </p:spTree>
    <p:extLst>
      <p:ext uri="{BB962C8B-B14F-4D97-AF65-F5344CB8AC3E}">
        <p14:creationId xmlns:p14="http://schemas.microsoft.com/office/powerpoint/2010/main" val="213920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F3121D20-0A77-4B9B-AC59-6B09AD4EF3A8}"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4A261F8C-FF2C-41EB-803B-266FDEFD047D}" type="slidenum">
              <a:rPr lang="en-GB" altLang="en-US" smtClean="0"/>
              <a:pPr/>
              <a:t>‹#›</a:t>
            </a:fld>
            <a:endParaRPr lang="en-GB"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247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22350C3D-3B1E-42D0-B2C5-CEEF0CC00041}" type="datetime1">
              <a:rPr lang="en-GB" smtClean="0"/>
              <a:pPr>
                <a:defRPr/>
              </a:pPr>
              <a:t>18/03/2024</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E7BFFCB2-02AA-4E3C-9A2F-4A07B8EA90A1}" type="slidenum">
              <a:rPr lang="en-GB" altLang="en-US" smtClean="0"/>
              <a:pPr/>
              <a:t>‹#›</a:t>
            </a:fld>
            <a:endParaRPr lang="en-GB" altLang="en-US"/>
          </a:p>
        </p:txBody>
      </p:sp>
    </p:spTree>
    <p:extLst>
      <p:ext uri="{BB962C8B-B14F-4D97-AF65-F5344CB8AC3E}">
        <p14:creationId xmlns:p14="http://schemas.microsoft.com/office/powerpoint/2010/main" val="1235753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75F769A0-3BE5-4EFC-94F0-46AB9A00EAB7}" type="datetime1">
              <a:rPr lang="en-GB" smtClean="0"/>
              <a:pPr>
                <a:defRPr/>
              </a:pPr>
              <a:t>18/03/2024</a:t>
            </a:fld>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fld id="{134DE7B7-7A22-498B-9958-DE501E01B1E3}" type="slidenum">
              <a:rPr lang="en-GB" altLang="en-US" smtClean="0"/>
              <a:pPr/>
              <a:t>‹#›</a:t>
            </a:fld>
            <a:endParaRPr lang="en-GB" altLang="en-US"/>
          </a:p>
        </p:txBody>
      </p:sp>
    </p:spTree>
    <p:extLst>
      <p:ext uri="{BB962C8B-B14F-4D97-AF65-F5344CB8AC3E}">
        <p14:creationId xmlns:p14="http://schemas.microsoft.com/office/powerpoint/2010/main" val="1083993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D384F2A6-FD6D-4F6E-B0E2-20B14123CA7A}" type="datetime1">
              <a:rPr lang="en-GB" smtClean="0"/>
              <a:pPr>
                <a:defRPr/>
              </a:pPr>
              <a:t>18/03/2024</a:t>
            </a:fld>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fld id="{4CE72D15-9C92-457C-BED2-5269FD458418}" type="slidenum">
              <a:rPr lang="en-GB" altLang="en-US" smtClean="0"/>
              <a:pPr/>
              <a:t>‹#›</a:t>
            </a:fld>
            <a:endParaRPr lang="en-GB" altLang="en-US"/>
          </a:p>
        </p:txBody>
      </p:sp>
    </p:spTree>
    <p:extLst>
      <p:ext uri="{BB962C8B-B14F-4D97-AF65-F5344CB8AC3E}">
        <p14:creationId xmlns:p14="http://schemas.microsoft.com/office/powerpoint/2010/main" val="2110914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4717B902-E183-43FC-BE8C-38CFE7EF06BD}" type="datetime1">
              <a:rPr lang="en-GB" smtClean="0"/>
              <a:pPr>
                <a:defRPr/>
              </a:pPr>
              <a:t>18/03/2024</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GB"/>
          </a:p>
        </p:txBody>
      </p:sp>
      <p:sp>
        <p:nvSpPr>
          <p:cNvPr id="9" name="Slide Number Placeholder 8"/>
          <p:cNvSpPr>
            <a:spLocks noGrp="1"/>
          </p:cNvSpPr>
          <p:nvPr>
            <p:ph type="sldNum" sz="quarter" idx="12"/>
          </p:nvPr>
        </p:nvSpPr>
        <p:spPr/>
        <p:txBody>
          <a:bodyPr/>
          <a:lstStyle/>
          <a:p>
            <a:fld id="{EABA981C-40A5-4A6F-970C-D81CC18C10B3}" type="slidenum">
              <a:rPr lang="en-GB" altLang="en-US" smtClean="0"/>
              <a:pPr/>
              <a:t>‹#›</a:t>
            </a:fld>
            <a:endParaRPr lang="en-GB" altLang="en-US"/>
          </a:p>
        </p:txBody>
      </p:sp>
    </p:spTree>
    <p:extLst>
      <p:ext uri="{BB962C8B-B14F-4D97-AF65-F5344CB8AC3E}">
        <p14:creationId xmlns:p14="http://schemas.microsoft.com/office/powerpoint/2010/main" val="3866012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fld id="{F3076178-0A9D-4894-8F22-76F9482278E8}" type="datetime1">
              <a:rPr lang="en-GB" smtClean="0"/>
              <a:pPr>
                <a:defRPr/>
              </a:pPr>
              <a:t>18/03/2024</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87C39A6-C855-45BE-B0C0-8BD6EC5CB3D4}" type="slidenum">
              <a:rPr lang="en-GB" altLang="en-US" smtClean="0"/>
              <a:pPr/>
              <a:t>‹#›</a:t>
            </a:fld>
            <a:endParaRPr lang="en-GB" altLang="en-US"/>
          </a:p>
        </p:txBody>
      </p:sp>
    </p:spTree>
    <p:extLst>
      <p:ext uri="{BB962C8B-B14F-4D97-AF65-F5344CB8AC3E}">
        <p14:creationId xmlns:p14="http://schemas.microsoft.com/office/powerpoint/2010/main" val="4033372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pPr>
              <a:defRPr/>
            </a:pPr>
            <a:fld id="{E8ECC225-AC29-42C2-AA84-1B8BE39F0923}" type="datetime1">
              <a:rPr lang="en-GB" smtClean="0"/>
              <a:pPr>
                <a:defRPr/>
              </a:pPr>
              <a:t>18/03/2024</a:t>
            </a:fld>
            <a:endParaRPr lang="en-GB"/>
          </a:p>
        </p:txBody>
      </p:sp>
      <p:sp>
        <p:nvSpPr>
          <p:cNvPr id="6" name="Footer Placeholder 5"/>
          <p:cNvSpPr>
            <a:spLocks noGrp="1"/>
          </p:cNvSpPr>
          <p:nvPr>
            <p:ph type="ftr" sz="quarter" idx="11"/>
          </p:nvPr>
        </p:nvSpPr>
        <p:spPr/>
        <p:txBody>
          <a:bodyPr/>
          <a:lstStyle>
            <a:lvl1pPr>
              <a:defRPr>
                <a:solidFill>
                  <a:schemeClr val="tx2"/>
                </a:solidFill>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F35B1CF-49FD-4146-A931-E7F5EC4D91A5}" type="slidenum">
              <a:rPr lang="en-GB" altLang="en-US" smtClean="0"/>
              <a:pPr/>
              <a:t>‹#›</a:t>
            </a:fld>
            <a:endParaRPr lang="en-GB" altLang="en-US"/>
          </a:p>
        </p:txBody>
      </p:sp>
    </p:spTree>
    <p:extLst>
      <p:ext uri="{BB962C8B-B14F-4D97-AF65-F5344CB8AC3E}">
        <p14:creationId xmlns:p14="http://schemas.microsoft.com/office/powerpoint/2010/main" val="263985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92875E5-A85B-4FB7-88DF-06BE6DDBEA1E}"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B522ED04-7C04-4F10-B7A7-8800923D989A}" type="slidenum">
              <a:rPr lang="en-GB" altLang="en-US" smtClean="0"/>
              <a:pPr/>
              <a:t>‹#›</a:t>
            </a:fld>
            <a:endParaRPr lang="en-GB" altLang="en-US"/>
          </a:p>
        </p:txBody>
      </p:sp>
    </p:spTree>
    <p:extLst>
      <p:ext uri="{BB962C8B-B14F-4D97-AF65-F5344CB8AC3E}">
        <p14:creationId xmlns:p14="http://schemas.microsoft.com/office/powerpoint/2010/main" val="2402850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D3256E6-33F1-4FA3-82B5-7E1FDB2033F1}" type="datetime1">
              <a:rPr lang="en-GB" smtClean="0"/>
              <a:pPr>
                <a:defRPr/>
              </a:pPr>
              <a:t>18/03/2024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804BDBBD-0934-44AF-A8F3-6B4C99F2AE85}" type="slidenum">
              <a:rPr lang="en-GB" altLang="en-US" smtClean="0"/>
              <a:pPr/>
              <a:t>‹#›</a:t>
            </a:fld>
            <a:endParaRPr lang="en-GB" altLang="en-US"/>
          </a:p>
        </p:txBody>
      </p:sp>
    </p:spTree>
    <p:extLst>
      <p:ext uri="{BB962C8B-B14F-4D97-AF65-F5344CB8AC3E}">
        <p14:creationId xmlns:p14="http://schemas.microsoft.com/office/powerpoint/2010/main" val="2450407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BAD8E7F5-F5AB-4B38-9547-5C44D2DAC0A8}" type="datetime1">
              <a:rPr lang="en-GB" smtClean="0"/>
              <a:pPr>
                <a:defRPr/>
              </a:pPr>
              <a:t>18/03/2024</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071728-9CE3-4C36-BBC6-9EF90C567C80}" type="slidenum">
              <a:rPr lang="en-GB" altLang="en-US" smtClean="0"/>
              <a:pPr/>
              <a:t>‹#›</a:t>
            </a:fld>
            <a:endParaRPr lang="en-GB"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1796756"/>
      </p:ext>
    </p:extLst>
  </p:cSld>
  <p:clrMap bg1="dk1" tx1="lt1" bg2="dk2" tx2="lt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550863" y="1484313"/>
            <a:ext cx="10831512" cy="2736850"/>
          </a:xfrm>
        </p:spPr>
        <p:txBody>
          <a:bodyPr>
            <a:normAutofit fontScale="90000"/>
          </a:bodyPr>
          <a:lstStyle/>
          <a:p>
            <a:pPr algn="ctr" fontAlgn="auto">
              <a:spcAft>
                <a:spcPts val="0"/>
              </a:spcAft>
              <a:defRPr/>
            </a:pPr>
            <a:r>
              <a:rPr lang="en-GB" altLang="en-US" dirty="0">
                <a:latin typeface="Futura Md BT"/>
              </a:rPr>
              <a:t> </a:t>
            </a:r>
            <a:r>
              <a:rPr lang="en-GB" altLang="en-US" sz="3300" dirty="0">
                <a:latin typeface="Futura Md BT"/>
              </a:rPr>
              <a:t>CSM 357</a:t>
            </a:r>
            <a:br>
              <a:rPr lang="en-GB" altLang="en-US" dirty="0">
                <a:latin typeface="Futura Md BT"/>
              </a:rPr>
            </a:br>
            <a:r>
              <a:rPr lang="en-GB" altLang="en-US" sz="6000" dirty="0">
                <a:solidFill>
                  <a:schemeClr val="tx1"/>
                </a:solidFill>
              </a:rPr>
              <a:t>Human-Computer Interaction</a:t>
            </a:r>
            <a:br>
              <a:rPr lang="en-GB" altLang="en-US" dirty="0">
                <a:solidFill>
                  <a:srgbClr val="FFC551"/>
                </a:solidFill>
              </a:rPr>
            </a:br>
            <a:br>
              <a:rPr lang="en-GB" altLang="en-US" dirty="0">
                <a:solidFill>
                  <a:srgbClr val="FFC551"/>
                </a:solidFill>
              </a:rPr>
            </a:br>
            <a:r>
              <a:rPr lang="en-GB" altLang="en-US" sz="2400" dirty="0">
                <a:solidFill>
                  <a:schemeClr val="tx1"/>
                </a:solidFill>
              </a:rPr>
              <a:t>lecture 3:</a:t>
            </a:r>
            <a:r>
              <a:rPr lang="en-GB" altLang="en-US" sz="2400" dirty="0">
                <a:latin typeface="Times New Roman" panose="02020603050405020304" pitchFamily="18" charset="0"/>
                <a:cs typeface="Times New Roman" panose="02020603050405020304" pitchFamily="18" charset="0"/>
              </a:rPr>
              <a:t> Interaction models in Human-Computer Interaction</a:t>
            </a:r>
            <a:endParaRPr lang="en-GH" sz="2400" dirty="0"/>
          </a:p>
        </p:txBody>
      </p:sp>
      <p:sp>
        <p:nvSpPr>
          <p:cNvPr id="6" name="Subtitle 5"/>
          <p:cNvSpPr>
            <a:spLocks noGrp="1"/>
          </p:cNvSpPr>
          <p:nvPr>
            <p:ph type="subTitle" idx="1"/>
          </p:nvPr>
        </p:nvSpPr>
        <p:spPr>
          <a:xfrm>
            <a:off x="5375275" y="5949950"/>
            <a:ext cx="6646863" cy="441325"/>
          </a:xfrm>
        </p:spPr>
        <p:txBody>
          <a:bodyPr rtlCol="0"/>
          <a:lstStyle/>
          <a:p>
            <a:pPr fontAlgn="auto">
              <a:defRPr/>
            </a:pPr>
            <a:r>
              <a:rPr lang="en-GB" sz="1800" b="1" dirty="0">
                <a:solidFill>
                  <a:srgbClr val="0070C0"/>
                </a:solidFill>
              </a:rPr>
              <a:t>Rose-Mary Owusuaa Mensah Gyening(PhD)</a:t>
            </a:r>
          </a:p>
          <a:p>
            <a:pPr fontAlgn="auto">
              <a:defRPr/>
            </a:pPr>
            <a:endParaRPr lang="en-GH" dirty="0"/>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89A3B952-BAFD-4B74-8528-415293C1860F}" type="slidenum">
              <a:rPr lang="en-GB" altLang="en-US">
                <a:solidFill>
                  <a:srgbClr val="FFFFFF"/>
                </a:solidFill>
              </a:rPr>
              <a:pPr/>
              <a:t>1</a:t>
            </a:fld>
            <a:endParaRPr lang="en-GB" altLang="en-US">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algn="ctr" fontAlgn="auto">
              <a:spcAft>
                <a:spcPts val="0"/>
              </a:spcAft>
              <a:defRPr/>
            </a:pPr>
            <a:r>
              <a:rPr lang="en-GB" altLang="en-US" sz="2800">
                <a:solidFill>
                  <a:schemeClr val="tx1">
                    <a:lumMod val="75000"/>
                    <a:lumOff val="25000"/>
                  </a:schemeClr>
                </a:solidFill>
                <a:latin typeface="Times New Roman" panose="02020603050405020304" pitchFamily="18" charset="0"/>
                <a:cs typeface="Times New Roman" panose="02020603050405020304" pitchFamily="18" charset="0"/>
              </a:rPr>
              <a:t>Human Computer Interaction</a:t>
            </a:r>
            <a:br>
              <a:rPr lang="en-GB" altLang="en-US" sz="280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a:solidFill>
                <a:schemeClr val="tx1">
                  <a:lumMod val="75000"/>
                  <a:lumOff val="25000"/>
                </a:schemeClr>
              </a:solidFill>
              <a:latin typeface="Futura Md BT" panose="020B0602020204020303"/>
            </a:endParaRPr>
          </a:p>
        </p:txBody>
      </p:sp>
      <p:sp>
        <p:nvSpPr>
          <p:cNvPr id="11267" name="Content Placeholder 2"/>
          <p:cNvSpPr>
            <a:spLocks noGrp="1" noChangeArrowheads="1"/>
          </p:cNvSpPr>
          <p:nvPr>
            <p:ph idx="1"/>
          </p:nvPr>
        </p:nvSpPr>
        <p:spPr>
          <a:xfrm>
            <a:off x="838200" y="1825625"/>
            <a:ext cx="10802938" cy="4351338"/>
          </a:xfrm>
        </p:spPr>
        <p:txBody>
          <a:bodyPr/>
          <a:lstStyle/>
          <a:p>
            <a:r>
              <a:rPr lang="en-US" altLang="en-US" sz="3600" dirty="0">
                <a:latin typeface="Times New Roman" panose="02020603050405020304" pitchFamily="18" charset="0"/>
                <a:cs typeface="Times New Roman" panose="02020603050405020304" pitchFamily="18" charset="0"/>
              </a:rPr>
              <a:t>In this section, we will consider the communication between user and system: the </a:t>
            </a:r>
            <a:r>
              <a:rPr lang="en-US" altLang="en-US" sz="3600" b="1" i="1" dirty="0">
                <a:latin typeface="Times New Roman" panose="02020603050405020304" pitchFamily="18" charset="0"/>
                <a:cs typeface="Times New Roman" panose="02020603050405020304" pitchFamily="18" charset="0"/>
              </a:rPr>
              <a:t>interaction</a:t>
            </a:r>
            <a:r>
              <a:rPr lang="en-US" altLang="en-US" sz="3600" dirty="0">
                <a:latin typeface="Times New Roman" panose="02020603050405020304" pitchFamily="18" charset="0"/>
                <a:cs typeface="Times New Roman" panose="02020603050405020304" pitchFamily="18" charset="0"/>
              </a:rPr>
              <a:t>. </a:t>
            </a:r>
          </a:p>
          <a:p>
            <a:pPr marL="0" indent="0">
              <a:buNone/>
            </a:pPr>
            <a:endParaRPr lang="en-US" altLang="en-US" sz="3600" dirty="0">
              <a:latin typeface="Times New Roman" panose="02020603050405020304" pitchFamily="18" charset="0"/>
              <a:cs typeface="Times New Roman" panose="02020603050405020304" pitchFamily="18" charset="0"/>
            </a:endParaRPr>
          </a:p>
          <a:p>
            <a:endParaRPr lang="en-US" altLang="en-US" sz="3600" dirty="0">
              <a:latin typeface="Times New Roman" panose="02020603050405020304" pitchFamily="18" charset="0"/>
              <a:cs typeface="Times New Roman" panose="02020603050405020304" pitchFamily="18" charset="0"/>
            </a:endParaRPr>
          </a:p>
          <a:p>
            <a:r>
              <a:rPr lang="en-US" altLang="en-US" sz="3600" dirty="0">
                <a:latin typeface="Times New Roman" panose="02020603050405020304" pitchFamily="18" charset="0"/>
                <a:cs typeface="Times New Roman" panose="02020603050405020304" pitchFamily="18" charset="0"/>
              </a:rPr>
              <a:t>We will look at some </a:t>
            </a:r>
            <a:r>
              <a:rPr lang="en-US" altLang="en-US" sz="3600" b="1" dirty="0">
                <a:latin typeface="Times New Roman" panose="02020603050405020304" pitchFamily="18" charset="0"/>
                <a:cs typeface="Times New Roman" panose="02020603050405020304" pitchFamily="18" charset="0"/>
              </a:rPr>
              <a:t>models of interaction </a:t>
            </a:r>
            <a:r>
              <a:rPr lang="en-US" altLang="en-US" sz="3600" dirty="0">
                <a:latin typeface="Times New Roman" panose="02020603050405020304" pitchFamily="18" charset="0"/>
                <a:cs typeface="Times New Roman" panose="02020603050405020304" pitchFamily="18" charset="0"/>
              </a:rPr>
              <a:t>that enable us to identify and evaluate components of the interaction, and at the physical, social and organizational issues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52BF6A79-0F36-4BB3-9513-66D315290C1B}" type="slidenum">
              <a:rPr lang="en-GB" altLang="en-US">
                <a:solidFill>
                  <a:srgbClr val="FFC551"/>
                </a:solidFill>
                <a:latin typeface="Century Gothic" panose="020B0502020202020204" pitchFamily="34" charset="0"/>
                <a:cs typeface="Arial" panose="020B0604020202020204" pitchFamily="34" charset="0"/>
              </a:rPr>
              <a:pPr/>
              <a:t>2</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FEE0-63D0-CC89-23F9-D9E3D81DE11E}"/>
              </a:ext>
            </a:extLst>
          </p:cNvPr>
          <p:cNvSpPr>
            <a:spLocks noGrp="1"/>
          </p:cNvSpPr>
          <p:nvPr>
            <p:ph type="title"/>
          </p:nvPr>
        </p:nvSpPr>
        <p:spPr/>
        <p:txBody>
          <a:bodyPr/>
          <a:lstStyle/>
          <a:p>
            <a:r>
              <a:rPr lang="en-US" dirty="0"/>
              <a:t>Models</a:t>
            </a:r>
            <a:endParaRPr lang="en-GH" dirty="0"/>
          </a:p>
        </p:txBody>
      </p:sp>
      <p:sp>
        <p:nvSpPr>
          <p:cNvPr id="3" name="Content Placeholder 2">
            <a:extLst>
              <a:ext uri="{FF2B5EF4-FFF2-40B4-BE49-F238E27FC236}">
                <a16:creationId xmlns:a16="http://schemas.microsoft.com/office/drawing/2014/main" id="{FADC9728-DD19-64B8-62AC-94AFAD6FE128}"/>
              </a:ext>
            </a:extLst>
          </p:cNvPr>
          <p:cNvSpPr>
            <a:spLocks noGrp="1"/>
          </p:cNvSpPr>
          <p:nvPr>
            <p:ph idx="1"/>
          </p:nvPr>
        </p:nvSpPr>
        <p:spPr/>
        <p:txBody>
          <a:bodyPr/>
          <a:lstStyle/>
          <a:p>
            <a:pPr algn="l"/>
            <a:endParaRPr lang="en-US" sz="4000" b="0" i="0" u="none" strike="noStrike" baseline="0" dirty="0">
              <a:latin typeface="Minion-Regular"/>
            </a:endParaRPr>
          </a:p>
          <a:p>
            <a:pPr algn="l"/>
            <a:endParaRPr lang="en-US" sz="4000" dirty="0">
              <a:latin typeface="Minion-Regular"/>
            </a:endParaRPr>
          </a:p>
          <a:p>
            <a:pPr algn="l"/>
            <a:r>
              <a:rPr lang="en-US" sz="4000" b="0" i="0" u="none" strike="noStrike" baseline="0" dirty="0">
                <a:latin typeface="Minion-Regular"/>
              </a:rPr>
              <a:t>the usefulness of </a:t>
            </a:r>
            <a:r>
              <a:rPr lang="en-US" sz="9600" b="0" i="0" u="none" strike="noStrike" baseline="0" dirty="0">
                <a:latin typeface="Minion-Regular"/>
              </a:rPr>
              <a:t>models</a:t>
            </a:r>
            <a:r>
              <a:rPr lang="en-US" sz="4000" b="0" i="0" u="none" strike="noStrike" baseline="0" dirty="0">
                <a:latin typeface="Minion-Regular"/>
              </a:rPr>
              <a:t> to help us to understand complex behavior and complex systems. </a:t>
            </a:r>
            <a:endParaRPr lang="en-GH" sz="4000" dirty="0"/>
          </a:p>
        </p:txBody>
      </p:sp>
      <p:sp>
        <p:nvSpPr>
          <p:cNvPr id="4" name="Slide Number Placeholder 3">
            <a:extLst>
              <a:ext uri="{FF2B5EF4-FFF2-40B4-BE49-F238E27FC236}">
                <a16:creationId xmlns:a16="http://schemas.microsoft.com/office/drawing/2014/main" id="{DE8D4061-9A23-5CA8-3A1A-99B008A6AE46}"/>
              </a:ext>
            </a:extLst>
          </p:cNvPr>
          <p:cNvSpPr>
            <a:spLocks noGrp="1"/>
          </p:cNvSpPr>
          <p:nvPr>
            <p:ph type="sldNum" sz="quarter" idx="12"/>
          </p:nvPr>
        </p:nvSpPr>
        <p:spPr/>
        <p:txBody>
          <a:bodyPr/>
          <a:lstStyle/>
          <a:p>
            <a:fld id="{6D012235-B351-4270-A2D7-CDF0C6F62708}" type="slidenum">
              <a:rPr lang="en-GB" altLang="en-US" smtClean="0"/>
              <a:pPr/>
              <a:t>3</a:t>
            </a:fld>
            <a:endParaRPr lang="en-GB" altLang="en-US"/>
          </a:p>
        </p:txBody>
      </p:sp>
    </p:spTree>
    <p:extLst>
      <p:ext uri="{BB962C8B-B14F-4D97-AF65-F5344CB8AC3E}">
        <p14:creationId xmlns:p14="http://schemas.microsoft.com/office/powerpoint/2010/main" val="479272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788988"/>
            <a:ext cx="10515600" cy="552450"/>
          </a:xfrm>
        </p:spPr>
        <p:txBody>
          <a:bodyPr>
            <a:normAutofit fontScale="90000"/>
          </a:bodyPr>
          <a:lstStyle/>
          <a:p>
            <a:pPr algn="ctr" fontAlgn="auto">
              <a:spcAft>
                <a:spcPts val="0"/>
              </a:spcAft>
              <a:defRPr/>
            </a:pPr>
            <a:r>
              <a:rPr lang="en-US" altLang="en-US">
                <a:solidFill>
                  <a:schemeClr val="tx1">
                    <a:lumMod val="75000"/>
                    <a:lumOff val="25000"/>
                  </a:schemeClr>
                </a:solidFill>
                <a:latin typeface="Futura Md BT" panose="020B0602020204020303"/>
              </a:rPr>
              <a:t>Interaction</a:t>
            </a:r>
          </a:p>
        </p:txBody>
      </p:sp>
      <p:sp>
        <p:nvSpPr>
          <p:cNvPr id="12291" name="Content Placeholder 2"/>
          <p:cNvSpPr>
            <a:spLocks noGrp="1" noChangeArrowheads="1"/>
          </p:cNvSpPr>
          <p:nvPr>
            <p:ph idx="1"/>
          </p:nvPr>
        </p:nvSpPr>
        <p:spPr>
          <a:xfrm>
            <a:off x="557213" y="1773238"/>
            <a:ext cx="11226800" cy="5084762"/>
          </a:xfrm>
        </p:spPr>
        <p:txBody>
          <a:bodyPr/>
          <a:lstStyle/>
          <a:p>
            <a:pPr>
              <a:buFont typeface="Wingdings" panose="05000000000000000000" pitchFamily="2" charset="2"/>
              <a:buChar char="v"/>
            </a:pPr>
            <a:r>
              <a:rPr lang="en-US" altLang="en-US" sz="3600" dirty="0">
                <a:latin typeface="Times New Roman" panose="02020603050405020304" pitchFamily="18" charset="0"/>
                <a:cs typeface="Times New Roman" panose="02020603050405020304" pitchFamily="18" charset="0"/>
              </a:rPr>
              <a:t>Interaction involves at least two participants: </a:t>
            </a:r>
            <a:r>
              <a:rPr lang="en-US" altLang="en-US" sz="3600" b="1" dirty="0">
                <a:latin typeface="Times New Roman" panose="02020603050405020304" pitchFamily="18" charset="0"/>
                <a:cs typeface="Times New Roman" panose="02020603050405020304" pitchFamily="18" charset="0"/>
              </a:rPr>
              <a:t>the user and the system</a:t>
            </a:r>
            <a:r>
              <a:rPr lang="en-US" altLang="en-US" sz="36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endParaRPr lang="en-US" altLang="en-US" sz="3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altLang="en-US" sz="3600" dirty="0">
                <a:latin typeface="Times New Roman" panose="02020603050405020304" pitchFamily="18" charset="0"/>
                <a:cs typeface="Times New Roman" panose="02020603050405020304" pitchFamily="18" charset="0"/>
              </a:rPr>
              <a:t> Both are </a:t>
            </a:r>
            <a:r>
              <a:rPr lang="en-US" altLang="en-US" sz="3600" b="1" dirty="0">
                <a:latin typeface="Times New Roman" panose="02020603050405020304" pitchFamily="18" charset="0"/>
                <a:cs typeface="Times New Roman" panose="02020603050405020304" pitchFamily="18" charset="0"/>
              </a:rPr>
              <a:t>complex</a:t>
            </a:r>
            <a:r>
              <a:rPr lang="en-US" altLang="en-US" sz="3600" dirty="0">
                <a:latin typeface="Times New Roman" panose="02020603050405020304" pitchFamily="18" charset="0"/>
                <a:cs typeface="Times New Roman" panose="02020603050405020304" pitchFamily="18" charset="0"/>
              </a:rPr>
              <a:t>, and are very different from each other in the way that they communicate and view the domain and the task. </a:t>
            </a:r>
          </a:p>
          <a:p>
            <a:pPr>
              <a:buFont typeface="Wingdings" panose="05000000000000000000" pitchFamily="2" charset="2"/>
              <a:buChar char="v"/>
            </a:pPr>
            <a:r>
              <a:rPr lang="en-US" altLang="en-US" sz="3600" b="1" dirty="0">
                <a:latin typeface="Times New Roman" panose="02020603050405020304" pitchFamily="18" charset="0"/>
                <a:cs typeface="Times New Roman" panose="02020603050405020304" pitchFamily="18" charset="0"/>
              </a:rPr>
              <a:t>The interface must therefore effectively translate between them to allow the interaction to be successful</a:t>
            </a:r>
            <a:r>
              <a:rPr lang="en-US" altLang="en-US" sz="3600" dirty="0">
                <a:latin typeface="Times New Roman" panose="02020603050405020304" pitchFamily="18" charset="0"/>
                <a:cs typeface="Times New Roman" panose="02020603050405020304" pitchFamily="18" charset="0"/>
              </a:rPr>
              <a:t>. </a:t>
            </a:r>
          </a:p>
          <a:p>
            <a:endParaRPr lang="en-US" alt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9D4D71F4-1B8E-4806-8670-8FC02C45A277}" type="slidenum">
              <a:rPr lang="en-GB" altLang="en-US">
                <a:solidFill>
                  <a:srgbClr val="FFC551"/>
                </a:solidFill>
                <a:latin typeface="Century Gothic" panose="020B0502020202020204" pitchFamily="34" charset="0"/>
                <a:cs typeface="Arial" panose="020B0604020202020204" pitchFamily="34" charset="0"/>
              </a:rPr>
              <a:pPr/>
              <a:t>4</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algn="ctr" fontAlgn="auto">
              <a:spcAft>
                <a:spcPts val="0"/>
              </a:spcAft>
              <a:defRPr/>
            </a:pPr>
            <a:r>
              <a:rPr lang="en-US" altLang="en-GH">
                <a:solidFill>
                  <a:schemeClr val="tx1">
                    <a:lumMod val="75000"/>
                    <a:lumOff val="25000"/>
                  </a:schemeClr>
                </a:solidFill>
                <a:latin typeface="Futura Md BT" panose="020B0602020204020303"/>
              </a:rPr>
              <a:t>Interaction</a:t>
            </a:r>
          </a:p>
        </p:txBody>
      </p:sp>
      <p:sp>
        <p:nvSpPr>
          <p:cNvPr id="13315" name="Content Placeholder 2"/>
          <p:cNvSpPr>
            <a:spLocks noGrp="1" noChangeArrowheads="1"/>
          </p:cNvSpPr>
          <p:nvPr>
            <p:ph idx="1"/>
          </p:nvPr>
        </p:nvSpPr>
        <p:spPr>
          <a:xfrm>
            <a:off x="1096962" y="1846263"/>
            <a:ext cx="11047710" cy="4535065"/>
          </a:xfrm>
        </p:spPr>
        <p:txBody>
          <a:bodyPr/>
          <a:lstStyle/>
          <a:p>
            <a:r>
              <a:rPr lang="en-US" altLang="en-US" sz="2600" dirty="0">
                <a:solidFill>
                  <a:srgbClr val="FF0000"/>
                </a:solidFill>
                <a:latin typeface="Times New Roman" panose="02020603050405020304" pitchFamily="18" charset="0"/>
                <a:cs typeface="Times New Roman" panose="02020603050405020304" pitchFamily="18" charset="0"/>
              </a:rPr>
              <a:t>This translation can fail at a number of points and for a number of reasons. </a:t>
            </a:r>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The use of models of interaction can: </a:t>
            </a:r>
          </a:p>
          <a:p>
            <a:endParaRPr lang="en-US" altLang="en-US" sz="2600" b="1" dirty="0">
              <a:latin typeface="Times New Roman" panose="02020603050405020304" pitchFamily="18" charset="0"/>
              <a:cs typeface="Times New Roman" panose="02020603050405020304" pitchFamily="18" charset="0"/>
            </a:endParaRPr>
          </a:p>
          <a:p>
            <a:pPr marL="800100" lvl="1" indent="-457200">
              <a:buFont typeface="Calibri Light" panose="020F0302020204030204" pitchFamily="34" charset="0"/>
              <a:buAutoNum type="arabicPeriod"/>
            </a:pPr>
            <a:r>
              <a:rPr lang="en-US" altLang="en-US" sz="2600" b="1" dirty="0">
                <a:latin typeface="Times New Roman" panose="02020603050405020304" pitchFamily="18" charset="0"/>
                <a:cs typeface="Times New Roman" panose="02020603050405020304" pitchFamily="18" charset="0"/>
              </a:rPr>
              <a:t>help us to understand exactly what is going </a:t>
            </a:r>
            <a:r>
              <a:rPr lang="en-US" altLang="en-US" sz="2600" dirty="0">
                <a:latin typeface="Times New Roman" panose="02020603050405020304" pitchFamily="18" charset="0"/>
                <a:cs typeface="Times New Roman" panose="02020603050405020304" pitchFamily="18" charset="0"/>
              </a:rPr>
              <a:t>on in the interaction and identify the likely root of difficulties.</a:t>
            </a:r>
          </a:p>
          <a:p>
            <a:pPr marL="800100" lvl="1" indent="-457200">
              <a:buFont typeface="Calibri Light" panose="020F0302020204030204" pitchFamily="34" charset="0"/>
              <a:buAutoNum type="arabicPeriod"/>
            </a:pPr>
            <a:endParaRPr lang="en-US" altLang="en-US" sz="2600" dirty="0">
              <a:latin typeface="Times New Roman" panose="02020603050405020304" pitchFamily="18" charset="0"/>
              <a:cs typeface="Times New Roman" panose="02020603050405020304" pitchFamily="18" charset="0"/>
            </a:endParaRPr>
          </a:p>
          <a:p>
            <a:pPr marL="800100" lvl="1" indent="-457200">
              <a:buFont typeface="Calibri Light" panose="020F0302020204030204" pitchFamily="34" charset="0"/>
              <a:buAutoNum type="arabicPeriod"/>
            </a:pPr>
            <a:r>
              <a:rPr lang="en-US" altLang="en-US" sz="2600" dirty="0">
                <a:latin typeface="Times New Roman" panose="02020603050405020304" pitchFamily="18" charset="0"/>
                <a:cs typeface="Times New Roman" panose="02020603050405020304" pitchFamily="18" charset="0"/>
              </a:rPr>
              <a:t>They also </a:t>
            </a:r>
            <a:r>
              <a:rPr lang="en-US" altLang="en-US" sz="2600" b="1" dirty="0">
                <a:latin typeface="Times New Roman" panose="02020603050405020304" pitchFamily="18" charset="0"/>
                <a:cs typeface="Times New Roman" panose="02020603050405020304" pitchFamily="18" charset="0"/>
              </a:rPr>
              <a:t>provide us with a framework to compare different interaction styles </a:t>
            </a:r>
            <a:r>
              <a:rPr lang="en-US" altLang="en-US" sz="2600" dirty="0">
                <a:latin typeface="Times New Roman" panose="02020603050405020304" pitchFamily="18" charset="0"/>
                <a:cs typeface="Times New Roman" panose="02020603050405020304" pitchFamily="18" charset="0"/>
              </a:rPr>
              <a:t>and to consider interaction problems.</a:t>
            </a:r>
          </a:p>
          <a:p>
            <a:pPr marL="342900" lvl="1" indent="0">
              <a:buNone/>
            </a:pP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eg.</a:t>
            </a:r>
            <a:r>
              <a:rPr lang="en-US" altLang="en-US" sz="2600" dirty="0">
                <a:latin typeface="Times New Roman" panose="02020603050405020304" pitchFamily="18" charset="0"/>
                <a:cs typeface="Times New Roman" panose="02020603050405020304" pitchFamily="18" charset="0"/>
              </a:rPr>
              <a:t> of interaction styles: command line, menus, form filling, question and    answer</a:t>
            </a:r>
          </a:p>
          <a:p>
            <a:pPr marL="800100" lvl="1" indent="-457200">
              <a:buFont typeface="Calibri Light" panose="020F0302020204030204" pitchFamily="34" charset="0"/>
              <a:buAutoNum type="arabicPeriod"/>
            </a:pPr>
            <a:endParaRPr lang="en-US" altLang="en-US" sz="2600" dirty="0"/>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04877135-20E6-483B-9A61-7386D32C3BF2}" type="slidenum">
              <a:rPr lang="en-GB" altLang="en-US">
                <a:solidFill>
                  <a:srgbClr val="FFC551"/>
                </a:solidFill>
                <a:latin typeface="Century Gothic" panose="020B0502020202020204" pitchFamily="34" charset="0"/>
                <a:cs typeface="Arial" panose="020B0604020202020204" pitchFamily="34" charset="0"/>
              </a:rPr>
              <a:pPr/>
              <a:t>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algn="ctr" fontAlgn="auto">
              <a:spcAft>
                <a:spcPts val="0"/>
              </a:spcAft>
              <a:defRPr/>
            </a:pPr>
            <a:r>
              <a:rPr lang="en-US" altLang="en-US">
                <a:solidFill>
                  <a:schemeClr val="tx1">
                    <a:lumMod val="75000"/>
                    <a:lumOff val="25000"/>
                  </a:schemeClr>
                </a:solidFill>
                <a:latin typeface="Futura Md BT" panose="020B0602020204020303"/>
              </a:rPr>
              <a:t>Interaction models</a:t>
            </a:r>
          </a:p>
        </p:txBody>
      </p:sp>
      <p:sp>
        <p:nvSpPr>
          <p:cNvPr id="14339" name="Content Placeholder 2"/>
          <p:cNvSpPr>
            <a:spLocks noGrp="1" noChangeArrowheads="1"/>
          </p:cNvSpPr>
          <p:nvPr>
            <p:ph idx="1"/>
          </p:nvPr>
        </p:nvSpPr>
        <p:spPr>
          <a:xfrm>
            <a:off x="838200" y="1690688"/>
            <a:ext cx="11353800" cy="4906962"/>
          </a:xfrm>
        </p:spPr>
        <p:txBody>
          <a:bodyPr/>
          <a:lstStyle/>
          <a:p>
            <a:r>
              <a:rPr lang="en-US" altLang="en-US" sz="2600" dirty="0">
                <a:latin typeface="Times New Roman" panose="02020603050405020304" pitchFamily="18" charset="0"/>
                <a:cs typeface="Times New Roman" panose="02020603050405020304" pitchFamily="18" charset="0"/>
              </a:rPr>
              <a:t>We begin by considering the most influential model of interaction, </a:t>
            </a:r>
            <a:r>
              <a:rPr lang="en-US" altLang="en-US" sz="2600" b="1" dirty="0">
                <a:latin typeface="Times New Roman" panose="02020603050405020304" pitchFamily="18" charset="0"/>
                <a:cs typeface="Times New Roman" panose="02020603050405020304" pitchFamily="18" charset="0"/>
              </a:rPr>
              <a:t>Norman’s </a:t>
            </a:r>
            <a:r>
              <a:rPr lang="en-US" altLang="en-US" sz="2600" b="1" i="1" dirty="0">
                <a:latin typeface="Times New Roman" panose="02020603050405020304" pitchFamily="18" charset="0"/>
                <a:cs typeface="Times New Roman" panose="02020603050405020304" pitchFamily="18" charset="0"/>
              </a:rPr>
              <a:t>execution–evaluation cycle</a:t>
            </a:r>
            <a:r>
              <a:rPr lang="en-US" altLang="en-US" sz="2600" dirty="0">
                <a:latin typeface="Times New Roman" panose="02020603050405020304" pitchFamily="18" charset="0"/>
                <a:cs typeface="Times New Roman" panose="02020603050405020304" pitchFamily="18" charset="0"/>
              </a:rPr>
              <a:t>; then we look at another model which extends the ideas of Norman’s cycle.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Both of these models describe the interaction in terms of the </a:t>
            </a:r>
            <a:r>
              <a:rPr lang="en-US" altLang="en-US" sz="2600" b="1" dirty="0">
                <a:latin typeface="Times New Roman" panose="02020603050405020304" pitchFamily="18" charset="0"/>
                <a:cs typeface="Times New Roman" panose="02020603050405020304" pitchFamily="18" charset="0"/>
              </a:rPr>
              <a:t>goals and actions of the user</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Traditionally, the purpose of an interactive system is to aid a user in accomplishing </a:t>
            </a:r>
            <a:r>
              <a:rPr lang="en-US" altLang="en-US" sz="2600" b="1" i="1" dirty="0">
                <a:latin typeface="Times New Roman" panose="02020603050405020304" pitchFamily="18" charset="0"/>
                <a:cs typeface="Times New Roman" panose="02020603050405020304" pitchFamily="18" charset="0"/>
              </a:rPr>
              <a:t>goals</a:t>
            </a:r>
            <a:r>
              <a:rPr lang="en-US" altLang="en-US" sz="2600" i="1" dirty="0">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from some application </a:t>
            </a:r>
            <a:r>
              <a:rPr lang="en-US" altLang="en-US" sz="2600" b="1" i="1" dirty="0">
                <a:latin typeface="Times New Roman" panose="02020603050405020304" pitchFamily="18" charset="0"/>
                <a:cs typeface="Times New Roman" panose="02020603050405020304" pitchFamily="18" charset="0"/>
              </a:rPr>
              <a:t>domain</a:t>
            </a:r>
            <a:r>
              <a:rPr lang="en-US" altLang="en-US" sz="2600" dirty="0">
                <a:latin typeface="Times New Roman" panose="02020603050405020304" pitchFamily="18" charset="0"/>
                <a:cs typeface="Times New Roman" panose="02020603050405020304" pitchFamily="18" charset="0"/>
              </a:rPr>
              <a:t>. </a:t>
            </a:r>
          </a:p>
          <a:p>
            <a:r>
              <a:rPr lang="en-US" altLang="en-US" sz="2600" dirty="0">
                <a:latin typeface="Times New Roman" panose="02020603050405020304" pitchFamily="18" charset="0"/>
                <a:cs typeface="Times New Roman" panose="02020603050405020304" pitchFamily="18" charset="0"/>
              </a:rPr>
              <a:t>A domain defines an </a:t>
            </a:r>
            <a:r>
              <a:rPr lang="en-US" altLang="en-US" sz="2600" b="1" dirty="0">
                <a:latin typeface="Times New Roman" panose="02020603050405020304" pitchFamily="18" charset="0"/>
                <a:cs typeface="Times New Roman" panose="02020603050405020304" pitchFamily="18" charset="0"/>
              </a:rPr>
              <a:t>area of expertise </a:t>
            </a:r>
            <a:r>
              <a:rPr lang="en-US" altLang="en-US" sz="2600" dirty="0">
                <a:latin typeface="Times New Roman" panose="02020603050405020304" pitchFamily="18" charset="0"/>
                <a:cs typeface="Times New Roman" panose="02020603050405020304" pitchFamily="18" charset="0"/>
              </a:rPr>
              <a:t>and knowledge in some real-world activity.</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57886458-4656-4067-AB51-591FDFE2279D}" type="slidenum">
              <a:rPr lang="en-GB" altLang="en-US">
                <a:solidFill>
                  <a:srgbClr val="FFC551"/>
                </a:solidFill>
                <a:latin typeface="Century Gothic" panose="020B0502020202020204" pitchFamily="34" charset="0"/>
                <a:cs typeface="Arial" panose="020B0604020202020204" pitchFamily="34" charset="0"/>
              </a:rPr>
              <a:pPr/>
              <a:t>6</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algn="ctr" fontAlgn="auto">
              <a:spcAft>
                <a:spcPts val="0"/>
              </a:spcAft>
              <a:defRPr/>
            </a:pPr>
            <a:r>
              <a:rPr lang="en-US" altLang="en-US">
                <a:solidFill>
                  <a:schemeClr val="tx1">
                    <a:lumMod val="75000"/>
                    <a:lumOff val="25000"/>
                  </a:schemeClr>
                </a:solidFill>
                <a:latin typeface="Futura Md BT" panose="020B0602020204020303"/>
              </a:rPr>
              <a:t>The execution–evaluation cycle</a:t>
            </a:r>
          </a:p>
        </p:txBody>
      </p:sp>
      <p:sp>
        <p:nvSpPr>
          <p:cNvPr id="3" name="Content Placeholder 2"/>
          <p:cNvSpPr>
            <a:spLocks noGrp="1"/>
          </p:cNvSpPr>
          <p:nvPr>
            <p:ph idx="1"/>
          </p:nvPr>
        </p:nvSpPr>
        <p:spPr>
          <a:xfrm>
            <a:off x="838200" y="1989138"/>
            <a:ext cx="10874375" cy="4679950"/>
          </a:xfrm>
        </p:spPr>
        <p:txBody>
          <a:bodyPr rtlCol="0">
            <a:normAutofit/>
          </a:bodyPr>
          <a:lstStyle/>
          <a:p>
            <a:pPr marL="91440" indent="-91440" fontAlgn="auto">
              <a:defRPr/>
            </a:pPr>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Norman’s model of interaction </a:t>
            </a: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is perhaps the most influential in Human–Computer Interaction, possibly because of its closeness to our intuitive understanding of the interaction between human user and computer.</a:t>
            </a:r>
          </a:p>
          <a:p>
            <a:pPr marL="0" indent="0" fontAlgn="auto">
              <a:buFont typeface="Arial" panose="020B0604020202020204" pitchFamily="34" charset="0"/>
              <a:buNone/>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800100" lvl="1" indent="-457200" fontAlgn="auto">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The user formulates a plan of action, which is then executed at the computer interface. </a:t>
            </a:r>
          </a:p>
          <a:p>
            <a:pPr marL="800100" lvl="1" indent="-457200" fontAlgn="auto">
              <a:buFont typeface="+mj-lt"/>
              <a:buAutoNum type="arabicPeriod"/>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800100" lvl="1" indent="-457200" fontAlgn="auto">
              <a:buFont typeface="+mj-lt"/>
              <a:buAutoNum type="arabicPeriod"/>
              <a:defRPr/>
            </a:pPr>
            <a:r>
              <a:rPr lang="en-US" sz="2600" dirty="0">
                <a:solidFill>
                  <a:schemeClr val="tx1">
                    <a:lumMod val="75000"/>
                    <a:lumOff val="25000"/>
                  </a:schemeClr>
                </a:solidFill>
                <a:latin typeface="Times New Roman" panose="02020603050405020304" pitchFamily="18" charset="0"/>
                <a:cs typeface="Times New Roman" panose="02020603050405020304" pitchFamily="18" charset="0"/>
              </a:rPr>
              <a:t>When the plan, or part of the plan, has been executed, the user observes the computer interface to evaluate the result of the executed plan, and to determine further actions.</a:t>
            </a:r>
          </a:p>
          <a:p>
            <a:pPr marL="800100" lvl="1" indent="-457200" fontAlgn="auto">
              <a:buFont typeface="+mj-lt"/>
              <a:buAutoNum type="arabicPeriod"/>
              <a:defRPr/>
            </a:pPr>
            <a:endParaRPr 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0F21228E-EF70-4F70-82CA-00E629BB7EC9}" type="slidenum">
              <a:rPr lang="en-GB" altLang="en-US">
                <a:solidFill>
                  <a:srgbClr val="FFC551"/>
                </a:solidFill>
                <a:latin typeface="Century Gothic" panose="020B0502020202020204" pitchFamily="34" charset="0"/>
                <a:cs typeface="Arial" panose="020B0604020202020204" pitchFamily="34" charset="0"/>
              </a:rPr>
              <a:pPr/>
              <a:t>7</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algn="ctr" fontAlgn="auto">
              <a:spcAft>
                <a:spcPts val="0"/>
              </a:spcAft>
              <a:defRPr/>
            </a:pPr>
            <a:r>
              <a:rPr lang="en-US" altLang="en-GH" sz="2800" b="1">
                <a:solidFill>
                  <a:schemeClr val="tx1">
                    <a:lumMod val="75000"/>
                    <a:lumOff val="25000"/>
                  </a:schemeClr>
                </a:solidFill>
                <a:latin typeface="Times New Roman" panose="02020603050405020304" pitchFamily="18" charset="0"/>
                <a:cs typeface="Times New Roman" panose="02020603050405020304" pitchFamily="18" charset="0"/>
              </a:rPr>
              <a:t>Norman’s model of interaction: </a:t>
            </a:r>
            <a:r>
              <a:rPr lang="en-US" altLang="en-US">
                <a:solidFill>
                  <a:schemeClr val="tx1">
                    <a:lumMod val="75000"/>
                    <a:lumOff val="25000"/>
                  </a:schemeClr>
                </a:solidFill>
                <a:latin typeface="Futura Md BT" panose="020B0602020204020303"/>
              </a:rPr>
              <a:t>The execution–evaluation cycle</a:t>
            </a:r>
            <a:endParaRPr lang="en-US" altLang="en-GH">
              <a:solidFill>
                <a:schemeClr val="tx1">
                  <a:lumMod val="75000"/>
                  <a:lumOff val="25000"/>
                </a:schemeClr>
              </a:solidFill>
              <a:latin typeface="Futura Md BT" panose="020B0602020204020303"/>
            </a:endParaRPr>
          </a:p>
        </p:txBody>
      </p:sp>
      <p:sp>
        <p:nvSpPr>
          <p:cNvPr id="16387" name="Content Placeholder 2"/>
          <p:cNvSpPr>
            <a:spLocks noGrp="1" noChangeArrowheads="1"/>
          </p:cNvSpPr>
          <p:nvPr>
            <p:ph idx="1"/>
          </p:nvPr>
        </p:nvSpPr>
        <p:spPr>
          <a:xfrm>
            <a:off x="838200" y="2349500"/>
            <a:ext cx="10515600" cy="4032250"/>
          </a:xfrm>
        </p:spPr>
        <p:txBody>
          <a:bodyPr/>
          <a:lstStyle/>
          <a:p>
            <a:r>
              <a:rPr lang="en-US" altLang="en-US" sz="2600" dirty="0">
                <a:latin typeface="Times New Roman" panose="02020603050405020304" pitchFamily="18" charset="0"/>
                <a:cs typeface="Times New Roman" panose="02020603050405020304" pitchFamily="18" charset="0"/>
              </a:rPr>
              <a:t>The Norman’s model interactive cycle can be divided into </a:t>
            </a:r>
            <a:r>
              <a:rPr lang="en-US" altLang="en-US" sz="2600" b="1" dirty="0">
                <a:latin typeface="Times New Roman" panose="02020603050405020304" pitchFamily="18" charset="0"/>
                <a:cs typeface="Times New Roman" panose="02020603050405020304" pitchFamily="18" charset="0"/>
              </a:rPr>
              <a:t>two major phases: execution and evaluation</a:t>
            </a:r>
            <a:r>
              <a:rPr lang="en-US" altLang="en-US" sz="2600" dirty="0">
                <a:latin typeface="Times New Roman" panose="02020603050405020304" pitchFamily="18" charset="0"/>
                <a:cs typeface="Times New Roman" panose="02020603050405020304" pitchFamily="18" charset="0"/>
              </a:rPr>
              <a:t>. These can then be subdivided into further </a:t>
            </a:r>
            <a:r>
              <a:rPr lang="en-US" altLang="en-US" sz="2600" b="1" dirty="0">
                <a:latin typeface="Times New Roman" panose="02020603050405020304" pitchFamily="18" charset="0"/>
                <a:cs typeface="Times New Roman" panose="02020603050405020304" pitchFamily="18" charset="0"/>
              </a:rPr>
              <a:t>stages</a:t>
            </a:r>
            <a:r>
              <a:rPr lang="en-US" altLang="en-US" sz="2600" dirty="0">
                <a:latin typeface="Times New Roman" panose="02020603050405020304" pitchFamily="18" charset="0"/>
                <a:cs typeface="Times New Roman" panose="02020603050405020304" pitchFamily="18" charset="0"/>
              </a:rPr>
              <a:t>, </a:t>
            </a:r>
            <a:r>
              <a:rPr lang="en-US" altLang="en-US" sz="2600" b="1" dirty="0">
                <a:latin typeface="Times New Roman" panose="02020603050405020304" pitchFamily="18" charset="0"/>
                <a:cs typeface="Times New Roman" panose="02020603050405020304" pitchFamily="18" charset="0"/>
              </a:rPr>
              <a:t>seven in all. </a:t>
            </a:r>
          </a:p>
          <a:p>
            <a:pPr marL="0" indent="0">
              <a:buNone/>
            </a:pPr>
            <a:endParaRPr lang="en-US" altLang="en-US" sz="2600" dirty="0">
              <a:latin typeface="Times New Roman" panose="02020603050405020304" pitchFamily="18" charset="0"/>
              <a:cs typeface="Times New Roman" panose="02020603050405020304" pitchFamily="18" charset="0"/>
            </a:endParaRP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The stages in Norman’s model of interaction are as follows:</a:t>
            </a:r>
          </a:p>
          <a:p>
            <a:endParaRPr lang="en-US" altLang="en-US" sz="2600" dirty="0"/>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FF92628B-09A6-4ED1-BCE1-08DC54A92826}" type="slidenum">
              <a:rPr lang="en-GB" altLang="en-US">
                <a:solidFill>
                  <a:srgbClr val="FFC551"/>
                </a:solidFill>
                <a:latin typeface="Century Gothic" panose="020B0502020202020204" pitchFamily="34" charset="0"/>
                <a:cs typeface="Arial" panose="020B0604020202020204" pitchFamily="34" charset="0"/>
              </a:rPr>
              <a:pPr/>
              <a:t>8</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algn="ctr" fontAlgn="auto">
              <a:spcAft>
                <a:spcPts val="0"/>
              </a:spcAft>
              <a:defRPr/>
            </a:pPr>
            <a:r>
              <a:rPr lang="en-US" altLang="en-US" sz="2800">
                <a:solidFill>
                  <a:schemeClr val="tx1">
                    <a:lumMod val="75000"/>
                    <a:lumOff val="25000"/>
                  </a:schemeClr>
                </a:solidFill>
                <a:latin typeface="Times New Roman" panose="02020603050405020304" pitchFamily="18" charset="0"/>
                <a:cs typeface="Times New Roman" panose="02020603050405020304" pitchFamily="18" charset="0"/>
              </a:rPr>
              <a:t>Stages in Norman’s model of interaction</a:t>
            </a:r>
            <a:endParaRPr lang="en-US" altLang="en-US">
              <a:solidFill>
                <a:schemeClr val="tx1">
                  <a:lumMod val="75000"/>
                  <a:lumOff val="25000"/>
                </a:schemeClr>
              </a:solidFill>
              <a:latin typeface="Futura Md BT" panose="020B0602020204020303"/>
            </a:endParaRPr>
          </a:p>
        </p:txBody>
      </p:sp>
      <p:sp>
        <p:nvSpPr>
          <p:cNvPr id="23555" name="Content Placeholder 2"/>
          <p:cNvSpPr>
            <a:spLocks noGrp="1"/>
          </p:cNvSpPr>
          <p:nvPr>
            <p:ph idx="1"/>
          </p:nvPr>
        </p:nvSpPr>
        <p:spPr/>
        <p:txBody>
          <a:bodyPr rtlCol="0">
            <a:noAutofit/>
          </a:bodyPr>
          <a:lstStyle/>
          <a:p>
            <a:pPr marL="0" indent="0" fontAlgn="auto">
              <a:lnSpc>
                <a:spcPct val="10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1. Establishing the goal.</a:t>
            </a:r>
          </a:p>
          <a:p>
            <a:pPr marL="0" indent="0" fontAlgn="auto">
              <a:lnSpc>
                <a:spcPct val="10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2. Forming the intention.</a:t>
            </a:r>
          </a:p>
          <a:p>
            <a:pPr marL="0" indent="0" fontAlgn="auto">
              <a:lnSpc>
                <a:spcPct val="10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3. Specifying the action sequence.</a:t>
            </a:r>
          </a:p>
          <a:p>
            <a:pPr marL="0" indent="0" fontAlgn="auto">
              <a:lnSpc>
                <a:spcPct val="10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4. Executing the action.</a:t>
            </a:r>
          </a:p>
          <a:p>
            <a:pPr marL="0" indent="0" fontAlgn="auto">
              <a:lnSpc>
                <a:spcPct val="10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5. Perceiving the system state.</a:t>
            </a:r>
          </a:p>
          <a:p>
            <a:pPr marL="0" indent="0" fontAlgn="auto">
              <a:lnSpc>
                <a:spcPct val="10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6. Interpreting the system state.</a:t>
            </a:r>
          </a:p>
          <a:p>
            <a:pPr marL="0" indent="0" fontAlgn="auto">
              <a:lnSpc>
                <a:spcPct val="100000"/>
              </a:lnSpc>
              <a:buFont typeface="Arial" panose="020B0604020202020204" pitchFamily="34" charset="0"/>
              <a:buNone/>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7. Evaluating the system state with respect to the goals and intentions.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3D8884C6-12FD-4BB0-A96D-0BF2D0E077AE}" type="slidenum">
              <a:rPr lang="en-GB" altLang="en-US">
                <a:solidFill>
                  <a:srgbClr val="FFC551"/>
                </a:solidFill>
                <a:latin typeface="Century Gothic" panose="020B0502020202020204" pitchFamily="34" charset="0"/>
                <a:cs typeface="Arial" panose="020B0604020202020204" pitchFamily="34" charset="0"/>
              </a:rPr>
              <a:pPr/>
              <a:t>9</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838200" y="765175"/>
            <a:ext cx="10515600" cy="623888"/>
          </a:xfrm>
        </p:spPr>
        <p:txBody>
          <a:bodyPr>
            <a:normAutofit/>
          </a:bodyPr>
          <a:lstStyle/>
          <a:p>
            <a:pPr algn="ctr" fontAlgn="auto">
              <a:spcAft>
                <a:spcPts val="0"/>
              </a:spcAft>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Stages in Norman’s model of interaction (Simplified)</a:t>
            </a:r>
            <a:endParaRPr lang="en-US" altLang="en-US" sz="2600" b="1" dirty="0">
              <a:solidFill>
                <a:schemeClr val="tx1">
                  <a:lumMod val="75000"/>
                  <a:lumOff val="25000"/>
                </a:schemeClr>
              </a:solidFill>
              <a:latin typeface="Futura Md BT" panose="020B0602020204020303"/>
            </a:endParaRPr>
          </a:p>
        </p:txBody>
      </p:sp>
      <p:sp>
        <p:nvSpPr>
          <p:cNvPr id="24579" name="Content Placeholder 2"/>
          <p:cNvSpPr>
            <a:spLocks noGrp="1"/>
          </p:cNvSpPr>
          <p:nvPr>
            <p:ph idx="1"/>
          </p:nvPr>
        </p:nvSpPr>
        <p:spPr>
          <a:xfrm>
            <a:off x="838200" y="1916113"/>
            <a:ext cx="10945813" cy="4392612"/>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Each stage is an activity of the user. </a:t>
            </a:r>
          </a:p>
          <a:p>
            <a:pPr marL="91440" indent="-91440" algn="just" fontAlgn="auto">
              <a:lnSpc>
                <a:spcPct val="15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First the user forms a goal.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is the user’s notion of what needs to be done and is framed in terms of the domain, in the task language. </a:t>
            </a:r>
          </a:p>
          <a:p>
            <a:pPr marL="91440" indent="-91440" algn="just" fontAlgn="auto">
              <a:lnSpc>
                <a:spcPct val="15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It is liable to be imprecise and therefore needs to be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translated into the more specific intention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and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 actual actions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that will reach the goal, before it can be executed by the user. </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4A026E2-7E46-4052-B31F-F7D9AEB5F42D}" type="slidenum">
              <a:rPr lang="en-GB" altLang="en-US">
                <a:solidFill>
                  <a:srgbClr val="FFC551"/>
                </a:solidFill>
                <a:latin typeface="Century Gothic" panose="020B0502020202020204" pitchFamily="34" charset="0"/>
                <a:cs typeface="Arial" panose="020B0604020202020204" pitchFamily="34" charset="0"/>
              </a:rPr>
              <a:pPr/>
              <a:t>10</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CB2B3-0A2B-3CB0-2FD7-7C0ABFE60E38}"/>
              </a:ext>
            </a:extLst>
          </p:cNvPr>
          <p:cNvSpPr>
            <a:spLocks noGrp="1"/>
          </p:cNvSpPr>
          <p:nvPr>
            <p:ph type="title"/>
          </p:nvPr>
        </p:nvSpPr>
        <p:spPr/>
        <p:txBody>
          <a:bodyPr>
            <a:normAutofit/>
          </a:bodyPr>
          <a:lstStyle/>
          <a:p>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Stages in Norman’s model of interaction (Simplified)</a:t>
            </a:r>
            <a:endParaRPr lang="en-US" sz="2600" b="1" dirty="0"/>
          </a:p>
        </p:txBody>
      </p:sp>
      <p:sp>
        <p:nvSpPr>
          <p:cNvPr id="3" name="Content Placeholder 2">
            <a:extLst>
              <a:ext uri="{FF2B5EF4-FFF2-40B4-BE49-F238E27FC236}">
                <a16:creationId xmlns:a16="http://schemas.microsoft.com/office/drawing/2014/main" id="{37C1E3C1-D362-242D-50F4-EC5E1BF7B257}"/>
              </a:ext>
            </a:extLst>
          </p:cNvPr>
          <p:cNvSpPr>
            <a:spLocks noGrp="1"/>
          </p:cNvSpPr>
          <p:nvPr>
            <p:ph idx="1"/>
          </p:nvPr>
        </p:nvSpPr>
        <p:spPr/>
        <p:txBody>
          <a:bodyPr/>
          <a:lstStyle/>
          <a:p>
            <a:pPr marL="91440" indent="-91440" algn="just" fontAlgn="auto">
              <a:lnSpc>
                <a:spcPct val="15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user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perceives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new state of the system, after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execution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of the action sequence, and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interprets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it in terms of his expectations. </a:t>
            </a:r>
          </a:p>
          <a:p>
            <a:pPr marL="91440" indent="-91440" algn="just" fontAlgn="auto">
              <a:lnSpc>
                <a:spcPct val="15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If the system state reflects the user’s goal then the computer has done what he wanted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the interaction has been successful; otherwise the user must formulate a new goal and repeat the cycle.</a:t>
            </a:r>
          </a:p>
          <a:p>
            <a:endParaRPr lang="en-US" sz="2600" dirty="0"/>
          </a:p>
        </p:txBody>
      </p:sp>
      <p:sp>
        <p:nvSpPr>
          <p:cNvPr id="4" name="Slide Number Placeholder 3">
            <a:extLst>
              <a:ext uri="{FF2B5EF4-FFF2-40B4-BE49-F238E27FC236}">
                <a16:creationId xmlns:a16="http://schemas.microsoft.com/office/drawing/2014/main" id="{3C6B11FD-05DE-1BD2-EB5F-2F6C3C72F63B}"/>
              </a:ext>
            </a:extLst>
          </p:cNvPr>
          <p:cNvSpPr>
            <a:spLocks noGrp="1"/>
          </p:cNvSpPr>
          <p:nvPr>
            <p:ph type="sldNum" sz="quarter" idx="12"/>
          </p:nvPr>
        </p:nvSpPr>
        <p:spPr/>
        <p:txBody>
          <a:bodyPr/>
          <a:lstStyle/>
          <a:p>
            <a:fld id="{6D012235-B351-4270-A2D7-CDF0C6F62708}" type="slidenum">
              <a:rPr lang="en-GB" altLang="en-US" smtClean="0"/>
              <a:pPr/>
              <a:t>11</a:t>
            </a:fld>
            <a:endParaRPr lang="en-GB" altLang="en-US"/>
          </a:p>
        </p:txBody>
      </p:sp>
    </p:spTree>
    <p:extLst>
      <p:ext uri="{BB962C8B-B14F-4D97-AF65-F5344CB8AC3E}">
        <p14:creationId xmlns:p14="http://schemas.microsoft.com/office/powerpoint/2010/main" val="173091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838200" y="788988"/>
            <a:ext cx="10515600" cy="479425"/>
          </a:xfrm>
        </p:spPr>
        <p:txBody>
          <a:bodyPr>
            <a:normAutofit fontScale="90000"/>
          </a:bodyPr>
          <a:lstStyle/>
          <a:p>
            <a:pPr fontAlgn="auto">
              <a:spcAft>
                <a:spcPts val="0"/>
              </a:spcAft>
              <a:defRPr/>
            </a:pPr>
            <a:r>
              <a:rPr lang="en-US" altLang="en-US">
                <a:solidFill>
                  <a:schemeClr val="tx1">
                    <a:lumMod val="75000"/>
                    <a:lumOff val="25000"/>
                  </a:schemeClr>
                </a:solidFill>
                <a:latin typeface="Futura Md BT" panose="020B0602020204020303"/>
              </a:rPr>
              <a:t>Practical example: </a:t>
            </a:r>
            <a:r>
              <a:rPr lang="en-US" altLang="en-US" sz="2800">
                <a:solidFill>
                  <a:schemeClr val="tx1">
                    <a:lumMod val="75000"/>
                    <a:lumOff val="25000"/>
                  </a:schemeClr>
                </a:solidFill>
                <a:latin typeface="Times New Roman" panose="02020603050405020304" pitchFamily="18" charset="0"/>
                <a:cs typeface="Times New Roman" panose="02020603050405020304" pitchFamily="18" charset="0"/>
              </a:rPr>
              <a:t>Norman’s model of interaction</a:t>
            </a:r>
            <a:endParaRPr lang="en-US" altLang="en-US">
              <a:solidFill>
                <a:schemeClr val="tx1">
                  <a:lumMod val="75000"/>
                  <a:lumOff val="25000"/>
                </a:schemeClr>
              </a:solidFill>
              <a:latin typeface="Futura Md BT" panose="020B0602020204020303"/>
            </a:endParaRPr>
          </a:p>
        </p:txBody>
      </p:sp>
      <p:sp>
        <p:nvSpPr>
          <p:cNvPr id="23555" name="Content Placeholder 2"/>
          <p:cNvSpPr>
            <a:spLocks noGrp="1"/>
          </p:cNvSpPr>
          <p:nvPr>
            <p:ph idx="1"/>
          </p:nvPr>
        </p:nvSpPr>
        <p:spPr>
          <a:xfrm>
            <a:off x="334963" y="1700213"/>
            <a:ext cx="11522075" cy="4608512"/>
          </a:xfrm>
        </p:spPr>
        <p:txBody>
          <a:bodyPr rtlCol="0">
            <a:noAutofit/>
          </a:bodyPr>
          <a:lstStyle/>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Norman uses a simple example of switching on a light to illustrate this cycle.</a:t>
            </a:r>
          </a:p>
          <a:p>
            <a:pPr marL="457200" indent="-457200" fontAlgn="auto">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Imagine you are sitting reading as evening falls. You decide you need more light; that is you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establish the goal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to get more light. </a:t>
            </a:r>
          </a:p>
          <a:p>
            <a:pPr marL="457200" indent="-457200" fontAlgn="auto">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From there you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form an intention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to switch on the desk lamp, </a:t>
            </a:r>
          </a:p>
          <a:p>
            <a:pPr marL="457200" indent="-457200" fontAlgn="auto">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you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specify the actions required</a:t>
            </a: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to reach over and press the lamp switch. If someone else is closer, the intention may be different. You may ask them to switch on the light for you. Your goal is the same but the intention and actions are different.</a:t>
            </a:r>
          </a:p>
          <a:p>
            <a:pPr marL="457200" indent="-457200" fontAlgn="auto">
              <a:buFont typeface="+mj-lt"/>
              <a:buAutoNum type="arabicPeriod"/>
              <a:defRPr/>
            </a:pPr>
            <a:r>
              <a:rPr lang="en-US" altLang="en-US" sz="2600" dirty="0">
                <a:solidFill>
                  <a:srgbClr val="002060"/>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When you have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executed the action</a:t>
            </a:r>
          </a:p>
          <a:p>
            <a:pPr marL="457200" indent="-457200" fontAlgn="auto">
              <a:buFont typeface="+mj-lt"/>
              <a:buAutoNum type="arabicPeriod"/>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you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perceive the result</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either the light is on or it isn’t </a:t>
            </a:r>
          </a:p>
          <a:p>
            <a:pPr marL="457200" indent="-457200" fontAlgn="auto">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D40CD41B-F93E-4696-9167-70126452B74B}" type="slidenum">
              <a:rPr lang="en-GB" altLang="en-US">
                <a:solidFill>
                  <a:srgbClr val="FFC551"/>
                </a:solidFill>
                <a:latin typeface="Century Gothic" panose="020B0502020202020204" pitchFamily="34" charset="0"/>
                <a:cs typeface="Arial" panose="020B0604020202020204" pitchFamily="34" charset="0"/>
              </a:rPr>
              <a:pPr/>
              <a:t>12</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838200" y="788988"/>
            <a:ext cx="10515600" cy="479425"/>
          </a:xfrm>
        </p:spPr>
        <p:txBody>
          <a:bodyPr>
            <a:normAutofit/>
          </a:bodyPr>
          <a:lstStyle/>
          <a:p>
            <a:pPr fontAlgn="auto">
              <a:spcAft>
                <a:spcPts val="0"/>
              </a:spcAft>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Practical example: Norman’s model of interaction</a:t>
            </a:r>
          </a:p>
        </p:txBody>
      </p:sp>
      <p:sp>
        <p:nvSpPr>
          <p:cNvPr id="23555" name="Content Placeholder 2"/>
          <p:cNvSpPr>
            <a:spLocks noGrp="1"/>
          </p:cNvSpPr>
          <p:nvPr>
            <p:ph idx="1"/>
          </p:nvPr>
        </p:nvSpPr>
        <p:spPr>
          <a:xfrm>
            <a:off x="352425" y="1844675"/>
            <a:ext cx="11522075" cy="4752975"/>
          </a:xfrm>
        </p:spPr>
        <p:txBody>
          <a:bodyPr rtlCol="0">
            <a:noAutofit/>
          </a:bodyPr>
          <a:lstStyle/>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example of switching on a light cont’d</a:t>
            </a:r>
          </a:p>
          <a:p>
            <a:pPr marL="91440" indent="-91440" fontAlgn="auto">
              <a:defRPr/>
            </a:pP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fontAlgn="auto">
              <a:buFont typeface="+mj-lt"/>
              <a:buAutoNum type="arabicPeriod" startAt="6"/>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you interpret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results, based on your knowledge of the world.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For example, </a:t>
            </a:r>
            <a:r>
              <a:rPr lang="en-US" altLang="en-US" sz="2600" dirty="0">
                <a:solidFill>
                  <a:srgbClr val="FF0000"/>
                </a:solidFill>
                <a:latin typeface="Times New Roman" panose="02020603050405020304" pitchFamily="18" charset="0"/>
                <a:cs typeface="Times New Roman" panose="02020603050405020304" pitchFamily="18" charset="0"/>
              </a:rPr>
              <a:t>if the light does not come on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you may interpret this as indicating the bulb has blown or the lamp is not plugged into the mains, and you will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formulate new goals to deal with this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0" indent="0" fontAlgn="auto">
              <a:buFont typeface="Arial" panose="020B0604020202020204" pitchFamily="34" charset="0"/>
              <a:buNone/>
              <a:defRPr/>
            </a:pPr>
            <a:r>
              <a:rPr lang="en-US" altLang="en-US" sz="2600" b="1" dirty="0">
                <a:solidFill>
                  <a:schemeClr val="accent1"/>
                </a:solidFill>
                <a:latin typeface="Times New Roman" panose="02020603050405020304" pitchFamily="18" charset="0"/>
                <a:cs typeface="Times New Roman" panose="02020603050405020304" pitchFamily="18" charset="0"/>
              </a:rPr>
              <a:t>7</a:t>
            </a:r>
            <a:r>
              <a:rPr lang="en-US" altLang="en-US" sz="2600" dirty="0">
                <a:solidFill>
                  <a:schemeClr val="accent1"/>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If the light does come on,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you will evaluate the new state according to the original goals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Is there now enough light?</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If so, the cycle is complete. If not, you may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formulate a new intention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to switch on the main ceiling light as well.</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CD98CA1B-45D2-4776-8CDB-64DEFF765654}" type="slidenum">
              <a:rPr lang="en-GB" altLang="en-US">
                <a:solidFill>
                  <a:srgbClr val="FFC551"/>
                </a:solidFill>
                <a:latin typeface="Century Gothic" panose="020B0502020202020204" pitchFamily="34" charset="0"/>
                <a:cs typeface="Arial" panose="020B0604020202020204" pitchFamily="34" charset="0"/>
              </a:rPr>
              <a:pPr/>
              <a:t>13</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096963" y="287339"/>
            <a:ext cx="10058400" cy="909414"/>
          </a:xfrm>
        </p:spPr>
        <p:txBody>
          <a:bodyPr>
            <a:normAutofit/>
          </a:bodyPr>
          <a:lstStyle/>
          <a:p>
            <a:pPr fontAlgn="auto">
              <a:spcAft>
                <a:spcPts val="0"/>
              </a:spcAft>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Why some interfaces cause problems to their users</a:t>
            </a:r>
          </a:p>
        </p:txBody>
      </p:sp>
      <p:sp>
        <p:nvSpPr>
          <p:cNvPr id="21507" name="Content Placeholder 2"/>
          <p:cNvSpPr>
            <a:spLocks noGrp="1" noChangeArrowheads="1"/>
          </p:cNvSpPr>
          <p:nvPr>
            <p:ph idx="1"/>
          </p:nvPr>
        </p:nvSpPr>
        <p:spPr/>
        <p:txBody>
          <a:bodyPr/>
          <a:lstStyle/>
          <a:p>
            <a:r>
              <a:rPr lang="en-US" altLang="en-US" sz="2600" dirty="0">
                <a:latin typeface="Times New Roman" panose="02020603050405020304" pitchFamily="18" charset="0"/>
                <a:cs typeface="Times New Roman" panose="02020603050405020304" pitchFamily="18" charset="0"/>
              </a:rPr>
              <a:t>Norman uses this model of interaction to demonstrate </a:t>
            </a:r>
            <a:r>
              <a:rPr lang="en-US" altLang="en-US" sz="2600" dirty="0">
                <a:solidFill>
                  <a:srgbClr val="FF0000"/>
                </a:solidFill>
                <a:latin typeface="Times New Roman" panose="02020603050405020304" pitchFamily="18" charset="0"/>
                <a:cs typeface="Times New Roman" panose="02020603050405020304" pitchFamily="18" charset="0"/>
              </a:rPr>
              <a:t>why some interfaces cause problems to their users. </a:t>
            </a:r>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He describes these in </a:t>
            </a:r>
            <a:r>
              <a:rPr lang="en-US" altLang="en-US" sz="2600" b="1" dirty="0">
                <a:latin typeface="Times New Roman" panose="02020603050405020304" pitchFamily="18" charset="0"/>
                <a:cs typeface="Times New Roman" panose="02020603050405020304" pitchFamily="18" charset="0"/>
              </a:rPr>
              <a:t>terms of the </a:t>
            </a:r>
            <a:r>
              <a:rPr lang="en-US" altLang="en-US" sz="2600" b="1" i="1" dirty="0">
                <a:latin typeface="Times New Roman" panose="02020603050405020304" pitchFamily="18" charset="0"/>
                <a:cs typeface="Times New Roman" panose="02020603050405020304" pitchFamily="18" charset="0"/>
              </a:rPr>
              <a:t>gulfs of execution </a:t>
            </a:r>
            <a:r>
              <a:rPr lang="en-US" altLang="en-US" sz="2600" b="1" dirty="0">
                <a:latin typeface="Times New Roman" panose="02020603050405020304" pitchFamily="18" charset="0"/>
                <a:cs typeface="Times New Roman" panose="02020603050405020304" pitchFamily="18" charset="0"/>
              </a:rPr>
              <a:t>and the </a:t>
            </a:r>
            <a:r>
              <a:rPr lang="en-US" altLang="en-US" sz="2600" b="1" i="1" dirty="0">
                <a:latin typeface="Times New Roman" panose="02020603050405020304" pitchFamily="18" charset="0"/>
                <a:cs typeface="Times New Roman" panose="02020603050405020304" pitchFamily="18" charset="0"/>
              </a:rPr>
              <a:t>gulfs of evaluation</a:t>
            </a:r>
            <a:r>
              <a:rPr lang="en-US" altLang="en-US" sz="2600" b="1" dirty="0">
                <a:latin typeface="Times New Roman" panose="02020603050405020304" pitchFamily="18" charset="0"/>
                <a:cs typeface="Times New Roman" panose="02020603050405020304" pitchFamily="18" charset="0"/>
              </a:rPr>
              <a:t>. </a:t>
            </a:r>
          </a:p>
          <a:p>
            <a:pPr lvl="1"/>
            <a:r>
              <a:rPr lang="en-US" altLang="en-US" sz="2600" dirty="0">
                <a:solidFill>
                  <a:srgbClr val="FF0000"/>
                </a:solidFill>
                <a:latin typeface="Times New Roman" panose="02020603050405020304" pitchFamily="18" charset="0"/>
                <a:cs typeface="Times New Roman" panose="02020603050405020304" pitchFamily="18" charset="0"/>
              </a:rPr>
              <a:t>the user and the system do not use the same terms to describe the domain and goals </a:t>
            </a:r>
          </a:p>
          <a:p>
            <a:pPr lvl="1"/>
            <a:r>
              <a:rPr lang="en-US" altLang="en-US" sz="2600" dirty="0">
                <a:latin typeface="Times New Roman" panose="02020603050405020304" pitchFamily="18" charset="0"/>
                <a:cs typeface="Times New Roman" panose="02020603050405020304" pitchFamily="18" charset="0"/>
              </a:rPr>
              <a:t>(we called the language of the system </a:t>
            </a:r>
            <a:r>
              <a:rPr lang="en-US" altLang="en-US" sz="2600" b="1" dirty="0">
                <a:latin typeface="Times New Roman" panose="02020603050405020304" pitchFamily="18" charset="0"/>
                <a:cs typeface="Times New Roman" panose="02020603050405020304" pitchFamily="18" charset="0"/>
              </a:rPr>
              <a:t>the </a:t>
            </a:r>
            <a:r>
              <a:rPr lang="en-US" altLang="en-US" sz="2600" b="1" i="1" dirty="0">
                <a:latin typeface="Times New Roman" panose="02020603050405020304" pitchFamily="18" charset="0"/>
                <a:cs typeface="Times New Roman" panose="02020603050405020304" pitchFamily="18" charset="0"/>
              </a:rPr>
              <a:t>core language </a:t>
            </a:r>
            <a:r>
              <a:rPr lang="en-US" altLang="en-US" sz="2600" dirty="0">
                <a:latin typeface="Times New Roman" panose="02020603050405020304" pitchFamily="18" charset="0"/>
                <a:cs typeface="Times New Roman" panose="02020603050405020304" pitchFamily="18" charset="0"/>
              </a:rPr>
              <a:t>and the language of the user the </a:t>
            </a:r>
            <a:r>
              <a:rPr lang="en-US" altLang="en-US" sz="2600" b="1" i="1" dirty="0">
                <a:latin typeface="Times New Roman" panose="02020603050405020304" pitchFamily="18" charset="0"/>
                <a:cs typeface="Times New Roman" panose="02020603050405020304" pitchFamily="18" charset="0"/>
              </a:rPr>
              <a:t>task language</a:t>
            </a:r>
            <a:r>
              <a:rPr lang="en-US" altLang="en-US" sz="26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A664EFEA-EFAF-4714-84E0-3E282DCEE77E}" type="slidenum">
              <a:rPr lang="en-GB" altLang="en-US">
                <a:solidFill>
                  <a:srgbClr val="FFC551"/>
                </a:solidFill>
                <a:latin typeface="Century Gothic" panose="020B0502020202020204" pitchFamily="34" charset="0"/>
                <a:cs typeface="Arial" panose="020B0604020202020204" pitchFamily="34" charset="0"/>
              </a:rPr>
              <a:pPr/>
              <a:t>14</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Gulf of Execution</a:t>
            </a:r>
          </a:p>
        </p:txBody>
      </p:sp>
      <p:sp>
        <p:nvSpPr>
          <p:cNvPr id="22531" name="Content Placeholder 2"/>
          <p:cNvSpPr>
            <a:spLocks noGrp="1" noChangeArrowheads="1"/>
          </p:cNvSpPr>
          <p:nvPr>
            <p:ph sz="half" idx="1"/>
          </p:nvPr>
        </p:nvSpPr>
        <p:spPr>
          <a:xfrm>
            <a:off x="263352" y="1845734"/>
            <a:ext cx="5771687" cy="4463586"/>
          </a:xfrm>
        </p:spPr>
        <p:txBody>
          <a:bodyPr/>
          <a:lstStyle/>
          <a:p>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gulf of execution </a:t>
            </a:r>
            <a:r>
              <a:rPr lang="en-US" altLang="en-US" sz="2600" dirty="0">
                <a:latin typeface="Times New Roman" panose="02020603050405020304" pitchFamily="18" charset="0"/>
                <a:cs typeface="Times New Roman" panose="02020603050405020304" pitchFamily="18" charset="0"/>
              </a:rPr>
              <a:t>is the difference between the user’s formulation of the actions to reach the goal and the actions allowed by the system. </a:t>
            </a:r>
          </a:p>
          <a:p>
            <a:r>
              <a:rPr lang="en-US" altLang="en-US" sz="2600" dirty="0">
                <a:latin typeface="Times New Roman" panose="02020603050405020304" pitchFamily="18" charset="0"/>
                <a:cs typeface="Times New Roman" panose="02020603050405020304" pitchFamily="18" charset="0"/>
              </a:rPr>
              <a:t>If the actions allowed by the system correspond to those intended by the user, the interaction will be effective.</a:t>
            </a:r>
          </a:p>
          <a:p>
            <a:r>
              <a:rPr lang="en-US" altLang="en-US" sz="2600" dirty="0">
                <a:latin typeface="Times New Roman" panose="02020603050405020304" pitchFamily="18" charset="0"/>
                <a:cs typeface="Times New Roman" panose="02020603050405020304" pitchFamily="18" charset="0"/>
              </a:rPr>
              <a:t>The interface should therefore </a:t>
            </a:r>
            <a:r>
              <a:rPr lang="en-US" altLang="en-US" sz="2600" b="1" dirty="0">
                <a:latin typeface="Times New Roman" panose="02020603050405020304" pitchFamily="18" charset="0"/>
                <a:cs typeface="Times New Roman" panose="02020603050405020304" pitchFamily="18" charset="0"/>
              </a:rPr>
              <a:t>aim to reduce this gulf.</a:t>
            </a:r>
          </a:p>
          <a:p>
            <a:endParaRPr lang="en-US" altLang="en-US" sz="2600"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sz="half" idx="2"/>
          </p:nvPr>
        </p:nvSpPr>
        <p:spPr>
          <a:xfrm>
            <a:off x="6217920" y="1845734"/>
            <a:ext cx="5854744" cy="4463585"/>
          </a:xfrm>
        </p:spPr>
        <p:txBody>
          <a:bodyPr/>
          <a:lstStyle/>
          <a:p>
            <a:r>
              <a:rPr lang="en-US" sz="2600" b="1" dirty="0">
                <a:solidFill>
                  <a:srgbClr val="00B050"/>
                </a:solidFill>
                <a:latin typeface="Times New Roman" panose="02020603050405020304" pitchFamily="18" charset="0"/>
                <a:cs typeface="Times New Roman" panose="02020603050405020304" pitchFamily="18" charset="0"/>
              </a:rPr>
              <a:t>For example, a person can look at a light switch and easily tell what the current state of the system is (i.e., whether the light is on or off) and how to operate the switch.</a:t>
            </a:r>
          </a:p>
          <a:p>
            <a:endParaRPr lang="en-US" sz="2600" b="1" dirty="0">
              <a:solidFill>
                <a:srgbClr val="00B050"/>
              </a:solidFill>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This means that the gulf of execution is small. Norman states that, in order to design the best interfaces, the gulf must be kept as small as possible.</a:t>
            </a:r>
          </a:p>
          <a:p>
            <a:endParaRPr lang="en-US" sz="2600" dirty="0"/>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6650A1EB-AADD-4F56-B6B7-AF26C764490D}" type="slidenum">
              <a:rPr lang="en-GB" altLang="en-US">
                <a:solidFill>
                  <a:srgbClr val="FFC551"/>
                </a:solidFill>
                <a:latin typeface="Century Gothic" panose="020B0502020202020204" pitchFamily="34" charset="0"/>
                <a:cs typeface="Arial" panose="020B0604020202020204" pitchFamily="34" charset="0"/>
              </a:rPr>
              <a:pPr/>
              <a:t>15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Gulf of Evaluation</a:t>
            </a:r>
          </a:p>
        </p:txBody>
      </p:sp>
      <p:sp>
        <p:nvSpPr>
          <p:cNvPr id="2" name="Content Placeholder 1"/>
          <p:cNvSpPr>
            <a:spLocks noGrp="1"/>
          </p:cNvSpPr>
          <p:nvPr>
            <p:ph idx="1"/>
          </p:nvPr>
        </p:nvSpPr>
        <p:spPr>
          <a:xfrm>
            <a:off x="479376" y="1846263"/>
            <a:ext cx="11305255" cy="4319041"/>
          </a:xfrm>
        </p:spPr>
        <p:txBody>
          <a:bodyPr/>
          <a:lstStyle/>
          <a:p>
            <a:r>
              <a:rPr lang="en-US" sz="2600" b="1" dirty="0">
                <a:latin typeface="Times New Roman" panose="02020603050405020304" pitchFamily="18" charset="0"/>
                <a:cs typeface="Times New Roman" panose="02020603050405020304" pitchFamily="18" charset="0"/>
              </a:rPr>
              <a:t>Gulf of evaluation</a:t>
            </a:r>
            <a:r>
              <a:rPr lang="en-US" sz="2600" dirty="0">
                <a:latin typeface="Times New Roman" panose="02020603050405020304" pitchFamily="18" charset="0"/>
                <a:cs typeface="Times New Roman" panose="02020603050405020304" pitchFamily="18" charset="0"/>
              </a:rPr>
              <a:t> is the degree of ease with which a user can perceive and interpret whether or not the action they performed was successful. </a:t>
            </a:r>
          </a:p>
          <a:p>
            <a:r>
              <a:rPr lang="en-US" sz="2600" dirty="0">
                <a:latin typeface="Times New Roman" panose="02020603050405020304" pitchFamily="18" charset="0"/>
                <a:cs typeface="Times New Roman" panose="02020603050405020304" pitchFamily="18" charset="0"/>
              </a:rPr>
              <a:t>This gulf is small when the system provides information about its state in a form that is easy to receive, interpret, and matches the way the person thinks of the system.</a:t>
            </a:r>
          </a:p>
          <a:p>
            <a:r>
              <a:rPr lang="en-US" sz="2600" dirty="0">
                <a:latin typeface="Times New Roman" panose="02020603050405020304" pitchFamily="18" charset="0"/>
                <a:cs typeface="Times New Roman" panose="02020603050405020304" pitchFamily="18" charset="0"/>
              </a:rPr>
              <a:t>An example of a </a:t>
            </a:r>
            <a:r>
              <a:rPr lang="en-US" sz="2600" dirty="0">
                <a:solidFill>
                  <a:srgbClr val="FF0000"/>
                </a:solidFill>
                <a:latin typeface="Times New Roman" panose="02020603050405020304" pitchFamily="18" charset="0"/>
                <a:cs typeface="Times New Roman" panose="02020603050405020304" pitchFamily="18" charset="0"/>
              </a:rPr>
              <a:t>large gulf of evaluation is when an application has a spinning wheel to show a “loading” state after the user performs an action. The wheel alone is not enough for the user to interpret the progress that ​the system is making in response to their action. </a:t>
            </a:r>
            <a:r>
              <a:rPr lang="en-US" sz="2600" dirty="0">
                <a:solidFill>
                  <a:srgbClr val="00B050"/>
                </a:solidFill>
                <a:latin typeface="Times New Roman" panose="02020603050405020304" pitchFamily="18" charset="0"/>
                <a:cs typeface="Times New Roman" panose="02020603050405020304" pitchFamily="18" charset="0"/>
              </a:rPr>
              <a:t>The gulf can be shortened by having a loading bar instead.</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0AC57E94-7663-42EF-A088-85452896A557}" type="slidenum">
              <a:rPr lang="en-GB" altLang="en-US">
                <a:solidFill>
                  <a:srgbClr val="FFC551"/>
                </a:solidFill>
                <a:latin typeface="Century Gothic" panose="020B0502020202020204" pitchFamily="34" charset="0"/>
                <a:cs typeface="Arial" panose="020B0604020202020204" pitchFamily="34" charset="0"/>
              </a:rPr>
              <a:pPr/>
              <a:t>16</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Gulf of Evaluation</a:t>
            </a:r>
          </a:p>
        </p:txBody>
      </p:sp>
      <p:sp>
        <p:nvSpPr>
          <p:cNvPr id="23555" name="Content Placeholder 2"/>
          <p:cNvSpPr>
            <a:spLocks noGrp="1" noChangeArrowheads="1"/>
          </p:cNvSpPr>
          <p:nvPr>
            <p:ph idx="1"/>
          </p:nvPr>
        </p:nvSpPr>
        <p:spPr/>
        <p:txBody>
          <a:bodyPr/>
          <a:lstStyle/>
          <a:p>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gulf of evaluation </a:t>
            </a:r>
            <a:r>
              <a:rPr lang="en-US" altLang="en-US" sz="2600" dirty="0">
                <a:latin typeface="Times New Roman" panose="02020603050405020304" pitchFamily="18" charset="0"/>
                <a:cs typeface="Times New Roman" panose="02020603050405020304" pitchFamily="18" charset="0"/>
              </a:rPr>
              <a:t>is the distance between the physical presentation of the system state and the expectation of the user.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If the user can readily evaluate the presentation in terms of his goal, the gulf of evaluation is small. </a:t>
            </a:r>
          </a:p>
          <a:p>
            <a:endParaRPr lang="en-US" altLang="en-US" sz="2600" dirty="0">
              <a:latin typeface="Times New Roman" panose="02020603050405020304" pitchFamily="18" charset="0"/>
              <a:cs typeface="Times New Roman" panose="02020603050405020304" pitchFamily="18" charset="0"/>
            </a:endParaRPr>
          </a:p>
          <a:p>
            <a:r>
              <a:rPr lang="en-US" altLang="en-US" sz="2600" b="1" dirty="0">
                <a:solidFill>
                  <a:srgbClr val="FF0000"/>
                </a:solidFill>
                <a:latin typeface="Times New Roman" panose="02020603050405020304" pitchFamily="18" charset="0"/>
                <a:cs typeface="Times New Roman" panose="02020603050405020304" pitchFamily="18" charset="0"/>
              </a:rPr>
              <a:t>The more effort that is required on the part of the user to interpret the presentation, the less effective the interaction.</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0AC57E94-7663-42EF-A088-85452896A557}" type="slidenum">
              <a:rPr lang="en-GB" altLang="en-US">
                <a:solidFill>
                  <a:srgbClr val="FFC551"/>
                </a:solidFill>
                <a:latin typeface="Century Gothic" panose="020B0502020202020204" pitchFamily="34" charset="0"/>
                <a:cs typeface="Arial" panose="020B0604020202020204" pitchFamily="34" charset="0"/>
              </a:rPr>
              <a:pPr/>
              <a:t>17</a:t>
            </a:fld>
            <a:endParaRPr lang="en-GB" altLang="en-US">
              <a:solidFill>
                <a:srgbClr val="FFC551"/>
              </a:solidFill>
              <a:latin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1591000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Individual activity</a:t>
            </a:r>
            <a:endParaRPr lang="en-US" dirty="0"/>
          </a:p>
        </p:txBody>
      </p:sp>
      <p:sp>
        <p:nvSpPr>
          <p:cNvPr id="3" name="Content Placeholder 2"/>
          <p:cNvSpPr>
            <a:spLocks noGrp="1"/>
          </p:cNvSpPr>
          <p:nvPr>
            <p:ph idx="1"/>
          </p:nvPr>
        </p:nvSpPr>
        <p:spPr>
          <a:xfrm>
            <a:off x="479376" y="1736725"/>
            <a:ext cx="11305255" cy="4572595"/>
          </a:xfrm>
        </p:spPr>
        <p:txBody>
          <a:bodyPr>
            <a:normAutofit lnSpcReduction="10000"/>
          </a:bodyPr>
          <a:lstStyle/>
          <a:p>
            <a:r>
              <a:rPr lang="en-US" sz="2600" dirty="0">
                <a:latin typeface="Times New Roman" panose="02020603050405020304" pitchFamily="18" charset="0"/>
                <a:cs typeface="Times New Roman" panose="02020603050405020304" pitchFamily="18" charset="0"/>
              </a:rPr>
              <a:t>1. Pick an activity from your regular life that you perform with a computing device. For this activity, there should be some struggles with a large gulf of execution or gulf of evaluation, especially due to a weakness of the interface (software or hardware) involved in the activity. </a:t>
            </a:r>
          </a:p>
          <a:p>
            <a:pPr>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First, describe what makes that gulf wide. What are the failures of the current interface to bridge the gulf?</a:t>
            </a:r>
          </a:p>
          <a:p>
            <a:r>
              <a:rPr lang="en-US" sz="2600" dirty="0">
                <a:latin typeface="Times New Roman" panose="02020603050405020304" pitchFamily="18" charset="0"/>
                <a:cs typeface="Times New Roman" panose="02020603050405020304" pitchFamily="18" charset="0"/>
              </a:rPr>
              <a:t>2. </a:t>
            </a:r>
            <a:r>
              <a:rPr lang="en-US" sz="2600" b="1" dirty="0">
                <a:solidFill>
                  <a:srgbClr val="00B050"/>
                </a:solidFill>
                <a:latin typeface="Times New Roman" panose="02020603050405020304" pitchFamily="18" charset="0"/>
                <a:cs typeface="Times New Roman" panose="02020603050405020304" pitchFamily="18" charset="0"/>
              </a:rPr>
              <a:t>Then, select a similar activity from your regular life that does a better job bridging its gulf of execution or gulf of evaluation</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Briefly describe that activity and what gives it a narrower gulf, then describe what lessons could be borrowed from the second activity to resolve the wide gulf in the first activity.</a:t>
            </a:r>
          </a:p>
          <a:p>
            <a:pPr marL="0" indent="0">
              <a:buNone/>
            </a:pP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D012235-B351-4270-A2D7-CDF0C6F62708}" type="slidenum">
              <a:rPr lang="en-GB" altLang="en-US" smtClean="0"/>
              <a:pPr/>
              <a:t>18</a:t>
            </a:fld>
            <a:endParaRPr lang="en-GB" altLang="en-US"/>
          </a:p>
        </p:txBody>
      </p:sp>
    </p:spTree>
    <p:extLst>
      <p:ext uri="{BB962C8B-B14F-4D97-AF65-F5344CB8AC3E}">
        <p14:creationId xmlns:p14="http://schemas.microsoft.com/office/powerpoint/2010/main" val="3666070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6DF2B-D7B4-A4BC-05A7-88202747621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Individual activity</a:t>
            </a:r>
            <a:endParaRPr lang="en-US" dirty="0"/>
          </a:p>
        </p:txBody>
      </p:sp>
      <p:sp>
        <p:nvSpPr>
          <p:cNvPr id="3" name="Content Placeholder 2">
            <a:extLst>
              <a:ext uri="{FF2B5EF4-FFF2-40B4-BE49-F238E27FC236}">
                <a16:creationId xmlns:a16="http://schemas.microsoft.com/office/drawing/2014/main" id="{7E7A95A5-7D1A-601E-BD42-52DC8AC64036}"/>
              </a:ext>
            </a:extLst>
          </p:cNvPr>
          <p:cNvSpPr>
            <a:spLocks noGrp="1"/>
          </p:cNvSpPr>
          <p:nvPr>
            <p:ph idx="1"/>
          </p:nvPr>
        </p:nvSpPr>
        <p:spPr/>
        <p:txBody>
          <a:bodyPr/>
          <a:lstStyle/>
          <a:p>
            <a:r>
              <a:rPr lang="en-US" sz="2600" dirty="0">
                <a:latin typeface="Times New Roman" panose="02020603050405020304" pitchFamily="18" charset="0"/>
                <a:cs typeface="Times New Roman" panose="02020603050405020304" pitchFamily="18" charset="0"/>
              </a:rPr>
              <a:t>In selecting the activities, we recommend specifically selecting activities in similar domains. For example, you might select two appliances in your kitchen, or two mobile apps that do the same time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Adapted from http://omscs6750.gatech.edu/summer-2017/assignment-p1/</a:t>
            </a:r>
          </a:p>
          <a:p>
            <a:endParaRPr lang="en-US" sz="2600" dirty="0">
              <a:latin typeface="Times New Roman" panose="02020603050405020304" pitchFamily="18" charset="0"/>
              <a:cs typeface="Times New Roman" panose="02020603050405020304" pitchFamily="18" charset="0"/>
            </a:endParaRPr>
          </a:p>
          <a:p>
            <a:endParaRPr lang="en-US" sz="2600" dirty="0"/>
          </a:p>
        </p:txBody>
      </p:sp>
      <p:sp>
        <p:nvSpPr>
          <p:cNvPr id="4" name="Slide Number Placeholder 3">
            <a:extLst>
              <a:ext uri="{FF2B5EF4-FFF2-40B4-BE49-F238E27FC236}">
                <a16:creationId xmlns:a16="http://schemas.microsoft.com/office/drawing/2014/main" id="{C2F30F69-5A69-C256-EF69-972EBF3447B1}"/>
              </a:ext>
            </a:extLst>
          </p:cNvPr>
          <p:cNvSpPr>
            <a:spLocks noGrp="1"/>
          </p:cNvSpPr>
          <p:nvPr>
            <p:ph type="sldNum" sz="quarter" idx="12"/>
          </p:nvPr>
        </p:nvSpPr>
        <p:spPr/>
        <p:txBody>
          <a:bodyPr/>
          <a:lstStyle/>
          <a:p>
            <a:fld id="{6D012235-B351-4270-A2D7-CDF0C6F62708}" type="slidenum">
              <a:rPr lang="en-GB" altLang="en-US" smtClean="0"/>
              <a:pPr/>
              <a:t>19</a:t>
            </a:fld>
            <a:endParaRPr lang="en-GB" altLang="en-US"/>
          </a:p>
        </p:txBody>
      </p:sp>
    </p:spTree>
    <p:extLst>
      <p:ext uri="{BB962C8B-B14F-4D97-AF65-F5344CB8AC3E}">
        <p14:creationId xmlns:p14="http://schemas.microsoft.com/office/powerpoint/2010/main" val="596583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838200" y="334963"/>
            <a:ext cx="10515600" cy="698500"/>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Human errors- Slips or Mistakes</a:t>
            </a:r>
          </a:p>
        </p:txBody>
      </p:sp>
      <p:pic>
        <p:nvPicPr>
          <p:cNvPr id="24579"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1855" t="16989" r="26740" b="20126"/>
          <a:stretch>
            <a:fillRect/>
          </a:stretch>
        </p:blipFill>
        <p:spPr>
          <a:xfrm>
            <a:off x="1268413" y="1033463"/>
            <a:ext cx="9288462" cy="5348287"/>
          </a:xfrm>
        </p:spPr>
      </p:pic>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CA65285D-B1DB-4B78-B587-8841F097DE3A}" type="slidenum">
              <a:rPr lang="en-GB" altLang="en-US">
                <a:solidFill>
                  <a:srgbClr val="FFC551"/>
                </a:solidFill>
                <a:latin typeface="Century Gothic" panose="020B0502020202020204" pitchFamily="34" charset="0"/>
                <a:cs typeface="Arial" panose="020B0604020202020204" pitchFamily="34" charset="0"/>
              </a:rPr>
              <a:pPr/>
              <a:t>20</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838200" y="788988"/>
            <a:ext cx="10515600" cy="479425"/>
          </a:xfrm>
        </p:spPr>
        <p:txBody>
          <a:bodyPr>
            <a:normAutofit fontScale="90000"/>
          </a:bodyPr>
          <a:lstStyle/>
          <a:p>
            <a:pPr algn="ctr" fontAlgn="auto">
              <a:spcAft>
                <a:spcPts val="0"/>
              </a:spcAft>
              <a:defRPr/>
            </a:pPr>
            <a:r>
              <a:rPr lang="en-US" altLang="en-US">
                <a:solidFill>
                  <a:schemeClr val="tx1">
                    <a:lumMod val="75000"/>
                    <a:lumOff val="25000"/>
                  </a:schemeClr>
                </a:solidFill>
                <a:latin typeface="Futura Md BT" panose="020B0602020204020303"/>
              </a:rPr>
              <a:t>Shortfalls of Norman’s model </a:t>
            </a:r>
          </a:p>
        </p:txBody>
      </p:sp>
      <p:sp>
        <p:nvSpPr>
          <p:cNvPr id="25603" name="Content Placeholder 2"/>
          <p:cNvSpPr>
            <a:spLocks noGrp="1" noChangeArrowheads="1"/>
          </p:cNvSpPr>
          <p:nvPr>
            <p:ph idx="1"/>
          </p:nvPr>
        </p:nvSpPr>
        <p:spPr>
          <a:xfrm>
            <a:off x="838200" y="1916113"/>
            <a:ext cx="11090275" cy="4465637"/>
          </a:xfrm>
        </p:spPr>
        <p:txBody>
          <a:bodyPr/>
          <a:lstStyle/>
          <a:p>
            <a:r>
              <a:rPr lang="en-US" altLang="en-US" sz="2600" dirty="0">
                <a:latin typeface="Times New Roman" panose="02020603050405020304" pitchFamily="18" charset="0"/>
                <a:cs typeface="Times New Roman" panose="02020603050405020304" pitchFamily="18" charset="0"/>
              </a:rPr>
              <a:t>Norman’s model is a useful means of understanding the interaction, in a way that is clear and intuitive. It allows other, more detailed, empirical and analytic work to be placed within a common framework.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solidFill>
                  <a:srgbClr val="FF0000"/>
                </a:solidFill>
                <a:latin typeface="Times New Roman" panose="02020603050405020304" pitchFamily="18" charset="0"/>
                <a:cs typeface="Times New Roman" panose="02020603050405020304" pitchFamily="18" charset="0"/>
              </a:rPr>
              <a:t>However, it only considers the system as far as the interface. It concentrates wholly on the user’s view of the interaction.</a:t>
            </a:r>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It does not attempt to deal with the system’s communication through the interface.</a:t>
            </a:r>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An extension of Norman’s model, </a:t>
            </a:r>
            <a:r>
              <a:rPr lang="en-US" altLang="en-US" sz="2600" b="1" dirty="0">
                <a:latin typeface="Times New Roman" panose="02020603050405020304" pitchFamily="18" charset="0"/>
                <a:cs typeface="Times New Roman" panose="02020603050405020304" pitchFamily="18" charset="0"/>
              </a:rPr>
              <a:t>proposed by Abowd and Beale</a:t>
            </a:r>
            <a:r>
              <a:rPr lang="en-US" altLang="en-US" sz="2600" dirty="0">
                <a:latin typeface="Times New Roman" panose="02020603050405020304" pitchFamily="18" charset="0"/>
                <a:cs typeface="Times New Roman" panose="02020603050405020304" pitchFamily="18" charset="0"/>
              </a:rPr>
              <a:t>, addresses this problem</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DDA15674-1C7A-4956-BF31-E03A4B31979B}" type="slidenum">
              <a:rPr lang="en-GB" altLang="en-US">
                <a:solidFill>
                  <a:srgbClr val="FFC551"/>
                </a:solidFill>
                <a:latin typeface="Century Gothic" panose="020B0502020202020204" pitchFamily="34" charset="0"/>
                <a:cs typeface="Arial" panose="020B0604020202020204" pitchFamily="34" charset="0"/>
              </a:rPr>
              <a:pPr/>
              <a:t>21</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4"/>
          <p:cNvSpPr>
            <a:spLocks noGrp="1"/>
          </p:cNvSpPr>
          <p:nvPr>
            <p:ph type="title"/>
          </p:nvPr>
        </p:nvSpPr>
        <p:spPr>
          <a:xfrm>
            <a:off x="1171575" y="741868"/>
            <a:ext cx="10515600" cy="615950"/>
          </a:xfrm>
        </p:spPr>
        <p:txBody>
          <a:bodyPr>
            <a:normAutofit fontScale="90000"/>
          </a:bodyPr>
          <a:lstStyle/>
          <a:p>
            <a:pPr fontAlgn="auto">
              <a:spcAft>
                <a:spcPts val="0"/>
              </a:spcAft>
              <a:defRPr/>
            </a:pPr>
            <a:r>
              <a:rPr lang="en-US" altLang="en-US" sz="2800" b="1" dirty="0" err="1">
                <a:solidFill>
                  <a:schemeClr val="tx1">
                    <a:lumMod val="75000"/>
                    <a:lumOff val="25000"/>
                  </a:schemeClr>
                </a:solidFill>
                <a:latin typeface="Times New Roman" panose="02020603050405020304" pitchFamily="18" charset="0"/>
                <a:cs typeface="Times New Roman" panose="02020603050405020304" pitchFamily="18" charset="0"/>
              </a:rPr>
              <a:t>Abowd</a:t>
            </a: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 and Beale’s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framework</a:t>
            </a:r>
          </a:p>
        </p:txBody>
      </p:sp>
      <p:sp>
        <p:nvSpPr>
          <p:cNvPr id="32771" name="Content Placeholder 5"/>
          <p:cNvSpPr>
            <a:spLocks noGrp="1"/>
          </p:cNvSpPr>
          <p:nvPr>
            <p:ph sz="half" idx="1"/>
          </p:nvPr>
        </p:nvSpPr>
        <p:spPr>
          <a:xfrm>
            <a:off x="557213" y="1825625"/>
            <a:ext cx="5462587" cy="4483100"/>
          </a:xfrm>
        </p:spPr>
        <p:txBody>
          <a:bodyPr rtlCol="0">
            <a:normAutofit lnSpcReduction="10000"/>
          </a:bodyPr>
          <a:lstStyle/>
          <a:p>
            <a:pPr marL="91440" indent="-91440" fontAlgn="auto">
              <a:defRPr/>
            </a:pP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The interaction framework attempts a more </a:t>
            </a:r>
            <a:r>
              <a:rPr lang="en-US" altLang="en-US" sz="2400" dirty="0">
                <a:solidFill>
                  <a:srgbClr val="00B050"/>
                </a:solidFill>
                <a:latin typeface="Times New Roman" panose="02020603050405020304" pitchFamily="18" charset="0"/>
                <a:cs typeface="Times New Roman" panose="02020603050405020304" pitchFamily="18" charset="0"/>
              </a:rPr>
              <a:t>realistic description of interaction by including the system explicitly</a:t>
            </a: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 and </a:t>
            </a:r>
            <a: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breaks it into four main components</a:t>
            </a: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 as shown in Figure 2. </a:t>
            </a:r>
          </a:p>
          <a:p>
            <a:pPr marL="91440" indent="-91440" fontAlgn="auto">
              <a:defRPr/>
            </a:pPr>
            <a:endPar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The </a:t>
            </a:r>
            <a: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nodes</a:t>
            </a: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 represent the four major components in an interactive system: the </a:t>
            </a:r>
            <a:r>
              <a:rPr lang="en-US" altLang="en-US" sz="2400" b="1" i="1" dirty="0">
                <a:solidFill>
                  <a:schemeClr val="tx1">
                    <a:lumMod val="75000"/>
                    <a:lumOff val="25000"/>
                  </a:schemeClr>
                </a:solidFill>
                <a:latin typeface="Times New Roman" panose="02020603050405020304" pitchFamily="18" charset="0"/>
                <a:cs typeface="Times New Roman" panose="02020603050405020304" pitchFamily="18" charset="0"/>
              </a:rPr>
              <a:t>System</a:t>
            </a:r>
            <a: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 the </a:t>
            </a:r>
            <a:r>
              <a:rPr lang="en-US" altLang="en-US" sz="2400" b="1" i="1" dirty="0">
                <a:solidFill>
                  <a:schemeClr val="tx1">
                    <a:lumMod val="75000"/>
                    <a:lumOff val="25000"/>
                  </a:schemeClr>
                </a:solidFill>
                <a:latin typeface="Times New Roman" panose="02020603050405020304" pitchFamily="18" charset="0"/>
                <a:cs typeface="Times New Roman" panose="02020603050405020304" pitchFamily="18" charset="0"/>
              </a:rPr>
              <a:t>User</a:t>
            </a:r>
            <a: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 the </a:t>
            </a:r>
            <a:r>
              <a:rPr lang="en-US" altLang="en-US" sz="2400" b="1" i="1" dirty="0">
                <a:solidFill>
                  <a:schemeClr val="tx1">
                    <a:lumMod val="75000"/>
                    <a:lumOff val="25000"/>
                  </a:schemeClr>
                </a:solidFill>
                <a:latin typeface="Times New Roman" panose="02020603050405020304" pitchFamily="18" charset="0"/>
                <a:cs typeface="Times New Roman" panose="02020603050405020304" pitchFamily="18" charset="0"/>
              </a:rPr>
              <a:t>Input </a:t>
            </a:r>
            <a:r>
              <a:rPr lang="en-US" altLang="en-US" sz="2400" b="1" dirty="0">
                <a:solidFill>
                  <a:schemeClr val="tx1">
                    <a:lumMod val="75000"/>
                    <a:lumOff val="25000"/>
                  </a:schemeClr>
                </a:solidFill>
                <a:latin typeface="Times New Roman" panose="02020603050405020304" pitchFamily="18" charset="0"/>
                <a:cs typeface="Times New Roman" panose="02020603050405020304" pitchFamily="18" charset="0"/>
              </a:rPr>
              <a:t>and the </a:t>
            </a:r>
            <a:r>
              <a:rPr lang="en-US" altLang="en-US" sz="2400" b="1" i="1" dirty="0">
                <a:solidFill>
                  <a:schemeClr val="tx1">
                    <a:lumMod val="75000"/>
                    <a:lumOff val="25000"/>
                  </a:schemeClr>
                </a:solidFill>
                <a:latin typeface="Times New Roman" panose="02020603050405020304" pitchFamily="18" charset="0"/>
                <a:cs typeface="Times New Roman" panose="02020603050405020304" pitchFamily="18" charset="0"/>
              </a:rPr>
              <a:t>Output</a:t>
            </a:r>
            <a:r>
              <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fontAlgn="auto">
              <a:defRPr/>
            </a:pPr>
            <a:endParaRPr lang="en-US" altLang="en-US" sz="24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400" dirty="0">
                <a:solidFill>
                  <a:srgbClr val="00B050"/>
                </a:solidFill>
                <a:latin typeface="Times New Roman" panose="02020603050405020304" pitchFamily="18" charset="0"/>
                <a:cs typeface="Times New Roman" panose="02020603050405020304" pitchFamily="18" charset="0"/>
              </a:rPr>
              <a:t>Each component has its own language.</a:t>
            </a:r>
          </a:p>
        </p:txBody>
      </p:sp>
      <p:sp>
        <p:nvSpPr>
          <p:cNvPr id="32772" name="Content Placeholder 6"/>
          <p:cNvSpPr>
            <a:spLocks noGrp="1"/>
          </p:cNvSpPr>
          <p:nvPr>
            <p:ph sz="half" idx="2"/>
          </p:nvPr>
        </p:nvSpPr>
        <p:spPr/>
        <p:txBody>
          <a:bodyPr rtlCol="0">
            <a:normAutofit lnSpcReduction="10000"/>
          </a:bodyPr>
          <a:lstStyle/>
          <a:p>
            <a:pPr marL="91440" indent="-91440" fontAlgn="auto">
              <a:defRPr/>
            </a:pPr>
            <a:endParaRPr lang="en-US" altLang="en-US">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B63DA743-42A6-46AC-9434-8A44C9A048E1}" type="slidenum">
              <a:rPr lang="en-GB" altLang="en-US">
                <a:solidFill>
                  <a:srgbClr val="FFC551"/>
                </a:solidFill>
                <a:latin typeface="Century Gothic" panose="020B0502020202020204" pitchFamily="34" charset="0"/>
                <a:cs typeface="Arial" panose="020B0604020202020204" pitchFamily="34" charset="0"/>
              </a:rPr>
              <a:pPr/>
              <a:t>22</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26630" name="Picture 7"/>
          <p:cNvPicPr>
            <a:picLocks noChangeAspect="1"/>
          </p:cNvPicPr>
          <p:nvPr/>
        </p:nvPicPr>
        <p:blipFill>
          <a:blip r:embed="rId2">
            <a:extLst>
              <a:ext uri="{28A0092B-C50C-407E-A947-70E740481C1C}">
                <a14:useLocalDpi xmlns:a14="http://schemas.microsoft.com/office/drawing/2010/main" val="0"/>
              </a:ext>
            </a:extLst>
          </a:blip>
          <a:srcRect l="32845" t="22710" r="38931" b="6688"/>
          <a:stretch>
            <a:fillRect/>
          </a:stretch>
        </p:blipFill>
        <p:spPr bwMode="auto">
          <a:xfrm>
            <a:off x="6181152" y="1750982"/>
            <a:ext cx="5643563" cy="412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TextBox 8"/>
          <p:cNvSpPr txBox="1">
            <a:spLocks noChangeArrowheads="1"/>
          </p:cNvSpPr>
          <p:nvPr/>
        </p:nvSpPr>
        <p:spPr bwMode="auto">
          <a:xfrm>
            <a:off x="7175500" y="6597650"/>
            <a:ext cx="3889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Arial" panose="020B0604020202020204" pitchFamily="34" charset="0"/>
                <a:cs typeface="Arial" panose="020B0604020202020204" pitchFamily="34" charset="0"/>
              </a:rPr>
              <a:t>Figure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5"/>
          <p:cNvSpPr>
            <a:spLocks noGrp="1"/>
          </p:cNvSpPr>
          <p:nvPr>
            <p:ph type="title"/>
          </p:nvPr>
        </p:nvSpPr>
        <p:spPr/>
        <p:txBody>
          <a:bodyPr/>
          <a:lstStyle/>
          <a:p>
            <a:pPr algn="ctr" fontAlgn="auto">
              <a:spcAft>
                <a:spcPts val="0"/>
              </a:spcAft>
              <a:defRPr/>
            </a:pP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Abowd and Beale’s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framework</a:t>
            </a:r>
          </a:p>
        </p:txBody>
      </p:sp>
      <p:sp>
        <p:nvSpPr>
          <p:cNvPr id="33795" name="Content Placeholder 6"/>
          <p:cNvSpPr>
            <a:spLocks noGrp="1"/>
          </p:cNvSpPr>
          <p:nvPr>
            <p:ph sz="half" idx="1"/>
          </p:nvPr>
        </p:nvSpPr>
        <p:spPr>
          <a:xfrm>
            <a:off x="191344" y="1845734"/>
            <a:ext cx="6984776" cy="4463586"/>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addition to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User</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 task language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System</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 core language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which we have already introduced, there are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languages for both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Input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and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Output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components. </a:t>
            </a:r>
          </a:p>
          <a:p>
            <a:pPr marL="91440" indent="-91440" fontAlgn="auto">
              <a:defRPr/>
            </a:pPr>
            <a:r>
              <a:rPr lang="en-US" altLang="en-US" sz="2600" b="1" i="1" dirty="0">
                <a:solidFill>
                  <a:srgbClr val="00B050"/>
                </a:solidFill>
                <a:latin typeface="Times New Roman" panose="02020603050405020304" pitchFamily="18" charset="0"/>
                <a:cs typeface="Times New Roman" panose="02020603050405020304" pitchFamily="18" charset="0"/>
              </a:rPr>
              <a:t>Input </a:t>
            </a:r>
            <a:r>
              <a:rPr lang="en-US" altLang="en-US" sz="2600" b="1" dirty="0">
                <a:solidFill>
                  <a:srgbClr val="00B050"/>
                </a:solidFill>
                <a:latin typeface="Times New Roman" panose="02020603050405020304" pitchFamily="18" charset="0"/>
                <a:cs typeface="Times New Roman" panose="02020603050405020304" pitchFamily="18" charset="0"/>
              </a:rPr>
              <a:t>and </a:t>
            </a:r>
            <a:r>
              <a:rPr lang="en-US" altLang="en-US" sz="2600" b="1" i="1" dirty="0">
                <a:solidFill>
                  <a:srgbClr val="00B050"/>
                </a:solidFill>
                <a:latin typeface="Times New Roman" panose="02020603050405020304" pitchFamily="18" charset="0"/>
                <a:cs typeface="Times New Roman" panose="02020603050405020304" pitchFamily="18" charset="0"/>
              </a:rPr>
              <a:t>Output </a:t>
            </a:r>
            <a:r>
              <a:rPr lang="en-US" altLang="en-US" sz="2600" b="1" dirty="0">
                <a:solidFill>
                  <a:srgbClr val="00B050"/>
                </a:solidFill>
                <a:latin typeface="Times New Roman" panose="02020603050405020304" pitchFamily="18" charset="0"/>
                <a:cs typeface="Times New Roman" panose="02020603050405020304" pitchFamily="18" charset="0"/>
              </a:rPr>
              <a:t>together form the </a:t>
            </a:r>
            <a:r>
              <a:rPr lang="en-US" altLang="en-US" sz="2600" b="1" i="1" dirty="0">
                <a:solidFill>
                  <a:srgbClr val="00B050"/>
                </a:solidFill>
                <a:latin typeface="Times New Roman" panose="02020603050405020304" pitchFamily="18" charset="0"/>
                <a:cs typeface="Times New Roman" panose="02020603050405020304" pitchFamily="18" charset="0"/>
              </a:rPr>
              <a:t>Interface</a:t>
            </a:r>
            <a:r>
              <a:rPr lang="en-US" altLang="en-US" sz="2600" b="1" dirty="0">
                <a:solidFill>
                  <a:srgbClr val="00B050"/>
                </a:solidFill>
                <a:latin typeface="Times New Roman" panose="02020603050405020304" pitchFamily="18" charset="0"/>
                <a:cs typeface="Times New Roman" panose="02020603050405020304" pitchFamily="18" charset="0"/>
              </a:rPr>
              <a:t>.</a:t>
            </a:r>
            <a:endPar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As the interface sits between the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User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the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System</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there are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four steps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the interactive cycle, each corresponding to a translation from one component to another, as shown by the labeled arcs in the Figure on this slide</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9" name="Picture 7"/>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32844" t="58071" r="38818" b="6688"/>
          <a:stretch/>
        </p:blipFill>
        <p:spPr bwMode="auto">
          <a:xfrm>
            <a:off x="7176120" y="2090508"/>
            <a:ext cx="4896544" cy="3498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8068347E-2B3E-46B1-8556-F08AFEB32F71}" type="slidenum">
              <a:rPr lang="en-GB" altLang="en-US" smtClean="0">
                <a:solidFill>
                  <a:srgbClr val="FFC551"/>
                </a:solidFill>
                <a:latin typeface="Century Gothic" panose="020B0502020202020204" pitchFamily="34" charset="0"/>
                <a:cs typeface="Arial" panose="020B0604020202020204" pitchFamily="34" charset="0"/>
              </a:rPr>
              <a:pPr/>
              <a:t>23</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5"/>
          <p:cNvSpPr>
            <a:spLocks noGrp="1"/>
          </p:cNvSpPr>
          <p:nvPr>
            <p:ph type="title"/>
          </p:nvPr>
        </p:nvSpPr>
        <p:spPr/>
        <p:txBody>
          <a:bodyPr/>
          <a:lstStyle/>
          <a:p>
            <a:pPr algn="ctr" fontAlgn="auto">
              <a:spcAft>
                <a:spcPts val="0"/>
              </a:spcAft>
              <a:defRPr/>
            </a:pP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Abowd and Beale’s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framework</a:t>
            </a:r>
          </a:p>
        </p:txBody>
      </p:sp>
      <p:sp>
        <p:nvSpPr>
          <p:cNvPr id="33795" name="Content Placeholder 6"/>
          <p:cNvSpPr>
            <a:spLocks noGrp="1"/>
          </p:cNvSpPr>
          <p:nvPr>
            <p:ph sz="half" idx="1"/>
          </p:nvPr>
        </p:nvSpPr>
        <p:spPr>
          <a:xfrm>
            <a:off x="191344" y="1845734"/>
            <a:ext cx="6984776" cy="4463586"/>
          </a:xfrm>
        </p:spPr>
        <p:txBody>
          <a:bodyPr rtlCol="0">
            <a:normAutofit/>
          </a:bodyPr>
          <a:lstStyle/>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User</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begins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interactive cycle with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formulation of a goal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and a task to achieve that goal.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only way the user can manipulate the machine is through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Input</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and so the task must be articulated within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input language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p:txBody>
      </p:sp>
      <p:pic>
        <p:nvPicPr>
          <p:cNvPr id="9" name="Picture 7"/>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32844" t="58071" r="38818" b="6688"/>
          <a:stretch/>
        </p:blipFill>
        <p:spPr bwMode="auto">
          <a:xfrm>
            <a:off x="7176120" y="2090508"/>
            <a:ext cx="4896544" cy="3498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8068347E-2B3E-46B1-8556-F08AFEB32F71}" type="slidenum">
              <a:rPr lang="en-GB" altLang="en-US" smtClean="0">
                <a:solidFill>
                  <a:srgbClr val="FFC551"/>
                </a:solidFill>
                <a:latin typeface="Century Gothic" panose="020B0502020202020204" pitchFamily="34" charset="0"/>
                <a:cs typeface="Arial" panose="020B0604020202020204" pitchFamily="34" charset="0"/>
              </a:rPr>
              <a:pPr/>
              <a:t>24</a:t>
            </a:fld>
            <a:endParaRPr lang="en-GB" altLang="en-US">
              <a:solidFill>
                <a:srgbClr val="FFC551"/>
              </a:solidFill>
              <a:latin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1912789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ctr" fontAlgn="auto">
              <a:spcAft>
                <a:spcPts val="0"/>
              </a:spcAft>
              <a:defRPr/>
            </a:pP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Abowd and Beale’s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framework</a:t>
            </a:r>
          </a:p>
        </p:txBody>
      </p:sp>
      <p:sp>
        <p:nvSpPr>
          <p:cNvPr id="34819" name="Content Placeholder 2"/>
          <p:cNvSpPr>
            <a:spLocks noGrp="1"/>
          </p:cNvSpPr>
          <p:nvPr>
            <p:ph sz="half" idx="1"/>
          </p:nvPr>
        </p:nvSpPr>
        <p:spPr>
          <a:xfrm>
            <a:off x="407368" y="1845734"/>
            <a:ext cx="5976664" cy="4023360"/>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input language is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translated</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into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core language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as operations to be performed by the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System</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System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then transforms itself as described by the operations;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execution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phase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of the cycle is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complete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and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evaluation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phase now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begins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System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is in a new state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which must now be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communicated</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to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User</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p:txBody>
      </p:sp>
      <p:pic>
        <p:nvPicPr>
          <p:cNvPr id="6" name="Picture 7"/>
          <p:cNvPicPr>
            <a:picLocks noGrp="1" noChangeAspect="1"/>
          </p:cNvPicPr>
          <p:nvPr>
            <p:ph sz="half" idx="2"/>
          </p:nvPr>
        </p:nvPicPr>
        <p:blipFill rotWithShape="1">
          <a:blip r:embed="rId2" cstate="print">
            <a:extLst>
              <a:ext uri="{28A0092B-C50C-407E-A947-70E740481C1C}">
                <a14:useLocalDpi xmlns:a14="http://schemas.microsoft.com/office/drawing/2010/main" val="0"/>
              </a:ext>
            </a:extLst>
          </a:blip>
          <a:stretch/>
        </p:blipFill>
        <p:spPr bwMode="auto">
          <a:xfrm>
            <a:off x="6218238" y="2469737"/>
            <a:ext cx="4937125" cy="277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D097746A-9134-4919-9B78-BA2BCE95FF70}" type="slidenum">
              <a:rPr lang="en-GB" altLang="en-US">
                <a:solidFill>
                  <a:srgbClr val="FFC551"/>
                </a:solidFill>
                <a:latin typeface="Century Gothic" panose="020B0502020202020204" pitchFamily="34" charset="0"/>
                <a:cs typeface="Arial" panose="020B0604020202020204" pitchFamily="34" charset="0"/>
              </a:rPr>
              <a:pPr/>
              <a:t>25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ctr" fontAlgn="auto">
              <a:spcAft>
                <a:spcPts val="0"/>
              </a:spcAft>
              <a:defRPr/>
            </a:pPr>
            <a:r>
              <a:rPr lang="en-US" altLang="en-US" sz="2800" b="1" dirty="0">
                <a:solidFill>
                  <a:schemeClr val="tx1">
                    <a:lumMod val="75000"/>
                    <a:lumOff val="25000"/>
                  </a:schemeClr>
                </a:solidFill>
                <a:latin typeface="Times New Roman" panose="02020603050405020304" pitchFamily="18" charset="0"/>
                <a:cs typeface="Times New Roman" panose="02020603050405020304" pitchFamily="18" charset="0"/>
              </a:rPr>
              <a:t>Abowd and Beale’s </a:t>
            </a: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framework</a:t>
            </a:r>
          </a:p>
        </p:txBody>
      </p:sp>
      <p:sp>
        <p:nvSpPr>
          <p:cNvPr id="34819" name="Content Placeholder 2"/>
          <p:cNvSpPr>
            <a:spLocks noGrp="1"/>
          </p:cNvSpPr>
          <p:nvPr>
            <p:ph sz="half" idx="1"/>
          </p:nvPr>
        </p:nvSpPr>
        <p:spPr>
          <a:xfrm>
            <a:off x="191344" y="1925920"/>
            <a:ext cx="6408712" cy="4023360"/>
          </a:xfrm>
        </p:spPr>
        <p:txBody>
          <a:bodyPr rtlCol="0">
            <a:normAutofit/>
          </a:bodyPr>
          <a:lstStyle/>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current values of system attributes are rendered as concepts or features of the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Output</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It is then up to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User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to observe the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Output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and assess the results of the interaction relative to the original goal, ending the evaluation phase and, hence, the interactive cycle.</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6" name="Picture 7"/>
          <p:cNvPicPr>
            <a:picLocks noGrp="1" noChangeAspect="1"/>
          </p:cNvPicPr>
          <p:nvPr>
            <p:ph sz="half" idx="2"/>
          </p:nvPr>
        </p:nvPicPr>
        <p:blipFill rotWithShape="1">
          <a:blip r:embed="rId2" cstate="print">
            <a:extLst>
              <a:ext uri="{28A0092B-C50C-407E-A947-70E740481C1C}">
                <a14:useLocalDpi xmlns:a14="http://schemas.microsoft.com/office/drawing/2010/main" val="0"/>
              </a:ext>
            </a:extLst>
          </a:blip>
          <a:stretch/>
        </p:blipFill>
        <p:spPr bwMode="auto">
          <a:xfrm>
            <a:off x="6218238" y="2469737"/>
            <a:ext cx="4937125" cy="277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D097746A-9134-4919-9B78-BA2BCE95FF70}" type="slidenum">
              <a:rPr lang="en-GB" altLang="en-US">
                <a:solidFill>
                  <a:srgbClr val="FFC551"/>
                </a:solidFill>
                <a:latin typeface="Century Gothic" panose="020B0502020202020204" pitchFamily="34" charset="0"/>
                <a:cs typeface="Arial" panose="020B0604020202020204" pitchFamily="34" charset="0"/>
              </a:rPr>
              <a:pPr/>
              <a:t>26</a:t>
            </a:fld>
            <a:endParaRPr lang="en-GB" altLang="en-US">
              <a:solidFill>
                <a:srgbClr val="FFC551"/>
              </a:solidFill>
              <a:latin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2697583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algn="ctr" fontAlgn="auto">
              <a:spcAft>
                <a:spcPts val="0"/>
              </a:spcAft>
              <a:defRPr/>
            </a:pPr>
            <a:r>
              <a:rPr lang="en-US" altLang="en-US">
                <a:solidFill>
                  <a:schemeClr val="tx1">
                    <a:lumMod val="75000"/>
                    <a:lumOff val="25000"/>
                  </a:schemeClr>
                </a:solidFill>
                <a:latin typeface="Futura Md BT" panose="020B0602020204020303"/>
              </a:rPr>
              <a:t>Frameworks and HCI</a:t>
            </a:r>
          </a:p>
        </p:txBody>
      </p:sp>
      <p:sp>
        <p:nvSpPr>
          <p:cNvPr id="36867" name="Content Placeholder 2"/>
          <p:cNvSpPr>
            <a:spLocks noGrp="1"/>
          </p:cNvSpPr>
          <p:nvPr>
            <p:ph idx="1"/>
          </p:nvPr>
        </p:nvSpPr>
        <p:spPr>
          <a:xfrm>
            <a:off x="1096962" y="1846263"/>
            <a:ext cx="10687669" cy="4022725"/>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As well as providing a means of discussing the details of a particular interaction,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frameworks provide a basis for discussing other issues that relate to the interaction.</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ACM SIGCHI (</a:t>
            </a:r>
            <a:r>
              <a:rPr lang="en-US" sz="2600" dirty="0">
                <a:latin typeface="Times New Roman" panose="02020603050405020304" pitchFamily="18" charset="0"/>
                <a:cs typeface="Times New Roman" panose="02020603050405020304" pitchFamily="18" charset="0"/>
              </a:rPr>
              <a:t>The Association for Computing Machinery </a:t>
            </a:r>
            <a:r>
              <a:rPr lang="en-US" sz="2600" i="1" dirty="0">
                <a:latin typeface="Times New Roman" panose="02020603050405020304" pitchFamily="18" charset="0"/>
                <a:cs typeface="Times New Roman" panose="02020603050405020304" pitchFamily="18" charset="0"/>
              </a:rPr>
              <a:t>Special Interest Group on Computer-Human Interaction)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Curriculum Development Group presents a framework similar to that presented on earlier slides, and uses it to place different areas that relate to HCI</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Figure 3 on the next slide shows how different aspects relate to the interaction framework</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5E3F4A27-7459-488B-9375-6F77A2092F2F}" type="slidenum">
              <a:rPr lang="en-GB" altLang="en-US">
                <a:solidFill>
                  <a:srgbClr val="FFC551"/>
                </a:solidFill>
                <a:latin typeface="Century Gothic" panose="020B0502020202020204" pitchFamily="34" charset="0"/>
                <a:cs typeface="Arial" panose="020B0604020202020204" pitchFamily="34" charset="0"/>
              </a:rPr>
              <a:pPr/>
              <a:t>27</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fontAlgn="auto">
              <a:spcAft>
                <a:spcPts val="0"/>
              </a:spcAft>
              <a:defRPr/>
            </a:pPr>
            <a:r>
              <a:rPr lang="en-US" altLang="en-US" sz="3000" dirty="0">
                <a:solidFill>
                  <a:schemeClr val="tx1">
                    <a:lumMod val="75000"/>
                    <a:lumOff val="25000"/>
                  </a:schemeClr>
                </a:solidFill>
                <a:latin typeface="Futura Md BT" panose="020B0602020204020303"/>
              </a:rPr>
              <a:t>A framework for human–computer interaction. Adapted from ACM SIGCHI Curriculum Development Group</a:t>
            </a:r>
          </a:p>
        </p:txBody>
      </p:sp>
      <p:sp>
        <p:nvSpPr>
          <p:cNvPr id="37891" name="Content Placeholder 4"/>
          <p:cNvSpPr>
            <a:spLocks noGrp="1"/>
          </p:cNvSpPr>
          <p:nvPr>
            <p:ph sz="half" idx="1"/>
          </p:nvPr>
        </p:nvSpPr>
        <p:spPr>
          <a:xfrm>
            <a:off x="335360" y="1772816"/>
            <a:ext cx="5684837" cy="4556125"/>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field of </a:t>
            </a:r>
            <a:r>
              <a:rPr lang="en-US" altLang="en-US" sz="2600" b="1" i="1" dirty="0">
                <a:solidFill>
                  <a:schemeClr val="tx1">
                    <a:lumMod val="75000"/>
                    <a:lumOff val="25000"/>
                  </a:schemeClr>
                </a:solidFill>
                <a:latin typeface="Times New Roman" panose="02020603050405020304" pitchFamily="18" charset="0"/>
                <a:cs typeface="Times New Roman" panose="02020603050405020304" pitchFamily="18" charset="0"/>
              </a:rPr>
              <a:t>ergonomics</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addresses issues on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user side of the interface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covering both input and output, as well as the user’s immediate context.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dialog is most usually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associated with the computer and so is biased to that side of the framework.</a:t>
            </a: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Presentation and screen design</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relates to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output</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branch of the framework.</a:t>
            </a: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Each of these areas has important implications for the design of interactive systems and the performance of the user</a:t>
            </a:r>
          </a:p>
        </p:txBody>
      </p:sp>
      <p:pic>
        <p:nvPicPr>
          <p:cNvPr id="31748" name="Content Placeholder 6"/>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25237" t="24182" r="22258" b="8369"/>
          <a:stretch>
            <a:fillRect/>
          </a:stretch>
        </p:blipFill>
        <p:spPr>
          <a:xfrm>
            <a:off x="6448425" y="1736725"/>
            <a:ext cx="5632450" cy="4068763"/>
          </a:xfrm>
        </p:spPr>
      </p:pic>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514826DA-BEF1-4763-9EE6-6BD8ACE58ECB}" type="slidenum">
              <a:rPr lang="en-GB" altLang="en-US">
                <a:solidFill>
                  <a:srgbClr val="FFC551"/>
                </a:solidFill>
                <a:latin typeface="Century Gothic" panose="020B0502020202020204" pitchFamily="34" charset="0"/>
                <a:cs typeface="Arial" panose="020B0604020202020204" pitchFamily="34" charset="0"/>
              </a:rPr>
              <a:pPr/>
              <a:t>28</a:t>
            </a:fld>
            <a:endParaRPr lang="en-GB" altLang="en-US">
              <a:solidFill>
                <a:srgbClr val="FFC551"/>
              </a:solidFill>
              <a:latin typeface="Century Gothic" panose="020B0502020202020204" pitchFamily="34" charset="0"/>
              <a:cs typeface="Arial" panose="020B0604020202020204" pitchFamily="34" charset="0"/>
            </a:endParaRPr>
          </a:p>
        </p:txBody>
      </p:sp>
      <p:sp>
        <p:nvSpPr>
          <p:cNvPr id="31750" name="TextBox 7"/>
          <p:cNvSpPr txBox="1">
            <a:spLocks noChangeArrowheads="1"/>
          </p:cNvSpPr>
          <p:nvPr/>
        </p:nvSpPr>
        <p:spPr bwMode="auto">
          <a:xfrm>
            <a:off x="6959600" y="6597650"/>
            <a:ext cx="3889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Arial" panose="020B0604020202020204" pitchFamily="34" charset="0"/>
                <a:cs typeface="Arial" panose="020B0604020202020204" pitchFamily="34" charset="0"/>
              </a:rPr>
              <a:t>Figure 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5"/>
          <p:cNvSpPr>
            <a:spLocks noGrp="1"/>
          </p:cNvSpPr>
          <p:nvPr>
            <p:ph type="title"/>
          </p:nvPr>
        </p:nvSpPr>
        <p:spPr/>
        <p:txBody>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ERGONOMICS</a:t>
            </a:r>
          </a:p>
        </p:txBody>
      </p:sp>
      <p:sp>
        <p:nvSpPr>
          <p:cNvPr id="32771" name="Content Placeholder 6"/>
          <p:cNvSpPr>
            <a:spLocks noGrp="1" noChangeArrowheads="1"/>
          </p:cNvSpPr>
          <p:nvPr>
            <p:ph idx="1"/>
          </p:nvPr>
        </p:nvSpPr>
        <p:spPr>
          <a:xfrm>
            <a:off x="838200" y="1825625"/>
            <a:ext cx="10945813" cy="4772025"/>
          </a:xfrm>
        </p:spPr>
        <p:txBody>
          <a:bodyPr/>
          <a:lstStyle/>
          <a:p>
            <a:pPr algn="just"/>
            <a:r>
              <a:rPr lang="en-US" altLang="en-US" sz="2600" b="1" dirty="0">
                <a:latin typeface="Times New Roman" panose="02020603050405020304" pitchFamily="18" charset="0"/>
                <a:cs typeface="Times New Roman" panose="02020603050405020304" pitchFamily="18" charset="0"/>
              </a:rPr>
              <a:t>Ergonomics (or human factors) is traditionally the study of the physical characteristics of the interaction: </a:t>
            </a:r>
            <a:r>
              <a:rPr lang="en-US" altLang="en-US" sz="2600" dirty="0">
                <a:latin typeface="Times New Roman" panose="02020603050405020304" pitchFamily="18" charset="0"/>
                <a:cs typeface="Times New Roman" panose="02020603050405020304" pitchFamily="18" charset="0"/>
              </a:rPr>
              <a:t>how the controls are designed, the physical environment in which the interaction takes place, and the layout and physical qualities of the screen.</a:t>
            </a:r>
          </a:p>
          <a:p>
            <a:pPr algn="just"/>
            <a:r>
              <a:rPr lang="en-US" altLang="en-US" sz="2600" dirty="0">
                <a:latin typeface="Times New Roman" panose="02020603050405020304" pitchFamily="18" charset="0"/>
                <a:cs typeface="Times New Roman" panose="02020603050405020304" pitchFamily="18" charset="0"/>
              </a:rPr>
              <a:t>Ergonomics is a large and established field, which is closely related to but distinct from HCI, and full coverage would demand a course in its own right</a:t>
            </a:r>
          </a:p>
          <a:p>
            <a:pPr algn="just"/>
            <a:r>
              <a:rPr lang="en-US" altLang="en-US" sz="2600" dirty="0">
                <a:latin typeface="Times New Roman" panose="02020603050405020304" pitchFamily="18" charset="0"/>
                <a:cs typeface="Times New Roman" panose="02020603050405020304" pitchFamily="18" charset="0"/>
              </a:rPr>
              <a:t>However, let us consider some of the issues addressed by ergonomics relating to HCI</a:t>
            </a:r>
          </a:p>
          <a:p>
            <a:pPr algn="just"/>
            <a:r>
              <a:rPr lang="en-US" altLang="en-US" sz="2600" dirty="0">
                <a:latin typeface="Times New Roman" panose="02020603050405020304" pitchFamily="18" charset="0"/>
                <a:cs typeface="Times New Roman" panose="02020603050405020304" pitchFamily="18" charset="0"/>
              </a:rPr>
              <a:t> </a:t>
            </a:r>
            <a:r>
              <a:rPr lang="en-US" altLang="en-US" sz="2600" b="1" dirty="0">
                <a:latin typeface="Times New Roman" panose="02020603050405020304" pitchFamily="18" charset="0"/>
                <a:cs typeface="Times New Roman" panose="02020603050405020304" pitchFamily="18" charset="0"/>
              </a:rPr>
              <a:t>We will look at the arrangement of controls and displays, the physical environment, health issues and the use of color. </a:t>
            </a:r>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F7D0E551-0E7E-41F2-93D5-3D38B13C4416}" type="slidenum">
              <a:rPr lang="en-GB" altLang="en-US">
                <a:solidFill>
                  <a:srgbClr val="FFC551"/>
                </a:solidFill>
                <a:latin typeface="Century Gothic" panose="020B0502020202020204" pitchFamily="34" charset="0"/>
                <a:cs typeface="Arial" panose="020B0604020202020204" pitchFamily="34" charset="0"/>
              </a:rPr>
              <a:pPr/>
              <a:t>29</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096963" y="1052513"/>
            <a:ext cx="10058400" cy="684212"/>
          </a:xfrm>
        </p:spPr>
        <p:txBody>
          <a:bodyPr>
            <a:normAutofit/>
          </a:bodyPr>
          <a:lstStyle/>
          <a:p>
            <a:pP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Arrangement of controls and displays</a:t>
            </a:r>
          </a:p>
        </p:txBody>
      </p:sp>
      <p:sp>
        <p:nvSpPr>
          <p:cNvPr id="39939" name="Content Placeholder 2"/>
          <p:cNvSpPr>
            <a:spLocks noGrp="1"/>
          </p:cNvSpPr>
          <p:nvPr>
            <p:ph idx="1"/>
          </p:nvPr>
        </p:nvSpPr>
        <p:spPr>
          <a:xfrm>
            <a:off x="407988" y="1825625"/>
            <a:ext cx="11520487" cy="4411663"/>
          </a:xfrm>
        </p:spPr>
        <p:txBody>
          <a:bodyPr rtlCol="0">
            <a:noAutofit/>
          </a:bodyPr>
          <a:lstStyle/>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Sets of controls and parts of the display should be grouped logically to allow rapid access by the user </a:t>
            </a:r>
          </a:p>
          <a:p>
            <a:pPr fontAlgn="auto">
              <a:buFont typeface="Wingdings" panose="05000000000000000000" pitchFamily="2" charset="2"/>
              <a:buChar char="v"/>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This may not seem so important when we are considering a single user of a spreadsheet on a PC, but it becomes vital when we turn to safety-critical applications such as plant control, aviation and air traffic control. </a:t>
            </a:r>
          </a:p>
          <a:p>
            <a:pPr fontAlgn="auto">
              <a:buFont typeface="Wingdings" panose="05000000000000000000" pitchFamily="2" charset="2"/>
              <a:buChar char="v"/>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fontAlgn="auto">
              <a:buFont typeface="Wingdings" panose="05000000000000000000" pitchFamily="2" charset="2"/>
              <a:buChar char="v"/>
              <a:defRPr/>
            </a:pPr>
            <a:r>
              <a:rPr lang="en-US" altLang="en-US" sz="2600" b="1" dirty="0">
                <a:solidFill>
                  <a:srgbClr val="002060"/>
                </a:solidFill>
                <a:latin typeface="Times New Roman" panose="02020603050405020304" pitchFamily="18" charset="0"/>
                <a:cs typeface="Times New Roman" panose="02020603050405020304" pitchFamily="18" charset="0"/>
              </a:rPr>
              <a:t>In each of these contexts, users are under pressure and are faced with a huge range of displays and controls. </a:t>
            </a:r>
          </a:p>
          <a:p>
            <a:pPr fontAlgn="auto">
              <a:buFont typeface="Wingdings" panose="05000000000000000000" pitchFamily="2" charset="2"/>
              <a:buChar char="v"/>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Therefore, it is crucial that the physical layout of these are appropriate.</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D4D60AE8-2C69-4A31-98F4-B3A1E9B10BA3}" type="slidenum">
              <a:rPr lang="en-GB" altLang="en-US">
                <a:solidFill>
                  <a:srgbClr val="FFC551"/>
                </a:solidFill>
                <a:latin typeface="Century Gothic" panose="020B0502020202020204" pitchFamily="34" charset="0"/>
                <a:cs typeface="Arial" panose="020B0604020202020204" pitchFamily="34" charset="0"/>
              </a:rPr>
              <a:pPr/>
              <a:t>30</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838200" y="788988"/>
            <a:ext cx="10515600" cy="695325"/>
          </a:xfrm>
        </p:spPr>
        <p:txBody>
          <a:bodyPr/>
          <a:lstStyle/>
          <a:p>
            <a:pPr algn="ct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Arrangement of controls and displays</a:t>
            </a:r>
          </a:p>
        </p:txBody>
      </p:sp>
      <p:sp>
        <p:nvSpPr>
          <p:cNvPr id="40963" name="Content Placeholder 2"/>
          <p:cNvSpPr>
            <a:spLocks noGrp="1"/>
          </p:cNvSpPr>
          <p:nvPr>
            <p:ph idx="1"/>
          </p:nvPr>
        </p:nvSpPr>
        <p:spPr>
          <a:xfrm>
            <a:off x="407988" y="1773238"/>
            <a:ext cx="11376025" cy="4608512"/>
          </a:xfrm>
        </p:spPr>
        <p:txBody>
          <a:bodyPr rtlCol="0">
            <a:noAutofit/>
          </a:bodyPr>
          <a:lstStyle/>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Even for less critical PC application, inappropriate placement of controls and displays can lead to inefficiency and frustration.</a:t>
            </a:r>
          </a:p>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For example, on a particular electronic newsreader, the command key to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read</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articles from a newsgroup (y) is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directly beside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command key to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unsubscribe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from a newsgroup (u) on the keyboard. </a:t>
            </a:r>
          </a:p>
          <a:p>
            <a:pPr fontAlgn="auto">
              <a:buFont typeface="Wingdings" panose="05000000000000000000" pitchFamily="2" charset="2"/>
              <a:buChar char="v"/>
              <a:defRPr/>
            </a:pPr>
            <a:r>
              <a:rPr lang="en-US" altLang="en-US" sz="2600" b="1" dirty="0">
                <a:solidFill>
                  <a:srgbClr val="FF0000"/>
                </a:solidFill>
                <a:latin typeface="Times New Roman" panose="02020603050405020304" pitchFamily="18" charset="0"/>
                <a:cs typeface="Times New Roman" panose="02020603050405020304" pitchFamily="18" charset="0"/>
              </a:rPr>
              <a:t>This poor design frequently leads to inadvertent removal from newsgroups. Although this is recoverable </a:t>
            </a:r>
            <a:r>
              <a:rPr lang="en-US" altLang="en-US" sz="2600" dirty="0">
                <a:solidFill>
                  <a:srgbClr val="FF0000"/>
                </a:solidFill>
                <a:latin typeface="Times New Roman" panose="02020603050405020304" pitchFamily="18" charset="0"/>
                <a:cs typeface="Times New Roman" panose="02020603050405020304" pitchFamily="18" charset="0"/>
              </a:rPr>
              <a:t>it wastes time and is annoying to the user.</a:t>
            </a:r>
          </a:p>
          <a:p>
            <a:pPr fontAlgn="auto">
              <a:buFont typeface="Wingdings" panose="05000000000000000000" pitchFamily="2" charset="2"/>
              <a:buChar char="v"/>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We can therefore see that appropriate layout is important in all applications.</a:t>
            </a:r>
          </a:p>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It is important to group controls together logically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and keeping opposing controls separate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endParaRPr lang="en-US" altLang="en-US" sz="2600"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AD95011D-3DAD-4A36-943E-F5D837BD6219}" type="slidenum">
              <a:rPr lang="en-GB" altLang="en-US">
                <a:solidFill>
                  <a:srgbClr val="FFC551"/>
                </a:solidFill>
                <a:latin typeface="Century Gothic" panose="020B0502020202020204" pitchFamily="34" charset="0"/>
                <a:cs typeface="Arial" panose="020B0604020202020204" pitchFamily="34" charset="0"/>
              </a:rPr>
              <a:pPr/>
              <a:t>31</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algn="ct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Arrangement of controls and displays</a:t>
            </a:r>
          </a:p>
        </p:txBody>
      </p:sp>
      <p:sp>
        <p:nvSpPr>
          <p:cNvPr id="35843" name="Content Placeholder 2"/>
          <p:cNvSpPr>
            <a:spLocks noGrp="1" noChangeArrowheads="1"/>
          </p:cNvSpPr>
          <p:nvPr>
            <p:ph idx="1"/>
          </p:nvPr>
        </p:nvSpPr>
        <p:spPr>
          <a:xfrm>
            <a:off x="838200" y="1825625"/>
            <a:ext cx="10515600" cy="5003800"/>
          </a:xfrm>
        </p:spPr>
        <p:txBody>
          <a:bodyPr/>
          <a:lstStyle/>
          <a:p>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exact arrangement </a:t>
            </a:r>
            <a:r>
              <a:rPr lang="en-US" altLang="en-US" sz="2600" dirty="0">
                <a:latin typeface="Times New Roman" panose="02020603050405020304" pitchFamily="18" charset="0"/>
                <a:cs typeface="Times New Roman" panose="02020603050405020304" pitchFamily="18" charset="0"/>
              </a:rPr>
              <a:t>of controls will depend on the </a:t>
            </a:r>
            <a:r>
              <a:rPr lang="en-US" altLang="en-US" sz="2600" b="1" dirty="0">
                <a:latin typeface="Times New Roman" panose="02020603050405020304" pitchFamily="18" charset="0"/>
                <a:cs typeface="Times New Roman" panose="02020603050405020304" pitchFamily="18" charset="0"/>
              </a:rPr>
              <a:t>domain</a:t>
            </a:r>
            <a:r>
              <a:rPr lang="en-US" altLang="en-US" sz="2600" dirty="0">
                <a:latin typeface="Times New Roman" panose="02020603050405020304" pitchFamily="18" charset="0"/>
                <a:cs typeface="Times New Roman" panose="02020603050405020304" pitchFamily="18" charset="0"/>
              </a:rPr>
              <a:t> and the </a:t>
            </a:r>
            <a:r>
              <a:rPr lang="en-US" altLang="en-US" sz="2600" b="1" dirty="0">
                <a:latin typeface="Times New Roman" panose="02020603050405020304" pitchFamily="18" charset="0"/>
                <a:cs typeface="Times New Roman" panose="02020603050405020304" pitchFamily="18" charset="0"/>
              </a:rPr>
              <a:t>application</a:t>
            </a:r>
            <a:r>
              <a:rPr lang="en-US" altLang="en-US" sz="2600" dirty="0">
                <a:latin typeface="Times New Roman" panose="02020603050405020304" pitchFamily="18" charset="0"/>
                <a:cs typeface="Times New Roman" panose="02020603050405020304" pitchFamily="18" charset="0"/>
              </a:rPr>
              <a:t>, but possible arrangements include the following:</a:t>
            </a:r>
          </a:p>
          <a:p>
            <a:pPr lvl="1"/>
            <a:r>
              <a:rPr lang="en-US" altLang="en-US" sz="2600" b="1" dirty="0">
                <a:latin typeface="Times New Roman" panose="02020603050405020304" pitchFamily="18" charset="0"/>
                <a:cs typeface="Times New Roman" panose="02020603050405020304" pitchFamily="18" charset="0"/>
              </a:rPr>
              <a:t>functional </a:t>
            </a:r>
            <a:r>
              <a:rPr lang="en-US" altLang="en-US" sz="2600" dirty="0">
                <a:latin typeface="Times New Roman" panose="02020603050405020304" pitchFamily="18" charset="0"/>
                <a:cs typeface="Times New Roman" panose="02020603050405020304" pitchFamily="18" charset="0"/>
              </a:rPr>
              <a:t>controls and displays are organized so that those that are functionally related are placed together;</a:t>
            </a:r>
          </a:p>
          <a:p>
            <a:pPr lvl="1"/>
            <a:endParaRPr lang="en-US" altLang="en-US" sz="2600" dirty="0">
              <a:latin typeface="Times New Roman" panose="02020603050405020304" pitchFamily="18" charset="0"/>
              <a:cs typeface="Times New Roman" panose="02020603050405020304" pitchFamily="18" charset="0"/>
            </a:endParaRPr>
          </a:p>
          <a:p>
            <a:pPr lvl="1"/>
            <a:r>
              <a:rPr lang="en-US" altLang="en-US" sz="2600" b="1" dirty="0">
                <a:latin typeface="Times New Roman" panose="02020603050405020304" pitchFamily="18" charset="0"/>
                <a:cs typeface="Times New Roman" panose="02020603050405020304" pitchFamily="18" charset="0"/>
              </a:rPr>
              <a:t>sequential </a:t>
            </a:r>
            <a:r>
              <a:rPr lang="en-US" altLang="en-US" sz="2600" dirty="0">
                <a:latin typeface="Times New Roman" panose="02020603050405020304" pitchFamily="18" charset="0"/>
                <a:cs typeface="Times New Roman" panose="02020603050405020304" pitchFamily="18" charset="0"/>
              </a:rPr>
              <a:t>controls and displays are organized </a:t>
            </a:r>
            <a:r>
              <a:rPr lang="en-US" altLang="en-US" sz="2600" b="1" dirty="0">
                <a:latin typeface="Times New Roman" panose="02020603050405020304" pitchFamily="18" charset="0"/>
                <a:cs typeface="Times New Roman" panose="02020603050405020304" pitchFamily="18" charset="0"/>
              </a:rPr>
              <a:t>to reflect the order of their use </a:t>
            </a:r>
            <a:r>
              <a:rPr lang="en-US" altLang="en-US" sz="2600" dirty="0">
                <a:latin typeface="Times New Roman" panose="02020603050405020304" pitchFamily="18" charset="0"/>
                <a:cs typeface="Times New Roman" panose="02020603050405020304" pitchFamily="18" charset="0"/>
              </a:rPr>
              <a:t>in a typical interaction (this may be especially appropriate in domains where a particular task sequence is enforced, such as aviation);</a:t>
            </a:r>
          </a:p>
          <a:p>
            <a:pPr lvl="1"/>
            <a:r>
              <a:rPr lang="en-US" altLang="en-US" sz="2600" b="1" dirty="0">
                <a:latin typeface="Times New Roman" panose="02020603050405020304" pitchFamily="18" charset="0"/>
                <a:cs typeface="Times New Roman" panose="02020603050405020304" pitchFamily="18" charset="0"/>
              </a:rPr>
              <a:t>frequency </a:t>
            </a:r>
            <a:r>
              <a:rPr lang="en-US" altLang="en-US" sz="2600" dirty="0">
                <a:latin typeface="Times New Roman" panose="02020603050405020304" pitchFamily="18" charset="0"/>
                <a:cs typeface="Times New Roman" panose="02020603050405020304" pitchFamily="18" charset="0"/>
              </a:rPr>
              <a:t>controls and displays are organized according to how frequently they are used, with the most commonly used controls being the most easily accessible.</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EC0B4EF2-D3B3-4DD0-AC00-323CBA7CED1C}" type="slidenum">
              <a:rPr lang="en-GB" altLang="en-US">
                <a:solidFill>
                  <a:srgbClr val="FFC551"/>
                </a:solidFill>
                <a:latin typeface="Century Gothic" panose="020B0502020202020204" pitchFamily="34" charset="0"/>
                <a:cs typeface="Arial" panose="020B0604020202020204" pitchFamily="34" charset="0"/>
              </a:rPr>
              <a:pPr/>
              <a:t>32</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1096963" y="981075"/>
            <a:ext cx="10058400" cy="755650"/>
          </a:xfrm>
        </p:spPr>
        <p:txBody>
          <a:bodyPr/>
          <a:lstStyle/>
          <a:p>
            <a:pPr algn="ct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Arrangement of controls and displays</a:t>
            </a:r>
          </a:p>
        </p:txBody>
      </p:sp>
      <p:sp>
        <p:nvSpPr>
          <p:cNvPr id="43011" name="Content Placeholder 2"/>
          <p:cNvSpPr>
            <a:spLocks noGrp="1"/>
          </p:cNvSpPr>
          <p:nvPr>
            <p:ph idx="1"/>
          </p:nvPr>
        </p:nvSpPr>
        <p:spPr>
          <a:xfrm>
            <a:off x="838200" y="1825625"/>
            <a:ext cx="10945813" cy="4411663"/>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addition to the organization of the controls and displays in relation to each other,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entire system interface must be arranged appropriately in relation to the user’s position.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So, for example, the user should be able to reach all controls necessary and view all displays without excessive body movement. </a:t>
            </a: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Critical displays should be at eye level.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Lighting should be arranged to avoid glare and reflection, distorting displays.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Controls should be spaced to provide adequate room for the user to </a:t>
            </a:r>
            <a:r>
              <a:rPr lang="en-US" altLang="en-US" sz="2600" dirty="0" err="1">
                <a:solidFill>
                  <a:schemeClr val="tx1">
                    <a:lumMod val="75000"/>
                    <a:lumOff val="25000"/>
                  </a:schemeClr>
                </a:solidFill>
                <a:latin typeface="Times New Roman" panose="02020603050405020304" pitchFamily="18" charset="0"/>
                <a:cs typeface="Times New Roman" panose="02020603050405020304" pitchFamily="18" charset="0"/>
              </a:rPr>
              <a:t>manoeuvre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89201C92-95BF-472B-902B-1ED477C39B1A}" type="slidenum">
              <a:rPr lang="en-GB" altLang="en-US">
                <a:solidFill>
                  <a:srgbClr val="FFC551"/>
                </a:solidFill>
                <a:latin typeface="Century Gothic" panose="020B0502020202020204" pitchFamily="34" charset="0"/>
                <a:cs typeface="Arial" panose="020B0604020202020204" pitchFamily="34" charset="0"/>
              </a:rPr>
              <a:pPr/>
              <a:t>33</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1096963" y="287338"/>
            <a:ext cx="10471150" cy="1196975"/>
          </a:xfrm>
        </p:spPr>
        <p:txBody>
          <a:bodyPr/>
          <a:lstStyle/>
          <a:p>
            <a:pP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The physical environment of the interaction</a:t>
            </a:r>
          </a:p>
        </p:txBody>
      </p:sp>
      <p:sp>
        <p:nvSpPr>
          <p:cNvPr id="44035" name="Content Placeholder 2"/>
          <p:cNvSpPr>
            <a:spLocks noGrp="1"/>
          </p:cNvSpPr>
          <p:nvPr>
            <p:ph idx="1"/>
          </p:nvPr>
        </p:nvSpPr>
        <p:spPr>
          <a:xfrm>
            <a:off x="838200" y="1844675"/>
            <a:ext cx="11090275" cy="4464050"/>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As well as addressing physical issues in the layout and arrangement of the machine interface,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ergonomics is also concerned with the design of the work environment itself.</a:t>
            </a:r>
          </a:p>
          <a:p>
            <a:pPr marL="91440" indent="-91440" fontAlgn="auto">
              <a:defRPr/>
            </a:pPr>
            <a:r>
              <a:rPr lang="en-US" altLang="en-US" sz="2600" b="1" dirty="0">
                <a:solidFill>
                  <a:srgbClr val="0070C0"/>
                </a:solidFill>
                <a:latin typeface="Times New Roman" panose="02020603050405020304" pitchFamily="18" charset="0"/>
                <a:cs typeface="Times New Roman" panose="02020603050405020304" pitchFamily="18" charset="0"/>
              </a:rPr>
              <a:t>Where will the system be used? By whom will it be used? Will users be sitting, standing or moving about?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Again, this will depend largely on the domain and will be more critical in specific control and operational settings than in general computer use.</a:t>
            </a: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However, the physical environment in which the system is used may influence how well it is accepted and even the health and safety of its users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It should therefore be considered in all designs.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C01B87D-38FA-469B-8838-854E7605CCD5}" type="slidenum">
              <a:rPr lang="en-GB" altLang="en-US">
                <a:solidFill>
                  <a:srgbClr val="FFC551"/>
                </a:solidFill>
                <a:latin typeface="Century Gothic" panose="020B0502020202020204" pitchFamily="34" charset="0"/>
                <a:cs typeface="Arial" panose="020B0604020202020204" pitchFamily="34" charset="0"/>
              </a:rPr>
              <a:pPr/>
              <a:t>34</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838200" y="788988"/>
            <a:ext cx="10515600" cy="552450"/>
          </a:xfrm>
        </p:spPr>
        <p:txBody>
          <a:bodyPr/>
          <a:lstStyle/>
          <a:p>
            <a:pPr fontAlgn="auto">
              <a:spcAft>
                <a:spcPts val="0"/>
              </a:spcAft>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Ergonomics</a:t>
            </a:r>
            <a:r>
              <a:rPr lang="en-US" altLang="en-US" sz="3000" dirty="0">
                <a:solidFill>
                  <a:schemeClr val="tx1">
                    <a:lumMod val="75000"/>
                    <a:lumOff val="25000"/>
                  </a:schemeClr>
                </a:solidFill>
                <a:latin typeface="Futura Md BT" panose="020B0602020204020303"/>
              </a:rPr>
              <a:t>: The physical environment of the interaction</a:t>
            </a:r>
          </a:p>
        </p:txBody>
      </p:sp>
      <p:sp>
        <p:nvSpPr>
          <p:cNvPr id="45059" name="Content Placeholder 2"/>
          <p:cNvSpPr>
            <a:spLocks noGrp="1"/>
          </p:cNvSpPr>
          <p:nvPr>
            <p:ph idx="1"/>
          </p:nvPr>
        </p:nvSpPr>
        <p:spPr>
          <a:xfrm>
            <a:off x="838200" y="1773238"/>
            <a:ext cx="10729913" cy="4464050"/>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first consideration here is 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size of the users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Obviously this is going to vary considerably.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However, in any system the smallest user should be able to reach all the controls (this may include a user in a wheelchair), and the largest user should not be cramped in the environment.</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 particular, all users should be comfortably able to see critical displays. For long periods of use, the user should be seated for comfort and stability.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Seating should provide back support.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If required to stand, the user should have room to move around in order to reach all the controls.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A2CB2B0C-E2F6-493E-A7BF-66781BBBDA1E}" type="slidenum">
              <a:rPr lang="en-GB" altLang="en-US">
                <a:solidFill>
                  <a:srgbClr val="FFC551"/>
                </a:solidFill>
                <a:latin typeface="Century Gothic" panose="020B0502020202020204" pitchFamily="34" charset="0"/>
                <a:cs typeface="Arial" panose="020B0604020202020204" pitchFamily="34" charset="0"/>
              </a:rPr>
              <a:pPr/>
              <a:t>35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871538" y="1125538"/>
            <a:ext cx="10515600" cy="479425"/>
          </a:xfrm>
        </p:spPr>
        <p:txBody>
          <a:bodyPr>
            <a:noAutofit/>
          </a:bodyPr>
          <a:lstStyle/>
          <a:p>
            <a:pPr fontAlgn="auto">
              <a:spcAft>
                <a:spcPts val="0"/>
              </a:spcAft>
              <a:defRPr/>
            </a:pPr>
            <a:r>
              <a:rPr lang="en-US" altLang="en-US" sz="3000" dirty="0">
                <a:solidFill>
                  <a:schemeClr val="tx1">
                    <a:lumMod val="75000"/>
                    <a:lumOff val="25000"/>
                  </a:schemeClr>
                </a:solidFill>
                <a:latin typeface="Futura Md BT" panose="020B0602020204020303"/>
              </a:rPr>
              <a:t>Ergonomics: The physical environment of the interaction</a:t>
            </a:r>
          </a:p>
        </p:txBody>
      </p:sp>
      <p:sp>
        <p:nvSpPr>
          <p:cNvPr id="46083" name="Content Placeholder 2"/>
          <p:cNvSpPr>
            <a:spLocks noGrp="1"/>
          </p:cNvSpPr>
          <p:nvPr>
            <p:ph idx="1"/>
          </p:nvPr>
        </p:nvSpPr>
        <p:spPr>
          <a:xfrm>
            <a:off x="838200" y="1773238"/>
            <a:ext cx="10945813" cy="4691062"/>
          </a:xfrm>
        </p:spPr>
        <p:txBody>
          <a:bodyPr rtlCol="0">
            <a:noAutofit/>
          </a:bodyPr>
          <a:lstStyle/>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bear in mind the  possible consequences of our designs on the health and safety of users.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obvious </a:t>
            </a:r>
            <a:r>
              <a:rPr lang="en-US" altLang="en-US" sz="2600" dirty="0">
                <a:solidFill>
                  <a:srgbClr val="FF0000"/>
                </a:solidFill>
                <a:latin typeface="Times New Roman" panose="02020603050405020304" pitchFamily="18" charset="0"/>
                <a:cs typeface="Times New Roman" panose="02020603050405020304" pitchFamily="18" charset="0"/>
              </a:rPr>
              <a:t>safety risks of poorly designed safety-critical systems(aircraft crashing, nuclear plant leaks and worse),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there are a number of factors that may affect the use of more general computers. </a:t>
            </a:r>
          </a:p>
          <a:p>
            <a:pPr marL="749808" lvl="3"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Physical position</a:t>
            </a:r>
          </a:p>
          <a:p>
            <a:pPr marL="749808" lvl="3" indent="-182880" fontAlgn="auto">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Temperature</a:t>
            </a:r>
          </a:p>
          <a:p>
            <a:pPr marL="749808" lvl="3" indent="-182880" fontAlgn="auto">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Lighting</a:t>
            </a:r>
          </a:p>
          <a:p>
            <a:pPr marL="749808" lvl="3" indent="-182880" fontAlgn="auto">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Noise</a:t>
            </a:r>
          </a:p>
          <a:p>
            <a:pPr marL="749808" lvl="3" indent="-182880" fontAlgn="auto">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Time</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09D5C9C9-0877-4628-A8F5-5907AD2500B0}" type="slidenum">
              <a:rPr lang="en-GB" altLang="en-US">
                <a:solidFill>
                  <a:srgbClr val="FFC551"/>
                </a:solidFill>
                <a:latin typeface="Century Gothic" panose="020B0502020202020204" pitchFamily="34" charset="0"/>
                <a:cs typeface="Arial" panose="020B0604020202020204" pitchFamily="34" charset="0"/>
              </a:rPr>
              <a:pPr/>
              <a:t>36</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838200" y="788988"/>
            <a:ext cx="10515600" cy="479425"/>
          </a:xfrm>
        </p:spPr>
        <p:txBody>
          <a:bodyPr>
            <a:noAutofit/>
          </a:bodyPr>
          <a:lstStyle/>
          <a:p>
            <a:pP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The use of </a:t>
            </a:r>
            <a:r>
              <a:rPr lang="en-US" altLang="en-US" sz="3000" dirty="0" err="1">
                <a:solidFill>
                  <a:schemeClr val="tx1">
                    <a:lumMod val="75000"/>
                    <a:lumOff val="25000"/>
                  </a:schemeClr>
                </a:solidFill>
                <a:latin typeface="Times New Roman" panose="02020603050405020304" pitchFamily="18" charset="0"/>
                <a:cs typeface="Times New Roman" panose="02020603050405020304" pitchFamily="18" charset="0"/>
              </a:rPr>
              <a:t>colour</a:t>
            </a:r>
            <a:endPar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0963" name="Content Placeholder 2"/>
          <p:cNvSpPr>
            <a:spLocks noGrp="1" noChangeArrowheads="1"/>
          </p:cNvSpPr>
          <p:nvPr>
            <p:ph idx="1"/>
          </p:nvPr>
        </p:nvSpPr>
        <p:spPr>
          <a:xfrm>
            <a:off x="838200" y="1844675"/>
            <a:ext cx="11090275" cy="4824413"/>
          </a:xfrm>
        </p:spPr>
        <p:txBody>
          <a:bodyPr/>
          <a:lstStyle/>
          <a:p>
            <a:r>
              <a:rPr lang="en-US" altLang="en-US" sz="2600" dirty="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use of </a:t>
            </a:r>
            <a:r>
              <a:rPr lang="en-US" altLang="en-US" sz="2600" b="1" dirty="0" err="1">
                <a:latin typeface="Times New Roman" panose="02020603050405020304" pitchFamily="18" charset="0"/>
                <a:cs typeface="Times New Roman" panose="02020603050405020304" pitchFamily="18" charset="0"/>
              </a:rPr>
              <a:t>colour</a:t>
            </a:r>
            <a:r>
              <a:rPr lang="en-US" altLang="en-US" sz="2600" b="1" dirty="0">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in displays is an ergonomics issue.</a:t>
            </a:r>
          </a:p>
          <a:p>
            <a:endParaRPr lang="en-US" altLang="en-US" sz="2600" dirty="0">
              <a:latin typeface="Times New Roman" panose="02020603050405020304" pitchFamily="18" charset="0"/>
              <a:cs typeface="Times New Roman" panose="02020603050405020304" pitchFamily="18" charset="0"/>
            </a:endParaRPr>
          </a:p>
          <a:p>
            <a:r>
              <a:rPr lang="en-US" altLang="en-US" sz="2600" dirty="0" err="1">
                <a:latin typeface="Times New Roman" panose="02020603050405020304" pitchFamily="18" charset="0"/>
                <a:cs typeface="Times New Roman" panose="02020603050405020304" pitchFamily="18" charset="0"/>
              </a:rPr>
              <a:t>Colours</a:t>
            </a:r>
            <a:r>
              <a:rPr lang="en-US" altLang="en-US" sz="2600" dirty="0">
                <a:latin typeface="Times New Roman" panose="02020603050405020304" pitchFamily="18" charset="0"/>
                <a:cs typeface="Times New Roman" panose="02020603050405020304" pitchFamily="18" charset="0"/>
              </a:rPr>
              <a:t> used in the display should be as distinct as possible and the distinction should not be affected by changes in contrast.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solidFill>
                  <a:srgbClr val="FF0000"/>
                </a:solidFill>
                <a:latin typeface="Times New Roman" panose="02020603050405020304" pitchFamily="18" charset="0"/>
                <a:cs typeface="Times New Roman" panose="02020603050405020304" pitchFamily="18" charset="0"/>
              </a:rPr>
              <a:t>Blue should not be used to display critical information.</a:t>
            </a:r>
          </a:p>
          <a:p>
            <a:endParaRPr lang="en-US" alt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92DE5E0F-34BF-41F9-8499-F66EA18E8F9C}" type="slidenum">
              <a:rPr lang="en-GB" altLang="en-US">
                <a:solidFill>
                  <a:srgbClr val="FFC551"/>
                </a:solidFill>
                <a:latin typeface="Century Gothic" panose="020B0502020202020204" pitchFamily="34" charset="0"/>
                <a:cs typeface="Arial" panose="020B0604020202020204" pitchFamily="34" charset="0"/>
              </a:rPr>
              <a:pPr/>
              <a:t>37</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838200" y="788988"/>
            <a:ext cx="10515600" cy="479425"/>
          </a:xfrm>
        </p:spPr>
        <p:txBody>
          <a:bodyPr>
            <a:noAutofit/>
          </a:bodyPr>
          <a:lstStyle/>
          <a:p>
            <a:pP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The use of </a:t>
            </a:r>
            <a:r>
              <a:rPr lang="en-US" altLang="en-US" sz="3000" dirty="0" err="1">
                <a:solidFill>
                  <a:schemeClr val="tx1">
                    <a:lumMod val="75000"/>
                    <a:lumOff val="25000"/>
                  </a:schemeClr>
                </a:solidFill>
                <a:latin typeface="Times New Roman" panose="02020603050405020304" pitchFamily="18" charset="0"/>
                <a:cs typeface="Times New Roman" panose="02020603050405020304" pitchFamily="18" charset="0"/>
              </a:rPr>
              <a:t>colour</a:t>
            </a:r>
            <a:endPar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8131" name="Content Placeholder 2"/>
          <p:cNvSpPr>
            <a:spLocks noGrp="1"/>
          </p:cNvSpPr>
          <p:nvPr>
            <p:ph idx="1"/>
          </p:nvPr>
        </p:nvSpPr>
        <p:spPr>
          <a:xfrm>
            <a:off x="838200" y="1844675"/>
            <a:ext cx="11090275" cy="4464050"/>
          </a:xfrm>
        </p:spPr>
        <p:txBody>
          <a:bodyPr rtlCol="0">
            <a:noAutofit/>
          </a:bodyPr>
          <a:lstStyle/>
          <a:p>
            <a:pPr marL="91440" indent="-91440" fontAlgn="auto">
              <a:defRPr/>
            </a:pPr>
            <a:r>
              <a:rPr lang="en-US" altLang="en-US" sz="2600" b="1" dirty="0">
                <a:solidFill>
                  <a:srgbClr val="00B050"/>
                </a:solidFill>
                <a:latin typeface="Times New Roman" panose="02020603050405020304" pitchFamily="18" charset="0"/>
                <a:cs typeface="Times New Roman" panose="02020603050405020304" pitchFamily="18" charset="0"/>
              </a:rPr>
              <a:t>The colors used should also correspond to common conventions and user expectations</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Red, green and yellow are colors frequently associated with stop, go and standby respectively. </a:t>
            </a:r>
          </a:p>
          <a:p>
            <a:pPr marL="384048" lvl="1" indent="-182880" fontAlgn="auto">
              <a:lnSpc>
                <a:spcPct val="150000"/>
              </a:lnSpc>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Therefore, red may be used to indicate emergency and alarms;</a:t>
            </a:r>
          </a:p>
          <a:p>
            <a:pPr marL="384048" lvl="1" indent="-182880" fontAlgn="auto">
              <a:lnSpc>
                <a:spcPct val="150000"/>
              </a:lnSpc>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green, normal activity; and </a:t>
            </a:r>
          </a:p>
          <a:p>
            <a:pPr marL="384048" lvl="1" indent="-182880" fontAlgn="auto">
              <a:lnSpc>
                <a:spcPct val="150000"/>
              </a:lnSpc>
              <a:buFont typeface="Wingdings" panose="05000000000000000000" pitchFamily="2" charset="2"/>
              <a:buChar char="Ø"/>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yellow, standby and auxiliary function.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These conventions should not be violated without very good cause.</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6EBEE86-68EF-4028-9523-D542FB5013E3}" type="slidenum">
              <a:rPr lang="en-GB" altLang="en-US">
                <a:solidFill>
                  <a:srgbClr val="FFC551"/>
                </a:solidFill>
                <a:latin typeface="Century Gothic" panose="020B0502020202020204" pitchFamily="34" charset="0"/>
                <a:cs typeface="Arial" panose="020B0604020202020204" pitchFamily="34" charset="0"/>
              </a:rPr>
              <a:pPr/>
              <a:t>38</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1096963" y="836613"/>
            <a:ext cx="10255250" cy="900112"/>
          </a:xfrm>
        </p:spPr>
        <p:txBody>
          <a:bodyPr/>
          <a:lstStyle/>
          <a:p>
            <a:pPr fontAlgn="auto">
              <a:spcAft>
                <a:spcPts val="0"/>
              </a:spcAft>
              <a:defRPr/>
            </a:pPr>
            <a:r>
              <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rPr>
              <a:t>Ergonomics: The use of </a:t>
            </a:r>
            <a:r>
              <a:rPr lang="en-US" altLang="en-US" sz="3000" dirty="0" err="1">
                <a:solidFill>
                  <a:schemeClr val="tx1">
                    <a:lumMod val="75000"/>
                    <a:lumOff val="25000"/>
                  </a:schemeClr>
                </a:solidFill>
                <a:latin typeface="Times New Roman" panose="02020603050405020304" pitchFamily="18" charset="0"/>
                <a:cs typeface="Times New Roman" panose="02020603050405020304" pitchFamily="18" charset="0"/>
              </a:rPr>
              <a:t>colour</a:t>
            </a:r>
            <a:endParaRPr lang="en-US" altLang="en-US" sz="3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3011" name="Content Placeholder 2"/>
          <p:cNvSpPr>
            <a:spLocks noGrp="1" noChangeArrowheads="1"/>
          </p:cNvSpPr>
          <p:nvPr>
            <p:ph idx="1"/>
          </p:nvPr>
        </p:nvSpPr>
        <p:spPr>
          <a:xfrm>
            <a:off x="893763" y="1844675"/>
            <a:ext cx="10515600" cy="4486275"/>
          </a:xfrm>
        </p:spPr>
        <p:txBody>
          <a:bodyPr/>
          <a:lstStyle/>
          <a:p>
            <a:r>
              <a:rPr lang="en-US" altLang="en-US" sz="2600" dirty="0">
                <a:latin typeface="Times New Roman" panose="02020603050405020304" pitchFamily="18" charset="0"/>
                <a:cs typeface="Times New Roman" panose="02020603050405020304" pitchFamily="18" charset="0"/>
              </a:rPr>
              <a:t>However, </a:t>
            </a:r>
            <a:r>
              <a:rPr lang="en-US" altLang="en-US" sz="2600" dirty="0" err="1">
                <a:solidFill>
                  <a:srgbClr val="FF0000"/>
                </a:solidFill>
                <a:latin typeface="Times New Roman" panose="02020603050405020304" pitchFamily="18" charset="0"/>
                <a:cs typeface="Times New Roman" panose="02020603050405020304" pitchFamily="18" charset="0"/>
              </a:rPr>
              <a:t>colour</a:t>
            </a:r>
            <a:r>
              <a:rPr lang="en-US" altLang="en-US" sz="2600" dirty="0">
                <a:solidFill>
                  <a:srgbClr val="FF0000"/>
                </a:solidFill>
                <a:latin typeface="Times New Roman" panose="02020603050405020304" pitchFamily="18" charset="0"/>
                <a:cs typeface="Times New Roman" panose="02020603050405020304" pitchFamily="18" charset="0"/>
              </a:rPr>
              <a:t> conventions are culturally determined.</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For example, red is associated with danger and warnings in most western cultures, but in China it symbolizes happiness and good fortune.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The </a:t>
            </a:r>
            <a:r>
              <a:rPr lang="en-US" altLang="en-US" sz="2600" dirty="0" err="1">
                <a:latin typeface="Times New Roman" panose="02020603050405020304" pitchFamily="18" charset="0"/>
                <a:cs typeface="Times New Roman" panose="02020603050405020304" pitchFamily="18" charset="0"/>
              </a:rPr>
              <a:t>colour</a:t>
            </a:r>
            <a:r>
              <a:rPr lang="en-US" altLang="en-US" sz="2600" dirty="0">
                <a:latin typeface="Times New Roman" panose="02020603050405020304" pitchFamily="18" charset="0"/>
                <a:cs typeface="Times New Roman" panose="02020603050405020304" pitchFamily="18" charset="0"/>
              </a:rPr>
              <a:t> of mourning is black in some cultures and white in others.</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 </a:t>
            </a:r>
            <a:r>
              <a:rPr lang="en-US" altLang="en-US" sz="2600" b="1" dirty="0">
                <a:latin typeface="Times New Roman" panose="02020603050405020304" pitchFamily="18" charset="0"/>
                <a:cs typeface="Times New Roman" panose="02020603050405020304" pitchFamily="18" charset="0"/>
              </a:rPr>
              <a:t>Awareness of the cultural associations of </a:t>
            </a:r>
            <a:r>
              <a:rPr lang="en-US" altLang="en-US" sz="2600" b="1" dirty="0" err="1">
                <a:latin typeface="Times New Roman" panose="02020603050405020304" pitchFamily="18" charset="0"/>
                <a:cs typeface="Times New Roman" panose="02020603050405020304" pitchFamily="18" charset="0"/>
              </a:rPr>
              <a:t>colour</a:t>
            </a:r>
            <a:r>
              <a:rPr lang="en-US" altLang="en-US" sz="2600" b="1" dirty="0">
                <a:latin typeface="Times New Roman" panose="02020603050405020304" pitchFamily="18" charset="0"/>
                <a:cs typeface="Times New Roman" panose="02020603050405020304" pitchFamily="18" charset="0"/>
              </a:rPr>
              <a:t> is particularly important in designing systems and websites for a global market</a:t>
            </a:r>
            <a:r>
              <a:rPr lang="en-US" altLang="en-US" sz="26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6A42CD1-64D9-4FFB-9CDB-BCB3F2916403}" type="slidenum">
              <a:rPr lang="en-GB" altLang="en-US">
                <a:solidFill>
                  <a:srgbClr val="FFC551"/>
                </a:solidFill>
                <a:latin typeface="Century Gothic" panose="020B0502020202020204" pitchFamily="34" charset="0"/>
                <a:cs typeface="Arial" panose="020B0604020202020204" pitchFamily="34" charset="0"/>
              </a:rPr>
              <a:pPr/>
              <a:t>39</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838200" y="788988"/>
            <a:ext cx="10515600" cy="479425"/>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styles</a:t>
            </a:r>
          </a:p>
        </p:txBody>
      </p:sp>
      <p:sp>
        <p:nvSpPr>
          <p:cNvPr id="50179" name="Content Placeholder 2"/>
          <p:cNvSpPr>
            <a:spLocks noGrp="1"/>
          </p:cNvSpPr>
          <p:nvPr>
            <p:ph idx="1"/>
          </p:nvPr>
        </p:nvSpPr>
        <p:spPr>
          <a:xfrm>
            <a:off x="838200" y="2852936"/>
            <a:ext cx="10874375" cy="3606602"/>
          </a:xfrm>
        </p:spPr>
        <p:txBody>
          <a:bodyPr rtlCol="0">
            <a:norm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Interaction can be seen as a dialog between the computer and the user.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choice of interface style</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can affect the interaction in positive or negative ways.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61DC1BE7-69C8-4944-8F4E-48480C80A989}" type="slidenum">
              <a:rPr lang="en-GB" altLang="en-US">
                <a:solidFill>
                  <a:srgbClr val="FFC551"/>
                </a:solidFill>
                <a:latin typeface="Century Gothic" panose="020B0502020202020204" pitchFamily="34" charset="0"/>
                <a:cs typeface="Arial" panose="020B0604020202020204" pitchFamily="34" charset="0"/>
              </a:rPr>
              <a:pPr/>
              <a:t>40</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838200" y="788988"/>
            <a:ext cx="10515600" cy="479425"/>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Interaction styles</a:t>
            </a:r>
          </a:p>
        </p:txBody>
      </p:sp>
      <p:sp>
        <p:nvSpPr>
          <p:cNvPr id="50179" name="Content Placeholder 2"/>
          <p:cNvSpPr>
            <a:spLocks noGrp="1"/>
          </p:cNvSpPr>
          <p:nvPr>
            <p:ph idx="1"/>
          </p:nvPr>
        </p:nvSpPr>
        <p:spPr>
          <a:xfrm>
            <a:off x="838200" y="1844675"/>
            <a:ext cx="10874375" cy="4614863"/>
          </a:xfrm>
        </p:spPr>
        <p:txBody>
          <a:bodyPr rtlCol="0">
            <a:noAutofit/>
          </a:bodyPr>
          <a:lstStyle/>
          <a:p>
            <a:pPr marL="91440" indent="-91440" fontAlgn="auto">
              <a:lnSpc>
                <a:spcPct val="100000"/>
              </a:lnSpc>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There are a number interface styles including</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command line interface</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menus</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natural language</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question/answer and query dialog</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form-fills and spreadsheets</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WIMP</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point and click</a:t>
            </a:r>
          </a:p>
          <a:p>
            <a:pPr marL="566928" lvl="2" indent="-182880" fontAlgn="auto">
              <a:lnSpc>
                <a:spcPct val="100000"/>
              </a:lnSpc>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three-dimensional interfaces.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61DC1BE7-69C8-4944-8F4E-48480C80A989}" type="slidenum">
              <a:rPr lang="en-GB" altLang="en-US">
                <a:solidFill>
                  <a:srgbClr val="FFC551"/>
                </a:solidFill>
                <a:latin typeface="Century Gothic" panose="020B0502020202020204" pitchFamily="34" charset="0"/>
                <a:cs typeface="Arial" panose="020B0604020202020204" pitchFamily="34" charset="0"/>
              </a:rPr>
              <a:pPr/>
              <a:t>41</a:t>
            </a:fld>
            <a:endParaRPr lang="en-GB" altLang="en-US">
              <a:solidFill>
                <a:srgbClr val="FFC551"/>
              </a:solidFill>
              <a:latin typeface="Century Gothic" panose="020B0502020202020204" pitchFamily="34" charset="0"/>
              <a:cs typeface="Arial" panose="020B0604020202020204" pitchFamily="34" charset="0"/>
            </a:endParaRPr>
          </a:p>
        </p:txBody>
      </p:sp>
    </p:spTree>
    <p:extLst>
      <p:ext uri="{BB962C8B-B14F-4D97-AF65-F5344CB8AC3E}">
        <p14:creationId xmlns:p14="http://schemas.microsoft.com/office/powerpoint/2010/main" val="2830205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838200" y="788988"/>
            <a:ext cx="10515600" cy="479425"/>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Command Line Interface</a:t>
            </a:r>
          </a:p>
        </p:txBody>
      </p:sp>
      <p:sp>
        <p:nvSpPr>
          <p:cNvPr id="51203" name="Content Placeholder 2"/>
          <p:cNvSpPr>
            <a:spLocks noGrp="1"/>
          </p:cNvSpPr>
          <p:nvPr>
            <p:ph idx="1"/>
          </p:nvPr>
        </p:nvSpPr>
        <p:spPr>
          <a:xfrm>
            <a:off x="838200" y="1989138"/>
            <a:ext cx="11161713" cy="4187825"/>
          </a:xfrm>
        </p:spPr>
        <p:txBody>
          <a:bodyPr rtlCol="0">
            <a:noAutofit/>
          </a:bodyPr>
          <a:lstStyle/>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The command line interface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was the first interactive dialog style to be commonly used and, in spite of the availability of menu-driven interfaces, it is still widely used.</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It provides a means of expressing instructions to the computer directly, using function keys, single characters, abbreviations or whole-word commands. </a:t>
            </a: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More commonly today, it is supplementary to menu-based interfaces, providing accelerated access to the system’s functionality for experienced users.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79B3EAA2-2983-42E2-AEEE-AF5EF341534B}" type="slidenum">
              <a:rPr lang="en-GB" altLang="en-US">
                <a:solidFill>
                  <a:srgbClr val="FFC551"/>
                </a:solidFill>
                <a:latin typeface="Century Gothic" panose="020B0502020202020204" pitchFamily="34" charset="0"/>
                <a:cs typeface="Arial" panose="020B0604020202020204" pitchFamily="34" charset="0"/>
              </a:rPr>
              <a:pPr/>
              <a:t>42</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838200" y="788988"/>
            <a:ext cx="10515600" cy="623887"/>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Command Line Interface (Pros)</a:t>
            </a:r>
          </a:p>
        </p:txBody>
      </p:sp>
      <p:sp>
        <p:nvSpPr>
          <p:cNvPr id="47107" name="Content Placeholder 2"/>
          <p:cNvSpPr>
            <a:spLocks noGrp="1"/>
          </p:cNvSpPr>
          <p:nvPr>
            <p:ph idx="1"/>
          </p:nvPr>
        </p:nvSpPr>
        <p:spPr>
          <a:xfrm>
            <a:off x="838200" y="1844675"/>
            <a:ext cx="10874375" cy="4332288"/>
          </a:xfrm>
        </p:spPr>
        <p:txBody>
          <a:bodyPr rtlCol="0">
            <a:normAutofit/>
          </a:bodyPr>
          <a:lstStyle/>
          <a:p>
            <a:pPr marL="457200" indent="-457200" fontAlgn="auto">
              <a:buFont typeface="+mj-lt"/>
              <a:buAutoNum type="arabicPeriod"/>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Command line interfaces are powerful in that they offer direct access to system functionality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(as opposed to the hierarchical nature of menus)</a:t>
            </a:r>
          </a:p>
          <a:p>
            <a:pPr marL="457200" indent="-457200" fontAlgn="auto">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fontAlgn="auto">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fontAlgn="auto">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They are also flexible: the command often has a number of options or parameters that will vary its behavior in some way, and it can be applied to many objects at once, making it useful for repetitive tasks</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Read more on the advantages of command line interface</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43A78B50-EB2C-45C6-8A11-4D1E1BF31202}" type="slidenum">
              <a:rPr lang="en-GB" altLang="en-US">
                <a:solidFill>
                  <a:srgbClr val="FFC551"/>
                </a:solidFill>
                <a:latin typeface="Century Gothic" panose="020B0502020202020204" pitchFamily="34" charset="0"/>
                <a:cs typeface="Arial" panose="020B0604020202020204" pitchFamily="34" charset="0"/>
              </a:rPr>
              <a:pPr/>
              <a:t>43</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Command Line Interface (Cons)</a:t>
            </a:r>
          </a:p>
        </p:txBody>
      </p:sp>
      <p:sp>
        <p:nvSpPr>
          <p:cNvPr id="48131" name="Content Placeholder 2"/>
          <p:cNvSpPr>
            <a:spLocks noGrp="1"/>
          </p:cNvSpPr>
          <p:nvPr>
            <p:ph idx="1"/>
          </p:nvPr>
        </p:nvSpPr>
        <p:spPr/>
        <p:txBody>
          <a:bodyPr rtlCol="0">
            <a:noAutofit/>
          </a:bodyPr>
          <a:lstStyle/>
          <a:p>
            <a:pPr marL="457200" indent="-457200" fontAlgn="auto">
              <a:buFont typeface="+mj-lt"/>
              <a:buAutoNum type="arabicPeriod"/>
              <a:defRPr/>
            </a:pPr>
            <a:r>
              <a:rPr lang="en-US" altLang="en-US" sz="2600" dirty="0">
                <a:solidFill>
                  <a:srgbClr val="FF0000"/>
                </a:solidFill>
                <a:latin typeface="Times New Roman" panose="02020603050405020304" pitchFamily="18" charset="0"/>
                <a:cs typeface="Times New Roman" panose="02020603050405020304" pitchFamily="18" charset="0"/>
              </a:rPr>
              <a:t>Commands must be remembered</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as no cue is provided in the command line to indicate which command is needed. </a:t>
            </a:r>
          </a:p>
          <a:p>
            <a:pPr marL="457200" indent="-457200" fontAlgn="auto">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fontAlgn="auto">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They are therefore better for expert users than for novices. </a:t>
            </a:r>
          </a:p>
          <a:p>
            <a:pPr marL="457200" indent="-457200" fontAlgn="auto">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457200" indent="-457200" fontAlgn="auto">
              <a:buFont typeface="+mj-lt"/>
              <a:buAutoNum type="arabicPeriod"/>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commands are sometimes obscure and vary across systems, causing confusion to the user and increasing the overhead of learning.</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Read more on the disadvantages of command line interface</a:t>
            </a:r>
          </a:p>
          <a:p>
            <a:pPr marL="457200" indent="-457200" fontAlgn="auto">
              <a:buFont typeface="+mj-lt"/>
              <a:buAutoNum type="arabicPeriod"/>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479D8ECB-EDED-477D-AA34-73BEA7C4FAB3}" type="slidenum">
              <a:rPr lang="en-GB" altLang="en-US">
                <a:solidFill>
                  <a:srgbClr val="FFC551"/>
                </a:solidFill>
                <a:latin typeface="Century Gothic" panose="020B0502020202020204" pitchFamily="34" charset="0"/>
                <a:cs typeface="Arial" panose="020B0604020202020204" pitchFamily="34" charset="0"/>
              </a:rPr>
              <a:pPr/>
              <a:t>44</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algn="ctr" fontAlgn="auto">
              <a:spcAft>
                <a:spcPts val="0"/>
              </a:spcAft>
              <a:defRPr/>
            </a:pPr>
            <a:r>
              <a:rPr lang="en-US" altLang="en-US">
                <a:solidFill>
                  <a:schemeClr val="tx1">
                    <a:lumMod val="75000"/>
                    <a:lumOff val="25000"/>
                  </a:schemeClr>
                </a:solidFill>
                <a:latin typeface="Futura Md BT" panose="020B0602020204020303"/>
              </a:rPr>
              <a:t>Menus</a:t>
            </a:r>
          </a:p>
        </p:txBody>
      </p:sp>
      <p:sp>
        <p:nvSpPr>
          <p:cNvPr id="54275" name="Content Placeholder 2"/>
          <p:cNvSpPr>
            <a:spLocks noGrp="1"/>
          </p:cNvSpPr>
          <p:nvPr>
            <p:ph idx="1"/>
          </p:nvPr>
        </p:nvSpPr>
        <p:spPr>
          <a:xfrm>
            <a:off x="838200" y="1825625"/>
            <a:ext cx="11018838" cy="4843463"/>
          </a:xfrm>
        </p:spPr>
        <p:txBody>
          <a:bodyPr rtlCol="0">
            <a:noAutofit/>
          </a:bodyPr>
          <a:lstStyle/>
          <a:p>
            <a:pPr fontAlgn="auto">
              <a:buFont typeface="Wingdings" panose="05000000000000000000" pitchFamily="2" charset="2"/>
              <a:buChar char="v"/>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In a menu-driven interface, the set of options available to the user is displayed on the screen, and selected using the mouse, or numeric or alphabetic keys.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Since the options are visible </a:t>
            </a:r>
            <a:r>
              <a:rPr lang="en-US" altLang="en-US" sz="2600" b="1" dirty="0">
                <a:solidFill>
                  <a:srgbClr val="00B050"/>
                </a:solidFill>
                <a:latin typeface="Times New Roman" panose="02020603050405020304" pitchFamily="18" charset="0"/>
                <a:cs typeface="Times New Roman" panose="02020603050405020304" pitchFamily="18" charset="0"/>
              </a:rPr>
              <a:t>they are less demanding of the user, relying on recognition rather than recall. </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However,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menu options still need to be meaningful and logically grouped</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to aid recognition. </a:t>
            </a:r>
          </a:p>
          <a:p>
            <a:pPr fontAlgn="auto">
              <a:buFont typeface="Wingdings" panose="05000000000000000000" pitchFamily="2" charset="2"/>
              <a:buChar char="v"/>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naming of menu options cues for the user to find the required option. </a:t>
            </a:r>
          </a:p>
          <a:p>
            <a:pPr fontAlgn="auto">
              <a:buFont typeface="Wingdings" panose="05000000000000000000" pitchFamily="2" charset="2"/>
              <a:buChar char="v"/>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Such systems either can be purely text based, or may have a graphical component</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8EF50D0B-C0E7-46E2-9B24-89755B79C56F}" type="slidenum">
              <a:rPr lang="en-GB" altLang="en-US">
                <a:solidFill>
                  <a:srgbClr val="FFC551"/>
                </a:solidFill>
                <a:latin typeface="Century Gothic" panose="020B0502020202020204" pitchFamily="34" charset="0"/>
                <a:cs typeface="Arial" panose="020B0604020202020204" pitchFamily="34" charset="0"/>
              </a:rPr>
              <a:pPr/>
              <a:t>45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algn="ctr" fontAlgn="auto">
              <a:spcAft>
                <a:spcPts val="0"/>
              </a:spcAft>
              <a:defRPr/>
            </a:pPr>
            <a:r>
              <a:rPr lang="en-US" altLang="en-US">
                <a:solidFill>
                  <a:schemeClr val="tx1">
                    <a:lumMod val="75000"/>
                    <a:lumOff val="25000"/>
                  </a:schemeClr>
                </a:solidFill>
                <a:latin typeface="Futura Md BT" panose="020B0602020204020303"/>
              </a:rPr>
              <a:t>Text-based vs graphics-based menus</a:t>
            </a:r>
          </a:p>
        </p:txBody>
      </p:sp>
      <p:sp>
        <p:nvSpPr>
          <p:cNvPr id="49155" name="Content Placeholder 4"/>
          <p:cNvSpPr>
            <a:spLocks noGrp="1" noChangeArrowheads="1"/>
          </p:cNvSpPr>
          <p:nvPr>
            <p:ph sz="half" idx="1"/>
          </p:nvPr>
        </p:nvSpPr>
        <p:spPr>
          <a:xfrm>
            <a:off x="334963" y="1825625"/>
            <a:ext cx="5684837" cy="4351338"/>
          </a:xfrm>
        </p:spPr>
        <p:txBody>
          <a:bodyPr/>
          <a:lstStyle/>
          <a:p>
            <a:r>
              <a:rPr lang="en-US" altLang="en-US" sz="2600" dirty="0">
                <a:latin typeface="Times New Roman" panose="02020603050405020304" pitchFamily="18" charset="0"/>
                <a:cs typeface="Times New Roman" panose="02020603050405020304" pitchFamily="18" charset="0"/>
              </a:rPr>
              <a:t>With </a:t>
            </a:r>
            <a:r>
              <a:rPr lang="en-US" altLang="en-US" sz="2600" b="1" dirty="0">
                <a:latin typeface="Times New Roman" panose="02020603050405020304" pitchFamily="18" charset="0"/>
                <a:cs typeface="Times New Roman" panose="02020603050405020304" pitchFamily="18" charset="0"/>
              </a:rPr>
              <a:t>text-based menus</a:t>
            </a:r>
            <a:r>
              <a:rPr lang="en-US" altLang="en-US" sz="2600" dirty="0">
                <a:latin typeface="Times New Roman" panose="02020603050405020304" pitchFamily="18" charset="0"/>
                <a:cs typeface="Times New Roman" panose="02020603050405020304" pitchFamily="18" charset="0"/>
              </a:rPr>
              <a:t>, with the menu options are presented as numbered choices</a:t>
            </a:r>
          </a:p>
        </p:txBody>
      </p:sp>
      <p:sp>
        <p:nvSpPr>
          <p:cNvPr id="49156" name="Content Placeholder 5"/>
          <p:cNvSpPr>
            <a:spLocks noGrp="1" noChangeArrowheads="1"/>
          </p:cNvSpPr>
          <p:nvPr>
            <p:ph sz="half" idx="2"/>
          </p:nvPr>
        </p:nvSpPr>
        <p:spPr>
          <a:xfrm>
            <a:off x="6172200" y="1825625"/>
            <a:ext cx="5540375" cy="4351338"/>
          </a:xfrm>
        </p:spPr>
        <p:txBody>
          <a:bodyPr/>
          <a:lstStyle/>
          <a:p>
            <a:r>
              <a:rPr lang="en-US" altLang="en-US" sz="2600" dirty="0">
                <a:latin typeface="Times New Roman" panose="02020603050405020304" pitchFamily="18" charset="0"/>
                <a:cs typeface="Times New Roman" panose="02020603050405020304" pitchFamily="18" charset="0"/>
              </a:rPr>
              <a:t>With Graphics-based menus, menus appears within a rectangular box and choices are made, perhaps by typing the initial letter of the desired selection, or by entering the associated number, or by moving around the menu with the arrow keys or mouse.</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6CA303DC-08D1-4A62-9915-C62878C8484D}" type="slidenum">
              <a:rPr lang="en-GB" altLang="en-US">
                <a:solidFill>
                  <a:srgbClr val="FFC551"/>
                </a:solidFill>
                <a:latin typeface="Century Gothic" panose="020B0502020202020204" pitchFamily="34" charset="0"/>
                <a:cs typeface="Arial" panose="020B0604020202020204" pitchFamily="34" charset="0"/>
              </a:rPr>
              <a:pPr/>
              <a:t>46</a:t>
            </a:fld>
            <a:endParaRPr lang="en-GB" altLang="en-US">
              <a:solidFill>
                <a:srgbClr val="FFC551"/>
              </a:solidFill>
              <a:latin typeface="Century Gothic" panose="020B0502020202020204" pitchFamily="34" charset="0"/>
              <a:cs typeface="Arial" panose="020B0604020202020204" pitchFamily="34" charset="0"/>
            </a:endParaRPr>
          </a:p>
        </p:txBody>
      </p:sp>
      <p:pic>
        <p:nvPicPr>
          <p:cNvPr id="49158"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7213" y="2928938"/>
            <a:ext cx="4675187" cy="302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9" name="TextBox 7"/>
          <p:cNvSpPr txBox="1">
            <a:spLocks noChangeArrowheads="1"/>
          </p:cNvSpPr>
          <p:nvPr/>
        </p:nvSpPr>
        <p:spPr bwMode="auto">
          <a:xfrm>
            <a:off x="627063" y="6094413"/>
            <a:ext cx="45354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a:latin typeface="Arial" panose="020B0604020202020204" pitchFamily="34" charset="0"/>
                <a:cs typeface="Arial" panose="020B0604020202020204" pitchFamily="34" charset="0"/>
              </a:rPr>
              <a:t>Example of text-based menu</a:t>
            </a:r>
          </a:p>
        </p:txBody>
      </p:sp>
      <p:pic>
        <p:nvPicPr>
          <p:cNvPr id="49160" name="Picture 1"/>
          <p:cNvPicPr>
            <a:picLocks noChangeAspect="1"/>
          </p:cNvPicPr>
          <p:nvPr/>
        </p:nvPicPr>
        <p:blipFill>
          <a:blip r:embed="rId3">
            <a:extLst>
              <a:ext uri="{28A0092B-C50C-407E-A947-70E740481C1C}">
                <a14:useLocalDpi xmlns:a14="http://schemas.microsoft.com/office/drawing/2010/main" val="0"/>
              </a:ext>
            </a:extLst>
          </a:blip>
          <a:srcRect t="8704" r="14027" b="35236"/>
          <a:stretch>
            <a:fillRect/>
          </a:stretch>
        </p:blipFill>
        <p:spPr bwMode="auto">
          <a:xfrm>
            <a:off x="5279232" y="4374035"/>
            <a:ext cx="6912768"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5"/>
          <p:cNvSpPr>
            <a:spLocks noGrp="1"/>
          </p:cNvSpPr>
          <p:nvPr>
            <p:ph type="title"/>
          </p:nvPr>
        </p:nvSpPr>
        <p:spPr>
          <a:xfrm>
            <a:off x="838200" y="788988"/>
            <a:ext cx="10515600" cy="479425"/>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Natural Language</a:t>
            </a:r>
          </a:p>
        </p:txBody>
      </p:sp>
      <p:sp>
        <p:nvSpPr>
          <p:cNvPr id="50179" name="Content Placeholder 6"/>
          <p:cNvSpPr>
            <a:spLocks noGrp="1" noChangeArrowheads="1"/>
          </p:cNvSpPr>
          <p:nvPr>
            <p:ph idx="1"/>
          </p:nvPr>
        </p:nvSpPr>
        <p:spPr>
          <a:xfrm>
            <a:off x="838200" y="1412875"/>
            <a:ext cx="11018838" cy="4764088"/>
          </a:xfrm>
        </p:spPr>
        <p:txBody>
          <a:bodyPr/>
          <a:lstStyle/>
          <a:p>
            <a:r>
              <a:rPr lang="en-US" altLang="en-US" sz="2600" dirty="0">
                <a:latin typeface="Times New Roman" panose="02020603050405020304" pitchFamily="18" charset="0"/>
                <a:cs typeface="Times New Roman" panose="02020603050405020304" pitchFamily="18" charset="0"/>
              </a:rPr>
              <a:t>Perhaps the most attractive means of communicating with computers, at least at first glance, is by natural language. </a:t>
            </a:r>
          </a:p>
          <a:p>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Users, unable to remember a command or lost in a hierarchy of menus, may long for the computer that is able to understand instructions expressed in everyday words! </a:t>
            </a:r>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Natural language understanding, both of speech and written input, is the subject of much interest and research currently.</a:t>
            </a:r>
          </a:p>
          <a:p>
            <a:r>
              <a:rPr lang="en-US" altLang="en-US" sz="2600" dirty="0">
                <a:latin typeface="Times New Roman" panose="02020603050405020304" pitchFamily="18" charset="0"/>
                <a:cs typeface="Times New Roman" panose="02020603050405020304" pitchFamily="18" charset="0"/>
              </a:rPr>
              <a:t> </a:t>
            </a:r>
            <a:r>
              <a:rPr lang="en-US" altLang="en-US" sz="2600" dirty="0">
                <a:solidFill>
                  <a:srgbClr val="FF0000"/>
                </a:solidFill>
                <a:latin typeface="Times New Roman" panose="02020603050405020304" pitchFamily="18" charset="0"/>
                <a:cs typeface="Times New Roman" panose="02020603050405020304" pitchFamily="18" charset="0"/>
              </a:rPr>
              <a:t>Unfortunately, however, the ambiguity of natural language makes it very difficult for a machine to understand. </a:t>
            </a:r>
          </a:p>
          <a:p>
            <a:endParaRPr lang="en-US" altLang="en-US" sz="26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70B09032-5526-4F05-AF08-FCD6145D8C83}" type="slidenum">
              <a:rPr lang="en-GB" altLang="en-US">
                <a:solidFill>
                  <a:srgbClr val="FFC551"/>
                </a:solidFill>
                <a:latin typeface="Century Gothic" panose="020B0502020202020204" pitchFamily="34" charset="0"/>
                <a:cs typeface="Arial" panose="020B0604020202020204" pitchFamily="34" charset="0"/>
              </a:rPr>
              <a:pPr/>
              <a:t>47</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838200" y="1125538"/>
            <a:ext cx="10515600" cy="552450"/>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The ambiguity of natural language</a:t>
            </a:r>
          </a:p>
        </p:txBody>
      </p:sp>
      <p:sp>
        <p:nvSpPr>
          <p:cNvPr id="51203" name="Content Placeholder 2"/>
          <p:cNvSpPr>
            <a:spLocks noGrp="1" noChangeArrowheads="1"/>
          </p:cNvSpPr>
          <p:nvPr>
            <p:ph idx="1"/>
          </p:nvPr>
        </p:nvSpPr>
        <p:spPr>
          <a:xfrm>
            <a:off x="838200" y="1844675"/>
            <a:ext cx="10515600" cy="4752975"/>
          </a:xfrm>
        </p:spPr>
        <p:txBody>
          <a:bodyPr/>
          <a:lstStyle/>
          <a:p>
            <a:r>
              <a:rPr lang="en-US" altLang="en-US" sz="2600" dirty="0" err="1">
                <a:latin typeface="Times New Roman" panose="02020603050405020304" pitchFamily="18" charset="0"/>
                <a:cs typeface="Times New Roman" panose="02020603050405020304" pitchFamily="18" charset="0"/>
              </a:rPr>
              <a:t>Eg.</a:t>
            </a:r>
            <a:r>
              <a:rPr lang="en-US" altLang="en-US" sz="2600" dirty="0">
                <a:latin typeface="Times New Roman" panose="02020603050405020304" pitchFamily="18" charset="0"/>
                <a:cs typeface="Times New Roman" panose="02020603050405020304" pitchFamily="18" charset="0"/>
              </a:rPr>
              <a:t> Consider the sentence: The boy hit the dog with the stick</a:t>
            </a:r>
          </a:p>
          <a:p>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we cannot be sure whether the boy is using the stick to hit the dog or whether the dog is holding the stick when it is hit.</a:t>
            </a:r>
          </a:p>
          <a:p>
            <a:endParaRPr lang="en-US" altLang="en-US" sz="2600" b="1"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Even if a sentence’s structure is clear, we may find ambiguity in the meaning of the words used. </a:t>
            </a:r>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For example, the word ‘pitch’ may refer to a sports field, a throw, a waterproofing substance or even, colloquially, a territory.</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B368BB65-1221-4C9A-948D-4ED5DDE5C448}" type="slidenum">
              <a:rPr lang="en-GB" altLang="en-US">
                <a:solidFill>
                  <a:srgbClr val="FFC551"/>
                </a:solidFill>
                <a:latin typeface="Century Gothic" panose="020B0502020202020204" pitchFamily="34" charset="0"/>
                <a:cs typeface="Arial" panose="020B0604020202020204" pitchFamily="34" charset="0"/>
              </a:rPr>
              <a:pPr/>
              <a:t>48</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The ambiguity of natural language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1384" y="1846263"/>
            <a:ext cx="11377263" cy="4613275"/>
          </a:xfrm>
        </p:spPr>
        <p:txBody>
          <a:bodyPr/>
          <a:lstStyle/>
          <a:p>
            <a:pPr>
              <a:buFont typeface="Wingdings" panose="05000000000000000000" pitchFamily="2" charset="2"/>
              <a:buChar char="v"/>
            </a:pPr>
            <a:r>
              <a:rPr lang="en-US" sz="2600" dirty="0">
                <a:solidFill>
                  <a:srgbClr val="FF0000"/>
                </a:solidFill>
                <a:latin typeface="Times New Roman" panose="02020603050405020304" pitchFamily="18" charset="0"/>
                <a:cs typeface="Times New Roman" panose="02020603050405020304" pitchFamily="18" charset="0"/>
              </a:rPr>
              <a:t>We often rely on the context and our general knowledge to sort out these ambiguities. This information is difficult to provide to the machine.</a:t>
            </a:r>
          </a:p>
          <a:p>
            <a:pPr>
              <a:buFont typeface="Wingdings" panose="05000000000000000000" pitchFamily="2" charset="2"/>
              <a:buChar char="v"/>
            </a:pPr>
            <a:r>
              <a:rPr lang="en-US" sz="2600" dirty="0">
                <a:latin typeface="Times New Roman" panose="02020603050405020304" pitchFamily="18" charset="0"/>
                <a:cs typeface="Times New Roman" panose="02020603050405020304" pitchFamily="18" charset="0"/>
              </a:rPr>
              <a:t>Given these problems, it seems unlikely that a general natural language interface will be available for some time.</a:t>
            </a:r>
          </a:p>
          <a:p>
            <a:pPr>
              <a:buFont typeface="Wingdings" panose="05000000000000000000" pitchFamily="2" charset="2"/>
              <a:buChar char="v"/>
            </a:pPr>
            <a:r>
              <a:rPr lang="en-US" sz="2600" dirty="0">
                <a:latin typeface="Times New Roman" panose="02020603050405020304" pitchFamily="18" charset="0"/>
                <a:cs typeface="Times New Roman" panose="02020603050405020304" pitchFamily="18" charset="0"/>
              </a:rPr>
              <a:t> However, systems can be built to understand restricted subsets of a language. </a:t>
            </a:r>
          </a:p>
          <a:p>
            <a:pPr>
              <a:buFont typeface="Wingdings" panose="05000000000000000000" pitchFamily="2" charset="2"/>
              <a:buChar char="v"/>
            </a:pPr>
            <a:r>
              <a:rPr lang="en-US" sz="2600" dirty="0">
                <a:latin typeface="Times New Roman" panose="02020603050405020304" pitchFamily="18" charset="0"/>
                <a:cs typeface="Times New Roman" panose="02020603050405020304" pitchFamily="18" charset="0"/>
              </a:rPr>
              <a:t>For a known and constrained domain, the system can be provided with sufficient information to disambiguate terms. </a:t>
            </a:r>
          </a:p>
          <a:p>
            <a:pPr>
              <a:buFont typeface="Wingdings" panose="05000000000000000000" pitchFamily="2" charset="2"/>
              <a:buChar char="v"/>
            </a:pPr>
            <a:r>
              <a:rPr lang="en-US" sz="2600" dirty="0">
                <a:latin typeface="Times New Roman" panose="02020603050405020304" pitchFamily="18" charset="0"/>
                <a:cs typeface="Times New Roman" panose="02020603050405020304" pitchFamily="18" charset="0"/>
              </a:rPr>
              <a:t>It is important in interfaces which use natural language in this restricted form that the user is aware of the limitations of the system and does not expect too much understanding.</a:t>
            </a: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D012235-B351-4270-A2D7-CDF0C6F62708}" type="slidenum">
              <a:rPr lang="en-GB" altLang="en-US" smtClean="0"/>
              <a:pPr/>
              <a:t>49</a:t>
            </a:fld>
            <a:endParaRPr lang="en-GB" altLang="en-US"/>
          </a:p>
        </p:txBody>
      </p:sp>
    </p:spTree>
    <p:extLst>
      <p:ext uri="{BB962C8B-B14F-4D97-AF65-F5344CB8AC3E}">
        <p14:creationId xmlns:p14="http://schemas.microsoft.com/office/powerpoint/2010/main" val="4855429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260350"/>
            <a:ext cx="10515600" cy="1152525"/>
          </a:xfrm>
        </p:spPr>
        <p:txBody>
          <a:bodyPr/>
          <a:lstStyle/>
          <a:p>
            <a:pPr algn="ctr" fontAlgn="auto">
              <a:spcAft>
                <a:spcPts val="0"/>
              </a:spcAft>
              <a:defRPr/>
            </a:pPr>
            <a:r>
              <a:rPr lang="en-US" altLang="en-US" dirty="0">
                <a:solidFill>
                  <a:schemeClr val="tx1">
                    <a:lumMod val="75000"/>
                    <a:lumOff val="25000"/>
                  </a:schemeClr>
                </a:solidFill>
                <a:latin typeface="Futura Md BT" panose="020B0602020204020303"/>
              </a:rPr>
              <a:t>Question/answer and query dialog</a:t>
            </a:r>
          </a:p>
        </p:txBody>
      </p:sp>
      <p:sp>
        <p:nvSpPr>
          <p:cNvPr id="58371" name="Content Placeholder 2"/>
          <p:cNvSpPr>
            <a:spLocks noGrp="1"/>
          </p:cNvSpPr>
          <p:nvPr>
            <p:ph idx="1"/>
          </p:nvPr>
        </p:nvSpPr>
        <p:spPr>
          <a:xfrm>
            <a:off x="838200" y="1773238"/>
            <a:ext cx="10515600" cy="4403725"/>
          </a:xfrm>
        </p:spPr>
        <p:txBody>
          <a:bodyPr rtlCol="0">
            <a:noAutofit/>
          </a:bodyPr>
          <a:lstStyle/>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Question and answer dialog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is a simple mechanism for providing input to an application in a specific domain.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user is asked a series of questions (mainly with yes/no responses, multiple choice, or codes) and so is led through the interaction step by step.</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An example of this would be web questionnaires.</a:t>
            </a: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These interfaces are easy to learn and use, but are limited in functionality and power.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As such, they are appropriate for restricted domains (particularly information systems) and for novice or casual users.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1334D2AE-E2A3-448C-B18B-07FD5B5DC2F9}" type="slidenum">
              <a:rPr lang="en-GB" altLang="en-US">
                <a:solidFill>
                  <a:srgbClr val="FFC551"/>
                </a:solidFill>
                <a:latin typeface="Century Gothic" panose="020B0502020202020204" pitchFamily="34" charset="0"/>
                <a:cs typeface="Arial" panose="020B0604020202020204" pitchFamily="34" charset="0"/>
              </a:rPr>
              <a:pPr/>
              <a:t>50</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838200" y="788988"/>
            <a:ext cx="10515600" cy="623887"/>
          </a:xfrm>
        </p:spPr>
        <p:txBody>
          <a:bodyPr>
            <a:normAutofit fontScale="90000"/>
          </a:bodyPr>
          <a:lstStyle/>
          <a:p>
            <a:pPr algn="ctr" fontAlgn="auto">
              <a:spcAft>
                <a:spcPts val="0"/>
              </a:spcAft>
              <a:defRPr/>
            </a:pPr>
            <a:b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b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Question/answer and query dialog</a:t>
            </a:r>
            <a:b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b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59395" name="Content Placeholder 2"/>
          <p:cNvSpPr>
            <a:spLocks noGrp="1"/>
          </p:cNvSpPr>
          <p:nvPr>
            <p:ph idx="1"/>
          </p:nvPr>
        </p:nvSpPr>
        <p:spPr>
          <a:xfrm>
            <a:off x="838200" y="1773238"/>
            <a:ext cx="10945813" cy="4403725"/>
          </a:xfrm>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Query languages, on the other hand, are used to construct queries to retrieve information from a database.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They use natural-language-style phrases, but in fact require specific syntax, as well as knowledge of the database structure.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Queries usually require the user to specify an attribute or attributes for which to search</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database, as well as the attributes of interest to be displayed.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This is straightforward where there is a single attribute, but becomes complex when multiple attributes are involved</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F5943862-0967-4301-B45E-EBCB357339A0}" type="slidenum">
              <a:rPr lang="en-GB" altLang="en-US">
                <a:solidFill>
                  <a:srgbClr val="FFC551"/>
                </a:solidFill>
                <a:latin typeface="Century Gothic" panose="020B0502020202020204" pitchFamily="34" charset="0"/>
                <a:cs typeface="Arial" panose="020B0604020202020204" pitchFamily="34" charset="0"/>
              </a:rPr>
              <a:pPr/>
              <a:t>51</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838200" y="788988"/>
            <a:ext cx="10515600" cy="552450"/>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Form-fills and spreadsheets</a:t>
            </a:r>
          </a:p>
        </p:txBody>
      </p:sp>
      <p:sp>
        <p:nvSpPr>
          <p:cNvPr id="60419" name="Content Placeholder 2"/>
          <p:cNvSpPr>
            <a:spLocks noGrp="1"/>
          </p:cNvSpPr>
          <p:nvPr>
            <p:ph idx="1"/>
          </p:nvPr>
        </p:nvSpPr>
        <p:spPr>
          <a:xfrm>
            <a:off x="838200" y="1700213"/>
            <a:ext cx="11018838" cy="4608512"/>
          </a:xfrm>
        </p:spPr>
        <p:txBody>
          <a:bodyPr rtlCol="0">
            <a:noAutofit/>
          </a:bodyPr>
          <a:lstStyle/>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Form-filling interfaces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are used primarily for data entry but can also be useful in data retrieval applications. </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user is presented with a display resembling a paper form, with slots to fill in.</a:t>
            </a: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Often the form display is based upon an actual form with which the user is familiar, which makes the interface easier to use.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user works through the form, filling in appropriate values.</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 The data is then entered into the application in the correct place.</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5889F4FD-EEB3-49B0-ACF9-75E9999AEF79}" type="slidenum">
              <a:rPr lang="en-GB" altLang="en-US">
                <a:solidFill>
                  <a:srgbClr val="FFC551"/>
                </a:solidFill>
                <a:latin typeface="Century Gothic" panose="020B0502020202020204" pitchFamily="34" charset="0"/>
                <a:cs typeface="Arial" panose="020B0604020202020204" pitchFamily="34" charset="0"/>
              </a:rPr>
              <a:pPr/>
              <a:t>52</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838200" y="788988"/>
            <a:ext cx="10515600" cy="552450"/>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Form-fills</a:t>
            </a:r>
            <a:r>
              <a:rPr lang="en-US" altLang="en-US" dirty="0">
                <a:solidFill>
                  <a:schemeClr val="tx1">
                    <a:lumMod val="75000"/>
                    <a:lumOff val="25000"/>
                  </a:schemeClr>
                </a:solidFill>
                <a:latin typeface="Futura Md BT" panose="020B0602020204020303"/>
              </a:rPr>
              <a:t> and spreadsheets</a:t>
            </a:r>
          </a:p>
        </p:txBody>
      </p:sp>
      <p:sp>
        <p:nvSpPr>
          <p:cNvPr id="55299" name="Content Placeholder 2"/>
          <p:cNvSpPr>
            <a:spLocks noGrp="1" noChangeArrowheads="1"/>
          </p:cNvSpPr>
          <p:nvPr>
            <p:ph idx="1"/>
          </p:nvPr>
        </p:nvSpPr>
        <p:spPr>
          <a:xfrm>
            <a:off x="838200" y="2420938"/>
            <a:ext cx="11018838" cy="4537075"/>
          </a:xfrm>
        </p:spPr>
        <p:txBody>
          <a:bodyPr/>
          <a:lstStyle/>
          <a:p>
            <a:endParaRPr lang="en-US" altLang="en-US" sz="2600" dirty="0">
              <a:latin typeface="Times New Roman" panose="02020603050405020304" pitchFamily="18" charset="0"/>
              <a:cs typeface="Times New Roman" panose="02020603050405020304" pitchFamily="18" charset="0"/>
            </a:endParaRPr>
          </a:p>
          <a:p>
            <a:r>
              <a:rPr lang="en-US" altLang="en-US" sz="2600" b="1" dirty="0">
                <a:latin typeface="Times New Roman" panose="02020603050405020304" pitchFamily="18" charset="0"/>
                <a:cs typeface="Times New Roman" panose="02020603050405020304" pitchFamily="18" charset="0"/>
              </a:rPr>
              <a:t>Spreadsheets</a:t>
            </a:r>
            <a:r>
              <a:rPr lang="en-US" altLang="en-US" sz="2600" dirty="0">
                <a:latin typeface="Times New Roman" panose="02020603050405020304" pitchFamily="18" charset="0"/>
                <a:cs typeface="Times New Roman" panose="02020603050405020304" pitchFamily="18" charset="0"/>
              </a:rPr>
              <a:t> are a sophisticated variation of form filling. </a:t>
            </a:r>
          </a:p>
          <a:p>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The spreadsheet comprises a  </a:t>
            </a:r>
            <a:r>
              <a:rPr lang="en-US" altLang="en-US" sz="2600" b="1" dirty="0">
                <a:latin typeface="Times New Roman" panose="02020603050405020304" pitchFamily="18" charset="0"/>
                <a:cs typeface="Times New Roman" panose="02020603050405020304" pitchFamily="18" charset="0"/>
              </a:rPr>
              <a:t>grid of cells</a:t>
            </a:r>
            <a:r>
              <a:rPr lang="en-US" altLang="en-US" sz="2600" dirty="0">
                <a:latin typeface="Times New Roman" panose="02020603050405020304" pitchFamily="18" charset="0"/>
                <a:cs typeface="Times New Roman" panose="02020603050405020304" pitchFamily="18" charset="0"/>
              </a:rPr>
              <a:t>, each of which can contain a </a:t>
            </a:r>
            <a:r>
              <a:rPr lang="en-US" altLang="en-US" sz="2600" b="1" dirty="0">
                <a:latin typeface="Times New Roman" panose="02020603050405020304" pitchFamily="18" charset="0"/>
                <a:cs typeface="Times New Roman" panose="02020603050405020304" pitchFamily="18" charset="0"/>
              </a:rPr>
              <a:t>value</a:t>
            </a:r>
            <a:r>
              <a:rPr lang="en-US" altLang="en-US" sz="2600" dirty="0">
                <a:latin typeface="Times New Roman" panose="02020603050405020304" pitchFamily="18" charset="0"/>
                <a:cs typeface="Times New Roman" panose="02020603050405020304" pitchFamily="18" charset="0"/>
              </a:rPr>
              <a:t> or a </a:t>
            </a:r>
            <a:r>
              <a:rPr lang="en-US" altLang="en-US" sz="2600" b="1" dirty="0">
                <a:latin typeface="Times New Roman" panose="02020603050405020304" pitchFamily="18" charset="0"/>
                <a:cs typeface="Times New Roman" panose="02020603050405020304" pitchFamily="18" charset="0"/>
              </a:rPr>
              <a:t>formula</a:t>
            </a:r>
            <a:r>
              <a:rPr lang="en-US" altLang="en-US" sz="2600" dirty="0">
                <a:latin typeface="Times New Roman" panose="02020603050405020304" pitchFamily="18" charset="0"/>
                <a:cs typeface="Times New Roman" panose="02020603050405020304" pitchFamily="18" charset="0"/>
              </a:rPr>
              <a:t>.</a:t>
            </a:r>
          </a:p>
          <a:p>
            <a:pPr marL="0" indent="0">
              <a:buNone/>
            </a:pPr>
            <a:endParaRPr lang="en-US" altLang="en-US" sz="2600" dirty="0">
              <a:latin typeface="Times New Roman" panose="02020603050405020304" pitchFamily="18" charset="0"/>
              <a:cs typeface="Times New Roman" panose="02020603050405020304" pitchFamily="18" charset="0"/>
            </a:endParaRPr>
          </a:p>
          <a:p>
            <a:r>
              <a:rPr lang="en-US" altLang="en-US" sz="2600" dirty="0">
                <a:latin typeface="Times New Roman" panose="02020603050405020304" pitchFamily="18" charset="0"/>
                <a:cs typeface="Times New Roman" panose="02020603050405020304" pitchFamily="18" charset="0"/>
              </a:rPr>
              <a:t>The formula can involve the values of other cells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55BA3C9C-CFD6-455F-A35E-40675C806DD2}" type="slidenum">
              <a:rPr lang="en-GB" altLang="en-US">
                <a:solidFill>
                  <a:srgbClr val="FFC551"/>
                </a:solidFill>
                <a:latin typeface="Century Gothic" panose="020B0502020202020204" pitchFamily="34" charset="0"/>
                <a:cs typeface="Arial" panose="020B0604020202020204" pitchFamily="34" charset="0"/>
              </a:rPr>
              <a:pPr/>
              <a:t>53</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838200" y="788988"/>
            <a:ext cx="10515600" cy="623887"/>
          </a:xfrm>
        </p:spPr>
        <p:txBody>
          <a:bodyPr>
            <a:normAutofit fontScale="90000"/>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The WIMP interface</a:t>
            </a:r>
          </a:p>
        </p:txBody>
      </p:sp>
      <p:sp>
        <p:nvSpPr>
          <p:cNvPr id="62467" name="Content Placeholder 2"/>
          <p:cNvSpPr>
            <a:spLocks noGrp="1"/>
          </p:cNvSpPr>
          <p:nvPr>
            <p:ph idx="1"/>
          </p:nvPr>
        </p:nvSpPr>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Currently many common environments for interactive computing are examples of the </a:t>
            </a:r>
            <a:r>
              <a:rPr lang="en-US" altLang="en-US" sz="2600" i="1" dirty="0">
                <a:solidFill>
                  <a:schemeClr val="tx1">
                    <a:lumMod val="75000"/>
                    <a:lumOff val="25000"/>
                  </a:schemeClr>
                </a:solidFill>
                <a:latin typeface="Times New Roman" panose="02020603050405020304" pitchFamily="18" charset="0"/>
                <a:cs typeface="Times New Roman" panose="02020603050405020304" pitchFamily="18" charset="0"/>
              </a:rPr>
              <a:t>WIMP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interface style, often simply called windowing systems. </a:t>
            </a: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WIMP stands for windows, icons, menus and pointers </a:t>
            </a: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(sometimes windows, icons, mice and pull-down menus), and is the default interface style for the majority of interactive computer systems in use today, especially in the PC and desktop workstation arena.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Examples of WIMP interfaces include Microsoft Windows, </a:t>
            </a:r>
            <a:r>
              <a:rPr lang="en-US" altLang="en-US" sz="2600" b="1" dirty="0" err="1">
                <a:solidFill>
                  <a:schemeClr val="tx1">
                    <a:lumMod val="75000"/>
                    <a:lumOff val="25000"/>
                  </a:schemeClr>
                </a:solidFill>
                <a:latin typeface="Times New Roman" panose="02020603050405020304" pitchFamily="18" charset="0"/>
                <a:cs typeface="Times New Roman" panose="02020603050405020304" pitchFamily="18" charset="0"/>
              </a:rPr>
              <a:t>MacOS</a:t>
            </a:r>
            <a:r>
              <a:rPr lang="en-US" altLang="en-US" sz="2600" b="1" dirty="0">
                <a:solidFill>
                  <a:schemeClr val="tx1">
                    <a:lumMod val="75000"/>
                    <a:lumOff val="25000"/>
                  </a:schemeClr>
                </a:solidFill>
                <a:latin typeface="Times New Roman" panose="02020603050405020304" pitchFamily="18" charset="0"/>
                <a:cs typeface="Times New Roman" panose="02020603050405020304" pitchFamily="18" charset="0"/>
              </a:rPr>
              <a:t> and many other software interfaces</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A18EA5F3-5F24-48B1-8FEA-18F6AB5B890D}" type="slidenum">
              <a:rPr lang="en-GB" altLang="en-US">
                <a:solidFill>
                  <a:srgbClr val="FFC551"/>
                </a:solidFill>
                <a:latin typeface="Century Gothic" panose="020B0502020202020204" pitchFamily="34" charset="0"/>
                <a:cs typeface="Arial" panose="020B0604020202020204" pitchFamily="34" charset="0"/>
              </a:rPr>
              <a:pPr/>
              <a:t>54</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838200" y="115888"/>
            <a:ext cx="10515600" cy="1296987"/>
          </a:xfrm>
        </p:spPr>
        <p:txBody>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Point-and-click interfaces</a:t>
            </a:r>
          </a:p>
        </p:txBody>
      </p:sp>
      <p:sp>
        <p:nvSpPr>
          <p:cNvPr id="57347" name="Content Placeholder 2"/>
          <p:cNvSpPr>
            <a:spLocks noGrp="1" noChangeArrowheads="1"/>
          </p:cNvSpPr>
          <p:nvPr>
            <p:ph idx="1"/>
          </p:nvPr>
        </p:nvSpPr>
        <p:spPr>
          <a:xfrm>
            <a:off x="838200" y="1773238"/>
            <a:ext cx="11090275" cy="4392066"/>
          </a:xfrm>
        </p:spPr>
        <p:txBody>
          <a:bodyPr/>
          <a:lstStyle/>
          <a:p>
            <a:r>
              <a:rPr lang="en-US" altLang="en-US" sz="2600" dirty="0">
                <a:latin typeface="Times New Roman" panose="02020603050405020304" pitchFamily="18" charset="0"/>
                <a:cs typeface="Times New Roman" panose="02020603050405020304" pitchFamily="18" charset="0"/>
              </a:rPr>
              <a:t>In most multimedia systems and in web browsers, virtually all actions take only a single click of the mouse button. </a:t>
            </a:r>
          </a:p>
          <a:p>
            <a:endParaRPr lang="en-US" altLang="en-US" sz="2600" dirty="0">
              <a:latin typeface="Times New Roman" panose="02020603050405020304" pitchFamily="18" charset="0"/>
              <a:cs typeface="Times New Roman" panose="02020603050405020304" pitchFamily="18" charset="0"/>
            </a:endParaRPr>
          </a:p>
          <a:p>
            <a:pPr lvl="1"/>
            <a:r>
              <a:rPr lang="en-US" altLang="en-US" sz="2600" dirty="0">
                <a:latin typeface="Times New Roman" panose="02020603050405020304" pitchFamily="18" charset="0"/>
                <a:cs typeface="Times New Roman" panose="02020603050405020304" pitchFamily="18" charset="0"/>
              </a:rPr>
              <a:t>You may point at a city on a map and when you click a window opens, showing you tourist information about the city. </a:t>
            </a:r>
          </a:p>
          <a:p>
            <a:pPr lvl="1"/>
            <a:endParaRPr lang="en-US" altLang="en-US" sz="2600" dirty="0">
              <a:latin typeface="Times New Roman" panose="02020603050405020304" pitchFamily="18" charset="0"/>
              <a:cs typeface="Times New Roman" panose="02020603050405020304" pitchFamily="18" charset="0"/>
            </a:endParaRPr>
          </a:p>
          <a:p>
            <a:pPr lvl="1"/>
            <a:r>
              <a:rPr lang="en-US" altLang="en-US" sz="2600" dirty="0">
                <a:latin typeface="Times New Roman" panose="02020603050405020304" pitchFamily="18" charset="0"/>
                <a:cs typeface="Times New Roman" panose="02020603050405020304" pitchFamily="18" charset="0"/>
              </a:rPr>
              <a:t>You may point at a word in some text and when you click you see a definition of the word. You may point at a recognizable iconic button and when you click some action is performed.</a:t>
            </a:r>
          </a:p>
          <a:p>
            <a:r>
              <a:rPr lang="en-US" altLang="en-US" sz="2600" dirty="0">
                <a:latin typeface="Times New Roman" panose="02020603050405020304" pitchFamily="18" charset="0"/>
                <a:cs typeface="Times New Roman" panose="02020603050405020304" pitchFamily="18" charset="0"/>
              </a:rPr>
              <a:t>This point-and-click interface style is obviously closely related to the WIMP style.</a:t>
            </a:r>
          </a:p>
          <a:p>
            <a:endParaRPr lang="en-US" alt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F7E2B33E-08C9-45F5-8B75-B75752430B6F}" type="slidenum">
              <a:rPr lang="en-GB" altLang="en-US">
                <a:solidFill>
                  <a:srgbClr val="FFC551"/>
                </a:solidFill>
                <a:latin typeface="Century Gothic" panose="020B0502020202020204" pitchFamily="34" charset="0"/>
                <a:cs typeface="Arial" panose="020B0604020202020204" pitchFamily="34" charset="0"/>
              </a:rPr>
              <a:pPr/>
              <a:t>55</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algn="ctr" fontAlgn="auto">
              <a:spcAft>
                <a:spcPts val="0"/>
              </a:spcAft>
              <a:defRPr/>
            </a:pPr>
            <a:r>
              <a:rPr lang="en-US" altLang="en-US" dirty="0">
                <a:solidFill>
                  <a:schemeClr val="tx1">
                    <a:lumMod val="75000"/>
                    <a:lumOff val="25000"/>
                  </a:schemeClr>
                </a:solidFill>
                <a:latin typeface="Times New Roman" panose="02020603050405020304" pitchFamily="18" charset="0"/>
                <a:cs typeface="Times New Roman" panose="02020603050405020304" pitchFamily="18" charset="0"/>
              </a:rPr>
              <a:t>Point-and-click interfaces</a:t>
            </a:r>
            <a:endParaRPr lang="en-US" altLang="en-GH"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58371" name="Content Placeholder 2"/>
          <p:cNvSpPr>
            <a:spLocks noGrp="1" noChangeArrowheads="1"/>
          </p:cNvSpPr>
          <p:nvPr>
            <p:ph idx="1"/>
          </p:nvPr>
        </p:nvSpPr>
        <p:spPr>
          <a:xfrm>
            <a:off x="1096962" y="1846263"/>
            <a:ext cx="10903693" cy="4319041"/>
          </a:xfrm>
        </p:spPr>
        <p:txBody>
          <a:bodyPr/>
          <a:lstStyle/>
          <a:p>
            <a:r>
              <a:rPr lang="en-US" altLang="en-US" sz="2600" dirty="0">
                <a:latin typeface="Times New Roman" panose="02020603050405020304" pitchFamily="18" charset="0"/>
                <a:cs typeface="Times New Roman" panose="02020603050405020304" pitchFamily="18" charset="0"/>
              </a:rPr>
              <a:t>It clearly overlaps in the use of buttons, but may also include other WIMP elements.</a:t>
            </a:r>
          </a:p>
          <a:p>
            <a:r>
              <a:rPr lang="en-US" altLang="en-US" sz="2600" b="1" dirty="0">
                <a:latin typeface="Times New Roman" panose="02020603050405020304" pitchFamily="18" charset="0"/>
                <a:cs typeface="Times New Roman" panose="02020603050405020304" pitchFamily="18" charset="0"/>
              </a:rPr>
              <a:t>However, the philosophy is simpler and more closely tied to ideas of </a:t>
            </a:r>
            <a:r>
              <a:rPr lang="en-US" altLang="en-US" sz="2600" b="1" i="1" dirty="0">
                <a:latin typeface="Times New Roman" panose="02020603050405020304" pitchFamily="18" charset="0"/>
                <a:cs typeface="Times New Roman" panose="02020603050405020304" pitchFamily="18" charset="0"/>
              </a:rPr>
              <a:t>hypertext</a:t>
            </a:r>
            <a:r>
              <a:rPr lang="en-US" altLang="en-US" sz="2600" b="1" dirty="0">
                <a:latin typeface="Times New Roman" panose="02020603050405020304" pitchFamily="18" charset="0"/>
                <a:cs typeface="Times New Roman" panose="02020603050405020304" pitchFamily="18" charset="0"/>
              </a:rPr>
              <a:t>.</a:t>
            </a:r>
          </a:p>
          <a:p>
            <a:r>
              <a:rPr lang="en-US" altLang="en-US" sz="2600" dirty="0">
                <a:latin typeface="Times New Roman" panose="02020603050405020304" pitchFamily="18" charset="0"/>
                <a:cs typeface="Times New Roman" panose="02020603050405020304" pitchFamily="18" charset="0"/>
              </a:rPr>
              <a:t>In addition, the point-and-click style is not tied to mouse-based interfaces, and is also extensively used in touchscreen information systems.</a:t>
            </a:r>
          </a:p>
          <a:p>
            <a:r>
              <a:rPr lang="en-US" sz="2600" dirty="0">
                <a:latin typeface="Times New Roman" panose="02020603050405020304" pitchFamily="18" charset="0"/>
                <a:cs typeface="Times New Roman" panose="02020603050405020304" pitchFamily="18" charset="0"/>
              </a:rPr>
              <a:t>The point-and-click style has been popularized by world wide web pages, which incorporate all the above types of point-and-click navigation: highlighted words, maps and iconic buttons.</a:t>
            </a:r>
            <a:endParaRPr lang="en-US" altLang="en-US" sz="2600" dirty="0">
              <a:latin typeface="Times New Roman" panose="02020603050405020304" pitchFamily="18" charset="0"/>
              <a:cs typeface="Times New Roman" panose="02020603050405020304" pitchFamily="18" charset="0"/>
            </a:endParaRPr>
          </a:p>
          <a:p>
            <a:endParaRPr lang="en-US" alt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D4C71330-DB7F-45D8-86C8-8779BA8F6198}" type="slidenum">
              <a:rPr lang="en-GB" altLang="en-US">
                <a:solidFill>
                  <a:srgbClr val="FFC551"/>
                </a:solidFill>
                <a:latin typeface="Century Gothic" panose="020B0502020202020204" pitchFamily="34" charset="0"/>
                <a:cs typeface="Arial" panose="020B0604020202020204" pitchFamily="34" charset="0"/>
              </a:rPr>
              <a:pPr/>
              <a:t>56</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algn="ctr" fontAlgn="auto">
              <a:spcAft>
                <a:spcPts val="0"/>
              </a:spcAft>
              <a:defRPr/>
            </a:pPr>
            <a:r>
              <a:rPr lang="en-US" altLang="en-US">
                <a:solidFill>
                  <a:schemeClr val="tx1">
                    <a:lumMod val="75000"/>
                    <a:lumOff val="25000"/>
                  </a:schemeClr>
                </a:solidFill>
                <a:latin typeface="Futura Md BT" panose="020B0602020204020303"/>
              </a:rPr>
              <a:t>Three-dimensional interfaces</a:t>
            </a:r>
          </a:p>
        </p:txBody>
      </p:sp>
      <p:sp>
        <p:nvSpPr>
          <p:cNvPr id="65539" name="Content Placeholder 2"/>
          <p:cNvSpPr>
            <a:spLocks noGrp="1"/>
          </p:cNvSpPr>
          <p:nvPr>
            <p:ph idx="1"/>
          </p:nvPr>
        </p:nvSpPr>
        <p:spPr/>
        <p:txBody>
          <a:bodyPr rtlCol="0">
            <a:noAutofit/>
          </a:bodyPr>
          <a:lstStyle/>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There is an increasing use of three-dimensional effects in user interfaces. </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most obvious example is virtual reality, but VR is only part of a range of 3D techniques available to the interface designer.</a:t>
            </a:r>
          </a:p>
          <a:p>
            <a:pPr marL="91440" indent="-91440" fontAlgn="auto">
              <a:defRPr/>
            </a:pPr>
            <a:endPar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91440" indent="-91440" fontAlgn="auto">
              <a:defRPr/>
            </a:pPr>
            <a:r>
              <a:rPr lang="en-US" altLang="en-US" sz="2600" dirty="0">
                <a:solidFill>
                  <a:schemeClr val="tx1">
                    <a:lumMod val="75000"/>
                    <a:lumOff val="25000"/>
                  </a:schemeClr>
                </a:solidFill>
                <a:latin typeface="Times New Roman" panose="02020603050405020304" pitchFamily="18" charset="0"/>
                <a:cs typeface="Times New Roman" panose="02020603050405020304" pitchFamily="18" charset="0"/>
              </a:rPr>
              <a:t>The simplest technique is where ordinary WIMP elements, buttons, scroll bars, etc., are given a 3D appearance using shading, giving the appearance of being sculpted out of stone.</a:t>
            </a:r>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F9CD5351-46A7-48AE-BEDE-E3C5CD1B6FD8}" type="slidenum">
              <a:rPr lang="en-GB" altLang="en-US">
                <a:solidFill>
                  <a:srgbClr val="FFC551"/>
                </a:solidFill>
                <a:latin typeface="Century Gothic" panose="020B0502020202020204" pitchFamily="34" charset="0"/>
                <a:cs typeface="Arial" panose="020B0604020202020204" pitchFamily="34" charset="0"/>
              </a:rPr>
              <a:pPr/>
              <a:t>57</a:t>
            </a:fld>
            <a:endParaRPr lang="en-GB" altLang="en-US">
              <a:solidFill>
                <a:srgbClr val="FFC551"/>
              </a:solidFill>
              <a:latin typeface="Century Gothic" panose="020B0502020202020204" pitchFamily="34" charset="0"/>
              <a:cs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DF25A-5494-0443-BF2E-A961F61B651E}"/>
              </a:ext>
            </a:extLst>
          </p:cNvPr>
          <p:cNvSpPr>
            <a:spLocks noGrp="1"/>
          </p:cNvSpPr>
          <p:nvPr>
            <p:ph type="title"/>
          </p:nvPr>
        </p:nvSpPr>
        <p:spPr/>
        <p:txBody>
          <a:bodyPr/>
          <a:lstStyle/>
          <a:p>
            <a:r>
              <a:rPr lang="en-US" dirty="0"/>
              <a:t>Summary</a:t>
            </a:r>
            <a:endParaRPr lang="en-GH" dirty="0"/>
          </a:p>
        </p:txBody>
      </p:sp>
      <p:sp>
        <p:nvSpPr>
          <p:cNvPr id="3" name="Content Placeholder 2">
            <a:extLst>
              <a:ext uri="{FF2B5EF4-FFF2-40B4-BE49-F238E27FC236}">
                <a16:creationId xmlns:a16="http://schemas.microsoft.com/office/drawing/2014/main" id="{43B9F7F0-0688-C343-0AA6-775329FEFE29}"/>
              </a:ext>
            </a:extLst>
          </p:cNvPr>
          <p:cNvSpPr>
            <a:spLocks noGrp="1"/>
          </p:cNvSpPr>
          <p:nvPr>
            <p:ph idx="1"/>
          </p:nvPr>
        </p:nvSpPr>
        <p:spPr>
          <a:xfrm>
            <a:off x="1096962" y="1846263"/>
            <a:ext cx="11095037" cy="4319041"/>
          </a:xfrm>
        </p:spPr>
        <p:txBody>
          <a:bodyPr>
            <a:normAutofit lnSpcReduction="10000"/>
          </a:bodyPr>
          <a:lstStyle/>
          <a:p>
            <a:pPr algn="l">
              <a:buFont typeface="Wingdings" panose="05000000000000000000" pitchFamily="2" charset="2"/>
              <a:buChar char="v"/>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Interaction models help us to understand what is going on in the interaction between user and system. They address the translations between what the user wants and what the system does.</a:t>
            </a:r>
          </a:p>
          <a:p>
            <a:pPr algn="l">
              <a:buFont typeface="Wingdings" panose="05000000000000000000" pitchFamily="2" charset="2"/>
              <a:buChar char="v"/>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Ergonomics looks at the physical characteristics of the interaction and how these influence its effectiveness.</a:t>
            </a:r>
          </a:p>
          <a:p>
            <a:pPr>
              <a:buFont typeface="Wingdings" panose="05000000000000000000" pitchFamily="2" charset="2"/>
              <a:buChar char="v"/>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The dialog between user and system is influenced by the style of the interface.</a:t>
            </a:r>
          </a:p>
          <a:p>
            <a:pPr>
              <a:buFont typeface="Wingdings" panose="05000000000000000000" pitchFamily="2" charset="2"/>
              <a:buChar char="v"/>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The interaction takes place within a social and organizational context that affects both user and</a:t>
            </a:r>
          </a:p>
          <a:p>
            <a:pPr algn="l">
              <a:buFont typeface="Wingdings" panose="05000000000000000000" pitchFamily="2" charset="2"/>
              <a:buChar char="v"/>
            </a:pPr>
            <a:r>
              <a:rPr lang="id-ID" sz="2800" b="0" i="0" u="none" strike="noStrike" baseline="0" dirty="0">
                <a:solidFill>
                  <a:srgbClr val="000000"/>
                </a:solidFill>
                <a:latin typeface="Times New Roman" panose="02020603050405020304" pitchFamily="18" charset="0"/>
                <a:cs typeface="Times New Roman" panose="02020603050405020304" pitchFamily="18" charset="0"/>
              </a:rPr>
              <a:t>system.</a:t>
            </a:r>
            <a:endParaRPr lang="en-GH"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AC99274-BACD-8D7D-14EC-8723950020B5}"/>
              </a:ext>
            </a:extLst>
          </p:cNvPr>
          <p:cNvSpPr>
            <a:spLocks noGrp="1"/>
          </p:cNvSpPr>
          <p:nvPr>
            <p:ph type="sldNum" sz="quarter" idx="12"/>
          </p:nvPr>
        </p:nvSpPr>
        <p:spPr/>
        <p:txBody>
          <a:bodyPr/>
          <a:lstStyle/>
          <a:p>
            <a:fld id="{6D012235-B351-4270-A2D7-CDF0C6F62708}" type="slidenum">
              <a:rPr lang="en-GB" altLang="en-US" smtClean="0"/>
              <a:pPr/>
              <a:t>58</a:t>
            </a:fld>
            <a:endParaRPr lang="en-GB" altLang="en-US"/>
          </a:p>
        </p:txBody>
      </p:sp>
    </p:spTree>
    <p:extLst>
      <p:ext uri="{BB962C8B-B14F-4D97-AF65-F5344CB8AC3E}">
        <p14:creationId xmlns:p14="http://schemas.microsoft.com/office/powerpoint/2010/main" val="201758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1335" t="21444" r="30294" b="26645"/>
          <a:stretch/>
        </p:blipFill>
        <p:spPr>
          <a:xfrm>
            <a:off x="751955" y="269112"/>
            <a:ext cx="11360334" cy="5680167"/>
          </a:xfrm>
          <a:prstGeom prst="rect">
            <a:avLst/>
          </a:prstGeom>
        </p:spPr>
      </p:pic>
      <p:sp>
        <p:nvSpPr>
          <p:cNvPr id="4" name="Slide Number Placeholder 3"/>
          <p:cNvSpPr>
            <a:spLocks noGrp="1"/>
          </p:cNvSpPr>
          <p:nvPr>
            <p:ph type="sldNum" sz="quarter" idx="12"/>
          </p:nvPr>
        </p:nvSpPr>
        <p:spPr/>
        <p:txBody>
          <a:bodyPr/>
          <a:lstStyle/>
          <a:p>
            <a:fld id="{6D012235-B351-4270-A2D7-CDF0C6F62708}" type="slidenum">
              <a:rPr lang="en-GB" altLang="en-US" smtClean="0"/>
              <a:pPr/>
              <a:t>59</a:t>
            </a:fld>
            <a:endParaRPr lang="en-GB" altLang="en-US"/>
          </a:p>
        </p:txBody>
      </p:sp>
    </p:spTree>
    <p:extLst>
      <p:ext uri="{BB962C8B-B14F-4D97-AF65-F5344CB8AC3E}">
        <p14:creationId xmlns:p14="http://schemas.microsoft.com/office/powerpoint/2010/main" val="37520862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p:cNvSpPr>
            <a:spLocks noGrp="1" noChangeArrowheads="1"/>
          </p:cNvSpPr>
          <p:nvPr>
            <p:ph idx="1"/>
          </p:nvPr>
        </p:nvSpPr>
        <p:spPr>
          <a:xfrm>
            <a:off x="3124200" y="2924175"/>
            <a:ext cx="7086600" cy="2376488"/>
          </a:xfrm>
        </p:spPr>
        <p:txBody>
          <a:bodyPr/>
          <a:lstStyle/>
          <a:p>
            <a:pPr marL="0" indent="0">
              <a:buFont typeface="Arial" panose="020B0604020202020204" pitchFamily="34" charset="0"/>
              <a:buNone/>
            </a:pPr>
            <a:endParaRPr lang="en-US" altLang="en-US"/>
          </a:p>
          <a:p>
            <a:pPr marL="0" indent="0" algn="ctr">
              <a:buFont typeface="Arial" panose="020B0604020202020204" pitchFamily="34" charset="0"/>
              <a:buNone/>
            </a:pPr>
            <a:r>
              <a:rPr lang="en-US" altLang="en-US" sz="6600"/>
              <a:t>THANK YOU</a:t>
            </a:r>
          </a:p>
        </p:txBody>
      </p:sp>
      <p:sp>
        <p:nvSpPr>
          <p:cNvPr id="59397" name="Date Placeholder 4"/>
          <p:cNvSpPr>
            <a:spLocks noGrp="1"/>
          </p:cNvSpPr>
          <p:nvPr>
            <p:ph type="dt" sz="half" idx="10"/>
          </p:nvPr>
        </p:nvSpPr>
        <p:spPr/>
        <p:txBody>
          <a:bodyPr/>
          <a:lstStyle/>
          <a:p>
            <a:pPr>
              <a:defRPr/>
            </a:pPr>
            <a:fld id="{BDEEDA69-C557-4CF5-B18C-B3053D04829F}" type="datetime1">
              <a:rPr lang="en-GB">
                <a:solidFill>
                  <a:schemeClr val="tx1">
                    <a:tint val="75000"/>
                  </a:schemeClr>
                </a:solidFill>
              </a:rPr>
              <a:pPr>
                <a:defRPr/>
              </a:pPr>
              <a:t>18/03/2024</a:t>
            </a:fld>
            <a:endParaRPr lang="en-GB" dirty="0">
              <a:solidFill>
                <a:schemeClr val="tx1">
                  <a:tint val="75000"/>
                </a:schemeClr>
              </a:solidFill>
            </a:endParaRPr>
          </a:p>
        </p:txBody>
      </p:sp>
      <p:sp>
        <p:nvSpPr>
          <p:cNvPr id="604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37AFEC38-0C16-4FD6-A7B5-43434ACFA9DD}" type="slidenum">
              <a:rPr lang="en-GB" altLang="en-US" sz="2800">
                <a:solidFill>
                  <a:schemeClr val="folHlink"/>
                </a:solidFill>
                <a:latin typeface="Arial" panose="020B0604020202020204" pitchFamily="34" charset="0"/>
                <a:cs typeface="Arial" panose="020B0604020202020204" pitchFamily="34" charset="0"/>
              </a:rPr>
              <a:pPr/>
              <a:t>60</a:t>
            </a:fld>
            <a:endParaRPr lang="en-GB" altLang="en-US" sz="2800">
              <a:solidFill>
                <a:schemeClr val="folHlink"/>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10129</TotalTime>
  <Words>4818</Words>
  <Application>Microsoft Office PowerPoint</Application>
  <PresentationFormat>Widescreen</PresentationFormat>
  <Paragraphs>406</Paragraphs>
  <Slides>60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Arial</vt:lpstr>
      <vt:lpstr>Calibri</vt:lpstr>
      <vt:lpstr>Calibri Light</vt:lpstr>
      <vt:lpstr>Century Gothic</vt:lpstr>
      <vt:lpstr>Futura Md BT</vt:lpstr>
      <vt:lpstr>Minion-Regular</vt:lpstr>
      <vt:lpstr>Times New Roman</vt:lpstr>
      <vt:lpstr>Wingdings</vt:lpstr>
      <vt:lpstr>Retrospect</vt:lpstr>
      <vt:lpstr> CSM 357 Human-Computer Interaction  lecture 3: Interaction models in Human-Computer Interaction</vt:lpstr>
      <vt:lpstr>Human Computer Interaction </vt:lpstr>
      <vt:lpstr>Models</vt:lpstr>
      <vt:lpstr>Interaction</vt:lpstr>
      <vt:lpstr>Interaction</vt:lpstr>
      <vt:lpstr>Interaction models</vt:lpstr>
      <vt:lpstr>The execution–evaluation cycle</vt:lpstr>
      <vt:lpstr>Norman’s model of interaction: The execution–evaluation cycle</vt:lpstr>
      <vt:lpstr>Stages in Norman’s model of interaction</vt:lpstr>
      <vt:lpstr>Stages in Norman’s model of interaction (Simplified)</vt:lpstr>
      <vt:lpstr>Stages in Norman’s model of interaction (Simplified)</vt:lpstr>
      <vt:lpstr>Practical example: Norman’s model of interaction</vt:lpstr>
      <vt:lpstr>Practical example: Norman’s model of interaction</vt:lpstr>
      <vt:lpstr>Why some interfaces cause problems to their users</vt:lpstr>
      <vt:lpstr>Gulf of Execution</vt:lpstr>
      <vt:lpstr>Gulf of Evaluation</vt:lpstr>
      <vt:lpstr>Gulf of Evaluation</vt:lpstr>
      <vt:lpstr>Individual activity</vt:lpstr>
      <vt:lpstr>Individual activity</vt:lpstr>
      <vt:lpstr>Human errors- Slips or Mistakes</vt:lpstr>
      <vt:lpstr>Shortfalls of Norman’s model </vt:lpstr>
      <vt:lpstr>Abowd and Beale’s Interaction framework</vt:lpstr>
      <vt:lpstr>Abowd and Beale’s Interaction framework</vt:lpstr>
      <vt:lpstr>Abowd and Beale’s Interaction framework</vt:lpstr>
      <vt:lpstr>Abowd and Beale’s Interaction framework</vt:lpstr>
      <vt:lpstr>Abowd and Beale’s Interaction framework</vt:lpstr>
      <vt:lpstr>Frameworks and HCI</vt:lpstr>
      <vt:lpstr>A framework for human–computer interaction. Adapted from ACM SIGCHI Curriculum Development Group</vt:lpstr>
      <vt:lpstr>ERGONOMICS</vt:lpstr>
      <vt:lpstr>Ergonomics: Arrangement of controls and displays</vt:lpstr>
      <vt:lpstr>Ergonomics: Arrangement of controls and displays</vt:lpstr>
      <vt:lpstr>Ergonomics: Arrangement of controls and displays</vt:lpstr>
      <vt:lpstr>Ergonomics: Arrangement of controls and displays</vt:lpstr>
      <vt:lpstr>Ergonomics: The physical environment of the interaction</vt:lpstr>
      <vt:lpstr>Ergonomics: The physical environment of the interaction</vt:lpstr>
      <vt:lpstr>Ergonomics: The physical environment of the interaction</vt:lpstr>
      <vt:lpstr>Ergonomics: The use of colour</vt:lpstr>
      <vt:lpstr>Ergonomics: The use of colour</vt:lpstr>
      <vt:lpstr>Ergonomics: The use of colour</vt:lpstr>
      <vt:lpstr>Interaction styles</vt:lpstr>
      <vt:lpstr>Interaction styles</vt:lpstr>
      <vt:lpstr>Command Line Interface</vt:lpstr>
      <vt:lpstr>Command Line Interface (Pros)</vt:lpstr>
      <vt:lpstr>Command Line Interface (Cons)</vt:lpstr>
      <vt:lpstr>Menus</vt:lpstr>
      <vt:lpstr>Text-based vs graphics-based menus</vt:lpstr>
      <vt:lpstr>Natural Language</vt:lpstr>
      <vt:lpstr>The ambiguity of natural language</vt:lpstr>
      <vt:lpstr>The ambiguity of natural language</vt:lpstr>
      <vt:lpstr>Question/answer and query dialog</vt:lpstr>
      <vt:lpstr> Question/answer and query dialog </vt:lpstr>
      <vt:lpstr>Form-fills and spreadsheets</vt:lpstr>
      <vt:lpstr>Form-fills and spreadsheets</vt:lpstr>
      <vt:lpstr>The WIMP interface</vt:lpstr>
      <vt:lpstr>Point-and-click interfaces</vt:lpstr>
      <vt:lpstr>Point-and-click interfaces</vt:lpstr>
      <vt:lpstr>Three-dimensional interfaces</vt:lpstr>
      <vt:lpstr>Summary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knowledge management</dc:title>
  <dc:creator>Pierro</dc:creator>
  <cp:lastModifiedBy>O T</cp:lastModifiedBy>
  <cp:revision>265</cp:revision>
  <cp:lastPrinted>2018-09-24T12:35:42Z</cp:lastPrinted>
  <dcterms:created xsi:type="dcterms:W3CDTF">2011-10-18T10:49:17Z</dcterms:created>
  <dcterms:modified xsi:type="dcterms:W3CDTF">2024-03-18T21:14:56Z</dcterms:modified>
</cp:coreProperties>
</file>